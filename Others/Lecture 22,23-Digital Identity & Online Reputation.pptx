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8" r:id="rId3"/>
    <p:sldId id="261" r:id="rId4"/>
    <p:sldId id="272" r:id="rId5"/>
    <p:sldId id="273" r:id="rId6"/>
    <p:sldId id="274" r:id="rId7"/>
    <p:sldId id="275" r:id="rId8"/>
    <p:sldId id="263" r:id="rId9"/>
    <p:sldId id="264" r:id="rId10"/>
    <p:sldId id="265" r:id="rId11"/>
    <p:sldId id="266" r:id="rId12"/>
    <p:sldId id="277" r:id="rId13"/>
    <p:sldId id="276" r:id="rId14"/>
    <p:sldId id="278" r:id="rId15"/>
    <p:sldId id="268" r:id="rId16"/>
    <p:sldId id="269" r:id="rId17"/>
    <p:sldId id="279" r:id="rId18"/>
    <p:sldId id="280" r:id="rId19"/>
    <p:sldId id="281"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0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af1648e5b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af1648e5b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b06349d8c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b06349d8c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0166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b06349d8c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b06349d8c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5893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b06349d8c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b06349d8c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248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b06349d8c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b06349d8c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258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b06349d8c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b06349d8c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7655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b06349d8c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b06349d8c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i="0" u="none" strike="noStrike" cap="none" dirty="0" err="1">
                <a:solidFill>
                  <a:srgbClr val="000000"/>
                </a:solidFill>
                <a:effectLst/>
                <a:latin typeface="Arial"/>
                <a:ea typeface="Arial"/>
                <a:cs typeface="Arial"/>
                <a:sym typeface="Arial"/>
              </a:rPr>
              <a:t>Rivest</a:t>
            </a:r>
            <a:r>
              <a:rPr lang="en-US" sz="1100" b="1" i="0" u="none" strike="noStrike" cap="none" dirty="0">
                <a:solidFill>
                  <a:srgbClr val="000000"/>
                </a:solidFill>
                <a:effectLst/>
                <a:latin typeface="Arial"/>
                <a:ea typeface="Arial"/>
                <a:cs typeface="Arial"/>
                <a:sym typeface="Arial"/>
              </a:rPr>
              <a:t>-Shamir-</a:t>
            </a:r>
            <a:r>
              <a:rPr lang="en-US" sz="1100" b="1" i="0" u="none" strike="noStrike" cap="none" dirty="0" err="1">
                <a:solidFill>
                  <a:srgbClr val="000000"/>
                </a:solidFill>
                <a:effectLst/>
                <a:latin typeface="Arial"/>
                <a:ea typeface="Arial"/>
                <a:cs typeface="Arial"/>
                <a:sym typeface="Arial"/>
              </a:rPr>
              <a:t>Adleman</a:t>
            </a:r>
            <a:r>
              <a:rPr lang="en-US" sz="1100" b="1" i="0" u="none" strike="noStrike" cap="none" dirty="0">
                <a:solidFill>
                  <a:srgbClr val="000000"/>
                </a:solidFill>
                <a:effectLst/>
                <a:latin typeface="Arial"/>
                <a:ea typeface="Arial"/>
                <a:cs typeface="Arial"/>
                <a:sym typeface="Arial"/>
              </a:rPr>
              <a:t> (RSA) algorithm</a:t>
            </a:r>
            <a:r>
              <a:rPr lang="en-US" sz="1100" b="0" i="0" u="none" strike="noStrike" cap="none" dirty="0">
                <a:solidFill>
                  <a:srgbClr val="000000"/>
                </a:solidFill>
                <a:effectLst/>
                <a:latin typeface="Arial"/>
                <a:ea typeface="Arial"/>
                <a:cs typeface="Arial"/>
                <a:sym typeface="Arial"/>
              </a:rPr>
              <a:t>: A public-key cryptography algorithm that uses a private and public key pair to encrypt and decrypt data. RSA is one of the oldest and most widely used algorithms for secure data transmission. The algorithm was developed by Ron </a:t>
            </a:r>
            <a:r>
              <a:rPr lang="en-US" sz="1100" b="0" i="0" u="none" strike="noStrike" cap="none" dirty="0" err="1">
                <a:solidFill>
                  <a:srgbClr val="000000"/>
                </a:solidFill>
                <a:effectLst/>
                <a:latin typeface="Arial"/>
                <a:ea typeface="Arial"/>
                <a:cs typeface="Arial"/>
                <a:sym typeface="Arial"/>
              </a:rPr>
              <a:t>Rivest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Adi</a:t>
            </a:r>
            <a:r>
              <a:rPr lang="en-US" sz="1100" b="0" i="0" u="none" strike="noStrike" cap="none" dirty="0">
                <a:solidFill>
                  <a:srgbClr val="000000"/>
                </a:solidFill>
                <a:effectLst/>
                <a:latin typeface="Arial"/>
                <a:ea typeface="Arial"/>
                <a:cs typeface="Arial"/>
                <a:sym typeface="Arial"/>
              </a:rPr>
              <a:t> Shamir, and Leonard </a:t>
            </a:r>
            <a:r>
              <a:rPr lang="en-US" sz="1100" b="0" i="0" u="none" strike="noStrike" cap="none" dirty="0" err="1">
                <a:solidFill>
                  <a:srgbClr val="000000"/>
                </a:solidFill>
                <a:effectLst/>
                <a:latin typeface="Arial"/>
                <a:ea typeface="Arial"/>
                <a:cs typeface="Arial"/>
                <a:sym typeface="Arial"/>
              </a:rPr>
              <a:t>Adleman</a:t>
            </a:r>
            <a:r>
              <a:rPr lang="en-US" sz="1100" b="0" i="0" u="none" strike="noStrike" cap="none" dirty="0">
                <a:solidFill>
                  <a:srgbClr val="000000"/>
                </a:solidFill>
                <a:effectLst/>
                <a:latin typeface="Arial"/>
                <a:ea typeface="Arial"/>
                <a:cs typeface="Arial"/>
                <a:sym typeface="Arial"/>
              </a:rPr>
              <a:t>, and was first published in 1977. RSA is used in many products and services, and is especially useful for sending sensitive information over the internet.</a:t>
            </a:r>
            <a:endParaRPr dirty="0"/>
          </a:p>
        </p:txBody>
      </p:sp>
    </p:spTree>
    <p:extLst>
      <p:ext uri="{BB962C8B-B14F-4D97-AF65-F5344CB8AC3E}">
        <p14:creationId xmlns:p14="http://schemas.microsoft.com/office/powerpoint/2010/main" val="220296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b06349d8c9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b06349d8c9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1F1F1F"/>
                </a:solidFill>
                <a:effectLst/>
                <a:latin typeface="Google Sans"/>
              </a:rPr>
              <a:t>A digital footprint, sometimes called a “digital shadow,” is </a:t>
            </a:r>
            <a:r>
              <a:rPr lang="en-US" b="0" i="0" dirty="0">
                <a:solidFill>
                  <a:srgbClr val="040C28"/>
                </a:solidFill>
                <a:effectLst/>
                <a:latin typeface="Google Sans"/>
              </a:rPr>
              <a:t>the unique trail of data that a person or business creates while using the internet</a:t>
            </a:r>
            <a:r>
              <a:rPr lang="en-US" b="0" i="0" dirty="0">
                <a:solidFill>
                  <a:srgbClr val="1F1F1F"/>
                </a:solidFill>
                <a:effectLst/>
                <a:latin typeface="Google Sans"/>
              </a:rPr>
              <a:t>. Nearly every online activity leaves a trace. Some traces are obvious, like a public social media post.</a:t>
            </a:r>
            <a:endParaRPr dirty="0"/>
          </a:p>
        </p:txBody>
      </p:sp>
    </p:spTree>
    <p:extLst>
      <p:ext uri="{BB962C8B-B14F-4D97-AF65-F5344CB8AC3E}">
        <p14:creationId xmlns:p14="http://schemas.microsoft.com/office/powerpoint/2010/main" val="322803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b06349d8c9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b06349d8c9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9289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b06349d8c9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b06349d8c9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8936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8CE93C9-FFB9-ADB5-AA13-A2ECC9F0B36A}"/>
            </a:ext>
          </a:extLst>
        </p:cNvPr>
        <p:cNvGrpSpPr/>
        <p:nvPr/>
      </p:nvGrpSpPr>
      <p:grpSpPr>
        <a:xfrm>
          <a:off x="0" y="0"/>
          <a:ext cx="0" cy="0"/>
          <a:chOff x="0" y="0"/>
          <a:chExt cx="0" cy="0"/>
        </a:xfrm>
      </p:grpSpPr>
      <p:sp>
        <p:nvSpPr>
          <p:cNvPr id="97" name="Google Shape;97;g2b06349d8c9_0_38:notes">
            <a:extLst>
              <a:ext uri="{FF2B5EF4-FFF2-40B4-BE49-F238E27FC236}">
                <a16:creationId xmlns:a16="http://schemas.microsoft.com/office/drawing/2014/main" id="{06E83636-5732-04F9-36E1-5E2E5A2CE3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b06349d8c9_0_38:notes">
            <a:extLst>
              <a:ext uri="{FF2B5EF4-FFF2-40B4-BE49-F238E27FC236}">
                <a16:creationId xmlns:a16="http://schemas.microsoft.com/office/drawing/2014/main" id="{4AE3B830-EBD6-FCA0-CB78-80C360940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7522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D7B2CC1C-6933-9D26-84C4-5673512A809D}"/>
            </a:ext>
          </a:extLst>
        </p:cNvPr>
        <p:cNvGrpSpPr/>
        <p:nvPr/>
      </p:nvGrpSpPr>
      <p:grpSpPr>
        <a:xfrm>
          <a:off x="0" y="0"/>
          <a:ext cx="0" cy="0"/>
          <a:chOff x="0" y="0"/>
          <a:chExt cx="0" cy="0"/>
        </a:xfrm>
      </p:grpSpPr>
      <p:sp>
        <p:nvSpPr>
          <p:cNvPr id="97" name="Google Shape;97;g2b06349d8c9_0_38:notes">
            <a:extLst>
              <a:ext uri="{FF2B5EF4-FFF2-40B4-BE49-F238E27FC236}">
                <a16:creationId xmlns:a16="http://schemas.microsoft.com/office/drawing/2014/main" id="{6FF5B05A-BA28-6AF7-F133-1BFA4CCB19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b06349d8c9_0_38:notes">
            <a:extLst>
              <a:ext uri="{FF2B5EF4-FFF2-40B4-BE49-F238E27FC236}">
                <a16:creationId xmlns:a16="http://schemas.microsoft.com/office/drawing/2014/main" id="{9C04EA1C-D19E-2731-B63C-D37E4AF1B4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2952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b06349d8c9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b06349d8c9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9444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b06349d8c9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b06349d8c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245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86B6AF35-8E91-ED37-B519-26BA6D1CCD1F}"/>
            </a:ext>
          </a:extLst>
        </p:cNvPr>
        <p:cNvGrpSpPr/>
        <p:nvPr/>
      </p:nvGrpSpPr>
      <p:grpSpPr>
        <a:xfrm>
          <a:off x="0" y="0"/>
          <a:ext cx="0" cy="0"/>
          <a:chOff x="0" y="0"/>
          <a:chExt cx="0" cy="0"/>
        </a:xfrm>
      </p:grpSpPr>
      <p:sp>
        <p:nvSpPr>
          <p:cNvPr id="116" name="Google Shape;116;g2b06349d8c9_0_66:notes">
            <a:extLst>
              <a:ext uri="{FF2B5EF4-FFF2-40B4-BE49-F238E27FC236}">
                <a16:creationId xmlns:a16="http://schemas.microsoft.com/office/drawing/2014/main" id="{185D2300-22D6-219C-86E0-E8D9E5A85B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b06349d8c9_0_66:notes">
            <a:extLst>
              <a:ext uri="{FF2B5EF4-FFF2-40B4-BE49-F238E27FC236}">
                <a16:creationId xmlns:a16="http://schemas.microsoft.com/office/drawing/2014/main" id="{9C9344DB-2FD4-E60F-78CC-D730433412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2724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9B74A95E-FCAF-7466-CF42-521E6F48C2E8}"/>
            </a:ext>
          </a:extLst>
        </p:cNvPr>
        <p:cNvGrpSpPr/>
        <p:nvPr/>
      </p:nvGrpSpPr>
      <p:grpSpPr>
        <a:xfrm>
          <a:off x="0" y="0"/>
          <a:ext cx="0" cy="0"/>
          <a:chOff x="0" y="0"/>
          <a:chExt cx="0" cy="0"/>
        </a:xfrm>
      </p:grpSpPr>
      <p:sp>
        <p:nvSpPr>
          <p:cNvPr id="116" name="Google Shape;116;g2b06349d8c9_0_66:notes">
            <a:extLst>
              <a:ext uri="{FF2B5EF4-FFF2-40B4-BE49-F238E27FC236}">
                <a16:creationId xmlns:a16="http://schemas.microsoft.com/office/drawing/2014/main" id="{ACE30562-57F4-45C1-2BEB-FE425FB0FC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b06349d8c9_0_66:notes">
            <a:extLst>
              <a:ext uri="{FF2B5EF4-FFF2-40B4-BE49-F238E27FC236}">
                <a16:creationId xmlns:a16="http://schemas.microsoft.com/office/drawing/2014/main" id="{97026333-F925-DEE6-034A-22FD29C06D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6755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25DB8BA7-7560-37E1-13AC-EAF53C7F70CD}"/>
            </a:ext>
          </a:extLst>
        </p:cNvPr>
        <p:cNvGrpSpPr/>
        <p:nvPr/>
      </p:nvGrpSpPr>
      <p:grpSpPr>
        <a:xfrm>
          <a:off x="0" y="0"/>
          <a:ext cx="0" cy="0"/>
          <a:chOff x="0" y="0"/>
          <a:chExt cx="0" cy="0"/>
        </a:xfrm>
      </p:grpSpPr>
      <p:sp>
        <p:nvSpPr>
          <p:cNvPr id="116" name="Google Shape;116;g2b06349d8c9_0_66:notes">
            <a:extLst>
              <a:ext uri="{FF2B5EF4-FFF2-40B4-BE49-F238E27FC236}">
                <a16:creationId xmlns:a16="http://schemas.microsoft.com/office/drawing/2014/main" id="{F8E4A70A-2C24-52BF-2CDB-973941F10E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b06349d8c9_0_66:notes">
            <a:extLst>
              <a:ext uri="{FF2B5EF4-FFF2-40B4-BE49-F238E27FC236}">
                <a16:creationId xmlns:a16="http://schemas.microsoft.com/office/drawing/2014/main" id="{3967020B-4AB9-4C0A-F027-20B46217F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7979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grpSp>
        <p:nvGrpSpPr>
          <p:cNvPr id="5" name="Group 4">
            <a:extLst>
              <a:ext uri="{FF2B5EF4-FFF2-40B4-BE49-F238E27FC236}">
                <a16:creationId xmlns:a16="http://schemas.microsoft.com/office/drawing/2014/main" id="{BAEFE420-0C07-4D1B-9094-F2C452FF1011}"/>
              </a:ext>
            </a:extLst>
          </p:cNvPr>
          <p:cNvGrpSpPr/>
          <p:nvPr userDrawn="1"/>
        </p:nvGrpSpPr>
        <p:grpSpPr>
          <a:xfrm>
            <a:off x="0" y="0"/>
            <a:ext cx="9238130" cy="842554"/>
            <a:chOff x="0" y="0"/>
            <a:chExt cx="12324746"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212027" y="677208"/>
              <a:ext cx="1619033"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14"/>
            <a:stretch>
              <a:fillRect/>
            </a:stretch>
          </p:blipFill>
          <p:spPr>
            <a:xfrm>
              <a:off x="9551489" y="350125"/>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9718342" y="242403"/>
              <a:ext cx="260640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15"/>
            <a:stretch>
              <a:fillRect/>
            </a:stretch>
          </p:blipFill>
          <p:spPr>
            <a:xfrm>
              <a:off x="10109986" y="703941"/>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815926" y="703941"/>
              <a:ext cx="171452" cy="171451"/>
            </a:xfrm>
            <a:prstGeom prst="rect">
              <a:avLst/>
            </a:prstGeom>
          </p:spPr>
        </p:pic>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dirty="0"/>
              <a:t> </a:t>
            </a:r>
            <a:endParaRPr dirty="0"/>
          </a:p>
        </p:txBody>
      </p:sp>
      <p:pic>
        <p:nvPicPr>
          <p:cNvPr id="8" name="Picture 2" descr="Digital Identity Protection - An imperative for the Creator Economy"/>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0" y="832590"/>
            <a:ext cx="5056908" cy="431091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Lst>
          </a:blip>
          <a:srcRect l="10363" t="17606" r="10000" b="2878"/>
          <a:stretch/>
        </p:blipFill>
        <p:spPr>
          <a:xfrm>
            <a:off x="5056908" y="799796"/>
            <a:ext cx="4087092" cy="4343704"/>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87928" y="923007"/>
            <a:ext cx="8461782" cy="3967648"/>
          </a:xfrm>
          <a:prstGeom prst="rect">
            <a:avLst/>
          </a:prstGeom>
        </p:spPr>
        <p:txBody>
          <a:bodyPr spcFirstLastPara="1" wrap="square" lIns="91425" tIns="91425" rIns="91425" bIns="91425" anchor="t" anchorCtr="0">
            <a:noAutofit/>
          </a:bodyPr>
          <a:lstStyle/>
          <a:p>
            <a:pPr marL="114300" lvl="0" algn="just">
              <a:lnSpc>
                <a:spcPct val="150000"/>
              </a:lnSpc>
              <a:buSzPts val="1800"/>
            </a:pPr>
            <a:r>
              <a:rPr lang="en-US" sz="2400" b="1" dirty="0">
                <a:solidFill>
                  <a:schemeClr val="tx1"/>
                </a:solidFill>
                <a:latin typeface="Calibri" panose="020F0502020204030204" pitchFamily="34" charset="0"/>
                <a:cs typeface="Calibri" panose="020F0502020204030204" pitchFamily="34" charset="0"/>
              </a:rPr>
              <a:t>Digital Identity </a:t>
            </a:r>
            <a:r>
              <a:rPr lang="en-US" sz="2400" dirty="0">
                <a:solidFill>
                  <a:schemeClr val="tx1"/>
                </a:solidFill>
                <a:latin typeface="Calibri" panose="020F0502020204030204" pitchFamily="34" charset="0"/>
                <a:cs typeface="Calibri" panose="020F0502020204030204" pitchFamily="34" charset="0"/>
              </a:rPr>
              <a:t>refers to representing an individual's identity in the digital realm. It encompasses collecting personal information, attributes, and credentials associated with an individual in the online space. A digital identity serves as a virtual representation of an individual's real-world identity, often used for online authentication, access to services, and participation in digital transactions.</a:t>
            </a:r>
          </a:p>
        </p:txBody>
      </p:sp>
      <p:sp>
        <p:nvSpPr>
          <p:cNvPr id="4"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Digital Identity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282755" y="936355"/>
            <a:ext cx="4926554" cy="2132427"/>
          </a:xfrm>
          <a:prstGeom prst="rect">
            <a:avLst/>
          </a:prstGeom>
        </p:spPr>
        <p:txBody>
          <a:bodyPr spcFirstLastPara="1" wrap="square" lIns="91425" tIns="91425" rIns="91425" bIns="91425" anchor="t" anchorCtr="0">
            <a:noAutofit/>
          </a:bodyPr>
          <a:lstStyle/>
          <a:p>
            <a:pPr marL="0" marR="0" lvl="0" indent="0" algn="just" rtl="0">
              <a:lnSpc>
                <a:spcPct val="95000"/>
              </a:lnSpc>
              <a:spcBef>
                <a:spcPts val="0"/>
              </a:spcBef>
              <a:spcAft>
                <a:spcPts val="0"/>
              </a:spcAft>
              <a:buSzPts val="935"/>
              <a:buNone/>
            </a:pPr>
            <a:r>
              <a:rPr lang="en-GB" sz="2400" b="1" dirty="0">
                <a:solidFill>
                  <a:schemeClr val="tx1"/>
                </a:solidFill>
                <a:latin typeface="Calibri" panose="020F0502020204030204" pitchFamily="34" charset="0"/>
                <a:ea typeface="Times New Roman"/>
                <a:cs typeface="Calibri" panose="020F0502020204030204" pitchFamily="34" charset="0"/>
                <a:sym typeface="Times New Roman"/>
              </a:rPr>
              <a:t>Multi-Factor Authentication (MFA)</a:t>
            </a: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GB" sz="2000" dirty="0">
                <a:solidFill>
                  <a:schemeClr val="tx1"/>
                </a:solidFill>
                <a:latin typeface="Calibri" panose="020F0502020204030204" pitchFamily="34" charset="0"/>
                <a:ea typeface="Times New Roman"/>
                <a:cs typeface="Calibri" panose="020F0502020204030204" pitchFamily="34" charset="0"/>
                <a:sym typeface="Times New Roman"/>
              </a:rPr>
              <a:t>involves combining multiple factors (e.g., passwords, biometrics, one-time codes) for user authentication.</a:t>
            </a:r>
            <a:endParaRPr sz="2000" dirty="0">
              <a:solidFill>
                <a:schemeClr val="tx1"/>
              </a:solidFill>
              <a:latin typeface="Calibri" panose="020F0502020204030204" pitchFamily="34" charset="0"/>
              <a:ea typeface="Times New Roman"/>
              <a:cs typeface="Calibri" panose="020F0502020204030204" pitchFamily="34" charset="0"/>
              <a:sym typeface="Times New Roman"/>
            </a:endParaRPr>
          </a:p>
          <a:p>
            <a:pPr marL="0" marR="0" lvl="0" indent="0" algn="just" rtl="0">
              <a:lnSpc>
                <a:spcPct val="95000"/>
              </a:lnSpc>
              <a:spcBef>
                <a:spcPts val="0"/>
              </a:spcBef>
              <a:spcAft>
                <a:spcPts val="0"/>
              </a:spcAft>
              <a:buSzPts val="935"/>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Example:</a:t>
            </a:r>
            <a:r>
              <a:rPr lang="en-GB" sz="2000" dirty="0">
                <a:solidFill>
                  <a:schemeClr val="tx1"/>
                </a:solidFill>
                <a:latin typeface="Calibri" panose="020F0502020204030204" pitchFamily="34" charset="0"/>
                <a:ea typeface="Times New Roman"/>
                <a:cs typeface="Calibri" panose="020F0502020204030204" pitchFamily="34" charset="0"/>
                <a:sym typeface="Times New Roman"/>
              </a:rPr>
              <a:t> Logging into an online account requires both a password and a fingerprint scan, adding an extra layer of security.</a:t>
            </a:r>
            <a:endParaRPr sz="2000" dirty="0">
              <a:solidFill>
                <a:schemeClr val="tx1"/>
              </a:solidFill>
              <a:latin typeface="Calibri" panose="020F0502020204030204" pitchFamily="34" charset="0"/>
              <a:ea typeface="Times New Roman"/>
              <a:cs typeface="Calibri" panose="020F0502020204030204" pitchFamily="34" charset="0"/>
              <a:sym typeface="Times New Roman"/>
            </a:endParaRPr>
          </a:p>
        </p:txBody>
      </p:sp>
      <p:sp>
        <p:nvSpPr>
          <p:cNvPr id="5"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Key Components</a:t>
            </a:r>
          </a:p>
        </p:txBody>
      </p:sp>
      <p:pic>
        <p:nvPicPr>
          <p:cNvPr id="1026" name="Picture 2" descr="Multi-Factor Authentication - San Bernardino City Unified School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1655" y="1011382"/>
            <a:ext cx="3797587" cy="190647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4"/>
          <a:srcRect l="2888" t="6303" r="3779" b="9091"/>
          <a:stretch/>
        </p:blipFill>
        <p:spPr>
          <a:xfrm>
            <a:off x="5271655" y="3068782"/>
            <a:ext cx="3797587" cy="1988127"/>
          </a:xfrm>
          <a:prstGeom prst="rect">
            <a:avLst/>
          </a:prstGeom>
        </p:spPr>
      </p:pic>
      <p:sp>
        <p:nvSpPr>
          <p:cNvPr id="3" name="Rectangle 2"/>
          <p:cNvSpPr/>
          <p:nvPr/>
        </p:nvSpPr>
        <p:spPr>
          <a:xfrm>
            <a:off x="282755" y="3124199"/>
            <a:ext cx="4926554" cy="1905137"/>
          </a:xfrm>
          <a:prstGeom prst="rect">
            <a:avLst/>
          </a:prstGeom>
        </p:spPr>
        <p:txBody>
          <a:bodyPr wrap="square">
            <a:spAutoFit/>
          </a:bodyPr>
          <a:lstStyle/>
          <a:p>
            <a:pPr lvl="0" algn="just">
              <a:lnSpc>
                <a:spcPct val="95000"/>
              </a:lnSpc>
              <a:spcBef>
                <a:spcPts val="1200"/>
              </a:spcBef>
              <a:buSzPts val="935"/>
            </a:pP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Tokenization</a:t>
            </a: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replaces sensitive data with unique tokens to enhance security and prevent unauthorized access.</a:t>
            </a:r>
          </a:p>
          <a:p>
            <a:pPr lvl="0" algn="just">
              <a:lnSpc>
                <a:spcPct val="95000"/>
              </a:lnSpc>
              <a:buSzPts val="935"/>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Credit card tokenization, where the actual card details are replaced with a unique token for secure transactions.</a:t>
            </a:r>
          </a:p>
        </p:txBody>
      </p:sp>
    </p:spTree>
    <p:extLst>
      <p:ext uri="{BB962C8B-B14F-4D97-AF65-F5344CB8AC3E}">
        <p14:creationId xmlns:p14="http://schemas.microsoft.com/office/powerpoint/2010/main" val="4212592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5"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Key Components</a:t>
            </a:r>
          </a:p>
        </p:txBody>
      </p:sp>
      <p:sp>
        <p:nvSpPr>
          <p:cNvPr id="3" name="Rectangle 2"/>
          <p:cNvSpPr/>
          <p:nvPr/>
        </p:nvSpPr>
        <p:spPr>
          <a:xfrm>
            <a:off x="387927" y="971973"/>
            <a:ext cx="5507182" cy="3717941"/>
          </a:xfrm>
          <a:prstGeom prst="rect">
            <a:avLst/>
          </a:prstGeom>
        </p:spPr>
        <p:txBody>
          <a:bodyPr wrap="square">
            <a:spAutoFit/>
          </a:bodyPr>
          <a:lstStyle/>
          <a:p>
            <a:pPr lvl="0" algn="just">
              <a:lnSpc>
                <a:spcPct val="95000"/>
              </a:lnSpc>
              <a:spcBef>
                <a:spcPts val="1200"/>
              </a:spcBef>
              <a:buSzPts val="935"/>
            </a:pP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Device Fingerprints</a:t>
            </a: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capture unique characteristics of a device's hardware and settings for identification.</a:t>
            </a:r>
          </a:p>
          <a:p>
            <a:pPr lvl="0" algn="just">
              <a:lnSpc>
                <a:spcPct val="95000"/>
              </a:lnSpc>
              <a:buSzPts val="935"/>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Apple's Touch ID or Face ID, where the unique features of an iPhone or iPad are used for user authentication.</a:t>
            </a:r>
            <a:endParaRPr lang="en-US" sz="2000" dirty="0">
              <a:solidFill>
                <a:schemeClr val="tx1"/>
              </a:solidFill>
              <a:highlight>
                <a:srgbClr val="343541"/>
              </a:highlight>
              <a:latin typeface="Calibri" panose="020F0502020204030204" pitchFamily="34" charset="0"/>
              <a:ea typeface="Times New Roman"/>
              <a:cs typeface="Calibri" panose="020F0502020204030204" pitchFamily="34" charset="0"/>
              <a:sym typeface="Times New Roman"/>
            </a:endParaRPr>
          </a:p>
          <a:p>
            <a:pPr marL="0" lvl="0" indent="0" algn="just">
              <a:lnSpc>
                <a:spcPct val="95000"/>
              </a:lnSpc>
              <a:buSzPts val="688"/>
              <a:buNone/>
            </a:pP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One-Time Passwords (OTP)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are time-sensitive codes generated on-the-fly for authentication.</a:t>
            </a:r>
          </a:p>
          <a:p>
            <a:pPr marL="0" lvl="0" indent="0" algn="just">
              <a:lnSpc>
                <a:spcPct val="95000"/>
              </a:lnSpc>
              <a:buSzPts val="688"/>
              <a:buNone/>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Receiving a temporary code on a mobile device that must be entered during login to verify the user's identity.</a:t>
            </a:r>
          </a:p>
        </p:txBody>
      </p:sp>
      <p:pic>
        <p:nvPicPr>
          <p:cNvPr id="4" name="Picture 3"/>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l="11476" t="29691" r="11478" b="16624"/>
          <a:stretch/>
        </p:blipFill>
        <p:spPr>
          <a:xfrm>
            <a:off x="5895109" y="971974"/>
            <a:ext cx="3164437" cy="1528772"/>
          </a:xfrm>
          <a:prstGeom prst="rect">
            <a:avLst/>
          </a:prstGeom>
        </p:spPr>
      </p:pic>
      <p:pic>
        <p:nvPicPr>
          <p:cNvPr id="6" name="Picture 5"/>
          <p:cNvPicPr>
            <a:picLocks noChangeAspect="1"/>
          </p:cNvPicPr>
          <p:nvPr/>
        </p:nvPicPr>
        <p:blipFill>
          <a:blip r:embed="rId5"/>
          <a:stretch>
            <a:fillRect/>
          </a:stretch>
        </p:blipFill>
        <p:spPr>
          <a:xfrm>
            <a:off x="5895109" y="2704569"/>
            <a:ext cx="3164437" cy="2352340"/>
          </a:xfrm>
          <a:prstGeom prst="rect">
            <a:avLst/>
          </a:prstGeom>
        </p:spPr>
      </p:pic>
    </p:spTree>
    <p:extLst>
      <p:ext uri="{BB962C8B-B14F-4D97-AF65-F5344CB8AC3E}">
        <p14:creationId xmlns:p14="http://schemas.microsoft.com/office/powerpoint/2010/main" val="3147117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5"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Key Components</a:t>
            </a:r>
          </a:p>
        </p:txBody>
      </p:sp>
      <p:sp>
        <p:nvSpPr>
          <p:cNvPr id="3" name="Rectangle 2"/>
          <p:cNvSpPr/>
          <p:nvPr/>
        </p:nvSpPr>
        <p:spPr>
          <a:xfrm>
            <a:off x="387927" y="971973"/>
            <a:ext cx="5507182" cy="3717941"/>
          </a:xfrm>
          <a:prstGeom prst="rect">
            <a:avLst/>
          </a:prstGeom>
        </p:spPr>
        <p:txBody>
          <a:bodyPr wrap="square">
            <a:spAutoFit/>
          </a:bodyPr>
          <a:lstStyle/>
          <a:p>
            <a:pPr lvl="0" algn="just">
              <a:lnSpc>
                <a:spcPct val="95000"/>
              </a:lnSpc>
              <a:buSzPts val="688"/>
            </a:pP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Randomized Access Codes</a:t>
            </a: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access codes are used for secure entry or transaction verification.</a:t>
            </a:r>
          </a:p>
          <a:p>
            <a:pPr lvl="0" algn="just">
              <a:lnSpc>
                <a:spcPct val="95000"/>
              </a:lnSpc>
              <a:buSzPts val="688"/>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Generating a unique and unpredictable access code sent to a user's email for secure login.</a:t>
            </a:r>
            <a:endParaRPr lang="en-US" sz="2000" b="1" dirty="0">
              <a:solidFill>
                <a:schemeClr val="tx1"/>
              </a:solidFill>
              <a:latin typeface="Calibri" panose="020F0502020204030204" pitchFamily="34" charset="0"/>
              <a:ea typeface="Times New Roman"/>
              <a:cs typeface="Calibri" panose="020F0502020204030204" pitchFamily="34" charset="0"/>
              <a:sym typeface="Times New Roman"/>
            </a:endParaRPr>
          </a:p>
          <a:p>
            <a:pPr lvl="0" algn="just">
              <a:lnSpc>
                <a:spcPct val="95000"/>
              </a:lnSpc>
              <a:buSzPts val="688"/>
            </a:pPr>
            <a:endParaRPr lang="en-US" sz="2000" b="1" dirty="0">
              <a:solidFill>
                <a:schemeClr val="tx1"/>
              </a:solidFill>
              <a:latin typeface="Calibri" panose="020F0502020204030204" pitchFamily="34" charset="0"/>
              <a:ea typeface="Times New Roman"/>
              <a:cs typeface="Calibri" panose="020F0502020204030204" pitchFamily="34" charset="0"/>
              <a:sym typeface="Times New Roman"/>
            </a:endParaRPr>
          </a:p>
          <a:p>
            <a:pPr lvl="0" algn="just">
              <a:lnSpc>
                <a:spcPct val="95000"/>
              </a:lnSpc>
              <a:buSzPts val="688"/>
            </a:pPr>
            <a:endParaRPr lang="en-US" sz="2000" b="1" dirty="0">
              <a:solidFill>
                <a:schemeClr val="tx1"/>
              </a:solidFill>
              <a:latin typeface="Calibri" panose="020F0502020204030204" pitchFamily="34" charset="0"/>
              <a:ea typeface="Times New Roman"/>
              <a:cs typeface="Calibri" panose="020F0502020204030204" pitchFamily="34" charset="0"/>
              <a:sym typeface="Times New Roman"/>
            </a:endParaRPr>
          </a:p>
          <a:p>
            <a:pPr lvl="0" algn="just">
              <a:lnSpc>
                <a:spcPct val="95000"/>
              </a:lnSpc>
              <a:buSzPts val="688"/>
            </a:pPr>
            <a:r>
              <a:rPr lang="en-US" sz="2400" b="1" dirty="0" err="1">
                <a:solidFill>
                  <a:schemeClr val="tx1"/>
                </a:solidFill>
                <a:latin typeface="Calibri" panose="020F0502020204030204" pitchFamily="34" charset="0"/>
                <a:ea typeface="Times New Roman"/>
                <a:cs typeface="Calibri" panose="020F0502020204030204" pitchFamily="34" charset="0"/>
                <a:sym typeface="Times New Roman"/>
              </a:rPr>
              <a:t>Blockchain</a:t>
            </a: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-Based Identifiers</a:t>
            </a: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err="1">
                <a:solidFill>
                  <a:schemeClr val="tx1"/>
                </a:solidFill>
                <a:latin typeface="Calibri" panose="020F0502020204030204" pitchFamily="34" charset="0"/>
                <a:ea typeface="Times New Roman"/>
                <a:cs typeface="Calibri" panose="020F0502020204030204" pitchFamily="34" charset="0"/>
                <a:sym typeface="Times New Roman"/>
              </a:rPr>
              <a:t>identifiers</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like Decentralized Identifiers (DIDs), offer a unique and secure way to manage digital identities.</a:t>
            </a:r>
          </a:p>
          <a:p>
            <a:pPr lvl="0" algn="just">
              <a:lnSpc>
                <a:spcPct val="95000"/>
              </a:lnSpc>
              <a:buSzPts val="688"/>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Storing verifiable credentials on a </a:t>
            </a:r>
            <a:r>
              <a:rPr lang="en-US" sz="2000" dirty="0" err="1">
                <a:solidFill>
                  <a:schemeClr val="tx1"/>
                </a:solidFill>
                <a:latin typeface="Calibri" panose="020F0502020204030204" pitchFamily="34" charset="0"/>
                <a:ea typeface="Times New Roman"/>
                <a:cs typeface="Calibri" panose="020F0502020204030204" pitchFamily="34" charset="0"/>
                <a:sym typeface="Times New Roman"/>
              </a:rPr>
              <a:t>blockchain</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to provide a tamper-resistant and decentralized identity management solution</a:t>
            </a:r>
            <a:r>
              <a:rPr lang="en-US" sz="1050" dirty="0">
                <a:solidFill>
                  <a:schemeClr val="tx1"/>
                </a:solidFill>
                <a:latin typeface="Calibri" panose="020F0502020204030204" pitchFamily="34" charset="0"/>
                <a:ea typeface="Times New Roman"/>
                <a:cs typeface="Calibri" panose="020F0502020204030204" pitchFamily="34" charset="0"/>
                <a:sym typeface="Times New Roman"/>
              </a:rPr>
              <a:t>.</a:t>
            </a:r>
          </a:p>
        </p:txBody>
      </p:sp>
      <p:pic>
        <p:nvPicPr>
          <p:cNvPr id="2" name="Picture 1"/>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l="19061" t="30448" r="24003" b="27303"/>
          <a:stretch/>
        </p:blipFill>
        <p:spPr>
          <a:xfrm>
            <a:off x="5900982" y="1052947"/>
            <a:ext cx="3152963" cy="1738744"/>
          </a:xfrm>
          <a:prstGeom prst="rect">
            <a:avLst/>
          </a:prstGeom>
        </p:spPr>
      </p:pic>
      <p:pic>
        <p:nvPicPr>
          <p:cNvPr id="7" name="Picture 6"/>
          <p:cNvPicPr>
            <a:picLocks noChangeAspect="1"/>
          </p:cNvPicPr>
          <p:nvPr/>
        </p:nvPicPr>
        <p:blipFill>
          <a:blip r:embed="rId5"/>
          <a:stretch>
            <a:fillRect/>
          </a:stretch>
        </p:blipFill>
        <p:spPr>
          <a:xfrm>
            <a:off x="5895109" y="2968363"/>
            <a:ext cx="3158836" cy="2061029"/>
          </a:xfrm>
          <a:prstGeom prst="rect">
            <a:avLst/>
          </a:prstGeom>
        </p:spPr>
      </p:pic>
    </p:spTree>
    <p:extLst>
      <p:ext uri="{BB962C8B-B14F-4D97-AF65-F5344CB8AC3E}">
        <p14:creationId xmlns:p14="http://schemas.microsoft.com/office/powerpoint/2010/main" val="208639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5"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Key Components</a:t>
            </a:r>
          </a:p>
        </p:txBody>
      </p:sp>
      <p:sp>
        <p:nvSpPr>
          <p:cNvPr id="3" name="Rectangle 2"/>
          <p:cNvSpPr/>
          <p:nvPr/>
        </p:nvSpPr>
        <p:spPr>
          <a:xfrm>
            <a:off x="387926" y="971973"/>
            <a:ext cx="8451273" cy="1320361"/>
          </a:xfrm>
          <a:prstGeom prst="rect">
            <a:avLst/>
          </a:prstGeom>
        </p:spPr>
        <p:txBody>
          <a:bodyPr wrap="square">
            <a:spAutoFit/>
          </a:bodyPr>
          <a:lstStyle/>
          <a:p>
            <a:pPr lvl="0" algn="just">
              <a:lnSpc>
                <a:spcPct val="95000"/>
              </a:lnSpc>
              <a:buSzPts val="688"/>
            </a:pPr>
            <a:r>
              <a:rPr lang="en-GB" sz="2400" b="1" dirty="0" err="1">
                <a:solidFill>
                  <a:schemeClr val="tx1"/>
                </a:solidFill>
                <a:latin typeface="Calibri" panose="020F0502020204030204" pitchFamily="34" charset="0"/>
                <a:ea typeface="Times New Roman"/>
                <a:cs typeface="Calibri" panose="020F0502020204030204" pitchFamily="34" charset="0"/>
                <a:sym typeface="Times New Roman"/>
              </a:rPr>
              <a:t>Behavioral</a:t>
            </a:r>
            <a:r>
              <a:rPr lang="en-GB" sz="2400" b="1" dirty="0">
                <a:solidFill>
                  <a:schemeClr val="tx1"/>
                </a:solidFill>
                <a:latin typeface="Calibri" panose="020F0502020204030204" pitchFamily="34" charset="0"/>
                <a:ea typeface="Times New Roman"/>
                <a:cs typeface="Calibri" panose="020F0502020204030204" pitchFamily="34" charset="0"/>
                <a:sym typeface="Times New Roman"/>
              </a:rPr>
              <a:t> Biometrics</a:t>
            </a: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GB" sz="2000" dirty="0" err="1">
                <a:solidFill>
                  <a:schemeClr val="tx1"/>
                </a:solidFill>
                <a:latin typeface="Calibri" panose="020F0502020204030204" pitchFamily="34" charset="0"/>
                <a:ea typeface="Times New Roman"/>
                <a:cs typeface="Calibri" panose="020F0502020204030204" pitchFamily="34" charset="0"/>
                <a:sym typeface="Times New Roman"/>
              </a:rPr>
              <a:t>analyze</a:t>
            </a:r>
            <a:r>
              <a:rPr lang="en-GB" sz="2000" dirty="0">
                <a:solidFill>
                  <a:schemeClr val="tx1"/>
                </a:solidFill>
                <a:latin typeface="Calibri" panose="020F0502020204030204" pitchFamily="34" charset="0"/>
                <a:ea typeface="Times New Roman"/>
                <a:cs typeface="Calibri" panose="020F0502020204030204" pitchFamily="34" charset="0"/>
                <a:sym typeface="Times New Roman"/>
              </a:rPr>
              <a:t> patterns of user </a:t>
            </a:r>
            <a:r>
              <a:rPr lang="en-GB" sz="2000" dirty="0" err="1">
                <a:solidFill>
                  <a:schemeClr val="tx1"/>
                </a:solidFill>
                <a:latin typeface="Calibri" panose="020F0502020204030204" pitchFamily="34" charset="0"/>
                <a:ea typeface="Times New Roman"/>
                <a:cs typeface="Calibri" panose="020F0502020204030204" pitchFamily="34" charset="0"/>
                <a:sym typeface="Times New Roman"/>
              </a:rPr>
              <a:t>behavior</a:t>
            </a:r>
            <a:r>
              <a:rPr lang="en-GB" sz="2000" dirty="0">
                <a:solidFill>
                  <a:schemeClr val="tx1"/>
                </a:solidFill>
                <a:latin typeface="Calibri" panose="020F0502020204030204" pitchFamily="34" charset="0"/>
                <a:ea typeface="Times New Roman"/>
                <a:cs typeface="Calibri" panose="020F0502020204030204" pitchFamily="34" charset="0"/>
                <a:sym typeface="Times New Roman"/>
              </a:rPr>
              <a:t> for identity verification.</a:t>
            </a:r>
          </a:p>
          <a:p>
            <a:pPr lvl="0" algn="just">
              <a:lnSpc>
                <a:spcPct val="95000"/>
              </a:lnSpc>
              <a:buSzPts val="688"/>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Example: </a:t>
            </a:r>
            <a:r>
              <a:rPr lang="en-GB" sz="2000" dirty="0">
                <a:solidFill>
                  <a:schemeClr val="tx1"/>
                </a:solidFill>
                <a:latin typeface="Calibri" panose="020F0502020204030204" pitchFamily="34" charset="0"/>
                <a:ea typeface="Times New Roman"/>
                <a:cs typeface="Calibri" panose="020F0502020204030204" pitchFamily="34" charset="0"/>
                <a:sym typeface="Times New Roman"/>
              </a:rPr>
              <a:t>Keystroke dynamics, where the unique typing speed and rhythm of an individual are used for authentication.</a:t>
            </a:r>
            <a:endParaRPr lang="en-GB" sz="2000" dirty="0">
              <a:solidFill>
                <a:schemeClr val="tx1"/>
              </a:solidFill>
              <a:highlight>
                <a:srgbClr val="343541"/>
              </a:highlight>
              <a:latin typeface="Calibri" panose="020F0502020204030204" pitchFamily="34" charset="0"/>
              <a:ea typeface="Times New Roman"/>
              <a:cs typeface="Calibri" panose="020F0502020204030204" pitchFamily="34" charset="0"/>
              <a:sym typeface="Times New Roman"/>
            </a:endParaRPr>
          </a:p>
        </p:txBody>
      </p:sp>
      <p:pic>
        <p:nvPicPr>
          <p:cNvPr id="4" name="Picture 3"/>
          <p:cNvPicPr>
            <a:picLocks noChangeAspect="1"/>
          </p:cNvPicPr>
          <p:nvPr/>
        </p:nvPicPr>
        <p:blipFill rotWithShape="1">
          <a:blip r:embed="rId3"/>
          <a:srcRect l="9744" t="30570" r="5408" b="19361"/>
          <a:stretch/>
        </p:blipFill>
        <p:spPr>
          <a:xfrm>
            <a:off x="695363" y="2233857"/>
            <a:ext cx="7836397" cy="2888672"/>
          </a:xfrm>
          <a:prstGeom prst="rect">
            <a:avLst/>
          </a:prstGeom>
        </p:spPr>
      </p:pic>
    </p:spTree>
    <p:extLst>
      <p:ext uri="{BB962C8B-B14F-4D97-AF65-F5344CB8AC3E}">
        <p14:creationId xmlns:p14="http://schemas.microsoft.com/office/powerpoint/2010/main" val="31411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5"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Key Components</a:t>
            </a:r>
          </a:p>
        </p:txBody>
      </p:sp>
      <p:sp>
        <p:nvSpPr>
          <p:cNvPr id="4" name="Rectangle 3"/>
          <p:cNvSpPr/>
          <p:nvPr/>
        </p:nvSpPr>
        <p:spPr>
          <a:xfrm>
            <a:off x="210207" y="832812"/>
            <a:ext cx="6190594" cy="4370427"/>
          </a:xfrm>
          <a:prstGeom prst="rect">
            <a:avLst/>
          </a:prstGeom>
        </p:spPr>
        <p:txBody>
          <a:bodyPr wrap="square">
            <a:spAutoFit/>
          </a:bodyPr>
          <a:lstStyle/>
          <a:p>
            <a:pPr lvl="0" algn="just"/>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Biometric Data</a:t>
            </a: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consists of unique physical or behavioral characteristics of an individual used for identification.</a:t>
            </a:r>
          </a:p>
          <a:p>
            <a:pPr lvl="0" algn="just"/>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Fingerprint recognition technology, where the unique patterns of ridges and valleys on an individual's fingertips serve as a distinct biometric identifier.</a:t>
            </a:r>
          </a:p>
          <a:p>
            <a:pPr lvl="0" algn="just">
              <a:spcBef>
                <a:spcPts val="1200"/>
              </a:spcBef>
              <a:buClr>
                <a:schemeClr val="dk1"/>
              </a:buClr>
              <a:buSzPts val="1100"/>
            </a:pP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Digital signatures</a:t>
            </a: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use cryptographic algorithms to generate unique identifiers for verifying the authenticity and integrity of digital messages.</a:t>
            </a:r>
          </a:p>
          <a:p>
            <a:pPr lvl="0" algn="just"/>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Example:</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Signing a document electronically using a private cryptographic key to ensure that the signature is unique to the signer and the document has not been altered.</a:t>
            </a:r>
          </a:p>
        </p:txBody>
      </p:sp>
      <p:pic>
        <p:nvPicPr>
          <p:cNvPr id="8" name="Picture 7"/>
          <p:cNvPicPr>
            <a:picLocks noChangeAspect="1"/>
          </p:cNvPicPr>
          <p:nvPr/>
        </p:nvPicPr>
        <p:blipFill rotWithShape="1">
          <a:blip r:embed="rId3"/>
          <a:srcRect l="7715" t="8682" r="11454" b="9681"/>
          <a:stretch/>
        </p:blipFill>
        <p:spPr>
          <a:xfrm>
            <a:off x="6571797" y="1048256"/>
            <a:ext cx="2516784" cy="1868126"/>
          </a:xfrm>
          <a:prstGeom prst="rect">
            <a:avLst/>
          </a:prstGeom>
        </p:spPr>
      </p:pic>
      <p:pic>
        <p:nvPicPr>
          <p:cNvPr id="9" name="Picture 8"/>
          <p:cNvPicPr>
            <a:picLocks noChangeAspect="1"/>
          </p:cNvPicPr>
          <p:nvPr/>
        </p:nvPicPr>
        <p:blipFill rotWithShape="1">
          <a:blip r:embed="rId4"/>
          <a:srcRect l="22364" t="2339" r="19112" b="2263"/>
          <a:stretch/>
        </p:blipFill>
        <p:spPr>
          <a:xfrm>
            <a:off x="6571797" y="3018026"/>
            <a:ext cx="2516784" cy="1969770"/>
          </a:xfrm>
          <a:prstGeom prst="rect">
            <a:avLst/>
          </a:prstGeom>
        </p:spPr>
      </p:pic>
    </p:spTree>
    <p:extLst>
      <p:ext uri="{BB962C8B-B14F-4D97-AF65-F5344CB8AC3E}">
        <p14:creationId xmlns:p14="http://schemas.microsoft.com/office/powerpoint/2010/main" val="22893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0"/>
        <p:cNvGrpSpPr/>
        <p:nvPr/>
      </p:nvGrpSpPr>
      <p:grpSpPr>
        <a:xfrm>
          <a:off x="0" y="0"/>
          <a:ext cx="0" cy="0"/>
          <a:chOff x="0" y="0"/>
          <a:chExt cx="0" cy="0"/>
        </a:xfrm>
      </p:grpSpPr>
      <p:sp>
        <p:nvSpPr>
          <p:cNvPr id="2" name="Rectangle 1"/>
          <p:cNvSpPr/>
          <p:nvPr/>
        </p:nvSpPr>
        <p:spPr>
          <a:xfrm>
            <a:off x="401779" y="944212"/>
            <a:ext cx="8298873" cy="1569660"/>
          </a:xfrm>
          <a:prstGeom prst="rect">
            <a:avLst/>
          </a:prstGeom>
        </p:spPr>
        <p:txBody>
          <a:bodyPr wrap="square">
            <a:spAutoFit/>
          </a:bodyPr>
          <a:lstStyle/>
          <a:p>
            <a:pPr lvl="0" algn="just">
              <a:spcBef>
                <a:spcPts val="1200"/>
              </a:spcBef>
            </a:pPr>
            <a:r>
              <a:rPr lang="en-US" sz="2400" b="1" dirty="0">
                <a:solidFill>
                  <a:schemeClr val="tx1"/>
                </a:solidFill>
                <a:latin typeface="Calibri" panose="020F0502020204030204" pitchFamily="34" charset="0"/>
                <a:ea typeface="Times New Roman"/>
                <a:cs typeface="Calibri" panose="020F0502020204030204" pitchFamily="34" charset="0"/>
                <a:sym typeface="Times New Roman"/>
              </a:rPr>
              <a:t>Cryptographic Keys</a:t>
            </a:r>
            <a:r>
              <a:rPr lang="en-US" sz="1800" b="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1800" dirty="0">
                <a:solidFill>
                  <a:schemeClr val="tx1"/>
                </a:solidFill>
                <a:latin typeface="Calibri" panose="020F0502020204030204" pitchFamily="34" charset="0"/>
                <a:ea typeface="Times New Roman"/>
                <a:cs typeface="Calibri" panose="020F0502020204030204" pitchFamily="34" charset="0"/>
                <a:sym typeface="Times New Roman"/>
              </a:rPr>
              <a:t>Public and private keys in asymmetric cryptography are used for secure communication, where each key pair is extremely difficult to replicate.</a:t>
            </a:r>
          </a:p>
          <a:p>
            <a:pPr lvl="0" algn="just">
              <a:spcAft>
                <a:spcPts val="1200"/>
              </a:spcAft>
            </a:pPr>
            <a:r>
              <a:rPr lang="en-US" sz="1800" b="1" dirty="0">
                <a:solidFill>
                  <a:schemeClr val="tx1"/>
                </a:solidFill>
                <a:latin typeface="Calibri" panose="020F0502020204030204" pitchFamily="34" charset="0"/>
                <a:ea typeface="Times New Roman"/>
                <a:cs typeface="Calibri" panose="020F0502020204030204" pitchFamily="34" charset="0"/>
                <a:sym typeface="Times New Roman"/>
              </a:rPr>
              <a:t>Example: </a:t>
            </a:r>
            <a:r>
              <a:rPr lang="en-US" sz="1800" dirty="0">
                <a:solidFill>
                  <a:schemeClr val="tx1"/>
                </a:solidFill>
                <a:latin typeface="Calibri" panose="020F0502020204030204" pitchFamily="34" charset="0"/>
                <a:ea typeface="Times New Roman"/>
                <a:cs typeface="Calibri" panose="020F0502020204030204" pitchFamily="34" charset="0"/>
                <a:sym typeface="Times New Roman"/>
              </a:rPr>
              <a:t>Using </a:t>
            </a:r>
            <a:r>
              <a:rPr lang="en-US" sz="1800" dirty="0" err="1">
                <a:solidFill>
                  <a:schemeClr val="tx1"/>
                </a:solidFill>
                <a:latin typeface="Calibri" panose="020F0502020204030204" pitchFamily="34" charset="0"/>
                <a:ea typeface="Times New Roman"/>
                <a:cs typeface="Calibri" panose="020F0502020204030204" pitchFamily="34" charset="0"/>
                <a:sym typeface="Times New Roman"/>
              </a:rPr>
              <a:t>Rivest</a:t>
            </a:r>
            <a:r>
              <a:rPr lang="en-US" sz="1800" dirty="0">
                <a:solidFill>
                  <a:schemeClr val="tx1"/>
                </a:solidFill>
                <a:latin typeface="Calibri" panose="020F0502020204030204" pitchFamily="34" charset="0"/>
                <a:ea typeface="Times New Roman"/>
                <a:cs typeface="Calibri" panose="020F0502020204030204" pitchFamily="34" charset="0"/>
                <a:sym typeface="Times New Roman"/>
              </a:rPr>
              <a:t>-Shamir-</a:t>
            </a:r>
            <a:r>
              <a:rPr lang="en-US" sz="1800" dirty="0" err="1">
                <a:solidFill>
                  <a:schemeClr val="tx1"/>
                </a:solidFill>
                <a:latin typeface="Calibri" panose="020F0502020204030204" pitchFamily="34" charset="0"/>
                <a:ea typeface="Times New Roman"/>
                <a:cs typeface="Calibri" panose="020F0502020204030204" pitchFamily="34" charset="0"/>
                <a:sym typeface="Times New Roman"/>
              </a:rPr>
              <a:t>Adleman</a:t>
            </a:r>
            <a:r>
              <a:rPr lang="en-US" sz="1800" dirty="0">
                <a:solidFill>
                  <a:schemeClr val="tx1"/>
                </a:solidFill>
                <a:latin typeface="Calibri" panose="020F0502020204030204" pitchFamily="34" charset="0"/>
                <a:ea typeface="Times New Roman"/>
                <a:cs typeface="Calibri" panose="020F0502020204030204" pitchFamily="34" charset="0"/>
                <a:sym typeface="Times New Roman"/>
              </a:rPr>
              <a:t> (RSA) algorithm, a public key can encrypt information, and only the corresponding private key can decrypt it, ensuring secure communication.</a:t>
            </a:r>
          </a:p>
        </p:txBody>
      </p:sp>
      <p:pic>
        <p:nvPicPr>
          <p:cNvPr id="3" name="Picture 2"/>
          <p:cNvPicPr>
            <a:picLocks noChangeAspect="1"/>
          </p:cNvPicPr>
          <p:nvPr/>
        </p:nvPicPr>
        <p:blipFill rotWithShape="1">
          <a:blip r:embed="rId3"/>
          <a:srcRect l="3579" t="15085" r="3579" b="4594"/>
          <a:stretch/>
        </p:blipFill>
        <p:spPr>
          <a:xfrm>
            <a:off x="682335" y="2421540"/>
            <a:ext cx="7737763" cy="2607659"/>
          </a:xfrm>
          <a:prstGeom prst="rect">
            <a:avLst/>
          </a:prstGeom>
        </p:spPr>
      </p:pic>
      <p:sp>
        <p:nvSpPr>
          <p:cNvPr id="5" name="Google Shape;206;p16"/>
          <p:cNvSpPr txBox="1">
            <a:spLocks/>
          </p:cNvSpPr>
          <p:nvPr/>
        </p:nvSpPr>
        <p:spPr>
          <a:xfrm>
            <a:off x="1891863" y="189187"/>
            <a:ext cx="4813738" cy="46580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buClr>
                <a:srgbClr val="000000"/>
              </a:buClr>
            </a:pPr>
            <a:r>
              <a:rPr lang="en-GB" sz="3600" b="1" dirty="0">
                <a:solidFill>
                  <a:schemeClr val="tx1"/>
                </a:solidFill>
                <a:latin typeface="Calibri" panose="020F0502020204030204" pitchFamily="34" charset="0"/>
                <a:cs typeface="Calibri" panose="020F0502020204030204" pitchFamily="34" charset="0"/>
              </a:rPr>
              <a:t>Key Components</a:t>
            </a:r>
          </a:p>
        </p:txBody>
      </p:sp>
    </p:spTree>
    <p:extLst>
      <p:ext uri="{BB962C8B-B14F-4D97-AF65-F5344CB8AC3E}">
        <p14:creationId xmlns:p14="http://schemas.microsoft.com/office/powerpoint/2010/main" val="42466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5"/>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6410845" y="1052945"/>
            <a:ext cx="2587681" cy="3840098"/>
          </a:xfrm>
          <a:prstGeom prst="rect">
            <a:avLst/>
          </a:prstGeom>
          <a:noFill/>
          <a:ln>
            <a:noFill/>
          </a:ln>
        </p:spPr>
      </p:pic>
      <p:sp>
        <p:nvSpPr>
          <p:cNvPr id="2" name="Rectangle 1"/>
          <p:cNvSpPr/>
          <p:nvPr/>
        </p:nvSpPr>
        <p:spPr>
          <a:xfrm>
            <a:off x="2856209" y="76444"/>
            <a:ext cx="3332964" cy="646331"/>
          </a:xfrm>
          <a:prstGeom prst="rect">
            <a:avLst/>
          </a:prstGeom>
        </p:spPr>
        <p:txBody>
          <a:bodyPr wrap="none">
            <a:spAutoFit/>
          </a:bodyPr>
          <a:lstStyle/>
          <a:p>
            <a:pPr algn="ctr"/>
            <a:r>
              <a:rPr lang="en-GB" sz="3600" b="1" dirty="0">
                <a:solidFill>
                  <a:schemeClr val="tx1"/>
                </a:solidFill>
                <a:latin typeface="Calibri" panose="020F0502020204030204" pitchFamily="34" charset="0"/>
                <a:cs typeface="Calibri" panose="020F0502020204030204" pitchFamily="34" charset="0"/>
                <a:sym typeface="Times New Roman"/>
              </a:rPr>
              <a:t>Digital Footprint</a:t>
            </a:r>
            <a:endParaRPr lang="en-US" sz="3600" b="1" dirty="0">
              <a:solidFill>
                <a:schemeClr val="tx1"/>
              </a:solidFill>
              <a:latin typeface="Calibri" panose="020F0502020204030204" pitchFamily="34" charset="0"/>
              <a:cs typeface="Calibri" panose="020F0502020204030204" pitchFamily="34" charset="0"/>
            </a:endParaRPr>
          </a:p>
        </p:txBody>
      </p:sp>
      <p:sp>
        <p:nvSpPr>
          <p:cNvPr id="4" name="Rectangle 3"/>
          <p:cNvSpPr/>
          <p:nvPr/>
        </p:nvSpPr>
        <p:spPr>
          <a:xfrm>
            <a:off x="443345" y="874616"/>
            <a:ext cx="5967501" cy="4199611"/>
          </a:xfrm>
          <a:prstGeom prst="rect">
            <a:avLst/>
          </a:prstGeom>
        </p:spPr>
        <p:txBody>
          <a:bodyPr wrap="square">
            <a:spAutoFit/>
          </a:bodyPr>
          <a:lstStyle/>
          <a:p>
            <a:pPr lvl="0" algn="just">
              <a:lnSpc>
                <a:spcPct val="150000"/>
              </a:lnSpc>
              <a:spcBef>
                <a:spcPts val="1200"/>
              </a:spcBef>
            </a:pP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 digital footprint refers to the trail of data and information left behind by an individual's online activities. It is the digital record of interactions, transactions, and engagements across various online platforms and services. This footprint is created through the voluntary or involuntary sharing of personal information, content creation, online searches, and interactions with websites, applications, and social media.</a:t>
            </a:r>
            <a:endParaRPr lang="en-US" sz="2000" dirty="0">
              <a:solidFill>
                <a:schemeClr val="tx1"/>
              </a:solidFill>
              <a:highlight>
                <a:srgbClr val="343541"/>
              </a:highlight>
              <a:latin typeface="Calibri" panose="020F0502020204030204" pitchFamily="34" charset="0"/>
              <a:ea typeface="Times New Roman"/>
              <a:cs typeface="Calibri" panose="020F0502020204030204" pitchFamily="34" charset="0"/>
              <a:sym typeface="Times New Roman"/>
            </a:endParaRPr>
          </a:p>
        </p:txBody>
      </p:sp>
    </p:spTree>
    <p:extLst>
      <p:ext uri="{BB962C8B-B14F-4D97-AF65-F5344CB8AC3E}">
        <p14:creationId xmlns:p14="http://schemas.microsoft.com/office/powerpoint/2010/main" val="188599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sp>
        <p:nvSpPr>
          <p:cNvPr id="94" name="Google Shape;94;p19"/>
          <p:cNvSpPr txBox="1">
            <a:spLocks noGrp="1"/>
          </p:cNvSpPr>
          <p:nvPr>
            <p:ph type="body" idx="1"/>
          </p:nvPr>
        </p:nvSpPr>
        <p:spPr>
          <a:xfrm>
            <a:off x="477425" y="1026625"/>
            <a:ext cx="8189150" cy="3952024"/>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Social Media Activity:</a:t>
            </a:r>
            <a:r>
              <a:rPr lang="en-GB" b="1" dirty="0">
                <a:solidFill>
                  <a:schemeClr val="tx1"/>
                </a:solidFill>
                <a:latin typeface="Calibri" panose="020F0502020204030204" pitchFamily="34" charset="0"/>
                <a:ea typeface="Times New Roman"/>
                <a:cs typeface="Calibri" panose="020F0502020204030204" pitchFamily="34" charset="0"/>
                <a:sym typeface="Times New Roman"/>
              </a:rPr>
              <a:t> </a:t>
            </a:r>
            <a:r>
              <a:rPr lang="en-GB" dirty="0">
                <a:solidFill>
                  <a:schemeClr val="tx1"/>
                </a:solidFill>
                <a:latin typeface="Calibri" panose="020F0502020204030204" pitchFamily="34" charset="0"/>
                <a:ea typeface="Times New Roman"/>
                <a:cs typeface="Calibri" panose="020F0502020204030204" pitchFamily="34" charset="0"/>
                <a:sym typeface="Times New Roman"/>
              </a:rPr>
              <a:t>The information shared, liked, or commented on social media platforms.</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lvl="0" indent="0" algn="just" rtl="0">
              <a:spcBef>
                <a:spcPts val="0"/>
              </a:spcBef>
              <a:spcAft>
                <a:spcPts val="0"/>
              </a:spcAft>
              <a:buNone/>
            </a:pPr>
            <a:r>
              <a:rPr lang="en-GB" b="1" i="1" u="sng" dirty="0">
                <a:solidFill>
                  <a:schemeClr val="tx1"/>
                </a:solidFill>
                <a:latin typeface="Calibri" panose="020F0502020204030204" pitchFamily="34" charset="0"/>
                <a:ea typeface="Times New Roman"/>
                <a:cs typeface="Calibri" panose="020F0502020204030204" pitchFamily="34" charset="0"/>
                <a:sym typeface="Times New Roman"/>
              </a:rPr>
              <a:t>Example:</a:t>
            </a:r>
            <a:r>
              <a:rPr lang="en-GB" dirty="0">
                <a:solidFill>
                  <a:schemeClr val="tx1"/>
                </a:solidFill>
                <a:latin typeface="Calibri" panose="020F0502020204030204" pitchFamily="34" charset="0"/>
                <a:ea typeface="Times New Roman"/>
                <a:cs typeface="Calibri" panose="020F0502020204030204" pitchFamily="34" charset="0"/>
                <a:sym typeface="Times New Roman"/>
              </a:rPr>
              <a:t> Facebook posts, tweets, Instagram photos, and comments contribute to an individual's social media activity within their digital footprint.</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lvl="0" indent="0" algn="just" rtl="0">
              <a:spcBef>
                <a:spcPts val="0"/>
              </a:spcBef>
              <a:spcAft>
                <a:spcPts val="0"/>
              </a:spcAft>
              <a:buClr>
                <a:schemeClr val="dk1"/>
              </a:buClr>
              <a:buSzPts val="1100"/>
              <a:buFont typeface="Arial"/>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Online Searches: </a:t>
            </a:r>
            <a:r>
              <a:rPr lang="en-GB" dirty="0">
                <a:solidFill>
                  <a:schemeClr val="tx1"/>
                </a:solidFill>
                <a:latin typeface="Calibri" panose="020F0502020204030204" pitchFamily="34" charset="0"/>
                <a:ea typeface="Times New Roman"/>
                <a:cs typeface="Calibri" panose="020F0502020204030204" pitchFamily="34" charset="0"/>
                <a:sym typeface="Times New Roman"/>
              </a:rPr>
              <a:t>The record of searches made on search engines and the subsequent websites visited.</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lvl="0" indent="0" algn="just" rtl="0">
              <a:spcBef>
                <a:spcPts val="0"/>
              </a:spcBef>
              <a:spcAft>
                <a:spcPts val="0"/>
              </a:spcAft>
              <a:buNone/>
            </a:pPr>
            <a:r>
              <a:rPr lang="en-GB" b="1" i="1" u="sng" dirty="0">
                <a:solidFill>
                  <a:schemeClr val="tx1"/>
                </a:solidFill>
                <a:latin typeface="Calibri" panose="020F0502020204030204" pitchFamily="34" charset="0"/>
                <a:cs typeface="Calibri" panose="020F0502020204030204" pitchFamily="34" charset="0"/>
                <a:sym typeface="Times New Roman"/>
              </a:rPr>
              <a:t>Example:</a:t>
            </a:r>
            <a:r>
              <a:rPr lang="en-GB" dirty="0">
                <a:solidFill>
                  <a:schemeClr val="tx1"/>
                </a:solidFill>
                <a:latin typeface="Calibri" panose="020F0502020204030204" pitchFamily="34" charset="0"/>
                <a:ea typeface="Times New Roman"/>
                <a:cs typeface="Calibri" panose="020F0502020204030204" pitchFamily="34" charset="0"/>
                <a:sym typeface="Times New Roman"/>
              </a:rPr>
              <a:t> Google searches, Bing searches, and the websites visited as a result of those searches contribute to the online search component of a digital footprint.</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lvl="0" indent="0" algn="just" rtl="0">
              <a:spcBef>
                <a:spcPts val="0"/>
              </a:spcBef>
              <a:spcAft>
                <a:spcPts val="0"/>
              </a:spcAft>
              <a:buClr>
                <a:schemeClr val="dk1"/>
              </a:buClr>
              <a:buSzPts val="1100"/>
              <a:buFont typeface="Arial"/>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Website Cookies and Tracking:</a:t>
            </a:r>
            <a:r>
              <a:rPr lang="en-GB" b="1" dirty="0">
                <a:solidFill>
                  <a:schemeClr val="tx1"/>
                </a:solidFill>
                <a:latin typeface="Calibri" panose="020F0502020204030204" pitchFamily="34" charset="0"/>
                <a:ea typeface="Times New Roman"/>
                <a:cs typeface="Calibri" panose="020F0502020204030204" pitchFamily="34" charset="0"/>
                <a:sym typeface="Times New Roman"/>
              </a:rPr>
              <a:t> </a:t>
            </a:r>
            <a:r>
              <a:rPr lang="en-GB" dirty="0">
                <a:solidFill>
                  <a:schemeClr val="tx1"/>
                </a:solidFill>
                <a:latin typeface="Calibri" panose="020F0502020204030204" pitchFamily="34" charset="0"/>
                <a:ea typeface="Times New Roman"/>
                <a:cs typeface="Calibri" panose="020F0502020204030204" pitchFamily="34" charset="0"/>
                <a:sym typeface="Times New Roman"/>
              </a:rPr>
              <a:t>Data stored by websites to track user activity and preferences.</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lvl="0" indent="0" algn="just" rtl="0">
              <a:spcBef>
                <a:spcPts val="0"/>
              </a:spcBef>
              <a:spcAft>
                <a:spcPts val="0"/>
              </a:spcAft>
              <a:buClr>
                <a:schemeClr val="dk1"/>
              </a:buClr>
              <a:buSzPts val="1100"/>
              <a:buFont typeface="Arial"/>
              <a:buNone/>
            </a:pPr>
            <a:r>
              <a:rPr lang="en-GB" b="1" i="1" u="sng" dirty="0">
                <a:solidFill>
                  <a:schemeClr val="tx1"/>
                </a:solidFill>
                <a:latin typeface="Calibri" panose="020F0502020204030204" pitchFamily="34" charset="0"/>
                <a:cs typeface="Calibri" panose="020F0502020204030204" pitchFamily="34" charset="0"/>
                <a:sym typeface="Times New Roman"/>
              </a:rPr>
              <a:t>Example:</a:t>
            </a:r>
            <a:r>
              <a:rPr lang="en-GB" dirty="0">
                <a:solidFill>
                  <a:schemeClr val="tx1"/>
                </a:solidFill>
                <a:latin typeface="Calibri" panose="020F0502020204030204" pitchFamily="34" charset="0"/>
                <a:ea typeface="Times New Roman"/>
                <a:cs typeface="Calibri" panose="020F0502020204030204" pitchFamily="34" charset="0"/>
                <a:sym typeface="Times New Roman"/>
              </a:rPr>
              <a:t> Cookies store information about a user's preferences, login status, and browsing history on a particular website.</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p:txBody>
      </p:sp>
      <p:sp>
        <p:nvSpPr>
          <p:cNvPr id="4" name="Rectangle 3">
            <a:extLst>
              <a:ext uri="{FF2B5EF4-FFF2-40B4-BE49-F238E27FC236}">
                <a16:creationId xmlns:a16="http://schemas.microsoft.com/office/drawing/2014/main" id="{DC279E25-60D0-15E0-FF3B-DBE888ADF091}"/>
              </a:ext>
            </a:extLst>
          </p:cNvPr>
          <p:cNvSpPr/>
          <p:nvPr/>
        </p:nvSpPr>
        <p:spPr>
          <a:xfrm>
            <a:off x="1843719" y="164851"/>
            <a:ext cx="5253361" cy="523220"/>
          </a:xfrm>
          <a:prstGeom prst="rect">
            <a:avLst/>
          </a:prstGeom>
        </p:spPr>
        <p:txBody>
          <a:bodyPr wrap="none">
            <a:spAutoFit/>
          </a:bodyPr>
          <a:lstStyle/>
          <a:p>
            <a:pPr algn="ctr"/>
            <a:r>
              <a:rPr lang="en-US" sz="2800" b="1" dirty="0">
                <a:solidFill>
                  <a:schemeClr val="tx1"/>
                </a:solidFill>
                <a:latin typeface="Calibri" panose="020F0502020204030204" pitchFamily="34" charset="0"/>
                <a:cs typeface="Calibri" panose="020F0502020204030204" pitchFamily="34" charset="0"/>
                <a:sym typeface="Times New Roman"/>
              </a:rPr>
              <a:t>Components of a Digital Footprint</a:t>
            </a:r>
            <a:endParaRPr lang="en-US"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0597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chemeClr val="tx1"/>
                </a:solidFill>
              </a:rPr>
              <a:t> </a:t>
            </a:r>
            <a:endParaRPr>
              <a:solidFill>
                <a:schemeClr val="tx1"/>
              </a:solidFill>
            </a:endParaRPr>
          </a:p>
        </p:txBody>
      </p:sp>
      <p:sp>
        <p:nvSpPr>
          <p:cNvPr id="101" name="Google Shape;101;p20"/>
          <p:cNvSpPr txBox="1">
            <a:spLocks noGrp="1"/>
          </p:cNvSpPr>
          <p:nvPr>
            <p:ph type="body" idx="1"/>
          </p:nvPr>
        </p:nvSpPr>
        <p:spPr>
          <a:xfrm>
            <a:off x="311700" y="916125"/>
            <a:ext cx="8520600" cy="4156618"/>
          </a:xfrm>
          <a:prstGeom prst="rect">
            <a:avLst/>
          </a:prstGeom>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SzPts val="688"/>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Location Data:</a:t>
            </a:r>
            <a:r>
              <a:rPr lang="en-GB" b="1" dirty="0">
                <a:solidFill>
                  <a:schemeClr val="tx1"/>
                </a:solidFill>
                <a:latin typeface="Calibri" panose="020F0502020204030204" pitchFamily="34" charset="0"/>
                <a:ea typeface="Times New Roman"/>
                <a:cs typeface="Calibri" panose="020F0502020204030204" pitchFamily="34" charset="0"/>
                <a:sym typeface="Times New Roman"/>
              </a:rPr>
              <a:t> </a:t>
            </a:r>
            <a:r>
              <a:rPr lang="en-GB" dirty="0">
                <a:solidFill>
                  <a:schemeClr val="tx1"/>
                </a:solidFill>
                <a:latin typeface="Calibri" panose="020F0502020204030204" pitchFamily="34" charset="0"/>
                <a:ea typeface="Times New Roman"/>
                <a:cs typeface="Calibri" panose="020F0502020204030204" pitchFamily="34" charset="0"/>
                <a:sym typeface="Times New Roman"/>
              </a:rPr>
              <a:t>Information about an individual's physical location obtained through GPS, Wi-Fi, or mobile networks.</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marR="0" lvl="0" indent="0" algn="just" rtl="0">
              <a:lnSpc>
                <a:spcPct val="150000"/>
              </a:lnSpc>
              <a:spcBef>
                <a:spcPts val="0"/>
              </a:spcBef>
              <a:spcAft>
                <a:spcPts val="0"/>
              </a:spcAft>
              <a:buSzPts val="688"/>
              <a:buNone/>
            </a:pPr>
            <a:r>
              <a:rPr lang="en-GB" b="1" i="1" u="sng" dirty="0">
                <a:solidFill>
                  <a:schemeClr val="tx1"/>
                </a:solidFill>
                <a:latin typeface="Calibri" panose="020F0502020204030204" pitchFamily="34" charset="0"/>
                <a:cs typeface="Calibri" panose="020F0502020204030204" pitchFamily="34" charset="0"/>
                <a:sym typeface="Times New Roman"/>
              </a:rPr>
              <a:t>Example:</a:t>
            </a:r>
            <a:r>
              <a:rPr lang="en-GB" dirty="0">
                <a:solidFill>
                  <a:schemeClr val="tx1"/>
                </a:solidFill>
                <a:latin typeface="Calibri" panose="020F0502020204030204" pitchFamily="34" charset="0"/>
                <a:ea typeface="Times New Roman"/>
                <a:cs typeface="Calibri" panose="020F0502020204030204" pitchFamily="34" charset="0"/>
                <a:sym typeface="Times New Roman"/>
              </a:rPr>
              <a:t> Location data recorded when using navigation apps, checking in on social media, or enabling location services on mobile devices.</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marR="0" lvl="0" indent="0" algn="just" rtl="0">
              <a:lnSpc>
                <a:spcPct val="100000"/>
              </a:lnSpc>
              <a:spcBef>
                <a:spcPts val="0"/>
              </a:spcBef>
              <a:spcAft>
                <a:spcPts val="0"/>
              </a:spcAft>
              <a:buSzPts val="688"/>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Content Creation: </a:t>
            </a:r>
            <a:r>
              <a:rPr lang="en-GB" dirty="0">
                <a:solidFill>
                  <a:schemeClr val="tx1"/>
                </a:solidFill>
                <a:latin typeface="Calibri" panose="020F0502020204030204" pitchFamily="34" charset="0"/>
                <a:ea typeface="Times New Roman"/>
                <a:cs typeface="Calibri" panose="020F0502020204030204" pitchFamily="34" charset="0"/>
                <a:sym typeface="Times New Roman"/>
              </a:rPr>
              <a:t>The digital content an individual produces and shares online.</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marR="0" lvl="0" indent="0" algn="just" rtl="0">
              <a:lnSpc>
                <a:spcPct val="150000"/>
              </a:lnSpc>
              <a:spcBef>
                <a:spcPts val="0"/>
              </a:spcBef>
              <a:spcAft>
                <a:spcPts val="0"/>
              </a:spcAft>
              <a:buSzPts val="688"/>
              <a:buNone/>
            </a:pPr>
            <a:r>
              <a:rPr lang="en-GB" b="1" i="1" u="sng" dirty="0">
                <a:solidFill>
                  <a:schemeClr val="tx1"/>
                </a:solidFill>
                <a:latin typeface="Calibri" panose="020F0502020204030204" pitchFamily="34" charset="0"/>
                <a:cs typeface="Calibri" panose="020F0502020204030204" pitchFamily="34" charset="0"/>
                <a:sym typeface="Times New Roman"/>
              </a:rPr>
              <a:t>Example: </a:t>
            </a:r>
            <a:r>
              <a:rPr lang="en-GB" dirty="0">
                <a:solidFill>
                  <a:schemeClr val="tx1"/>
                </a:solidFill>
                <a:latin typeface="Calibri" panose="020F0502020204030204" pitchFamily="34" charset="0"/>
                <a:ea typeface="Times New Roman"/>
                <a:cs typeface="Calibri" panose="020F0502020204030204" pitchFamily="34" charset="0"/>
                <a:sym typeface="Times New Roman"/>
              </a:rPr>
              <a:t>Blog posts, videos on YouTube, articles published, or any other content created and published on the internet.</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marR="0" lvl="0" indent="0" algn="just" rtl="0">
              <a:lnSpc>
                <a:spcPct val="100000"/>
              </a:lnSpc>
              <a:spcBef>
                <a:spcPts val="0"/>
              </a:spcBef>
              <a:spcAft>
                <a:spcPts val="0"/>
              </a:spcAft>
              <a:buSzPts val="688"/>
              <a:buNone/>
            </a:pPr>
            <a:r>
              <a:rPr lang="en-GB" sz="2000" b="1" dirty="0">
                <a:solidFill>
                  <a:schemeClr val="tx1"/>
                </a:solidFill>
                <a:latin typeface="Calibri" panose="020F0502020204030204" pitchFamily="34" charset="0"/>
                <a:ea typeface="Times New Roman"/>
                <a:cs typeface="Calibri" panose="020F0502020204030204" pitchFamily="34" charset="0"/>
                <a:sym typeface="Times New Roman"/>
              </a:rPr>
              <a:t>Online Profiles and Accounts:</a:t>
            </a:r>
            <a:r>
              <a:rPr lang="en-GB" b="1" dirty="0">
                <a:solidFill>
                  <a:schemeClr val="tx1"/>
                </a:solidFill>
                <a:latin typeface="Calibri" panose="020F0502020204030204" pitchFamily="34" charset="0"/>
                <a:ea typeface="Times New Roman"/>
                <a:cs typeface="Calibri" panose="020F0502020204030204" pitchFamily="34" charset="0"/>
                <a:sym typeface="Times New Roman"/>
              </a:rPr>
              <a:t> </a:t>
            </a:r>
            <a:r>
              <a:rPr lang="en-GB" dirty="0">
                <a:solidFill>
                  <a:schemeClr val="tx1"/>
                </a:solidFill>
                <a:latin typeface="Calibri" panose="020F0502020204030204" pitchFamily="34" charset="0"/>
                <a:ea typeface="Times New Roman"/>
                <a:cs typeface="Calibri" panose="020F0502020204030204" pitchFamily="34" charset="0"/>
                <a:sym typeface="Times New Roman"/>
              </a:rPr>
              <a:t>Information stored in profiles on various online platforms.</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a:p>
            <a:pPr marL="0" marR="0" lvl="0" indent="0" algn="just" rtl="0">
              <a:lnSpc>
                <a:spcPct val="150000"/>
              </a:lnSpc>
              <a:spcBef>
                <a:spcPts val="0"/>
              </a:spcBef>
              <a:spcAft>
                <a:spcPts val="0"/>
              </a:spcAft>
              <a:buSzPts val="688"/>
              <a:buNone/>
            </a:pPr>
            <a:r>
              <a:rPr lang="en-GB" b="1" i="1" u="sng" dirty="0">
                <a:solidFill>
                  <a:schemeClr val="tx1"/>
                </a:solidFill>
                <a:latin typeface="Calibri" panose="020F0502020204030204" pitchFamily="34" charset="0"/>
                <a:cs typeface="Calibri" panose="020F0502020204030204" pitchFamily="34" charset="0"/>
                <a:sym typeface="Times New Roman"/>
              </a:rPr>
              <a:t>Example:</a:t>
            </a:r>
            <a:r>
              <a:rPr lang="en-GB" dirty="0">
                <a:solidFill>
                  <a:schemeClr val="tx1"/>
                </a:solidFill>
                <a:latin typeface="Calibri" panose="020F0502020204030204" pitchFamily="34" charset="0"/>
                <a:ea typeface="Times New Roman"/>
                <a:cs typeface="Calibri" panose="020F0502020204030204" pitchFamily="34" charset="0"/>
                <a:sym typeface="Times New Roman"/>
              </a:rPr>
              <a:t> User profiles on social media, professional networking sites, and other online services contribute to an individual's digital footprint.</a:t>
            </a:r>
            <a:endParaRPr dirty="0">
              <a:solidFill>
                <a:schemeClr val="tx1"/>
              </a:solidFill>
              <a:latin typeface="Calibri" panose="020F0502020204030204" pitchFamily="34" charset="0"/>
              <a:ea typeface="Times New Roman"/>
              <a:cs typeface="Calibri" panose="020F0502020204030204" pitchFamily="34" charset="0"/>
              <a:sym typeface="Times New Roman"/>
            </a:endParaRPr>
          </a:p>
        </p:txBody>
      </p:sp>
      <p:sp>
        <p:nvSpPr>
          <p:cNvPr id="2" name="Rectangle 1">
            <a:extLst>
              <a:ext uri="{FF2B5EF4-FFF2-40B4-BE49-F238E27FC236}">
                <a16:creationId xmlns:a16="http://schemas.microsoft.com/office/drawing/2014/main" id="{0AC188C4-FA86-03D6-D797-E686A86D5193}"/>
              </a:ext>
            </a:extLst>
          </p:cNvPr>
          <p:cNvSpPr/>
          <p:nvPr/>
        </p:nvSpPr>
        <p:spPr>
          <a:xfrm>
            <a:off x="1843719" y="164851"/>
            <a:ext cx="5253361" cy="523220"/>
          </a:xfrm>
          <a:prstGeom prst="rect">
            <a:avLst/>
          </a:prstGeom>
        </p:spPr>
        <p:txBody>
          <a:bodyPr wrap="none">
            <a:spAutoFit/>
          </a:bodyPr>
          <a:lstStyle/>
          <a:p>
            <a:pPr algn="ctr"/>
            <a:r>
              <a:rPr lang="en-US" sz="2800" b="1" dirty="0">
                <a:solidFill>
                  <a:schemeClr val="tx1"/>
                </a:solidFill>
                <a:latin typeface="Calibri" panose="020F0502020204030204" pitchFamily="34" charset="0"/>
                <a:cs typeface="Calibri" panose="020F0502020204030204" pitchFamily="34" charset="0"/>
                <a:sym typeface="Times New Roman"/>
              </a:rPr>
              <a:t>Components of a Digital Footprint</a:t>
            </a:r>
            <a:endParaRPr lang="en-US"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354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99">
          <a:extLst>
            <a:ext uri="{FF2B5EF4-FFF2-40B4-BE49-F238E27FC236}">
              <a16:creationId xmlns:a16="http://schemas.microsoft.com/office/drawing/2014/main" id="{69E93CE7-526D-0C55-E5A5-9EC429AB4CE6}"/>
            </a:ext>
          </a:extLst>
        </p:cNvPr>
        <p:cNvGrpSpPr/>
        <p:nvPr/>
      </p:nvGrpSpPr>
      <p:grpSpPr>
        <a:xfrm>
          <a:off x="0" y="0"/>
          <a:ext cx="0" cy="0"/>
          <a:chOff x="0" y="0"/>
          <a:chExt cx="0" cy="0"/>
        </a:xfrm>
      </p:grpSpPr>
      <p:sp>
        <p:nvSpPr>
          <p:cNvPr id="100" name="Google Shape;100;p20">
            <a:extLst>
              <a:ext uri="{FF2B5EF4-FFF2-40B4-BE49-F238E27FC236}">
                <a16:creationId xmlns:a16="http://schemas.microsoft.com/office/drawing/2014/main" id="{5680C746-076A-2A37-B811-4DD0311B71AC}"/>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chemeClr val="tx1"/>
                </a:solidFill>
              </a:rPr>
              <a:t> </a:t>
            </a:r>
            <a:endParaRPr>
              <a:solidFill>
                <a:schemeClr val="tx1"/>
              </a:solidFill>
            </a:endParaRPr>
          </a:p>
        </p:txBody>
      </p:sp>
      <p:sp>
        <p:nvSpPr>
          <p:cNvPr id="2" name="Rectangle 1">
            <a:extLst>
              <a:ext uri="{FF2B5EF4-FFF2-40B4-BE49-F238E27FC236}">
                <a16:creationId xmlns:a16="http://schemas.microsoft.com/office/drawing/2014/main" id="{4C950F1D-2E35-AD23-4400-53853E92F936}"/>
              </a:ext>
            </a:extLst>
          </p:cNvPr>
          <p:cNvSpPr/>
          <p:nvPr/>
        </p:nvSpPr>
        <p:spPr>
          <a:xfrm>
            <a:off x="2199585" y="164851"/>
            <a:ext cx="4541628" cy="523220"/>
          </a:xfrm>
          <a:prstGeom prst="rect">
            <a:avLst/>
          </a:prstGeom>
        </p:spPr>
        <p:txBody>
          <a:bodyPr wrap="none">
            <a:spAutoFit/>
          </a:bodyPr>
          <a:lstStyle/>
          <a:p>
            <a:pPr algn="ctr"/>
            <a:r>
              <a:rPr lang="en-US" sz="2800" b="1" dirty="0">
                <a:solidFill>
                  <a:schemeClr val="tx1"/>
                </a:solidFill>
                <a:latin typeface="Calibri" panose="020F0502020204030204" pitchFamily="34" charset="0"/>
                <a:cs typeface="Calibri" panose="020F0502020204030204" pitchFamily="34" charset="0"/>
                <a:sym typeface="Times New Roman"/>
              </a:rPr>
              <a:t>How Digital Footprints Work</a:t>
            </a:r>
          </a:p>
        </p:txBody>
      </p:sp>
      <p:sp>
        <p:nvSpPr>
          <p:cNvPr id="6" name="TextBox 5">
            <a:extLst>
              <a:ext uri="{FF2B5EF4-FFF2-40B4-BE49-F238E27FC236}">
                <a16:creationId xmlns:a16="http://schemas.microsoft.com/office/drawing/2014/main" id="{7631335C-A461-FA6F-E29C-76E959AA4641}"/>
              </a:ext>
            </a:extLst>
          </p:cNvPr>
          <p:cNvSpPr txBox="1"/>
          <p:nvPr/>
        </p:nvSpPr>
        <p:spPr>
          <a:xfrm>
            <a:off x="311700" y="923766"/>
            <a:ext cx="8520600" cy="4199611"/>
          </a:xfrm>
          <a:prstGeom prst="rect">
            <a:avLst/>
          </a:prstGeom>
          <a:noFill/>
        </p:spPr>
        <p:txBody>
          <a:bodyPr wrap="square">
            <a:spAutoFit/>
          </a:bodyPr>
          <a:lstStyle/>
          <a:p>
            <a:pPr marL="0" marR="0" lvl="0" indent="0" algn="just" rtl="0">
              <a:lnSpc>
                <a:spcPct val="150000"/>
              </a:lnSpc>
              <a:spcBef>
                <a:spcPts val="1200"/>
              </a:spcBef>
              <a:spcAft>
                <a:spcPts val="0"/>
              </a:spcAft>
              <a:buSzPts val="990"/>
              <a:buNone/>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Data Collection:</a:t>
            </a:r>
          </a:p>
          <a:p>
            <a:pPr marL="0" marR="0" lvl="0" indent="0" algn="just" rtl="0">
              <a:lnSpc>
                <a:spcPct val="150000"/>
              </a:lnSpc>
              <a:spcBef>
                <a:spcPts val="0"/>
              </a:spcBef>
              <a:spcAft>
                <a:spcPts val="0"/>
              </a:spcAft>
              <a:buSzPts val="990"/>
              <a:buNone/>
            </a:pP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Various online activities generate data that is collected and stored by websites, applications, and service providers.</a:t>
            </a:r>
          </a:p>
          <a:p>
            <a:pPr marL="0" marR="0" lvl="0" indent="0" algn="just" rtl="0">
              <a:lnSpc>
                <a:spcPct val="150000"/>
              </a:lnSpc>
              <a:spcBef>
                <a:spcPts val="0"/>
              </a:spcBef>
              <a:spcAft>
                <a:spcPts val="0"/>
              </a:spcAft>
              <a:buSzPts val="990"/>
              <a:buNone/>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Storage and Analysis:</a:t>
            </a:r>
          </a:p>
          <a:p>
            <a:pPr marL="0" marR="0" lvl="0" indent="0" algn="just" rtl="0">
              <a:lnSpc>
                <a:spcPct val="150000"/>
              </a:lnSpc>
              <a:spcBef>
                <a:spcPts val="0"/>
              </a:spcBef>
              <a:spcAft>
                <a:spcPts val="0"/>
              </a:spcAft>
              <a:buSzPts val="990"/>
              <a:buNone/>
            </a:pP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The collected data is stored in databases, and sophisticated algorithms may be used to analyze patterns, preferences, and behaviors.</a:t>
            </a:r>
          </a:p>
          <a:p>
            <a:pPr marL="0" marR="0" lvl="0" indent="0" algn="just" rtl="0">
              <a:lnSpc>
                <a:spcPct val="150000"/>
              </a:lnSpc>
              <a:spcBef>
                <a:spcPts val="0"/>
              </a:spcBef>
              <a:spcAft>
                <a:spcPts val="0"/>
              </a:spcAft>
              <a:buSzPts val="990"/>
              <a:buNone/>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Profiling and Targeting:</a:t>
            </a:r>
          </a:p>
          <a:p>
            <a:pPr marL="0" marR="0" lvl="0" indent="0" algn="just" rtl="0">
              <a:lnSpc>
                <a:spcPct val="150000"/>
              </a:lnSpc>
              <a:spcBef>
                <a:spcPts val="0"/>
              </a:spcBef>
              <a:spcAft>
                <a:spcPts val="0"/>
              </a:spcAft>
              <a:buSzPts val="990"/>
              <a:buNone/>
            </a:pP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Advertisers and service providers may use the digital footprint to create user profiles and target personalized content, advertisements, or recommendations.</a:t>
            </a:r>
          </a:p>
        </p:txBody>
      </p:sp>
    </p:spTree>
    <p:extLst>
      <p:ext uri="{BB962C8B-B14F-4D97-AF65-F5344CB8AC3E}">
        <p14:creationId xmlns:p14="http://schemas.microsoft.com/office/powerpoint/2010/main" val="1434548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99">
          <a:extLst>
            <a:ext uri="{FF2B5EF4-FFF2-40B4-BE49-F238E27FC236}">
              <a16:creationId xmlns:a16="http://schemas.microsoft.com/office/drawing/2014/main" id="{0402510D-5F1B-024A-7131-77533BCFC5CB}"/>
            </a:ext>
          </a:extLst>
        </p:cNvPr>
        <p:cNvGrpSpPr/>
        <p:nvPr/>
      </p:nvGrpSpPr>
      <p:grpSpPr>
        <a:xfrm>
          <a:off x="0" y="0"/>
          <a:ext cx="0" cy="0"/>
          <a:chOff x="0" y="0"/>
          <a:chExt cx="0" cy="0"/>
        </a:xfrm>
      </p:grpSpPr>
      <p:sp>
        <p:nvSpPr>
          <p:cNvPr id="100" name="Google Shape;100;p20">
            <a:extLst>
              <a:ext uri="{FF2B5EF4-FFF2-40B4-BE49-F238E27FC236}">
                <a16:creationId xmlns:a16="http://schemas.microsoft.com/office/drawing/2014/main" id="{A27640E9-62A6-4B40-AD3F-5A665A5ABCD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chemeClr val="tx1"/>
                </a:solidFill>
              </a:rPr>
              <a:t> </a:t>
            </a:r>
            <a:endParaRPr>
              <a:solidFill>
                <a:schemeClr val="tx1"/>
              </a:solidFill>
            </a:endParaRPr>
          </a:p>
        </p:txBody>
      </p:sp>
      <p:sp>
        <p:nvSpPr>
          <p:cNvPr id="2" name="Rectangle 1">
            <a:extLst>
              <a:ext uri="{FF2B5EF4-FFF2-40B4-BE49-F238E27FC236}">
                <a16:creationId xmlns:a16="http://schemas.microsoft.com/office/drawing/2014/main" id="{D0068A04-7ECF-6E44-8DA3-0D0A1A522CDC}"/>
              </a:ext>
            </a:extLst>
          </p:cNvPr>
          <p:cNvSpPr/>
          <p:nvPr/>
        </p:nvSpPr>
        <p:spPr>
          <a:xfrm>
            <a:off x="2199585" y="164851"/>
            <a:ext cx="4541628" cy="523220"/>
          </a:xfrm>
          <a:prstGeom prst="rect">
            <a:avLst/>
          </a:prstGeom>
        </p:spPr>
        <p:txBody>
          <a:bodyPr wrap="none">
            <a:spAutoFit/>
          </a:bodyPr>
          <a:lstStyle/>
          <a:p>
            <a:pPr algn="ctr"/>
            <a:r>
              <a:rPr lang="en-US" sz="2800" b="1" dirty="0">
                <a:solidFill>
                  <a:schemeClr val="tx1"/>
                </a:solidFill>
                <a:latin typeface="Calibri" panose="020F0502020204030204" pitchFamily="34" charset="0"/>
                <a:cs typeface="Calibri" panose="020F0502020204030204" pitchFamily="34" charset="0"/>
                <a:sym typeface="Times New Roman"/>
              </a:rPr>
              <a:t>How Digital Footprints Work</a:t>
            </a:r>
          </a:p>
        </p:txBody>
      </p:sp>
      <p:sp>
        <p:nvSpPr>
          <p:cNvPr id="6" name="TextBox 5">
            <a:extLst>
              <a:ext uri="{FF2B5EF4-FFF2-40B4-BE49-F238E27FC236}">
                <a16:creationId xmlns:a16="http://schemas.microsoft.com/office/drawing/2014/main" id="{E818A225-6A01-5AF4-253D-4A03E2426F42}"/>
              </a:ext>
            </a:extLst>
          </p:cNvPr>
          <p:cNvSpPr txBox="1"/>
          <p:nvPr/>
        </p:nvSpPr>
        <p:spPr>
          <a:xfrm>
            <a:off x="311700" y="923766"/>
            <a:ext cx="8520600" cy="2814617"/>
          </a:xfrm>
          <a:prstGeom prst="rect">
            <a:avLst/>
          </a:prstGeom>
          <a:noFill/>
        </p:spPr>
        <p:txBody>
          <a:bodyPr wrap="square">
            <a:spAutoFit/>
          </a:bodyPr>
          <a:lstStyle/>
          <a:p>
            <a:pPr marL="0" marR="0" lvl="0" indent="0" algn="just" rtl="0">
              <a:lnSpc>
                <a:spcPct val="150000"/>
              </a:lnSpc>
              <a:spcBef>
                <a:spcPts val="0"/>
              </a:spcBef>
              <a:spcAft>
                <a:spcPts val="0"/>
              </a:spcAft>
              <a:buSzPts val="990"/>
              <a:buNone/>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Digital Traces:</a:t>
            </a:r>
          </a:p>
          <a:p>
            <a:pPr marL="0" marR="0" lvl="0" indent="0" algn="just" rtl="0">
              <a:lnSpc>
                <a:spcPct val="150000"/>
              </a:lnSpc>
              <a:spcBef>
                <a:spcPts val="0"/>
              </a:spcBef>
              <a:spcAft>
                <a:spcPts val="0"/>
              </a:spcAft>
              <a:buSzPts val="990"/>
              <a:buNone/>
            </a:pP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Every action, interaction, or transaction online leaves a trace, contributing to the ongoing development of an individual's digital footprint.</a:t>
            </a:r>
          </a:p>
          <a:p>
            <a:pPr marL="0" marR="0" lvl="0" indent="0" algn="just" rtl="0">
              <a:lnSpc>
                <a:spcPct val="150000"/>
              </a:lnSpc>
              <a:spcBef>
                <a:spcPts val="0"/>
              </a:spcBef>
              <a:spcAft>
                <a:spcPts val="0"/>
              </a:spcAft>
              <a:buSzPts val="990"/>
              <a:buNone/>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Impact on Privacy:</a:t>
            </a:r>
          </a:p>
          <a:p>
            <a:pPr marL="0" marR="0" lvl="0" indent="0" algn="just" rtl="0">
              <a:lnSpc>
                <a:spcPct val="150000"/>
              </a:lnSpc>
              <a:spcBef>
                <a:spcPts val="0"/>
              </a:spcBef>
              <a:spcAft>
                <a:spcPts val="0"/>
              </a:spcAft>
              <a:buSzPts val="990"/>
              <a:buNone/>
            </a:pP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The cumulative data within a digital footprint can impact user privacy, and individuals need to be mindful of the information they share online.</a:t>
            </a:r>
            <a:endParaRPr lang="en-US" sz="20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7054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4ABE2B-DFCA-BD32-B63F-0DA2CB526FCD}"/>
              </a:ext>
            </a:extLst>
          </p:cNvPr>
          <p:cNvPicPr>
            <a:picLocks noChangeAspect="1"/>
          </p:cNvPicPr>
          <p:nvPr/>
        </p:nvPicPr>
        <p:blipFill>
          <a:blip r:embed="rId2"/>
          <a:srcRect l="3515" t="17354" r="3280" b="13369"/>
          <a:stretch/>
        </p:blipFill>
        <p:spPr>
          <a:xfrm>
            <a:off x="1201057" y="885372"/>
            <a:ext cx="6741885" cy="4200846"/>
          </a:xfrm>
          <a:prstGeom prst="rect">
            <a:avLst/>
          </a:prstGeom>
        </p:spPr>
      </p:pic>
      <p:sp>
        <p:nvSpPr>
          <p:cNvPr id="5" name="Rectangle 4">
            <a:extLst>
              <a:ext uri="{FF2B5EF4-FFF2-40B4-BE49-F238E27FC236}">
                <a16:creationId xmlns:a16="http://schemas.microsoft.com/office/drawing/2014/main" id="{7ABE7327-43D5-453F-EAE0-2CF6EFF4062F}"/>
              </a:ext>
            </a:extLst>
          </p:cNvPr>
          <p:cNvSpPr/>
          <p:nvPr/>
        </p:nvSpPr>
        <p:spPr>
          <a:xfrm>
            <a:off x="2284547" y="164851"/>
            <a:ext cx="4371710" cy="523220"/>
          </a:xfrm>
          <a:prstGeom prst="rect">
            <a:avLst/>
          </a:prstGeom>
        </p:spPr>
        <p:txBody>
          <a:bodyPr wrap="none">
            <a:spAutoFit/>
          </a:bodyPr>
          <a:lstStyle/>
          <a:p>
            <a:pPr algn="ctr"/>
            <a:r>
              <a:rPr lang="en-US" sz="2800" b="1" dirty="0">
                <a:solidFill>
                  <a:schemeClr val="tx1"/>
                </a:solidFill>
                <a:latin typeface="Calibri" panose="020F0502020204030204" pitchFamily="34" charset="0"/>
                <a:cs typeface="Calibri" panose="020F0502020204030204" pitchFamily="34" charset="0"/>
                <a:sym typeface="Times New Roman"/>
              </a:rPr>
              <a:t>2 Types of Digital Footprints</a:t>
            </a:r>
          </a:p>
        </p:txBody>
      </p:sp>
    </p:spTree>
    <p:extLst>
      <p:ext uri="{BB962C8B-B14F-4D97-AF65-F5344CB8AC3E}">
        <p14:creationId xmlns:p14="http://schemas.microsoft.com/office/powerpoint/2010/main" val="68823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11"/>
        <p:cNvGrpSpPr/>
        <p:nvPr/>
      </p:nvGrpSpPr>
      <p:grpSpPr>
        <a:xfrm>
          <a:off x="0" y="0"/>
          <a:ext cx="0" cy="0"/>
          <a:chOff x="0" y="0"/>
          <a:chExt cx="0" cy="0"/>
        </a:xfrm>
      </p:grpSpPr>
      <p:sp>
        <p:nvSpPr>
          <p:cNvPr id="113" name="Google Shape;113;p22"/>
          <p:cNvSpPr txBox="1">
            <a:spLocks noGrp="1"/>
          </p:cNvSpPr>
          <p:nvPr>
            <p:ph type="body" idx="1"/>
          </p:nvPr>
        </p:nvSpPr>
        <p:spPr>
          <a:xfrm>
            <a:off x="311699" y="1152475"/>
            <a:ext cx="6120585" cy="34164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1200"/>
              </a:spcAft>
              <a:buNone/>
            </a:pPr>
            <a:r>
              <a:rPr lang="en-US" sz="2000" dirty="0">
                <a:solidFill>
                  <a:schemeClr val="tx1"/>
                </a:solidFill>
                <a:latin typeface="Calibri" panose="020F0502020204030204" pitchFamily="34" charset="0"/>
                <a:cs typeface="Calibri" panose="020F0502020204030204" pitchFamily="34" charset="0"/>
                <a:sym typeface="Times New Roman"/>
              </a:rPr>
              <a:t>Online reputation is the public perception of a person or organization based on their online presence. It's made up of the content they create and share, how they interact with others online, and what others say about them.</a:t>
            </a:r>
          </a:p>
          <a:p>
            <a:pPr marL="0" indent="0" algn="just">
              <a:spcAft>
                <a:spcPts val="1200"/>
              </a:spcAft>
              <a:buNone/>
            </a:pPr>
            <a:r>
              <a:rPr lang="en-GB" sz="2000" dirty="0">
                <a:solidFill>
                  <a:schemeClr val="tx1"/>
                </a:solidFill>
                <a:latin typeface="Calibri" panose="020F0502020204030204" pitchFamily="34" charset="0"/>
                <a:ea typeface="Times New Roman"/>
                <a:cs typeface="Calibri" panose="020F0502020204030204" pitchFamily="34" charset="0"/>
                <a:sym typeface="Times New Roman"/>
              </a:rPr>
              <a:t>Digital identity plays a significant role in shaping their online reputation. As individuals engage in various online activities, their digital footprint contributes to the formation of a virtual identity, which, in turn, influences how they are perceived by others.</a:t>
            </a:r>
          </a:p>
        </p:txBody>
      </p:sp>
      <p:sp>
        <p:nvSpPr>
          <p:cNvPr id="2" name="Rectangle 1">
            <a:extLst>
              <a:ext uri="{FF2B5EF4-FFF2-40B4-BE49-F238E27FC236}">
                <a16:creationId xmlns:a16="http://schemas.microsoft.com/office/drawing/2014/main" id="{032D0B75-DB9D-EC90-F994-44F3BB0EAD57}"/>
              </a:ext>
            </a:extLst>
          </p:cNvPr>
          <p:cNvSpPr/>
          <p:nvPr/>
        </p:nvSpPr>
        <p:spPr>
          <a:xfrm>
            <a:off x="2472029" y="63251"/>
            <a:ext cx="3706464" cy="646331"/>
          </a:xfrm>
          <a:prstGeom prst="rect">
            <a:avLst/>
          </a:prstGeom>
        </p:spPr>
        <p:txBody>
          <a:bodyPr wrap="none">
            <a:spAutoFit/>
          </a:bodyPr>
          <a:lstStyle/>
          <a:p>
            <a:pPr algn="ctr"/>
            <a:r>
              <a:rPr lang="en-US" sz="3600" b="1" dirty="0">
                <a:solidFill>
                  <a:schemeClr val="tx1"/>
                </a:solidFill>
                <a:latin typeface="Calibri" panose="020F0502020204030204" pitchFamily="34" charset="0"/>
                <a:cs typeface="Calibri" panose="020F0502020204030204" pitchFamily="34" charset="0"/>
                <a:sym typeface="Times New Roman"/>
              </a:rPr>
              <a:t>Online Reputation</a:t>
            </a:r>
          </a:p>
        </p:txBody>
      </p:sp>
      <p:pic>
        <p:nvPicPr>
          <p:cNvPr id="5" name="Picture 4">
            <a:extLst>
              <a:ext uri="{FF2B5EF4-FFF2-40B4-BE49-F238E27FC236}">
                <a16:creationId xmlns:a16="http://schemas.microsoft.com/office/drawing/2014/main" id="{96089E6F-F944-76F2-474B-17B9EC02D971}"/>
              </a:ext>
            </a:extLst>
          </p:cNvPr>
          <p:cNvPicPr>
            <a:picLocks noChangeAspect="1"/>
          </p:cNvPicPr>
          <p:nvPr/>
        </p:nvPicPr>
        <p:blipFill>
          <a:blip r:embed="rId3"/>
          <a:stretch>
            <a:fillRect/>
          </a:stretch>
        </p:blipFill>
        <p:spPr>
          <a:xfrm>
            <a:off x="6614662" y="1377496"/>
            <a:ext cx="2385253" cy="1597933"/>
          </a:xfrm>
          <a:prstGeom prst="rect">
            <a:avLst/>
          </a:prstGeom>
        </p:spPr>
      </p:pic>
    </p:spTree>
    <p:extLst>
      <p:ext uri="{BB962C8B-B14F-4D97-AF65-F5344CB8AC3E}">
        <p14:creationId xmlns:p14="http://schemas.microsoft.com/office/powerpoint/2010/main" val="3692173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1110343" y="146642"/>
            <a:ext cx="6516914" cy="972029"/>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ct val="55000"/>
              <a:buFont typeface="Arial"/>
              <a:buNone/>
            </a:pPr>
            <a:r>
              <a:rPr lang="en-US" sz="2400" b="1" dirty="0">
                <a:solidFill>
                  <a:schemeClr val="tx1"/>
                </a:solidFill>
                <a:latin typeface="Calibri" panose="020F0502020204030204" pitchFamily="34" charset="0"/>
                <a:cs typeface="Calibri" panose="020F0502020204030204" pitchFamily="34" charset="0"/>
                <a:sym typeface="Times New Roman"/>
              </a:rPr>
              <a:t>Tips for improving your online reputation</a:t>
            </a:r>
            <a:endParaRPr sz="2400" b="1" dirty="0">
              <a:solidFill>
                <a:schemeClr val="tx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1F5C9C86-7E87-158C-8B49-6013260F304F}"/>
              </a:ext>
            </a:extLst>
          </p:cNvPr>
          <p:cNvSpPr txBox="1"/>
          <p:nvPr/>
        </p:nvSpPr>
        <p:spPr>
          <a:xfrm>
            <a:off x="312057" y="1017478"/>
            <a:ext cx="8519886" cy="3600986"/>
          </a:xfrm>
          <a:prstGeom prst="rect">
            <a:avLst/>
          </a:prstGeom>
          <a:noFill/>
        </p:spPr>
        <p:txBody>
          <a:bodyPr wrap="square">
            <a:spAutoFit/>
          </a:bodyPr>
          <a:lstStyle/>
          <a:p>
            <a:pPr marL="0" marR="0" lvl="0" indent="0" algn="just" rtl="0">
              <a:lnSpc>
                <a:spcPct val="100000"/>
              </a:lnSpc>
              <a:spcBef>
                <a:spcPts val="0"/>
              </a:spcBef>
              <a:spcAft>
                <a:spcPts val="0"/>
              </a:spcAft>
              <a:buNone/>
            </a:pPr>
            <a:r>
              <a:rPr lang="en-US" sz="2200" b="1" dirty="0">
                <a:solidFill>
                  <a:schemeClr val="tx1"/>
                </a:solidFill>
                <a:latin typeface="Calibri" panose="020F0502020204030204" pitchFamily="34" charset="0"/>
                <a:ea typeface="Times New Roman"/>
                <a:cs typeface="Calibri" panose="020F0502020204030204" pitchFamily="34" charset="0"/>
                <a:sym typeface="Times New Roman"/>
              </a:rPr>
              <a:t>Online Presence and Visibility</a:t>
            </a:r>
          </a:p>
          <a:p>
            <a:pPr marL="457200" marR="0" lvl="0" indent="-326390" algn="just" rtl="0">
              <a:lnSpc>
                <a:spcPct val="100000"/>
              </a:lnSpc>
              <a:spcBef>
                <a:spcPts val="0"/>
              </a:spcBef>
              <a:spcAft>
                <a:spcPts val="0"/>
              </a:spcAft>
              <a:buClr>
                <a:schemeClr val="dk1"/>
              </a:buClr>
              <a:buSzPct val="100000"/>
              <a:buFont typeface="Times New Roman"/>
              <a:buChar char="●"/>
            </a:pPr>
            <a:r>
              <a:rPr lang="en-US" sz="2000" b="1" i="1" dirty="0">
                <a:solidFill>
                  <a:schemeClr val="tx1"/>
                </a:solidFill>
                <a:latin typeface="Calibri" panose="020F0502020204030204" pitchFamily="34" charset="0"/>
                <a:ea typeface="Times New Roman"/>
                <a:cs typeface="Calibri" panose="020F0502020204030204" pitchFamily="34" charset="0"/>
                <a:sym typeface="Times New Roman"/>
              </a:rPr>
              <a:t>Positive Impact:</a:t>
            </a:r>
            <a:r>
              <a:rPr lang="en-US" sz="2000" i="1" dirty="0">
                <a:solidFill>
                  <a:schemeClr val="tx1"/>
                </a:solidFill>
                <a:latin typeface="Calibri" panose="020F0502020204030204" pitchFamily="34" charset="0"/>
                <a:ea typeface="Times New Roman"/>
                <a:cs typeface="Calibri" panose="020F0502020204030204" pitchFamily="34" charset="0"/>
                <a:sym typeface="Times New Roman"/>
              </a:rPr>
              <a: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 well-managed digital identity can enhance online presence, making individuals more visible and accessible in a professional or personal context.</a:t>
            </a:r>
          </a:p>
          <a:p>
            <a:pPr marL="457200" marR="0" lvl="0" indent="-32639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Inconsistent or controversial online behavior can diminish online visibility and negatively affect reputation.</a:t>
            </a:r>
          </a:p>
          <a:p>
            <a:pPr marL="0" marR="0" lvl="0" indent="0" algn="just" rtl="0">
              <a:lnSpc>
                <a:spcPct val="100000"/>
              </a:lnSpc>
              <a:spcBef>
                <a:spcPts val="0"/>
              </a:spcBef>
              <a:spcAft>
                <a:spcPts val="0"/>
              </a:spcAft>
              <a:buNone/>
            </a:pPr>
            <a:r>
              <a:rPr lang="en-US" sz="2200" b="1" dirty="0">
                <a:solidFill>
                  <a:schemeClr val="tx1"/>
                </a:solidFill>
                <a:latin typeface="Calibri" panose="020F0502020204030204" pitchFamily="34" charset="0"/>
                <a:cs typeface="Calibri" panose="020F0502020204030204" pitchFamily="34" charset="0"/>
                <a:sym typeface="Times New Roman"/>
              </a:rPr>
              <a:t>Professional Branding</a:t>
            </a:r>
          </a:p>
          <a:p>
            <a:pPr marL="457200" marR="0" lvl="0" indent="-32639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 carefully curated digital identity can serve as a professional brand, showcasing skills, achievements, and expertise.</a:t>
            </a:r>
          </a:p>
          <a:p>
            <a:pPr marL="457200" marR="0" lvl="0" indent="-32639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Unprofessional content or associations online may damage one's professional branding and credibility.</a:t>
            </a:r>
          </a:p>
        </p:txBody>
      </p:sp>
    </p:spTree>
    <p:extLst>
      <p:ext uri="{BB962C8B-B14F-4D97-AF65-F5344CB8AC3E}">
        <p14:creationId xmlns:p14="http://schemas.microsoft.com/office/powerpoint/2010/main" val="3005570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18">
          <a:extLst>
            <a:ext uri="{FF2B5EF4-FFF2-40B4-BE49-F238E27FC236}">
              <a16:creationId xmlns:a16="http://schemas.microsoft.com/office/drawing/2014/main" id="{1428C69C-DBED-6894-2EC1-7BF7F5DAE5A5}"/>
            </a:ext>
          </a:extLst>
        </p:cNvPr>
        <p:cNvGrpSpPr/>
        <p:nvPr/>
      </p:nvGrpSpPr>
      <p:grpSpPr>
        <a:xfrm>
          <a:off x="0" y="0"/>
          <a:ext cx="0" cy="0"/>
          <a:chOff x="0" y="0"/>
          <a:chExt cx="0" cy="0"/>
        </a:xfrm>
      </p:grpSpPr>
      <p:sp>
        <p:nvSpPr>
          <p:cNvPr id="119" name="Google Shape;119;p23">
            <a:extLst>
              <a:ext uri="{FF2B5EF4-FFF2-40B4-BE49-F238E27FC236}">
                <a16:creationId xmlns:a16="http://schemas.microsoft.com/office/drawing/2014/main" id="{94D1F7B2-F729-410A-873F-B7470A16CE2D}"/>
              </a:ext>
            </a:extLst>
          </p:cNvPr>
          <p:cNvSpPr txBox="1">
            <a:spLocks noGrp="1"/>
          </p:cNvSpPr>
          <p:nvPr>
            <p:ph type="title"/>
          </p:nvPr>
        </p:nvSpPr>
        <p:spPr>
          <a:xfrm>
            <a:off x="1110343" y="146642"/>
            <a:ext cx="6516914" cy="972029"/>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ct val="55000"/>
              <a:buFont typeface="Arial"/>
              <a:buNone/>
            </a:pPr>
            <a:r>
              <a:rPr lang="en-US" sz="2400" b="1" dirty="0">
                <a:solidFill>
                  <a:schemeClr val="tx1"/>
                </a:solidFill>
                <a:latin typeface="Calibri" panose="020F0502020204030204" pitchFamily="34" charset="0"/>
                <a:cs typeface="Calibri" panose="020F0502020204030204" pitchFamily="34" charset="0"/>
                <a:sym typeface="Times New Roman"/>
              </a:rPr>
              <a:t>Tips for improving your online reputation</a:t>
            </a:r>
            <a:endParaRPr sz="2400" b="1" dirty="0">
              <a:solidFill>
                <a:schemeClr val="tx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B88CEB0-6C63-689E-2B89-45F8087BD688}"/>
              </a:ext>
            </a:extLst>
          </p:cNvPr>
          <p:cNvSpPr txBox="1"/>
          <p:nvPr/>
        </p:nvSpPr>
        <p:spPr>
          <a:xfrm>
            <a:off x="312057" y="1017478"/>
            <a:ext cx="8519886" cy="3508653"/>
          </a:xfrm>
          <a:prstGeom prst="rect">
            <a:avLst/>
          </a:prstGeom>
          <a:noFill/>
        </p:spPr>
        <p:txBody>
          <a:bodyPr wrap="square">
            <a:spAutoFit/>
          </a:bodyPr>
          <a:lstStyle/>
          <a:p>
            <a:pPr algn="just"/>
            <a:r>
              <a:rPr lang="en-US" sz="2200" b="1" dirty="0">
                <a:solidFill>
                  <a:schemeClr val="tx1"/>
                </a:solidFill>
                <a:latin typeface="Calibri" panose="020F0502020204030204" pitchFamily="34" charset="0"/>
                <a:cs typeface="Calibri" panose="020F0502020204030204" pitchFamily="34" charset="0"/>
                <a:sym typeface="Times New Roman"/>
              </a:rPr>
              <a:t>Social Media Representation</a:t>
            </a:r>
          </a:p>
          <a:p>
            <a:pPr marL="457200" marR="0" lvl="0" indent="-32639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Active and positive engagement on social media platforms can build a favorable public image.</a:t>
            </a:r>
          </a:p>
          <a:p>
            <a:pPr marL="457200" marR="0" lvl="0" indent="-32639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Inappropriate or offensive content on social media can lead to a damaged reputation.</a:t>
            </a:r>
          </a:p>
          <a:p>
            <a:pPr marL="0" lvl="0" indent="0" algn="just">
              <a:buFont typeface="Arial"/>
              <a:buNone/>
            </a:pPr>
            <a:r>
              <a:rPr lang="en-US" sz="2200" b="1" dirty="0">
                <a:solidFill>
                  <a:schemeClr val="tx1"/>
                </a:solidFill>
                <a:latin typeface="Calibri" panose="020F0502020204030204" pitchFamily="34" charset="0"/>
                <a:cs typeface="Calibri" panose="020F0502020204030204" pitchFamily="34" charset="0"/>
                <a:sym typeface="Times New Roman"/>
              </a:rPr>
              <a:t>Trust and Credibility</a:t>
            </a:r>
          </a:p>
          <a:p>
            <a:pPr marL="457200" marR="0" lvl="0" indent="-353060" algn="l"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A consistent and trustworthy digital identity fosters credibility, both personally and professionally.</a:t>
            </a:r>
          </a:p>
          <a:p>
            <a:pPr marL="457200" marR="0" lvl="0" indent="-353060" algn="l"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 </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Misleading information or inconsistent representations erode trust and credibility.</a:t>
            </a:r>
          </a:p>
          <a:p>
            <a:pPr marL="130810" marR="0" lvl="0" algn="just" rtl="0">
              <a:lnSpc>
                <a:spcPct val="100000"/>
              </a:lnSpc>
              <a:spcBef>
                <a:spcPts val="0"/>
              </a:spcBef>
              <a:spcAft>
                <a:spcPts val="0"/>
              </a:spcAft>
              <a:buClr>
                <a:schemeClr val="dk1"/>
              </a:buClr>
              <a:buSzPct val="100000"/>
            </a:pPr>
            <a:endParaRPr lang="en-US" sz="1800" dirty="0">
              <a:solidFill>
                <a:schemeClr val="tx1"/>
              </a:solidFill>
              <a:latin typeface="Calibri" panose="020F0502020204030204" pitchFamily="34" charset="0"/>
              <a:ea typeface="Times New Roman"/>
              <a:cs typeface="Calibri" panose="020F0502020204030204" pitchFamily="34" charset="0"/>
              <a:sym typeface="Times New Roman"/>
            </a:endParaRPr>
          </a:p>
        </p:txBody>
      </p:sp>
    </p:spTree>
    <p:extLst>
      <p:ext uri="{BB962C8B-B14F-4D97-AF65-F5344CB8AC3E}">
        <p14:creationId xmlns:p14="http://schemas.microsoft.com/office/powerpoint/2010/main" val="1419791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18">
          <a:extLst>
            <a:ext uri="{FF2B5EF4-FFF2-40B4-BE49-F238E27FC236}">
              <a16:creationId xmlns:a16="http://schemas.microsoft.com/office/drawing/2014/main" id="{FB253F3E-68B9-60B8-BF4C-AE88CB7FDB3F}"/>
            </a:ext>
          </a:extLst>
        </p:cNvPr>
        <p:cNvGrpSpPr/>
        <p:nvPr/>
      </p:nvGrpSpPr>
      <p:grpSpPr>
        <a:xfrm>
          <a:off x="0" y="0"/>
          <a:ext cx="0" cy="0"/>
          <a:chOff x="0" y="0"/>
          <a:chExt cx="0" cy="0"/>
        </a:xfrm>
      </p:grpSpPr>
      <p:sp>
        <p:nvSpPr>
          <p:cNvPr id="119" name="Google Shape;119;p23">
            <a:extLst>
              <a:ext uri="{FF2B5EF4-FFF2-40B4-BE49-F238E27FC236}">
                <a16:creationId xmlns:a16="http://schemas.microsoft.com/office/drawing/2014/main" id="{2012C612-E24F-2B4C-FE7C-97BFAF984688}"/>
              </a:ext>
            </a:extLst>
          </p:cNvPr>
          <p:cNvSpPr txBox="1">
            <a:spLocks noGrp="1"/>
          </p:cNvSpPr>
          <p:nvPr>
            <p:ph type="title"/>
          </p:nvPr>
        </p:nvSpPr>
        <p:spPr>
          <a:xfrm>
            <a:off x="1110343" y="146642"/>
            <a:ext cx="6516914" cy="972029"/>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ct val="55000"/>
              <a:buFont typeface="Arial"/>
              <a:buNone/>
            </a:pPr>
            <a:r>
              <a:rPr lang="en-US" sz="2400" b="1" dirty="0">
                <a:solidFill>
                  <a:schemeClr val="tx1"/>
                </a:solidFill>
                <a:latin typeface="Calibri" panose="020F0502020204030204" pitchFamily="34" charset="0"/>
                <a:cs typeface="Calibri" panose="020F0502020204030204" pitchFamily="34" charset="0"/>
                <a:sym typeface="Times New Roman"/>
              </a:rPr>
              <a:t>Tips for improving your online reputation</a:t>
            </a:r>
            <a:endParaRPr sz="2400" b="1" dirty="0">
              <a:solidFill>
                <a:schemeClr val="tx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321A9EC-B9EA-D482-B877-A735FDD3E25B}"/>
              </a:ext>
            </a:extLst>
          </p:cNvPr>
          <p:cNvSpPr txBox="1"/>
          <p:nvPr/>
        </p:nvSpPr>
        <p:spPr>
          <a:xfrm>
            <a:off x="411841" y="1018386"/>
            <a:ext cx="8383816" cy="3539430"/>
          </a:xfrm>
          <a:prstGeom prst="rect">
            <a:avLst/>
          </a:prstGeom>
          <a:noFill/>
        </p:spPr>
        <p:txBody>
          <a:bodyPr wrap="square">
            <a:spAutoFit/>
          </a:bodyPr>
          <a:lstStyle/>
          <a:p>
            <a:pPr marL="0" marR="0" lvl="0" indent="0" algn="just" rtl="0">
              <a:lnSpc>
                <a:spcPct val="100000"/>
              </a:lnSpc>
              <a:spcBef>
                <a:spcPts val="0"/>
              </a:spcBef>
              <a:spcAft>
                <a:spcPts val="0"/>
              </a:spcAft>
              <a:buNone/>
            </a:pPr>
            <a:r>
              <a:rPr lang="en-US" sz="2200" b="1" dirty="0">
                <a:solidFill>
                  <a:schemeClr val="tx1"/>
                </a:solidFill>
                <a:latin typeface="Calibri" panose="020F0502020204030204" pitchFamily="34" charset="0"/>
                <a:ea typeface="Times New Roman"/>
                <a:cs typeface="Calibri" panose="020F0502020204030204" pitchFamily="34" charset="0"/>
                <a:sym typeface="Times New Roman"/>
              </a:rPr>
              <a:t>Employability and Networking</a:t>
            </a:r>
          </a:p>
          <a:p>
            <a:pPr marL="457200" marR="0" lvl="0" indent="-35306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A positive digital identity can contribute to career opportunities, networking, and job prospects.</a:t>
            </a:r>
          </a:p>
          <a:p>
            <a:pPr marL="457200" marR="0" lvl="0" indent="-35306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Employers and professional contacts may be deterred by negative online content, affecting career advancement.</a:t>
            </a:r>
          </a:p>
          <a:p>
            <a:pPr algn="just"/>
            <a:r>
              <a:rPr lang="en-US" sz="2200" b="1" dirty="0">
                <a:solidFill>
                  <a:schemeClr val="tx1"/>
                </a:solidFill>
                <a:latin typeface="Calibri" panose="020F0502020204030204" pitchFamily="34" charset="0"/>
                <a:cs typeface="Calibri" panose="020F0502020204030204" pitchFamily="34" charset="0"/>
                <a:sym typeface="Times New Roman"/>
              </a:rPr>
              <a:t>Online Reviews and Feedback</a:t>
            </a:r>
          </a:p>
          <a:p>
            <a:pPr marL="457200" marR="0" lvl="0" indent="-35306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Positive reviews and constructive feedback contribute to a positive online reputation.</a:t>
            </a:r>
          </a:p>
          <a:p>
            <a:pPr marL="457200" marR="0" lvl="0" indent="-353060" algn="just" rtl="0">
              <a:lnSpc>
                <a:spcPct val="100000"/>
              </a:lnSpc>
              <a:spcBef>
                <a:spcPts val="0"/>
              </a:spcBef>
              <a:spcAft>
                <a:spcPts val="0"/>
              </a:spcAft>
              <a:buClr>
                <a:schemeClr val="dk1"/>
              </a:buClr>
              <a:buSzPct val="10000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Negative reviews or controversial comments can harm an individual's reputation.</a:t>
            </a:r>
          </a:p>
          <a:p>
            <a:pPr marL="0" lvl="0" indent="0" algn="l" rtl="0">
              <a:spcBef>
                <a:spcPts val="0"/>
              </a:spcBef>
              <a:spcAft>
                <a:spcPts val="1200"/>
              </a:spcAft>
              <a:buNone/>
            </a:pPr>
            <a:endParaRPr lang="en-US" sz="2000" dirty="0">
              <a:solidFill>
                <a:schemeClr val="tx1"/>
              </a:solidFill>
              <a:latin typeface="Calibri" panose="020F0502020204030204" pitchFamily="34" charset="0"/>
              <a:ea typeface="Times New Roman"/>
              <a:cs typeface="Calibri" panose="020F0502020204030204" pitchFamily="34" charset="0"/>
              <a:sym typeface="Times New Roman"/>
            </a:endParaRPr>
          </a:p>
        </p:txBody>
      </p:sp>
    </p:spTree>
    <p:extLst>
      <p:ext uri="{BB962C8B-B14F-4D97-AF65-F5344CB8AC3E}">
        <p14:creationId xmlns:p14="http://schemas.microsoft.com/office/powerpoint/2010/main" val="1653780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18">
          <a:extLst>
            <a:ext uri="{FF2B5EF4-FFF2-40B4-BE49-F238E27FC236}">
              <a16:creationId xmlns:a16="http://schemas.microsoft.com/office/drawing/2014/main" id="{23C80615-807A-8806-92EE-4F2874EE5FEB}"/>
            </a:ext>
          </a:extLst>
        </p:cNvPr>
        <p:cNvGrpSpPr/>
        <p:nvPr/>
      </p:nvGrpSpPr>
      <p:grpSpPr>
        <a:xfrm>
          <a:off x="0" y="0"/>
          <a:ext cx="0" cy="0"/>
          <a:chOff x="0" y="0"/>
          <a:chExt cx="0" cy="0"/>
        </a:xfrm>
      </p:grpSpPr>
      <p:sp>
        <p:nvSpPr>
          <p:cNvPr id="119" name="Google Shape;119;p23">
            <a:extLst>
              <a:ext uri="{FF2B5EF4-FFF2-40B4-BE49-F238E27FC236}">
                <a16:creationId xmlns:a16="http://schemas.microsoft.com/office/drawing/2014/main" id="{905C8A42-CB02-0D88-297D-3097F362EEA7}"/>
              </a:ext>
            </a:extLst>
          </p:cNvPr>
          <p:cNvSpPr txBox="1">
            <a:spLocks noGrp="1"/>
          </p:cNvSpPr>
          <p:nvPr>
            <p:ph type="title"/>
          </p:nvPr>
        </p:nvSpPr>
        <p:spPr>
          <a:xfrm>
            <a:off x="1110343" y="146642"/>
            <a:ext cx="6516914" cy="972029"/>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ct val="55000"/>
              <a:buFont typeface="Arial"/>
              <a:buNone/>
            </a:pPr>
            <a:r>
              <a:rPr lang="en-US" sz="2400" b="1" dirty="0">
                <a:solidFill>
                  <a:schemeClr val="tx1"/>
                </a:solidFill>
                <a:latin typeface="Calibri" panose="020F0502020204030204" pitchFamily="34" charset="0"/>
                <a:cs typeface="Calibri" panose="020F0502020204030204" pitchFamily="34" charset="0"/>
                <a:sym typeface="Times New Roman"/>
              </a:rPr>
              <a:t>Tips for improving your online reputation</a:t>
            </a:r>
            <a:endParaRPr sz="2400" b="1" dirty="0">
              <a:solidFill>
                <a:schemeClr val="tx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A689A4D0-7EC9-7374-389F-9BDD8EFB787F}"/>
              </a:ext>
            </a:extLst>
          </p:cNvPr>
          <p:cNvSpPr txBox="1"/>
          <p:nvPr/>
        </p:nvSpPr>
        <p:spPr>
          <a:xfrm>
            <a:off x="573314" y="1118671"/>
            <a:ext cx="7997371" cy="2856167"/>
          </a:xfrm>
          <a:prstGeom prst="rect">
            <a:avLst/>
          </a:prstGeom>
          <a:noFill/>
        </p:spPr>
        <p:txBody>
          <a:bodyPr wrap="square">
            <a:spAutoFit/>
          </a:bodyPr>
          <a:lstStyle/>
          <a:p>
            <a:pPr marL="0" marR="0" lvl="0" indent="0" algn="just" rtl="0">
              <a:lnSpc>
                <a:spcPct val="80000"/>
              </a:lnSpc>
              <a:spcBef>
                <a:spcPts val="0"/>
              </a:spcBef>
              <a:spcAft>
                <a:spcPts val="0"/>
              </a:spcAft>
              <a:buSzPts val="935"/>
              <a:buNone/>
            </a:pPr>
            <a:r>
              <a:rPr lang="en-US" sz="2200" b="1" dirty="0">
                <a:solidFill>
                  <a:schemeClr val="tx1"/>
                </a:solidFill>
                <a:latin typeface="Calibri" panose="020F0502020204030204" pitchFamily="34" charset="0"/>
                <a:ea typeface="Times New Roman"/>
                <a:cs typeface="Calibri" panose="020F0502020204030204" pitchFamily="34" charset="0"/>
                <a:sym typeface="Times New Roman"/>
              </a:rPr>
              <a:t>Personal Relationships</a:t>
            </a:r>
          </a:p>
          <a:p>
            <a:pPr marL="457200" marR="0" lvl="0" indent="-347980" algn="just" rtl="0">
              <a:lnSpc>
                <a:spcPct val="80000"/>
              </a:lnSpc>
              <a:spcBef>
                <a:spcPts val="0"/>
              </a:spcBef>
              <a:spcAft>
                <a:spcPts val="0"/>
              </a:spcAft>
              <a:buClr>
                <a:schemeClr val="dk1"/>
              </a:buClr>
              <a:buSzPts val="188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A positive digital identity can strengthen personal relationships by showcasing shared interests, values, and experiences.</a:t>
            </a:r>
          </a:p>
          <a:p>
            <a:pPr marL="457200" marR="0" lvl="0" indent="-347980" algn="just" rtl="0">
              <a:lnSpc>
                <a:spcPct val="80000"/>
              </a:lnSpc>
              <a:spcBef>
                <a:spcPts val="0"/>
              </a:spcBef>
              <a:spcAft>
                <a:spcPts val="0"/>
              </a:spcAft>
              <a:buClr>
                <a:schemeClr val="dk1"/>
              </a:buClr>
              <a:buSzPts val="1880"/>
              <a:buFont typeface="Times New Roman"/>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Negative or inappropriate online behavior may strain personal relationships and lead to misunderstandings.</a:t>
            </a:r>
          </a:p>
          <a:p>
            <a:pPr marL="0" marR="0" lvl="0" indent="0" algn="just" rtl="0">
              <a:lnSpc>
                <a:spcPct val="80000"/>
              </a:lnSpc>
              <a:spcBef>
                <a:spcPts val="0"/>
              </a:spcBef>
              <a:spcAft>
                <a:spcPts val="0"/>
              </a:spcAft>
              <a:buSzPts val="935"/>
              <a:buNone/>
            </a:pPr>
            <a:r>
              <a:rPr lang="en-US" sz="2200" b="1" dirty="0">
                <a:solidFill>
                  <a:schemeClr val="tx1"/>
                </a:solidFill>
                <a:latin typeface="Calibri" panose="020F0502020204030204" pitchFamily="34" charset="0"/>
                <a:ea typeface="Times New Roman"/>
                <a:cs typeface="Calibri" panose="020F0502020204030204" pitchFamily="34" charset="0"/>
                <a:sym typeface="Times New Roman"/>
              </a:rPr>
              <a:t>Global Reach</a:t>
            </a:r>
          </a:p>
          <a:p>
            <a:pPr marL="457200" marR="0" lvl="0" indent="-347980" algn="just" rtl="0">
              <a:lnSpc>
                <a:spcPct val="80000"/>
              </a:lnSpc>
              <a:spcBef>
                <a:spcPts val="0"/>
              </a:spcBef>
              <a:spcAft>
                <a:spcPts val="0"/>
              </a:spcAft>
              <a:buClr>
                <a:schemeClr val="dk1"/>
              </a:buClr>
              <a:buSzPts val="1880"/>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Positive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Digital identity allows individuals to connect with a global audience, expanding opportunities and collaborations.</a:t>
            </a:r>
          </a:p>
          <a:p>
            <a:pPr marL="457200" marR="0" lvl="0" indent="-347980" algn="just" rtl="0">
              <a:lnSpc>
                <a:spcPct val="80000"/>
              </a:lnSpc>
              <a:spcBef>
                <a:spcPts val="0"/>
              </a:spcBef>
              <a:spcAft>
                <a:spcPts val="0"/>
              </a:spcAft>
              <a:buClr>
                <a:schemeClr val="dk1"/>
              </a:buClr>
              <a:buSzPts val="1880"/>
              <a:buChar char="●"/>
            </a:pPr>
            <a:r>
              <a:rPr lang="en-US" sz="2000" b="1" dirty="0">
                <a:solidFill>
                  <a:schemeClr val="tx1"/>
                </a:solidFill>
                <a:latin typeface="Calibri" panose="020F0502020204030204" pitchFamily="34" charset="0"/>
                <a:ea typeface="Times New Roman"/>
                <a:cs typeface="Calibri" panose="020F0502020204030204" pitchFamily="34" charset="0"/>
                <a:sym typeface="Times New Roman"/>
              </a:rPr>
              <a:t>Negative Impact:</a:t>
            </a:r>
            <a:r>
              <a:rPr lang="en-US" sz="2000" dirty="0">
                <a:solidFill>
                  <a:schemeClr val="tx1"/>
                </a:solidFill>
                <a:latin typeface="Calibri" panose="020F0502020204030204" pitchFamily="34" charset="0"/>
                <a:ea typeface="Times New Roman"/>
                <a:cs typeface="Calibri" panose="020F0502020204030204" pitchFamily="34" charset="0"/>
                <a:sym typeface="Times New Roman"/>
              </a:rPr>
              <a:t> Inappropriate content can have a global impact, potentially reaching a wide audience and causing reputational damage.</a:t>
            </a:r>
            <a:endParaRPr lang="en-US" sz="2000" dirty="0">
              <a:solidFill>
                <a:schemeClr val="tx1"/>
              </a:solidFill>
              <a:highlight>
                <a:srgbClr val="343541"/>
              </a:highlight>
              <a:latin typeface="Calibri" panose="020F0502020204030204" pitchFamily="34" charset="0"/>
              <a:ea typeface="Times New Roman"/>
              <a:cs typeface="Calibri" panose="020F0502020204030204" pitchFamily="34" charset="0"/>
              <a:sym typeface="Times New Roman"/>
            </a:endParaRPr>
          </a:p>
        </p:txBody>
      </p:sp>
    </p:spTree>
    <p:extLst>
      <p:ext uri="{BB962C8B-B14F-4D97-AF65-F5344CB8AC3E}">
        <p14:creationId xmlns:p14="http://schemas.microsoft.com/office/powerpoint/2010/main" val="250753068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1506</Words>
  <Application>Microsoft Office PowerPoint</Application>
  <PresentationFormat>On-screen Show (16:9)</PresentationFormat>
  <Paragraphs>96</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Times New Roman</vt:lpstr>
      <vt:lpstr>Arial</vt:lpstr>
      <vt:lpstr>Google Sans</vt:lpstr>
      <vt:lpstr>Simple Light</vt:lpstr>
      <vt:lpstr> </vt:lpstr>
      <vt:lpstr>Digital Identity refers to representing an individual's identity in the digital realm. It encompasses collecting personal information, attributes, and credentials associated with an individual in the online space. A digital identity serves as a virtual representation of an individual's real-world identity, often used for online authentication, access to services, and participation in digital transactions.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PowerPoint Presentation</vt:lpstr>
      <vt:lpstr>PowerPoint Presentation</vt:lpstr>
      <vt:lpstr>Tips for improving your online reputation</vt:lpstr>
      <vt:lpstr>Tips for improving your online reputation</vt:lpstr>
      <vt:lpstr>Tips for improving your online reputation</vt:lpstr>
      <vt:lpstr>Tips for improving your online reputation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Muhammad Ejaz Bashir</dc:creator>
  <cp:lastModifiedBy>Dev Hamnah</cp:lastModifiedBy>
  <cp:revision>198</cp:revision>
  <dcterms:modified xsi:type="dcterms:W3CDTF">2026-03-18T06:22:28Z</dcterms:modified>
</cp:coreProperties>
</file>