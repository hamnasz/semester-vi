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8" r:id="rId3"/>
    <p:sldId id="301" r:id="rId4"/>
    <p:sldId id="302" r:id="rId5"/>
    <p:sldId id="305" r:id="rId6"/>
    <p:sldId id="303" r:id="rId7"/>
    <p:sldId id="307" r:id="rId8"/>
    <p:sldId id="306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</p:sldIdLst>
  <p:sldSz cx="9144000" cy="5143500" type="screen16x9"/>
  <p:notesSz cx="6858000" cy="9144000"/>
  <p:embeddedFontLst>
    <p:embeddedFont>
      <p:font typeface="Rockwell" panose="02060603020205020403" pitchFamily="18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0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908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8310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0741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182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6797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40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920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346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046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028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0879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265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660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330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369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879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37204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03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1648e5b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1648e5b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038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251970" y="889863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8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7341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6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427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3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070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2336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9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6708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1604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355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0131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5" y="4670298"/>
            <a:ext cx="4456652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6067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7536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1459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294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66FAA5-6D39-FC72-7AF4-7746A2213FE0}"/>
              </a:ext>
            </a:extLst>
          </p:cNvPr>
          <p:cNvGrpSpPr/>
          <p:nvPr userDrawn="1"/>
        </p:nvGrpSpPr>
        <p:grpSpPr>
          <a:xfrm>
            <a:off x="0" y="0"/>
            <a:ext cx="9238130" cy="842554"/>
            <a:chOff x="0" y="0"/>
            <a:chExt cx="12324746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B340E7-94BE-2BEC-3256-E5472D78086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96766C2-07C9-BE81-0B37-DAFF3D523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C2B046-342E-3989-A26E-8DF27308799E}"/>
                </a:ext>
              </a:extLst>
            </p:cNvPr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8389AD65-B51E-9C9C-3B44-B3A7FF3E4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A235B0-81E4-E4C5-0252-3FE5704B4C27}"/>
                </a:ext>
              </a:extLst>
            </p:cNvPr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87383AF2-B4CC-9B19-AB27-EB0367365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721BAC-61C9-BD23-A504-A7BD3511B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282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88739" y="849202"/>
            <a:ext cx="8166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Online Banking &amp; Financial Management Tools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Digital lenders unlikely to shake up PHL banking industry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1" t="7521" r="3386" b="6820"/>
          <a:stretch/>
        </p:blipFill>
        <p:spPr bwMode="auto">
          <a:xfrm>
            <a:off x="310635" y="1433977"/>
            <a:ext cx="3812241" cy="286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352" y="1433977"/>
            <a:ext cx="4262566" cy="2864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87928" y="923007"/>
            <a:ext cx="8461782" cy="39676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lnSpc>
                <a:spcPct val="150000"/>
              </a:lnSpc>
              <a:buSzPts val="1800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Online banking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also known as 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internet banking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virtual banking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web banking or home banking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is a system that enables customers of a bank or other financial institution to conduct a range of financial transactions through the financial institution's website or mobile app. Since the early 2000s this has become the most common way that customers access their bank accounts.</a:t>
            </a:r>
          </a:p>
        </p:txBody>
      </p:sp>
      <p:sp>
        <p:nvSpPr>
          <p:cNvPr id="4" name="Google Shape;206;p16"/>
          <p:cNvSpPr txBox="1">
            <a:spLocks/>
          </p:cNvSpPr>
          <p:nvPr/>
        </p:nvSpPr>
        <p:spPr>
          <a:xfrm>
            <a:off x="1891863" y="189187"/>
            <a:ext cx="481373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r>
              <a:rPr lang="en-GB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Online Banking?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891863" y="189187"/>
            <a:ext cx="481373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Feature of Online Banking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25517" y="1080504"/>
            <a:ext cx="816653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Online banking allows you to conduct financial transactions through a computer or smartphone using the internet.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With online banking, you don’t need to visit a branch to complete many transactions.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Many online banks offer lower fees and better rates than their brick-and-mortar competitors.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take advantage of online banking, you’ll need an electronic device, an internet connection, and perhaps your debit card or account numbers.</a:t>
            </a:r>
          </a:p>
        </p:txBody>
      </p:sp>
    </p:spTree>
    <p:extLst>
      <p:ext uri="{BB962C8B-B14F-4D97-AF65-F5344CB8AC3E}">
        <p14:creationId xmlns:p14="http://schemas.microsoft.com/office/powerpoint/2010/main" val="3659941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891863" y="189187"/>
            <a:ext cx="481373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History of Online Banking</a:t>
            </a: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Google Shape;215;p17"/>
          <p:cNvSpPr txBox="1">
            <a:spLocks/>
          </p:cNvSpPr>
          <p:nvPr/>
        </p:nvSpPr>
        <p:spPr>
          <a:xfrm>
            <a:off x="839222" y="2028900"/>
            <a:ext cx="3620384" cy="145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14313" indent="-214313">
              <a:buSzPts val="2800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8" name="Google Shape;216;p17"/>
          <p:cNvSpPr txBox="1">
            <a:spLocks/>
          </p:cNvSpPr>
          <p:nvPr/>
        </p:nvSpPr>
        <p:spPr>
          <a:xfrm>
            <a:off x="4772025" y="2937351"/>
            <a:ext cx="3567181" cy="145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14313" indent="-214313">
              <a:buSzPts val="2800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3401" y="1036476"/>
            <a:ext cx="846908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Emergence in the late 20th century</a:t>
            </a:r>
          </a:p>
          <a:p>
            <a:pPr marL="342900" lvl="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Initial services like balance inquiry and fund transfers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Rapid growth in the 21st century</a:t>
            </a:r>
          </a:p>
          <a:p>
            <a:pPr marL="342900" lvl="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Advancements in technology and internet accessibility</a:t>
            </a:r>
          </a:p>
          <a:p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0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891863" y="189187"/>
            <a:ext cx="481373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Online Banking Started</a:t>
            </a: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Google Shape;215;p17"/>
          <p:cNvSpPr txBox="1">
            <a:spLocks/>
          </p:cNvSpPr>
          <p:nvPr/>
        </p:nvSpPr>
        <p:spPr>
          <a:xfrm>
            <a:off x="839222" y="2028900"/>
            <a:ext cx="3620384" cy="145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14313" indent="-214313">
              <a:buSzPts val="2800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8" name="Google Shape;216;p17"/>
          <p:cNvSpPr txBox="1">
            <a:spLocks/>
          </p:cNvSpPr>
          <p:nvPr/>
        </p:nvSpPr>
        <p:spPr>
          <a:xfrm>
            <a:off x="4772025" y="2937351"/>
            <a:ext cx="3567181" cy="145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14313" indent="-214313">
              <a:buSzPts val="2800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3401" y="1036476"/>
            <a:ext cx="846908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Evolution of banking services</a:t>
            </a:r>
          </a:p>
          <a:p>
            <a:pPr marL="342900" lvl="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Traditional brick-and-mortar branches to digital platforms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 of online transactions</a:t>
            </a:r>
          </a:p>
          <a:p>
            <a:pPr marL="342900" lvl="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Convenience for customers and cost-effectiveness for banks</a:t>
            </a:r>
          </a:p>
        </p:txBody>
      </p:sp>
    </p:spTree>
    <p:extLst>
      <p:ext uri="{BB962C8B-B14F-4D97-AF65-F5344CB8AC3E}">
        <p14:creationId xmlns:p14="http://schemas.microsoft.com/office/powerpoint/2010/main" val="428669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891863" y="189187"/>
            <a:ext cx="481373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 Transactions</a:t>
            </a: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8220" y="970472"/>
            <a:ext cx="7958153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Online Transaction Processing (OLTP)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is information systems that facilitate and manage transaction-oriented applications, typically for data entry and retrieval transaction processing. So online transaction is done with the help of the internet. It can’t take place without a proper internet connection.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6083" t="14547" r="7296"/>
          <a:stretch/>
        </p:blipFill>
        <p:spPr>
          <a:xfrm>
            <a:off x="5023945" y="3061723"/>
            <a:ext cx="4025430" cy="198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7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608084" y="189187"/>
            <a:ext cx="546537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 in Online Banking</a:t>
            </a: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2050" name="Picture 2" descr="Pay10 | Top 5 Most Common Challenges in Online Payment Process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897" y="901149"/>
            <a:ext cx="6041751" cy="414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65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608084" y="189187"/>
            <a:ext cx="546537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 in Online Banking</a:t>
            </a: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Security concerns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Risks of fraud and identity theft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Digital literacy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Ensuring customers understand and use online services effectively</a:t>
            </a:r>
          </a:p>
          <a:p>
            <a:pPr marL="342900" lvl="8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Connectivity issues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Access to stable internet for seamless transactions</a:t>
            </a:r>
          </a:p>
        </p:txBody>
      </p:sp>
    </p:spTree>
    <p:extLst>
      <p:ext uri="{BB962C8B-B14F-4D97-AF65-F5344CB8AC3E}">
        <p14:creationId xmlns:p14="http://schemas.microsoft.com/office/powerpoint/2010/main" val="427742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608084" y="189187"/>
            <a:ext cx="546537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 of Online Banking</a:t>
            </a: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Convenience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24/7 access to account information and services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Cost-effectiveness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Reduced need for physical infrastructure and paperwork</a:t>
            </a:r>
          </a:p>
          <a:p>
            <a:pPr marL="342900" lvl="8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Enhanced financial management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Real-time tracking of expenses and budgeting tools</a:t>
            </a:r>
          </a:p>
        </p:txBody>
      </p:sp>
    </p:spTree>
    <p:extLst>
      <p:ext uri="{BB962C8B-B14F-4D97-AF65-F5344CB8AC3E}">
        <p14:creationId xmlns:p14="http://schemas.microsoft.com/office/powerpoint/2010/main" val="944626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608084" y="189187"/>
            <a:ext cx="546537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Wallets and Contactless Payments</a:t>
            </a:r>
            <a:endParaRPr lang="en-GB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Integration with mobile wallets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Facilitating quick and secure transactions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Contactless payment options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Enhancing the speed and efficiency of transactions</a:t>
            </a:r>
          </a:p>
        </p:txBody>
      </p:sp>
    </p:spTree>
    <p:extLst>
      <p:ext uri="{BB962C8B-B14F-4D97-AF65-F5344CB8AC3E}">
        <p14:creationId xmlns:p14="http://schemas.microsoft.com/office/powerpoint/2010/main" val="359714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608084" y="189187"/>
            <a:ext cx="546537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Regulatory Framework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Rules by Government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Laws ensuring online transactions are safe and private.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Global Standards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Following worldwide financial rules to keep transactions secure.</a:t>
            </a:r>
          </a:p>
        </p:txBody>
      </p:sp>
    </p:spTree>
    <p:extLst>
      <p:ext uri="{BB962C8B-B14F-4D97-AF65-F5344CB8AC3E}">
        <p14:creationId xmlns:p14="http://schemas.microsoft.com/office/powerpoint/2010/main" val="252229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608084" y="189187"/>
            <a:ext cx="546537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Impact of COVID-19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More Online Use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People relying more on online banking during lockdowns.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Safe Transactions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Growing preference for touchless payments for safety.</a:t>
            </a:r>
          </a:p>
        </p:txBody>
      </p:sp>
    </p:spTree>
    <p:extLst>
      <p:ext uri="{BB962C8B-B14F-4D97-AF65-F5344CB8AC3E}">
        <p14:creationId xmlns:p14="http://schemas.microsoft.com/office/powerpoint/2010/main" val="3885033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608084" y="189187"/>
            <a:ext cx="5465378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Accessibility Challenges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Everywhere Access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Making sure even rural areas can use online banking.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Digital Equality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Trying to close the gap between those who can and can't access online services.</a:t>
            </a:r>
          </a:p>
        </p:txBody>
      </p:sp>
    </p:spTree>
    <p:extLst>
      <p:ext uri="{BB962C8B-B14F-4D97-AF65-F5344CB8AC3E}">
        <p14:creationId xmlns:p14="http://schemas.microsoft.com/office/powerpoint/2010/main" val="2988932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of Biometric Authentication</a:t>
            </a:r>
            <a:endParaRPr lang="en-GB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Fingerprints and Faces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Using unique physical features for secure logins.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Easy and Safe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Making sure it's simple for users while keeping accounts safe.</a:t>
            </a:r>
          </a:p>
        </p:txBody>
      </p:sp>
    </p:spTree>
    <p:extLst>
      <p:ext uri="{BB962C8B-B14F-4D97-AF65-F5344CB8AC3E}">
        <p14:creationId xmlns:p14="http://schemas.microsoft.com/office/powerpoint/2010/main" val="1605592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of Online Banking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Technological advancements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Integration of artificial intelligence and block chain.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Expansion of services -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More sophisticated financial planning tools, virtual banking assistants</a:t>
            </a:r>
          </a:p>
        </p:txBody>
      </p:sp>
    </p:spTree>
    <p:extLst>
      <p:ext uri="{BB962C8B-B14F-4D97-AF65-F5344CB8AC3E}">
        <p14:creationId xmlns:p14="http://schemas.microsoft.com/office/powerpoint/2010/main" val="3297857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Commonly Used Online Financial Management Tools</a:t>
            </a:r>
            <a:endParaRPr lang="en-GB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380" y="990776"/>
            <a:ext cx="7923993" cy="2805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JazzCash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Easypaisa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Zong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PayMax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1LINK and MNET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Keenu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Wallet, etc.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45418" y="1098615"/>
            <a:ext cx="1443404" cy="8338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43" y="1093922"/>
            <a:ext cx="1440428" cy="8885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4680" t="19612" r="3694" b="3049"/>
          <a:stretch/>
        </p:blipFill>
        <p:spPr>
          <a:xfrm>
            <a:off x="5645418" y="2118654"/>
            <a:ext cx="1443404" cy="9080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5710" y="2113575"/>
            <a:ext cx="1443404" cy="9683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/>
          <a:srcRect l="40459" t="9898" r="36310" b="8365"/>
          <a:stretch/>
        </p:blipFill>
        <p:spPr>
          <a:xfrm>
            <a:off x="7642771" y="3174934"/>
            <a:ext cx="1126343" cy="18328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8"/>
          <a:srcRect l="26654" t="4097" r="25826" b="6177"/>
          <a:stretch/>
        </p:blipFill>
        <p:spPr>
          <a:xfrm>
            <a:off x="5901152" y="3174934"/>
            <a:ext cx="1187670" cy="166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16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JazzCash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8810" y="4265768"/>
            <a:ext cx="1443404" cy="83385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2234" y="1156351"/>
            <a:ext cx="836441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JazzCash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a mobile financial service provided by Jazz, one of the leading telecommunications companies in Pakistan.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allows users to perform various financial transactions, including sending and receiving money, paying bills, and buying mobile load.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JazzCash aims to provide convenient and secure financial services, especially for those who may not have easy access to traditional banking.</a:t>
            </a:r>
          </a:p>
        </p:txBody>
      </p:sp>
    </p:spTree>
    <p:extLst>
      <p:ext uri="{BB962C8B-B14F-4D97-AF65-F5344CB8AC3E}">
        <p14:creationId xmlns:p14="http://schemas.microsoft.com/office/powerpoint/2010/main" val="3567399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Easypaisa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2234" y="1000314"/>
            <a:ext cx="83644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Easypaisa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another popular mobile wallet service in Pakistan, operated by Telenor, a major telecom operator in the country.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Similar to JazzCash, Easypaisa enables users to conduct financial transactions, pay bills, and perform mobile top-ups.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also includes services such as international remittances and mobile account services.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221" y="3972342"/>
            <a:ext cx="1440428" cy="88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12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Zong </a:t>
            </a:r>
            <a:r>
              <a:rPr lang="en-US" sz="3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PayMax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2234" y="1000314"/>
            <a:ext cx="83644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Zong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PayMax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a digital payment solution offered by Zong, a telecommunications company in Pakistan.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service allows users to make payments for various products and services using their mobile phones.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Zong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PayMax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aims to enhance the convenience of digital transactions for its users.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680" t="19612" r="3694" b="3049"/>
          <a:stretch/>
        </p:blipFill>
        <p:spPr>
          <a:xfrm>
            <a:off x="7325710" y="3962617"/>
            <a:ext cx="1443404" cy="90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46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1LINK and MNET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2234" y="1000314"/>
            <a:ext cx="8364415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1LINK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a consortium of major banks in Pakistan that operates an interbank electronic funds transfer (EFT) switch.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MNET, or MCB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Arif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Habib Mutual Fund Network, is a mutual fund online transaction platform.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Together, these networks facilitate secure and efficient electronic transactions, including ATM withdrawals, online payments, and interbank fund transfers.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11" y="4359376"/>
            <a:ext cx="970438" cy="70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10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16"/>
          <p:cNvSpPr txBox="1">
            <a:spLocks/>
          </p:cNvSpPr>
          <p:nvPr/>
        </p:nvSpPr>
        <p:spPr>
          <a:xfrm>
            <a:off x="1355834" y="189187"/>
            <a:ext cx="5969876" cy="46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US" sz="3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Keenu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Wallet </a:t>
            </a:r>
            <a:endParaRPr lang="en-GB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14;p17"/>
          <p:cNvSpPr txBox="1">
            <a:spLocks/>
          </p:cNvSpPr>
          <p:nvPr/>
        </p:nvSpPr>
        <p:spPr>
          <a:xfrm>
            <a:off x="4862751" y="2528264"/>
            <a:ext cx="3573622" cy="3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2234" y="1000314"/>
            <a:ext cx="8364415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Keenu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Wallet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a mobile wallet and digital payment solution in Pakistan.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Users can link their bank accounts or credit/debit cards to the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Keenu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Wallet for making seamless transactions.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supports various features such as bill payments, online shopping, and peer-to-peer transfers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862" y="3711710"/>
            <a:ext cx="798787" cy="129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17357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265</TotalTime>
  <Words>808</Words>
  <Application>Microsoft Office PowerPoint</Application>
  <PresentationFormat>On-screen Show (16:9)</PresentationFormat>
  <Paragraphs>74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Wingdings</vt:lpstr>
      <vt:lpstr>Calibri Light</vt:lpstr>
      <vt:lpstr>Rockwell</vt:lpstr>
      <vt:lpstr>Calibri</vt:lpstr>
      <vt:lpstr>Arial</vt:lpstr>
      <vt:lpstr>Atlas</vt:lpstr>
      <vt:lpstr> </vt:lpstr>
      <vt:lpstr>Online banking, also known as internet banking, virtual banking, web banking or home banking, is a system that enables customers of a bank or other financial institution to conduct a range of financial transactions through the financial institution's website or mobile app. Since the early 2000s this has become the most common way that customers access their bank accounts.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Muhammad Ejaz Bashir</dc:creator>
  <cp:lastModifiedBy>Dev Hamnah</cp:lastModifiedBy>
  <cp:revision>133</cp:revision>
  <dcterms:modified xsi:type="dcterms:W3CDTF">2026-03-18T06:24:57Z</dcterms:modified>
</cp:coreProperties>
</file>