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Lst>
  <p:sldSz cx="18288000" cy="10287000"/>
  <p:notesSz cx="6858000" cy="9144000"/>
  <p:embeddedFontLst>
    <p:embeddedFont>
      <p:font typeface="(A) Arslan Wessam A" panose="03020402040406030203" pitchFamily="66" charset="-78"/>
      <p:regular r:id="rId11"/>
    </p:embeddedFont>
    <p:embeddedFont>
      <p:font typeface="Dream Avenue" panose="020B0604020202020204" charset="0"/>
      <p:regular r:id="rId12"/>
    </p:embeddedFont>
    <p:embeddedFont>
      <p:font typeface="Urdu Typesetting" panose="03020402040406030203" pitchFamily="66" charset="-78"/>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7" d="100"/>
          <a:sy n="37" d="100"/>
        </p:scale>
        <p:origin x="1060" y="2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21284" y="-22272"/>
            <a:ext cx="19344252" cy="10309272"/>
          </a:xfrm>
          <a:custGeom>
            <a:avLst/>
            <a:gdLst/>
            <a:ahLst/>
            <a:cxnLst/>
            <a:rect l="l" t="t" r="r" b="b"/>
            <a:pathLst>
              <a:path w="19344252" h="10309272">
                <a:moveTo>
                  <a:pt x="0" y="0"/>
                </a:moveTo>
                <a:lnTo>
                  <a:pt x="19344252" y="0"/>
                </a:lnTo>
                <a:lnTo>
                  <a:pt x="19344252" y="10309272"/>
                </a:lnTo>
                <a:lnTo>
                  <a:pt x="0" y="10309272"/>
                </a:lnTo>
                <a:lnTo>
                  <a:pt x="0" y="0"/>
                </a:lnTo>
                <a:close/>
              </a:path>
            </a:pathLst>
          </a:custGeom>
          <a:blipFill>
            <a:blip r:embed="rId2"/>
            <a:stretch>
              <a:fillRect l="-9042" t="-30327" r="-4883" b="-20558"/>
            </a:stretch>
          </a:blipFill>
        </p:spPr>
        <p:txBody>
          <a:bodyPr/>
          <a:lstStyle/>
          <a:p>
            <a:endParaRPr lang="en-PK"/>
          </a:p>
        </p:txBody>
      </p:sp>
      <p:sp>
        <p:nvSpPr>
          <p:cNvPr id="3" name="Freeform 3"/>
          <p:cNvSpPr/>
          <p:nvPr/>
        </p:nvSpPr>
        <p:spPr>
          <a:xfrm>
            <a:off x="15166459" y="5448809"/>
            <a:ext cx="3121541" cy="5551066"/>
          </a:xfrm>
          <a:custGeom>
            <a:avLst/>
            <a:gdLst/>
            <a:ahLst/>
            <a:cxnLst/>
            <a:rect l="l" t="t" r="r" b="b"/>
            <a:pathLst>
              <a:path w="3121541" h="5551066">
                <a:moveTo>
                  <a:pt x="0" y="0"/>
                </a:moveTo>
                <a:lnTo>
                  <a:pt x="3121541" y="0"/>
                </a:lnTo>
                <a:lnTo>
                  <a:pt x="3121541" y="5551066"/>
                </a:lnTo>
                <a:lnTo>
                  <a:pt x="0" y="5551066"/>
                </a:lnTo>
                <a:lnTo>
                  <a:pt x="0" y="0"/>
                </a:lnTo>
                <a:close/>
              </a:path>
            </a:pathLst>
          </a:custGeom>
          <a:blipFill>
            <a:blip r:embed="rId3"/>
            <a:stretch>
              <a:fillRect/>
            </a:stretch>
          </a:blipFill>
        </p:spPr>
        <p:txBody>
          <a:bodyPr/>
          <a:lstStyle/>
          <a:p>
            <a:endParaRPr lang="en-PK"/>
          </a:p>
        </p:txBody>
      </p:sp>
      <p:sp>
        <p:nvSpPr>
          <p:cNvPr id="4" name="TextBox 4"/>
          <p:cNvSpPr txBox="1"/>
          <p:nvPr/>
        </p:nvSpPr>
        <p:spPr>
          <a:xfrm>
            <a:off x="867386" y="3552870"/>
            <a:ext cx="6648958" cy="1202509"/>
          </a:xfrm>
          <a:prstGeom prst="rect">
            <a:avLst/>
          </a:prstGeom>
        </p:spPr>
        <p:txBody>
          <a:bodyPr lIns="0" tIns="0" rIns="0" bIns="0" rtlCol="0" anchor="t">
            <a:spAutoFit/>
          </a:bodyPr>
          <a:lstStyle/>
          <a:p>
            <a:pPr algn="ctr">
              <a:lnSpc>
                <a:spcPts val="10019"/>
              </a:lnSpc>
            </a:pPr>
            <a:r>
              <a:rPr lang="en-PK" sz="8000" dirty="0" err="1">
                <a:latin typeface="Urdu Typesetting" panose="03020402040406030203" pitchFamily="66" charset="-78"/>
                <a:cs typeface="Urdu Typesetting" panose="03020402040406030203" pitchFamily="66" charset="-78"/>
              </a:rPr>
              <a:t>فیمنزم</a:t>
            </a:r>
            <a:endParaRPr lang="en-US" sz="8800" dirty="0">
              <a:solidFill>
                <a:srgbClr val="27231B"/>
              </a:solidFill>
              <a:latin typeface="Urdu Typesetting" panose="03020402040406030203" pitchFamily="66" charset="-78"/>
              <a:ea typeface="Roller Coaster Serif"/>
              <a:cs typeface="Urdu Typesetting" panose="03020402040406030203" pitchFamily="66" charset="-78"/>
              <a:sym typeface="Roller Coaster Serif"/>
            </a:endParaRPr>
          </a:p>
        </p:txBody>
      </p:sp>
      <p:sp>
        <p:nvSpPr>
          <p:cNvPr id="5" name="TextBox 5"/>
          <p:cNvSpPr txBox="1"/>
          <p:nvPr/>
        </p:nvSpPr>
        <p:spPr>
          <a:xfrm>
            <a:off x="1139487" y="5028163"/>
            <a:ext cx="6648958" cy="1741182"/>
          </a:xfrm>
          <a:prstGeom prst="rect">
            <a:avLst/>
          </a:prstGeom>
        </p:spPr>
        <p:txBody>
          <a:bodyPr lIns="0" tIns="0" rIns="0" bIns="0" rtlCol="0" anchor="t">
            <a:spAutoFit/>
          </a:bodyPr>
          <a:lstStyle/>
          <a:p>
            <a:pPr algn="ctr">
              <a:lnSpc>
                <a:spcPts val="15140"/>
              </a:lnSpc>
            </a:pPr>
            <a:r>
              <a:rPr lang="en-PK" sz="9600" dirty="0" err="1">
                <a:latin typeface="Urdu Typesetting" panose="03020402040406030203" pitchFamily="66" charset="-78"/>
                <a:cs typeface="Urdu Typesetting" panose="03020402040406030203" pitchFamily="66" charset="-78"/>
              </a:rPr>
              <a:t>اور</a:t>
            </a:r>
            <a:r>
              <a:rPr lang="en-PK" sz="9600" dirty="0">
                <a:latin typeface="Urdu Typesetting" panose="03020402040406030203" pitchFamily="66" charset="-78"/>
                <a:cs typeface="Urdu Typesetting" panose="03020402040406030203" pitchFamily="66" charset="-78"/>
              </a:rPr>
              <a:t> </a:t>
            </a:r>
            <a:r>
              <a:rPr lang="en-PK" sz="9600" dirty="0" err="1">
                <a:latin typeface="Urdu Typesetting" panose="03020402040406030203" pitchFamily="66" charset="-78"/>
                <a:cs typeface="Urdu Typesetting" panose="03020402040406030203" pitchFamily="66" charset="-78"/>
              </a:rPr>
              <a:t>اسلام</a:t>
            </a:r>
            <a:endParaRPr lang="en-US" sz="1499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
        <p:nvSpPr>
          <p:cNvPr id="6" name="Freeform 6"/>
          <p:cNvSpPr/>
          <p:nvPr/>
        </p:nvSpPr>
        <p:spPr>
          <a:xfrm flipH="1" flipV="1">
            <a:off x="-421284" y="-155869"/>
            <a:ext cx="3121541" cy="5551066"/>
          </a:xfrm>
          <a:custGeom>
            <a:avLst/>
            <a:gdLst/>
            <a:ahLst/>
            <a:cxnLst/>
            <a:rect l="l" t="t" r="r" b="b"/>
            <a:pathLst>
              <a:path w="3121541" h="5551066">
                <a:moveTo>
                  <a:pt x="3121542" y="5551067"/>
                </a:moveTo>
                <a:lnTo>
                  <a:pt x="0" y="5551067"/>
                </a:lnTo>
                <a:lnTo>
                  <a:pt x="0" y="0"/>
                </a:lnTo>
                <a:lnTo>
                  <a:pt x="3121542" y="0"/>
                </a:lnTo>
                <a:lnTo>
                  <a:pt x="3121542" y="5551067"/>
                </a:lnTo>
                <a:close/>
              </a:path>
            </a:pathLst>
          </a:custGeom>
          <a:blipFill>
            <a:blip r:embed="rId3"/>
            <a:stretch>
              <a:fillRect/>
            </a:stretch>
          </a:blipFill>
        </p:spPr>
        <p:txBody>
          <a:bodyPr/>
          <a:lstStyle/>
          <a:p>
            <a:endParaRPr lang="en-PK"/>
          </a:p>
        </p:txBody>
      </p:sp>
      <p:sp>
        <p:nvSpPr>
          <p:cNvPr id="7" name="Freeform 7"/>
          <p:cNvSpPr/>
          <p:nvPr/>
        </p:nvSpPr>
        <p:spPr>
          <a:xfrm>
            <a:off x="-133127" y="5909108"/>
            <a:ext cx="2323653" cy="4630468"/>
          </a:xfrm>
          <a:custGeom>
            <a:avLst/>
            <a:gdLst/>
            <a:ahLst/>
            <a:cxnLst/>
            <a:rect l="l" t="t" r="r" b="b"/>
            <a:pathLst>
              <a:path w="2323653" h="4630468">
                <a:moveTo>
                  <a:pt x="0" y="0"/>
                </a:moveTo>
                <a:lnTo>
                  <a:pt x="2323654" y="0"/>
                </a:lnTo>
                <a:lnTo>
                  <a:pt x="2323654" y="4630468"/>
                </a:lnTo>
                <a:lnTo>
                  <a:pt x="0" y="4630468"/>
                </a:lnTo>
                <a:lnTo>
                  <a:pt x="0" y="0"/>
                </a:lnTo>
                <a:close/>
              </a:path>
            </a:pathLst>
          </a:custGeom>
          <a:blipFill>
            <a:blip r:embed="rId4"/>
            <a:stretch>
              <a:fillRect/>
            </a:stretch>
          </a:blipFill>
        </p:spPr>
        <p:txBody>
          <a:bodyPr/>
          <a:lstStyle/>
          <a:p>
            <a:endParaRPr lang="en-PK"/>
          </a:p>
        </p:txBody>
      </p:sp>
      <p:sp>
        <p:nvSpPr>
          <p:cNvPr id="8" name="Freeform 8"/>
          <p:cNvSpPr/>
          <p:nvPr/>
        </p:nvSpPr>
        <p:spPr>
          <a:xfrm flipV="1">
            <a:off x="2190527" y="7337303"/>
            <a:ext cx="4002678" cy="485325"/>
          </a:xfrm>
          <a:custGeom>
            <a:avLst/>
            <a:gdLst/>
            <a:ahLst/>
            <a:cxnLst/>
            <a:rect l="l" t="t" r="r" b="b"/>
            <a:pathLst>
              <a:path w="4002678" h="485325">
                <a:moveTo>
                  <a:pt x="0" y="485325"/>
                </a:moveTo>
                <a:lnTo>
                  <a:pt x="4002677" y="485325"/>
                </a:lnTo>
                <a:lnTo>
                  <a:pt x="4002677" y="0"/>
                </a:lnTo>
                <a:lnTo>
                  <a:pt x="0" y="0"/>
                </a:lnTo>
                <a:lnTo>
                  <a:pt x="0" y="485325"/>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9" name="Freeform 9"/>
          <p:cNvSpPr/>
          <p:nvPr/>
        </p:nvSpPr>
        <p:spPr>
          <a:xfrm>
            <a:off x="2190527" y="2492900"/>
            <a:ext cx="4002678" cy="485325"/>
          </a:xfrm>
          <a:custGeom>
            <a:avLst/>
            <a:gdLst/>
            <a:ahLst/>
            <a:cxnLst/>
            <a:rect l="l" t="t" r="r" b="b"/>
            <a:pathLst>
              <a:path w="4002678" h="485325">
                <a:moveTo>
                  <a:pt x="0" y="0"/>
                </a:moveTo>
                <a:lnTo>
                  <a:pt x="4002677" y="0"/>
                </a:lnTo>
                <a:lnTo>
                  <a:pt x="4002677" y="485325"/>
                </a:lnTo>
                <a:lnTo>
                  <a:pt x="0" y="4853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grpSp>
        <p:nvGrpSpPr>
          <p:cNvPr id="10" name="Group 10"/>
          <p:cNvGrpSpPr/>
          <p:nvPr/>
        </p:nvGrpSpPr>
        <p:grpSpPr>
          <a:xfrm>
            <a:off x="11860276" y="1668960"/>
            <a:ext cx="4422036" cy="6383834"/>
            <a:chOff x="0" y="0"/>
            <a:chExt cx="685089" cy="989023"/>
          </a:xfrm>
        </p:grpSpPr>
        <p:sp>
          <p:nvSpPr>
            <p:cNvPr id="11" name="Freeform 11"/>
            <p:cNvSpPr/>
            <p:nvPr/>
          </p:nvSpPr>
          <p:spPr>
            <a:xfrm>
              <a:off x="0" y="0"/>
              <a:ext cx="685089" cy="989023"/>
            </a:xfrm>
            <a:custGeom>
              <a:avLst/>
              <a:gdLst/>
              <a:ahLst/>
              <a:cxnLst/>
              <a:rect l="l" t="t" r="r" b="b"/>
              <a:pathLst>
                <a:path w="685089" h="989023">
                  <a:moveTo>
                    <a:pt x="40267" y="0"/>
                  </a:moveTo>
                  <a:lnTo>
                    <a:pt x="644822" y="0"/>
                  </a:lnTo>
                  <a:cubicBezTo>
                    <a:pt x="655501" y="0"/>
                    <a:pt x="665743" y="4242"/>
                    <a:pt x="673295" y="11794"/>
                  </a:cubicBezTo>
                  <a:cubicBezTo>
                    <a:pt x="680847" y="19346"/>
                    <a:pt x="685089" y="29588"/>
                    <a:pt x="685089" y="40267"/>
                  </a:cubicBezTo>
                  <a:lnTo>
                    <a:pt x="685089" y="948755"/>
                  </a:lnTo>
                  <a:cubicBezTo>
                    <a:pt x="685089" y="959435"/>
                    <a:pt x="680847" y="969677"/>
                    <a:pt x="673295" y="977229"/>
                  </a:cubicBezTo>
                  <a:cubicBezTo>
                    <a:pt x="665743" y="984780"/>
                    <a:pt x="655501" y="989023"/>
                    <a:pt x="644822" y="989023"/>
                  </a:cubicBezTo>
                  <a:lnTo>
                    <a:pt x="40267" y="989023"/>
                  </a:lnTo>
                  <a:cubicBezTo>
                    <a:pt x="29588" y="989023"/>
                    <a:pt x="19346" y="984780"/>
                    <a:pt x="11794" y="977229"/>
                  </a:cubicBezTo>
                  <a:cubicBezTo>
                    <a:pt x="4242" y="969677"/>
                    <a:pt x="0" y="959435"/>
                    <a:pt x="0" y="948755"/>
                  </a:cubicBezTo>
                  <a:lnTo>
                    <a:pt x="0" y="40267"/>
                  </a:lnTo>
                  <a:cubicBezTo>
                    <a:pt x="0" y="29588"/>
                    <a:pt x="4242" y="19346"/>
                    <a:pt x="11794" y="11794"/>
                  </a:cubicBezTo>
                  <a:cubicBezTo>
                    <a:pt x="19346" y="4242"/>
                    <a:pt x="29588" y="0"/>
                    <a:pt x="40267" y="0"/>
                  </a:cubicBezTo>
                  <a:close/>
                </a:path>
              </a:pathLst>
            </a:custGeom>
            <a:blipFill>
              <a:blip r:embed="rId6"/>
              <a:stretch>
                <a:fillRect l="-43439" r="-43439"/>
              </a:stretch>
            </a:blipFill>
          </p:spPr>
          <p:txBody>
            <a:bodyPr/>
            <a:lstStyle/>
            <a:p>
              <a:endParaRPr lang="en-PK"/>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38772"/>
            <a:ext cx="18421127" cy="10282596"/>
          </a:xfrm>
          <a:custGeom>
            <a:avLst/>
            <a:gdLst/>
            <a:ahLst/>
            <a:cxnLst/>
            <a:rect l="l" t="t" r="r" b="b"/>
            <a:pathLst>
              <a:path w="18421127" h="10282596">
                <a:moveTo>
                  <a:pt x="0" y="0"/>
                </a:moveTo>
                <a:lnTo>
                  <a:pt x="18421127" y="0"/>
                </a:lnTo>
                <a:lnTo>
                  <a:pt x="18421127" y="10282596"/>
                </a:lnTo>
                <a:lnTo>
                  <a:pt x="0" y="10282596"/>
                </a:lnTo>
                <a:lnTo>
                  <a:pt x="0" y="0"/>
                </a:lnTo>
                <a:close/>
              </a:path>
            </a:pathLst>
          </a:custGeom>
          <a:blipFill>
            <a:blip r:embed="rId2"/>
            <a:stretch>
              <a:fillRect t="-10201" b="-10201"/>
            </a:stretch>
          </a:blipFill>
        </p:spPr>
        <p:txBody>
          <a:bodyPr/>
          <a:lstStyle/>
          <a:p>
            <a:endParaRPr lang="en-PK"/>
          </a:p>
        </p:txBody>
      </p:sp>
      <p:sp>
        <p:nvSpPr>
          <p:cNvPr id="3" name="Freeform 3"/>
          <p:cNvSpPr/>
          <p:nvPr/>
        </p:nvSpPr>
        <p:spPr>
          <a:xfrm>
            <a:off x="314015" y="444875"/>
            <a:ext cx="8057723" cy="9470390"/>
          </a:xfrm>
          <a:custGeom>
            <a:avLst/>
            <a:gdLst/>
            <a:ahLst/>
            <a:cxnLst/>
            <a:rect l="l" t="t" r="r" b="b"/>
            <a:pathLst>
              <a:path w="8057723" h="9470390">
                <a:moveTo>
                  <a:pt x="0" y="0"/>
                </a:moveTo>
                <a:lnTo>
                  <a:pt x="8057724" y="0"/>
                </a:lnTo>
                <a:lnTo>
                  <a:pt x="8057724" y="9470390"/>
                </a:lnTo>
                <a:lnTo>
                  <a:pt x="0" y="9470390"/>
                </a:lnTo>
                <a:lnTo>
                  <a:pt x="0" y="0"/>
                </a:lnTo>
                <a:close/>
              </a:path>
            </a:pathLst>
          </a:custGeom>
          <a:blipFill>
            <a:blip r:embed="rId3">
              <a:alphaModFix amt="65000"/>
            </a:blip>
            <a:stretch>
              <a:fillRect/>
            </a:stretch>
          </a:blipFill>
        </p:spPr>
        <p:txBody>
          <a:bodyPr/>
          <a:lstStyle/>
          <a:p>
            <a:endParaRPr lang="en-PK"/>
          </a:p>
        </p:txBody>
      </p:sp>
      <p:sp>
        <p:nvSpPr>
          <p:cNvPr id="4" name="Freeform 4"/>
          <p:cNvSpPr/>
          <p:nvPr/>
        </p:nvSpPr>
        <p:spPr>
          <a:xfrm>
            <a:off x="9717273" y="408305"/>
            <a:ext cx="8057723" cy="9470390"/>
          </a:xfrm>
          <a:custGeom>
            <a:avLst/>
            <a:gdLst/>
            <a:ahLst/>
            <a:cxnLst/>
            <a:rect l="l" t="t" r="r" b="b"/>
            <a:pathLst>
              <a:path w="8057723" h="9470390">
                <a:moveTo>
                  <a:pt x="0" y="0"/>
                </a:moveTo>
                <a:lnTo>
                  <a:pt x="8057724" y="0"/>
                </a:lnTo>
                <a:lnTo>
                  <a:pt x="8057724" y="9470390"/>
                </a:lnTo>
                <a:lnTo>
                  <a:pt x="0" y="9470390"/>
                </a:lnTo>
                <a:lnTo>
                  <a:pt x="0" y="0"/>
                </a:lnTo>
                <a:close/>
              </a:path>
            </a:pathLst>
          </a:custGeom>
          <a:blipFill>
            <a:blip r:embed="rId3">
              <a:alphaModFix amt="65000"/>
            </a:blip>
            <a:stretch>
              <a:fillRect/>
            </a:stretch>
          </a:blipFill>
        </p:spPr>
        <p:txBody>
          <a:bodyPr/>
          <a:lstStyle/>
          <a:p>
            <a:endParaRPr lang="en-PK"/>
          </a:p>
        </p:txBody>
      </p:sp>
      <p:grpSp>
        <p:nvGrpSpPr>
          <p:cNvPr id="5" name="Group 5"/>
          <p:cNvGrpSpPr>
            <a:grpSpLocks noChangeAspect="1"/>
          </p:cNvGrpSpPr>
          <p:nvPr/>
        </p:nvGrpSpPr>
        <p:grpSpPr>
          <a:xfrm>
            <a:off x="2106195" y="2906819"/>
            <a:ext cx="4473363" cy="4473363"/>
            <a:chOff x="0" y="0"/>
            <a:chExt cx="6350000" cy="6350000"/>
          </a:xfrm>
        </p:grpSpPr>
        <p:sp>
          <p:nvSpPr>
            <p:cNvPr id="6" name="Freeform 6"/>
            <p:cNvSpPr/>
            <p:nvPr/>
          </p:nvSpPr>
          <p:spPr>
            <a:xfrm>
              <a:off x="124460" y="124460"/>
              <a:ext cx="6101080" cy="6101080"/>
            </a:xfrm>
            <a:custGeom>
              <a:avLst/>
              <a:gdLst/>
              <a:ahLst/>
              <a:cxnLst/>
              <a:rect l="l" t="t" r="r" b="b"/>
              <a:pathLst>
                <a:path w="6101080" h="6101080">
                  <a:moveTo>
                    <a:pt x="0" y="0"/>
                  </a:moveTo>
                  <a:lnTo>
                    <a:pt x="6101080" y="0"/>
                  </a:lnTo>
                  <a:lnTo>
                    <a:pt x="6101080" y="6101080"/>
                  </a:lnTo>
                  <a:lnTo>
                    <a:pt x="0" y="6101080"/>
                  </a:lnTo>
                  <a:close/>
                </a:path>
              </a:pathLst>
            </a:custGeom>
            <a:blipFill>
              <a:blip r:embed="rId4"/>
              <a:stretch>
                <a:fillRect t="-24931" b="-24931"/>
              </a:stretch>
            </a:blipFill>
          </p:spPr>
          <p:txBody>
            <a:bodyPr/>
            <a:lstStyle/>
            <a:p>
              <a:endParaRPr lang="en-PK"/>
            </a:p>
          </p:txBody>
        </p:sp>
        <p:sp>
          <p:nvSpPr>
            <p:cNvPr id="7" name="Freeform 7"/>
            <p:cNvSpPr/>
            <p:nvPr/>
          </p:nvSpPr>
          <p:spPr>
            <a:xfrm>
              <a:off x="0" y="0"/>
              <a:ext cx="6350000" cy="6350000"/>
            </a:xfrm>
            <a:custGeom>
              <a:avLst/>
              <a:gdLst/>
              <a:ahLst/>
              <a:cxnLst/>
              <a:rect l="l" t="t" r="r" b="b"/>
              <a:pathLst>
                <a:path w="6350000" h="6350000">
                  <a:moveTo>
                    <a:pt x="6350000" y="6350000"/>
                  </a:moveTo>
                  <a:lnTo>
                    <a:pt x="0" y="6350000"/>
                  </a:lnTo>
                  <a:lnTo>
                    <a:pt x="0" y="0"/>
                  </a:lnTo>
                  <a:lnTo>
                    <a:pt x="6350000" y="0"/>
                  </a:lnTo>
                  <a:lnTo>
                    <a:pt x="6350000" y="6350000"/>
                  </a:lnTo>
                  <a:close/>
                  <a:moveTo>
                    <a:pt x="248920" y="6101080"/>
                  </a:moveTo>
                  <a:lnTo>
                    <a:pt x="6099810" y="6101080"/>
                  </a:lnTo>
                  <a:lnTo>
                    <a:pt x="6099810" y="248920"/>
                  </a:lnTo>
                  <a:lnTo>
                    <a:pt x="248920" y="248920"/>
                  </a:lnTo>
                  <a:lnTo>
                    <a:pt x="248920" y="6101080"/>
                  </a:lnTo>
                  <a:close/>
                </a:path>
              </a:pathLst>
            </a:custGeom>
            <a:solidFill>
              <a:srgbClr val="E1CCA4"/>
            </a:solidFill>
          </p:spPr>
          <p:txBody>
            <a:bodyPr/>
            <a:lstStyle/>
            <a:p>
              <a:endParaRPr lang="en-PK"/>
            </a:p>
          </p:txBody>
        </p:sp>
      </p:grpSp>
      <p:sp>
        <p:nvSpPr>
          <p:cNvPr id="8" name="Freeform 8"/>
          <p:cNvSpPr/>
          <p:nvPr/>
        </p:nvSpPr>
        <p:spPr>
          <a:xfrm>
            <a:off x="2995931" y="7738161"/>
            <a:ext cx="2693891" cy="367043"/>
          </a:xfrm>
          <a:custGeom>
            <a:avLst/>
            <a:gdLst/>
            <a:ahLst/>
            <a:cxnLst/>
            <a:rect l="l" t="t" r="r" b="b"/>
            <a:pathLst>
              <a:path w="2693891" h="367043">
                <a:moveTo>
                  <a:pt x="0" y="0"/>
                </a:moveTo>
                <a:lnTo>
                  <a:pt x="2693891" y="0"/>
                </a:lnTo>
                <a:lnTo>
                  <a:pt x="2693891" y="367043"/>
                </a:lnTo>
                <a:lnTo>
                  <a:pt x="0" y="367043"/>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9" name="TextBox 9"/>
          <p:cNvSpPr txBox="1"/>
          <p:nvPr/>
        </p:nvSpPr>
        <p:spPr>
          <a:xfrm>
            <a:off x="10567641" y="3136677"/>
            <a:ext cx="6423946" cy="4924425"/>
          </a:xfrm>
          <a:prstGeom prst="rect">
            <a:avLst/>
          </a:prstGeom>
        </p:spPr>
        <p:txBody>
          <a:bodyPr lIns="0" tIns="0" rIns="0" bIns="0" rtlCol="0" anchor="t">
            <a:spAutoFit/>
          </a:bodyPr>
          <a:lstStyle/>
          <a:p>
            <a:pPr algn="ctr" rtl="1"/>
            <a:r>
              <a:rPr lang="en-PK" sz="2000" dirty="0" err="1">
                <a:latin typeface="(A) Arslan Wessam A" panose="03020402040406030203" pitchFamily="66" charset="-78"/>
                <a:cs typeface="(A) Arslan Wessam A" panose="03020402040406030203" pitchFamily="66" charset="-78"/>
              </a:rPr>
              <a:t>يَا</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أَيُّهَا</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النَّاسُ</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اتَّقُوا</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رَبَّكُمُ</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الَّذِي</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خَلَقَكُم</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مِّن</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نَّفْسٍ</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وَاحِدَةٍ</a:t>
            </a:r>
            <a:endParaRPr lang="en-US" sz="2000" dirty="0">
              <a:latin typeface="(A) Arslan Wessam A" panose="03020402040406030203" pitchFamily="66" charset="-78"/>
              <a:cs typeface="(A) Arslan Wessam A" panose="03020402040406030203" pitchFamily="66" charset="-78"/>
            </a:endParaRPr>
          </a:p>
          <a:p>
            <a:pPr algn="ctr" rtl="1"/>
            <a:endParaRPr lang="en-US" sz="2000" dirty="0">
              <a:latin typeface="(A) Arslan Wessam A" panose="03020402040406030203" pitchFamily="66" charset="-78"/>
              <a:cs typeface="(A) Arslan Wessam A" panose="03020402040406030203" pitchFamily="66" charset="-78"/>
            </a:endParaRPr>
          </a:p>
          <a:p>
            <a:pPr algn="r" rtl="1"/>
            <a:r>
              <a:rPr lang="ur-PK" sz="2000" dirty="0" err="1">
                <a:latin typeface="Urdu Typesetting" panose="03020402040406030203" pitchFamily="66" charset="-78"/>
                <a:cs typeface="Urdu Typesetting" panose="03020402040406030203" pitchFamily="66" charset="-78"/>
              </a:rPr>
              <a:t>قرآنِ</a:t>
            </a:r>
            <a:r>
              <a:rPr lang="ur-PK" sz="2000" dirty="0">
                <a:latin typeface="Urdu Typesetting" panose="03020402040406030203" pitchFamily="66" charset="-78"/>
                <a:cs typeface="Urdu Typesetting" panose="03020402040406030203" pitchFamily="66" charset="-78"/>
              </a:rPr>
              <a:t> مجید </a:t>
            </a:r>
            <a:r>
              <a:rPr lang="ur-PK" sz="2000" dirty="0" err="1">
                <a:latin typeface="Urdu Typesetting" panose="03020402040406030203" pitchFamily="66" charset="-78"/>
                <a:cs typeface="Urdu Typesetting" panose="03020402040406030203" pitchFamily="66" charset="-78"/>
              </a:rPr>
              <a:t>سورۃ</a:t>
            </a:r>
            <a:r>
              <a:rPr lang="ur-PK" sz="2000" dirty="0">
                <a:latin typeface="Urdu Typesetting" panose="03020402040406030203" pitchFamily="66" charset="-78"/>
                <a:cs typeface="Urdu Typesetting" panose="03020402040406030203" pitchFamily="66" charset="-78"/>
              </a:rPr>
              <a:t> </a:t>
            </a:r>
            <a:r>
              <a:rPr lang="ur-PK" sz="2000" dirty="0" err="1">
                <a:latin typeface="Urdu Typesetting" panose="03020402040406030203" pitchFamily="66" charset="-78"/>
                <a:cs typeface="Urdu Typesetting" panose="03020402040406030203" pitchFamily="66" charset="-78"/>
              </a:rPr>
              <a:t>النساء</a:t>
            </a:r>
            <a:r>
              <a:rPr lang="ur-PK" sz="2000" dirty="0">
                <a:latin typeface="Urdu Typesetting" panose="03020402040406030203" pitchFamily="66" charset="-78"/>
                <a:cs typeface="Urdu Typesetting" panose="03020402040406030203" pitchFamily="66" charset="-78"/>
              </a:rPr>
              <a:t> آیت 1 میں واضح کرتا ہے کہ اللہ نے مرد اور عورت دونوں کو "</a:t>
            </a:r>
            <a:r>
              <a:rPr lang="ur-PK" sz="2000" dirty="0" err="1">
                <a:latin typeface="Urdu Typesetting" panose="03020402040406030203" pitchFamily="66" charset="-78"/>
                <a:cs typeface="Urdu Typesetting" panose="03020402040406030203" pitchFamily="66" charset="-78"/>
              </a:rPr>
              <a:t>نفسٍ</a:t>
            </a:r>
            <a:r>
              <a:rPr lang="ur-PK" sz="2000" dirty="0">
                <a:latin typeface="Urdu Typesetting" panose="03020402040406030203" pitchFamily="66" charset="-78"/>
                <a:cs typeface="Urdu Typesetting" panose="03020402040406030203" pitchFamily="66" charset="-78"/>
              </a:rPr>
              <a:t> </a:t>
            </a:r>
            <a:r>
              <a:rPr lang="ur-PK" sz="2000" dirty="0" err="1">
                <a:latin typeface="Urdu Typesetting" panose="03020402040406030203" pitchFamily="66" charset="-78"/>
                <a:cs typeface="Urdu Typesetting" panose="03020402040406030203" pitchFamily="66" charset="-78"/>
              </a:rPr>
              <a:t>واحدہ</a:t>
            </a:r>
            <a:r>
              <a:rPr lang="ur-PK" sz="2000" dirty="0">
                <a:latin typeface="Urdu Typesetting" panose="03020402040406030203" pitchFamily="66" charset="-78"/>
                <a:cs typeface="Urdu Typesetting" panose="03020402040406030203" pitchFamily="66" charset="-78"/>
              </a:rPr>
              <a:t>" یعنی ایک ہی جان سے پیدا کیا۔</a:t>
            </a:r>
          </a:p>
          <a:p>
            <a:pPr algn="r" rtl="1"/>
            <a:endParaRPr lang="ur-PK" sz="2000" dirty="0">
              <a:latin typeface="Urdu Typesetting" panose="03020402040406030203" pitchFamily="66" charset="-78"/>
              <a:cs typeface="Urdu Typesetting" panose="03020402040406030203" pitchFamily="66" charset="-78"/>
            </a:endParaRPr>
          </a:p>
          <a:p>
            <a:pPr algn="r" rtl="1"/>
            <a:r>
              <a:rPr lang="ur-PK" sz="2000" dirty="0">
                <a:latin typeface="Urdu Typesetting" panose="03020402040406030203" pitchFamily="66" charset="-78"/>
                <a:cs typeface="Urdu Typesetting" panose="03020402040406030203" pitchFamily="66" charset="-78"/>
              </a:rPr>
              <a:t>یہ آیت ایک گہرا پیغام دیتی ہے:</a:t>
            </a:r>
          </a:p>
          <a:p>
            <a:pPr algn="r" rtl="1"/>
            <a:endParaRPr lang="ur-PK" sz="2000" dirty="0">
              <a:latin typeface="Urdu Typesetting" panose="03020402040406030203" pitchFamily="66" charset="-78"/>
              <a:cs typeface="Urdu Typesetting" panose="03020402040406030203" pitchFamily="66" charset="-78"/>
            </a:endParaRPr>
          </a:p>
          <a:p>
            <a:pPr algn="r" rtl="1"/>
            <a:r>
              <a:rPr lang="ur-PK" sz="2000" dirty="0">
                <a:latin typeface="Urdu Typesetting" panose="03020402040406030203" pitchFamily="66" charset="-78"/>
                <a:cs typeface="Urdu Typesetting" panose="03020402040406030203" pitchFamily="66" charset="-78"/>
              </a:rPr>
              <a:t>اگر عورت کی تخلیق مرد سے ہوئی تو کیا اس کا مطلب یہ ہے کہ وہ اس سے کمتر ہے؟ ہرگز نہیں۔ قرآن کا اصل پیغام یہ ہے کہ دونوں کی اصل ایک ہے، دونوں اللہ کی مخلوق ہیں، اور دونوں کی انسانی حیثیت برابر ہے۔</a:t>
            </a:r>
          </a:p>
          <a:p>
            <a:pPr algn="r" rtl="1"/>
            <a:endParaRPr lang="ur-PK" sz="2000" dirty="0">
              <a:latin typeface="Urdu Typesetting" panose="03020402040406030203" pitchFamily="66" charset="-78"/>
              <a:cs typeface="Urdu Typesetting" panose="03020402040406030203" pitchFamily="66" charset="-78"/>
            </a:endParaRPr>
          </a:p>
          <a:p>
            <a:pPr algn="r" rtl="1"/>
            <a:r>
              <a:rPr lang="ur-PK" sz="2000" dirty="0">
                <a:latin typeface="Urdu Typesetting" panose="03020402040406030203" pitchFamily="66" charset="-78"/>
                <a:cs typeface="Urdu Typesetting" panose="03020402040406030203" pitchFamily="66" charset="-78"/>
              </a:rPr>
              <a:t>قرآن کا استدلال یہی ہے کہ مرد اور عورت کی بنیاد ایک ہے، اس لیے اسلام میں عزت، فضیلت اور برتری کا معیار جنس نہیں بلکہ </a:t>
            </a:r>
            <a:r>
              <a:rPr lang="ur-PK" sz="2000" dirty="0" err="1">
                <a:latin typeface="Urdu Typesetting" panose="03020402040406030203" pitchFamily="66" charset="-78"/>
                <a:cs typeface="Urdu Typesetting" panose="03020402040406030203" pitchFamily="66" charset="-78"/>
              </a:rPr>
              <a:t>تقویٰ</a:t>
            </a:r>
            <a:r>
              <a:rPr lang="ur-PK" sz="2000" dirty="0">
                <a:latin typeface="Urdu Typesetting" panose="03020402040406030203" pitchFamily="66" charset="-78"/>
                <a:cs typeface="Urdu Typesetting" panose="03020402040406030203" pitchFamily="66" charset="-78"/>
              </a:rPr>
              <a:t> ہے۔</a:t>
            </a:r>
          </a:p>
          <a:p>
            <a:pPr algn="r" rtl="1"/>
            <a:endParaRPr lang="ur-PK" sz="2000" dirty="0">
              <a:latin typeface="Urdu Typesetting" panose="03020402040406030203" pitchFamily="66" charset="-78"/>
              <a:cs typeface="Urdu Typesetting" panose="03020402040406030203" pitchFamily="66" charset="-78"/>
            </a:endParaRPr>
          </a:p>
          <a:p>
            <a:pPr algn="r" rtl="1"/>
            <a:r>
              <a:rPr lang="ur-PK" sz="2000" dirty="0">
                <a:latin typeface="Urdu Typesetting" panose="03020402040406030203" pitchFamily="66" charset="-78"/>
                <a:cs typeface="Urdu Typesetting" panose="03020402040406030203" pitchFamily="66" charset="-78"/>
              </a:rPr>
              <a:t>مغربی </a:t>
            </a:r>
            <a:r>
              <a:rPr lang="ur-PK" sz="2000" dirty="0" err="1">
                <a:latin typeface="Urdu Typesetting" panose="03020402040406030203" pitchFamily="66" charset="-78"/>
                <a:cs typeface="Urdu Typesetting" panose="03020402040406030203" pitchFamily="66" charset="-78"/>
              </a:rPr>
              <a:t>فیمنزم</a:t>
            </a:r>
            <a:r>
              <a:rPr lang="ur-PK" sz="2000" dirty="0">
                <a:latin typeface="Urdu Typesetting" panose="03020402040406030203" pitchFamily="66" charset="-78"/>
                <a:cs typeface="Urdu Typesetting" panose="03020402040406030203" pitchFamily="66" charset="-78"/>
              </a:rPr>
              <a:t> نے مرد و عورت کی بنیادی مساوات کو 1960ء کی دہائی میں نمایاں کیا، جبکہ قرآن نے چودہ سو سال پہلے ہی یہ اصول بیان کر دیا تھا۔</a:t>
            </a:r>
          </a:p>
        </p:txBody>
      </p:sp>
      <p:sp>
        <p:nvSpPr>
          <p:cNvPr id="10" name="Freeform 10"/>
          <p:cNvSpPr/>
          <p:nvPr/>
        </p:nvSpPr>
        <p:spPr>
          <a:xfrm flipV="1">
            <a:off x="2995931" y="2254936"/>
            <a:ext cx="2693891" cy="367043"/>
          </a:xfrm>
          <a:custGeom>
            <a:avLst/>
            <a:gdLst/>
            <a:ahLst/>
            <a:cxnLst/>
            <a:rect l="l" t="t" r="r" b="b"/>
            <a:pathLst>
              <a:path w="2693891" h="367043">
                <a:moveTo>
                  <a:pt x="0" y="367043"/>
                </a:moveTo>
                <a:lnTo>
                  <a:pt x="2693891" y="367043"/>
                </a:lnTo>
                <a:lnTo>
                  <a:pt x="2693891" y="0"/>
                </a:lnTo>
                <a:lnTo>
                  <a:pt x="0" y="0"/>
                </a:lnTo>
                <a:lnTo>
                  <a:pt x="0" y="367043"/>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11" name="TextBox 11"/>
          <p:cNvSpPr txBox="1"/>
          <p:nvPr/>
        </p:nvSpPr>
        <p:spPr>
          <a:xfrm>
            <a:off x="10500680" y="1977754"/>
            <a:ext cx="6490907" cy="794833"/>
          </a:xfrm>
          <a:prstGeom prst="rect">
            <a:avLst/>
          </a:prstGeom>
        </p:spPr>
        <p:txBody>
          <a:bodyPr wrap="square" lIns="0" tIns="0" rIns="0" bIns="0" rtlCol="0" anchor="t">
            <a:spAutoFit/>
          </a:bodyPr>
          <a:lstStyle/>
          <a:p>
            <a:pPr algn="ctr" rtl="1">
              <a:lnSpc>
                <a:spcPts val="6675"/>
              </a:lnSpc>
            </a:pPr>
            <a:r>
              <a:rPr lang="en-PK" sz="5000" dirty="0" err="1">
                <a:latin typeface="Urdu Typesetting" panose="03020402040406030203" pitchFamily="66" charset="-78"/>
                <a:cs typeface="Urdu Typesetting" panose="03020402040406030203" pitchFamily="66" charset="-78"/>
              </a:rPr>
              <a:t>کیا</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عورت</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ناقص</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ہے</a:t>
            </a:r>
            <a:r>
              <a:rPr lang="en-PK" sz="5000" dirty="0">
                <a:latin typeface="Urdu Typesetting" panose="03020402040406030203" pitchFamily="66" charset="-78"/>
                <a:cs typeface="Urdu Typesetting" panose="03020402040406030203" pitchFamily="66" charset="-78"/>
              </a:rPr>
              <a:t>؟</a:t>
            </a:r>
            <a:endParaRPr lang="en-US" sz="500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38772"/>
            <a:ext cx="18421127" cy="10282596"/>
          </a:xfrm>
          <a:custGeom>
            <a:avLst/>
            <a:gdLst/>
            <a:ahLst/>
            <a:cxnLst/>
            <a:rect l="l" t="t" r="r" b="b"/>
            <a:pathLst>
              <a:path w="18421127" h="10282596">
                <a:moveTo>
                  <a:pt x="0" y="0"/>
                </a:moveTo>
                <a:lnTo>
                  <a:pt x="18421127" y="0"/>
                </a:lnTo>
                <a:lnTo>
                  <a:pt x="18421127" y="10282596"/>
                </a:lnTo>
                <a:lnTo>
                  <a:pt x="0" y="10282596"/>
                </a:lnTo>
                <a:lnTo>
                  <a:pt x="0" y="0"/>
                </a:lnTo>
                <a:close/>
              </a:path>
            </a:pathLst>
          </a:custGeom>
          <a:blipFill>
            <a:blip r:embed="rId2"/>
            <a:stretch>
              <a:fillRect t="-10201" b="-10201"/>
            </a:stretch>
          </a:blipFill>
        </p:spPr>
        <p:txBody>
          <a:bodyPr/>
          <a:lstStyle/>
          <a:p>
            <a:endParaRPr lang="en-PK"/>
          </a:p>
        </p:txBody>
      </p:sp>
      <p:sp>
        <p:nvSpPr>
          <p:cNvPr id="3" name="Freeform 3"/>
          <p:cNvSpPr/>
          <p:nvPr/>
        </p:nvSpPr>
        <p:spPr>
          <a:xfrm>
            <a:off x="314015" y="444875"/>
            <a:ext cx="8057723" cy="9470390"/>
          </a:xfrm>
          <a:custGeom>
            <a:avLst/>
            <a:gdLst/>
            <a:ahLst/>
            <a:cxnLst/>
            <a:rect l="l" t="t" r="r" b="b"/>
            <a:pathLst>
              <a:path w="8057723" h="9470390">
                <a:moveTo>
                  <a:pt x="0" y="0"/>
                </a:moveTo>
                <a:lnTo>
                  <a:pt x="8057724" y="0"/>
                </a:lnTo>
                <a:lnTo>
                  <a:pt x="8057724" y="9470390"/>
                </a:lnTo>
                <a:lnTo>
                  <a:pt x="0" y="9470390"/>
                </a:lnTo>
                <a:lnTo>
                  <a:pt x="0" y="0"/>
                </a:lnTo>
                <a:close/>
              </a:path>
            </a:pathLst>
          </a:custGeom>
          <a:blipFill>
            <a:blip r:embed="rId3">
              <a:alphaModFix amt="65000"/>
            </a:blip>
            <a:stretch>
              <a:fillRect/>
            </a:stretch>
          </a:blipFill>
        </p:spPr>
        <p:txBody>
          <a:bodyPr/>
          <a:lstStyle/>
          <a:p>
            <a:endParaRPr lang="en-PK"/>
          </a:p>
        </p:txBody>
      </p:sp>
      <p:sp>
        <p:nvSpPr>
          <p:cNvPr id="4" name="Freeform 4"/>
          <p:cNvSpPr/>
          <p:nvPr/>
        </p:nvSpPr>
        <p:spPr>
          <a:xfrm>
            <a:off x="9717273" y="408305"/>
            <a:ext cx="8057723" cy="9470390"/>
          </a:xfrm>
          <a:custGeom>
            <a:avLst/>
            <a:gdLst/>
            <a:ahLst/>
            <a:cxnLst/>
            <a:rect l="l" t="t" r="r" b="b"/>
            <a:pathLst>
              <a:path w="8057723" h="9470390">
                <a:moveTo>
                  <a:pt x="0" y="0"/>
                </a:moveTo>
                <a:lnTo>
                  <a:pt x="8057724" y="0"/>
                </a:lnTo>
                <a:lnTo>
                  <a:pt x="8057724" y="9470390"/>
                </a:lnTo>
                <a:lnTo>
                  <a:pt x="0" y="9470390"/>
                </a:lnTo>
                <a:lnTo>
                  <a:pt x="0" y="0"/>
                </a:lnTo>
                <a:close/>
              </a:path>
            </a:pathLst>
          </a:custGeom>
          <a:blipFill>
            <a:blip r:embed="rId3">
              <a:alphaModFix amt="65000"/>
            </a:blip>
            <a:stretch>
              <a:fillRect/>
            </a:stretch>
          </a:blipFill>
        </p:spPr>
        <p:txBody>
          <a:bodyPr/>
          <a:lstStyle/>
          <a:p>
            <a:endParaRPr lang="en-PK"/>
          </a:p>
        </p:txBody>
      </p:sp>
      <p:grpSp>
        <p:nvGrpSpPr>
          <p:cNvPr id="5" name="Group 5"/>
          <p:cNvGrpSpPr/>
          <p:nvPr/>
        </p:nvGrpSpPr>
        <p:grpSpPr>
          <a:xfrm>
            <a:off x="11535117" y="2546387"/>
            <a:ext cx="4422036" cy="5267365"/>
            <a:chOff x="0" y="0"/>
            <a:chExt cx="685089" cy="816053"/>
          </a:xfrm>
        </p:grpSpPr>
        <p:sp>
          <p:nvSpPr>
            <p:cNvPr id="6" name="Freeform 6"/>
            <p:cNvSpPr/>
            <p:nvPr/>
          </p:nvSpPr>
          <p:spPr>
            <a:xfrm>
              <a:off x="0" y="0"/>
              <a:ext cx="685089" cy="816053"/>
            </a:xfrm>
            <a:custGeom>
              <a:avLst/>
              <a:gdLst/>
              <a:ahLst/>
              <a:cxnLst/>
              <a:rect l="l" t="t" r="r" b="b"/>
              <a:pathLst>
                <a:path w="685089" h="816053">
                  <a:moveTo>
                    <a:pt x="40267" y="0"/>
                  </a:moveTo>
                  <a:lnTo>
                    <a:pt x="644822" y="0"/>
                  </a:lnTo>
                  <a:cubicBezTo>
                    <a:pt x="655501" y="0"/>
                    <a:pt x="665743" y="4242"/>
                    <a:pt x="673295" y="11794"/>
                  </a:cubicBezTo>
                  <a:cubicBezTo>
                    <a:pt x="680847" y="19346"/>
                    <a:pt x="685089" y="29588"/>
                    <a:pt x="685089" y="40267"/>
                  </a:cubicBezTo>
                  <a:lnTo>
                    <a:pt x="685089" y="775785"/>
                  </a:lnTo>
                  <a:cubicBezTo>
                    <a:pt x="685089" y="786465"/>
                    <a:pt x="680847" y="796707"/>
                    <a:pt x="673295" y="804259"/>
                  </a:cubicBezTo>
                  <a:cubicBezTo>
                    <a:pt x="665743" y="811810"/>
                    <a:pt x="655501" y="816053"/>
                    <a:pt x="644822" y="816053"/>
                  </a:cubicBezTo>
                  <a:lnTo>
                    <a:pt x="40267" y="816053"/>
                  </a:lnTo>
                  <a:cubicBezTo>
                    <a:pt x="29588" y="816053"/>
                    <a:pt x="19346" y="811810"/>
                    <a:pt x="11794" y="804259"/>
                  </a:cubicBezTo>
                  <a:cubicBezTo>
                    <a:pt x="4242" y="796707"/>
                    <a:pt x="0" y="786465"/>
                    <a:pt x="0" y="775785"/>
                  </a:cubicBezTo>
                  <a:lnTo>
                    <a:pt x="0" y="40267"/>
                  </a:lnTo>
                  <a:cubicBezTo>
                    <a:pt x="0" y="29588"/>
                    <a:pt x="4242" y="19346"/>
                    <a:pt x="11794" y="11794"/>
                  </a:cubicBezTo>
                  <a:cubicBezTo>
                    <a:pt x="19346" y="4242"/>
                    <a:pt x="29588" y="0"/>
                    <a:pt x="40267" y="0"/>
                  </a:cubicBezTo>
                  <a:close/>
                </a:path>
              </a:pathLst>
            </a:custGeom>
            <a:blipFill>
              <a:blip r:embed="rId4"/>
              <a:stretch>
                <a:fillRect t="-12963" b="-12963"/>
              </a:stretch>
            </a:blipFill>
          </p:spPr>
          <p:txBody>
            <a:bodyPr/>
            <a:lstStyle/>
            <a:p>
              <a:endParaRPr lang="en-PK"/>
            </a:p>
          </p:txBody>
        </p:sp>
      </p:grpSp>
      <p:sp>
        <p:nvSpPr>
          <p:cNvPr id="7" name="TextBox 7"/>
          <p:cNvSpPr txBox="1"/>
          <p:nvPr/>
        </p:nvSpPr>
        <p:spPr>
          <a:xfrm>
            <a:off x="1130904" y="3471309"/>
            <a:ext cx="6423946" cy="4308872"/>
          </a:xfrm>
          <a:prstGeom prst="rect">
            <a:avLst/>
          </a:prstGeom>
        </p:spPr>
        <p:txBody>
          <a:bodyPr lIns="0" tIns="0" rIns="0" bIns="0" rtlCol="0" anchor="t">
            <a:spAutoFit/>
          </a:bodyPr>
          <a:lstStyle/>
          <a:p>
            <a:pPr algn="r" rtl="1"/>
            <a:r>
              <a:rPr lang="en-PK" sz="2000" dirty="0" err="1">
                <a:latin typeface="Urdu Typesetting" panose="03020402040406030203" pitchFamily="66" charset="-78"/>
                <a:cs typeface="Urdu Typesetting" panose="03020402040406030203" pitchFamily="66" charset="-78"/>
              </a:rPr>
              <a:t>قرآنِ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مجید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سورۃ</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النساء</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آیت</a:t>
            </a:r>
            <a:r>
              <a:rPr lang="en-PK" sz="2000" dirty="0">
                <a:latin typeface="Urdu Typesetting" panose="03020402040406030203" pitchFamily="66" charset="-78"/>
                <a:cs typeface="Urdu Typesetting" panose="03020402040406030203" pitchFamily="66" charset="-78"/>
              </a:rPr>
              <a:t> 34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فرمایا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endParaRPr lang="en-US" sz="2000" dirty="0">
              <a:latin typeface="Urdu Typesetting" panose="03020402040406030203" pitchFamily="66" charset="-78"/>
              <a:cs typeface="Urdu Typesetting" panose="03020402040406030203" pitchFamily="66" charset="-78"/>
            </a:endParaRPr>
          </a:p>
          <a:p>
            <a:pPr algn="r" rtl="1"/>
            <a:endParaRPr lang="en-PK" sz="2000" dirty="0">
              <a:latin typeface="Urdu Typesetting" panose="03020402040406030203" pitchFamily="66" charset="-78"/>
              <a:cs typeface="Urdu Typesetting" panose="03020402040406030203" pitchFamily="66" charset="-78"/>
            </a:endParaRPr>
          </a:p>
          <a:p>
            <a:pPr algn="ctr" rtl="1"/>
            <a:r>
              <a:rPr lang="en-PK" sz="2000" dirty="0" err="1">
                <a:latin typeface="(A) Arslan Wessam A" panose="03020402040406030203" pitchFamily="66" charset="-78"/>
                <a:cs typeface="(A) Arslan Wessam A" panose="03020402040406030203" pitchFamily="66" charset="-78"/>
              </a:rPr>
              <a:t>الرِّجَالُ</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قَوَّامُونَ</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عَلَى</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النِّسَاءِ</a:t>
            </a:r>
            <a:endParaRPr lang="en-US" sz="2000" dirty="0">
              <a:latin typeface="(A) Arslan Wessam A" panose="03020402040406030203" pitchFamily="66" charset="-78"/>
              <a:cs typeface="(A) Arslan Wessam A" panose="03020402040406030203" pitchFamily="66" charset="-78"/>
            </a:endParaRPr>
          </a:p>
          <a:p>
            <a:pPr algn="ctr" rtl="1"/>
            <a:endParaRPr lang="en-PK" sz="2000" dirty="0">
              <a:latin typeface="(A) Arslan Wessam A" panose="03020402040406030203" pitchFamily="66" charset="-78"/>
              <a:cs typeface="(A) Arslan Wessam A" panose="03020402040406030203" pitchFamily="66" charset="-78"/>
            </a:endParaRPr>
          </a:p>
          <a:p>
            <a:pPr algn="r" rtl="1"/>
            <a:r>
              <a:rPr lang="en-PK" sz="2000" dirty="0" err="1">
                <a:latin typeface="Urdu Typesetting" panose="03020402040406030203" pitchFamily="66" charset="-78"/>
                <a:cs typeface="Urdu Typesetting" panose="03020402040406030203" pitchFamily="66" charset="-78"/>
              </a:rPr>
              <a:t>اس</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آیت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ذمہ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داری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ذکر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نہ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اسے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عورت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مطلق</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مالک</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آمر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قرار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p>
          <a:p>
            <a:pPr algn="r" rtl="1"/>
            <a:r>
              <a:rPr lang="en-PK" sz="2000" dirty="0" err="1">
                <a:latin typeface="Urdu Typesetting" panose="03020402040406030203" pitchFamily="66" charset="-78"/>
                <a:cs typeface="Urdu Typesetting" panose="03020402040406030203" pitchFamily="66" charset="-78"/>
              </a:rPr>
              <a:t>قرآن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خود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اس</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ذمہ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داری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وجہ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بھی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بیان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کرتا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endParaRPr lang="en-US" sz="2000" dirty="0">
              <a:latin typeface="Urdu Typesetting" panose="03020402040406030203" pitchFamily="66" charset="-78"/>
              <a:cs typeface="Urdu Typesetting" panose="03020402040406030203" pitchFamily="66" charset="-78"/>
            </a:endParaRPr>
          </a:p>
          <a:p>
            <a:pPr algn="r" rtl="1"/>
            <a:endParaRPr lang="en-PK" sz="2000" dirty="0">
              <a:latin typeface="Urdu Typesetting" panose="03020402040406030203" pitchFamily="66" charset="-78"/>
              <a:cs typeface="Urdu Typesetting" panose="03020402040406030203" pitchFamily="66" charset="-78"/>
            </a:endParaRPr>
          </a:p>
          <a:p>
            <a:pPr algn="ctr" rtl="1"/>
            <a:r>
              <a:rPr lang="en-PK" sz="2000" dirty="0" err="1">
                <a:latin typeface="(A) Arslan Wessam A" panose="03020402040406030203" pitchFamily="66" charset="-78"/>
                <a:cs typeface="(A) Arslan Wessam A" panose="03020402040406030203" pitchFamily="66" charset="-78"/>
              </a:rPr>
              <a:t>بِمَا</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فَضَّلَ</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اللَّهُ</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بَعْضَهُمْ</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عَلَىٰ</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بَعْضٍ</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وَبِمَا</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أَنفَقُوا</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مِنْ</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أَمْوَالِهِمْ</a:t>
            </a:r>
            <a:endParaRPr lang="en-US" sz="2000" dirty="0">
              <a:latin typeface="(A) Arslan Wessam A" panose="03020402040406030203" pitchFamily="66" charset="-78"/>
              <a:cs typeface="(A) Arslan Wessam A" panose="03020402040406030203" pitchFamily="66" charset="-78"/>
            </a:endParaRPr>
          </a:p>
          <a:p>
            <a:pPr algn="r" rtl="1"/>
            <a:endParaRPr lang="en-PK" sz="2000" dirty="0">
              <a:latin typeface="Urdu Typesetting" panose="03020402040406030203" pitchFamily="66" charset="-78"/>
              <a:cs typeface="Urdu Typesetting" panose="03020402040406030203" pitchFamily="66" charset="-78"/>
            </a:endParaRPr>
          </a:p>
          <a:p>
            <a:pPr algn="r" rtl="1"/>
            <a:r>
              <a:rPr lang="en-PK" sz="2000" dirty="0" err="1">
                <a:latin typeface="Urdu Typesetting" panose="03020402040406030203" pitchFamily="66" charset="-78"/>
                <a:cs typeface="Urdu Typesetting" panose="03020402040406030203" pitchFamily="66" charset="-78"/>
              </a:rPr>
              <a:t>یعنی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خاندان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کفالت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خرچ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ذمہ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داری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عائد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گئی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اسی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تناظر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اس</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قوّامیت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ذکر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گیا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p>
          <a:p>
            <a:pPr algn="r" rtl="1"/>
            <a:endParaRPr lang="en-US" sz="2000" dirty="0">
              <a:latin typeface="Urdu Typesetting" panose="03020402040406030203" pitchFamily="66" charset="-78"/>
              <a:cs typeface="Urdu Typesetting" panose="03020402040406030203" pitchFamily="66" charset="-78"/>
            </a:endParaRPr>
          </a:p>
          <a:p>
            <a:pPr algn="r" rtl="1"/>
            <a:r>
              <a:rPr lang="en-PK" sz="2000" dirty="0" err="1">
                <a:latin typeface="Urdu Typesetting" panose="03020402040406030203" pitchFamily="66" charset="-78"/>
                <a:cs typeface="Urdu Typesetting" panose="03020402040406030203" pitchFamily="66" charset="-78"/>
              </a:rPr>
              <a:t>قرآن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کو</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مالک</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نہیں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بناتا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بلکہ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اسے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ایک</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جواب</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ذمہ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دار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فرد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طور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پیش</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کرتا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یہ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طاقت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نہیں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بلکہ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ذمہ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داری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تصور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p>
        </p:txBody>
      </p:sp>
      <p:sp>
        <p:nvSpPr>
          <p:cNvPr id="8" name="TextBox 8"/>
          <p:cNvSpPr txBox="1"/>
          <p:nvPr/>
        </p:nvSpPr>
        <p:spPr>
          <a:xfrm>
            <a:off x="1555635" y="2081766"/>
            <a:ext cx="5574484" cy="859210"/>
          </a:xfrm>
          <a:prstGeom prst="rect">
            <a:avLst/>
          </a:prstGeom>
        </p:spPr>
        <p:txBody>
          <a:bodyPr lIns="0" tIns="0" rIns="0" bIns="0" rtlCol="0" anchor="t">
            <a:spAutoFit/>
          </a:bodyPr>
          <a:lstStyle/>
          <a:p>
            <a:pPr algn="ctr" rtl="1">
              <a:lnSpc>
                <a:spcPts val="6675"/>
              </a:lnSpc>
            </a:pPr>
            <a:r>
              <a:rPr lang="en-PK" sz="6000" dirty="0" err="1">
                <a:latin typeface="Urdu Typesetting" panose="03020402040406030203" pitchFamily="66" charset="-78"/>
                <a:cs typeface="Urdu Typesetting" panose="03020402040406030203" pitchFamily="66" charset="-78"/>
              </a:rPr>
              <a:t>قوّامون</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کا</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اصل</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مطلب</a:t>
            </a:r>
            <a:endParaRPr lang="en-US" sz="600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0"/>
            <a:ext cx="18421127" cy="10415229"/>
          </a:xfrm>
          <a:custGeom>
            <a:avLst/>
            <a:gdLst/>
            <a:ahLst/>
            <a:cxnLst/>
            <a:rect l="l" t="t" r="r" b="b"/>
            <a:pathLst>
              <a:path w="18421127" h="10415229">
                <a:moveTo>
                  <a:pt x="0" y="0"/>
                </a:moveTo>
                <a:lnTo>
                  <a:pt x="18421127" y="0"/>
                </a:lnTo>
                <a:lnTo>
                  <a:pt x="18421127" y="10415229"/>
                </a:lnTo>
                <a:lnTo>
                  <a:pt x="0" y="10415229"/>
                </a:lnTo>
                <a:lnTo>
                  <a:pt x="0" y="0"/>
                </a:lnTo>
                <a:close/>
              </a:path>
            </a:pathLst>
          </a:custGeom>
          <a:blipFill>
            <a:blip r:embed="rId2"/>
            <a:stretch>
              <a:fillRect t="-16362" b="-16362"/>
            </a:stretch>
          </a:blipFill>
        </p:spPr>
        <p:txBody>
          <a:bodyPr/>
          <a:lstStyle/>
          <a:p>
            <a:endParaRPr lang="en-PK"/>
          </a:p>
        </p:txBody>
      </p:sp>
      <p:sp>
        <p:nvSpPr>
          <p:cNvPr id="3" name="Freeform 3"/>
          <p:cNvSpPr/>
          <p:nvPr/>
        </p:nvSpPr>
        <p:spPr>
          <a:xfrm rot="-5400000">
            <a:off x="-1839701" y="3160979"/>
            <a:ext cx="9324231" cy="4093271"/>
          </a:xfrm>
          <a:custGeom>
            <a:avLst/>
            <a:gdLst/>
            <a:ahLst/>
            <a:cxnLst/>
            <a:rect l="l" t="t" r="r" b="b"/>
            <a:pathLst>
              <a:path w="9324231" h="4093271">
                <a:moveTo>
                  <a:pt x="0" y="0"/>
                </a:moveTo>
                <a:lnTo>
                  <a:pt x="9324231" y="0"/>
                </a:lnTo>
                <a:lnTo>
                  <a:pt x="9324231" y="4093271"/>
                </a:lnTo>
                <a:lnTo>
                  <a:pt x="0" y="4093271"/>
                </a:lnTo>
                <a:lnTo>
                  <a:pt x="0" y="0"/>
                </a:lnTo>
                <a:close/>
              </a:path>
            </a:pathLst>
          </a:custGeom>
          <a:blipFill>
            <a:blip r:embed="rId3">
              <a:alphaModFix amt="65000"/>
            </a:blip>
            <a:stretch>
              <a:fillRect b="-167730"/>
            </a:stretch>
          </a:blipFill>
        </p:spPr>
        <p:txBody>
          <a:bodyPr/>
          <a:lstStyle/>
          <a:p>
            <a:endParaRPr lang="en-PK"/>
          </a:p>
        </p:txBody>
      </p:sp>
      <p:sp>
        <p:nvSpPr>
          <p:cNvPr id="4" name="Freeform 4"/>
          <p:cNvSpPr/>
          <p:nvPr/>
        </p:nvSpPr>
        <p:spPr>
          <a:xfrm rot="-5400000" flipH="1" flipV="1">
            <a:off x="10830402" y="3160979"/>
            <a:ext cx="9324231" cy="4093271"/>
          </a:xfrm>
          <a:custGeom>
            <a:avLst/>
            <a:gdLst/>
            <a:ahLst/>
            <a:cxnLst/>
            <a:rect l="l" t="t" r="r" b="b"/>
            <a:pathLst>
              <a:path w="9324231" h="4093271">
                <a:moveTo>
                  <a:pt x="9324231" y="4093271"/>
                </a:moveTo>
                <a:lnTo>
                  <a:pt x="0" y="4093271"/>
                </a:lnTo>
                <a:lnTo>
                  <a:pt x="0" y="0"/>
                </a:lnTo>
                <a:lnTo>
                  <a:pt x="9324231" y="0"/>
                </a:lnTo>
                <a:lnTo>
                  <a:pt x="9324231" y="4093271"/>
                </a:lnTo>
                <a:close/>
              </a:path>
            </a:pathLst>
          </a:custGeom>
          <a:blipFill>
            <a:blip r:embed="rId3">
              <a:alphaModFix amt="65000"/>
            </a:blip>
            <a:stretch>
              <a:fillRect b="-167730"/>
            </a:stretch>
          </a:blipFill>
        </p:spPr>
        <p:txBody>
          <a:bodyPr/>
          <a:lstStyle/>
          <a:p>
            <a:endParaRPr lang="en-PK"/>
          </a:p>
        </p:txBody>
      </p:sp>
      <p:sp>
        <p:nvSpPr>
          <p:cNvPr id="5" name="TextBox 5"/>
          <p:cNvSpPr txBox="1"/>
          <p:nvPr/>
        </p:nvSpPr>
        <p:spPr>
          <a:xfrm>
            <a:off x="2564355" y="2857500"/>
            <a:ext cx="13159290" cy="5909310"/>
          </a:xfrm>
          <a:prstGeom prst="rect">
            <a:avLst/>
          </a:prstGeom>
        </p:spPr>
        <p:txBody>
          <a:bodyPr lIns="0" tIns="0" rIns="0" bIns="0" rtlCol="0" anchor="t">
            <a:spAutoFit/>
          </a:bodyPr>
          <a:lstStyle/>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مجید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سورۃ</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البقرہ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آیت</a:t>
            </a:r>
            <a:r>
              <a:rPr lang="en-PK" sz="3200" dirty="0">
                <a:latin typeface="Urdu Typesetting" panose="03020402040406030203" pitchFamily="66" charset="-78"/>
                <a:cs typeface="Urdu Typesetting" panose="03020402040406030203" pitchFamily="66" charset="-78"/>
              </a:rPr>
              <a:t> 228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فرمایا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گیا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endParaRPr lang="en-PK" sz="3200" dirty="0">
              <a:latin typeface="Urdu Typesetting" panose="03020402040406030203" pitchFamily="66" charset="-78"/>
              <a:cs typeface="Urdu Typesetting" panose="03020402040406030203" pitchFamily="66" charset="-78"/>
            </a:endParaRPr>
          </a:p>
          <a:p>
            <a:pPr algn="ctr" rtl="1"/>
            <a:r>
              <a:rPr lang="en-PK" sz="3200" dirty="0" err="1">
                <a:latin typeface="(A) Arslan Wessam A" panose="03020402040406030203" pitchFamily="66" charset="-78"/>
                <a:cs typeface="(A) Arslan Wessam A" panose="03020402040406030203" pitchFamily="66" charset="-78"/>
              </a:rPr>
              <a:t>وَلَهُنَّ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مِثْلُ</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الَّذِي</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عَلَيْهِنَّ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بِالْمَعْرُوفِ</a:t>
            </a:r>
            <a:endParaRPr lang="en-US" sz="3200" dirty="0">
              <a:latin typeface="(A) Arslan Wessam A" panose="03020402040406030203" pitchFamily="66" charset="-78"/>
              <a:cs typeface="(A) Arslan Wessam A" panose="03020402040406030203" pitchFamily="66" charset="-78"/>
            </a:endParaRPr>
          </a:p>
          <a:p>
            <a:pPr algn="ctr" rtl="1"/>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لیے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معروف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طریقے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مطابق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ویسے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حقوق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جیسے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ذمہ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داریاں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endParaRPr lang="en-US"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یہ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آیت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واضح</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اسلام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ازدواجی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زندگی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حقوق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تسلیم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رشتے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صرف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فرائض</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بلکہ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باہمی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حقوق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ذمہ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داریوں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توازن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قائم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p>
          <a:p>
            <a:pPr algn="r" rtl="1"/>
            <a:r>
              <a:rPr lang="en-PK" sz="3200" dirty="0" err="1">
                <a:latin typeface="Urdu Typesetting" panose="03020402040406030203" pitchFamily="66" charset="-78"/>
                <a:cs typeface="Urdu Typesetting" panose="03020402040406030203" pitchFamily="66" charset="-78"/>
              </a:rPr>
              <a:t>اسی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اسلامی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نظام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مخصوص</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حالات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نکاح</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ختم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خلع</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گیا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بات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نشاندہی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اسلام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رشتے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اختیار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رکھا</a:t>
            </a:r>
            <a:r>
              <a:rPr lang="en-PK" sz="3200" dirty="0">
                <a:latin typeface="Urdu Typesetting" panose="03020402040406030203" pitchFamily="66" charset="-78"/>
                <a:cs typeface="Urdu Typesetting" panose="03020402040406030203" pitchFamily="66" charset="-78"/>
              </a:rPr>
              <a:t>۔</a:t>
            </a:r>
          </a:p>
          <a:p>
            <a:pPr algn="r" rtl="1"/>
            <a:endParaRPr lang="en-US"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برطانیہ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شادی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شدہ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جائیداد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رکھنے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قانونی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a:t>
            </a:r>
            <a:r>
              <a:rPr lang="en-PK" sz="3200" dirty="0">
                <a:latin typeface="Urdu Typesetting" panose="03020402040406030203" pitchFamily="66" charset="-78"/>
                <a:cs typeface="Urdu Typesetting" panose="03020402040406030203" pitchFamily="66" charset="-78"/>
              </a:rPr>
              <a:t> 1870ء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ملا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جبکہ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اسلام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ملکیت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مالی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حقوق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ساتویں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صدی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عیسوی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تسلیم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تھا</a:t>
            </a:r>
            <a:r>
              <a:rPr lang="en-PK" sz="3200" dirty="0">
                <a:latin typeface="Urdu Typesetting" panose="03020402040406030203" pitchFamily="66" charset="-78"/>
                <a:cs typeface="Urdu Typesetting" panose="03020402040406030203" pitchFamily="66" charset="-78"/>
              </a:rPr>
              <a:t>۔</a:t>
            </a:r>
          </a:p>
        </p:txBody>
      </p:sp>
      <p:sp>
        <p:nvSpPr>
          <p:cNvPr id="6" name="TextBox 6"/>
          <p:cNvSpPr txBox="1"/>
          <p:nvPr/>
        </p:nvSpPr>
        <p:spPr>
          <a:xfrm>
            <a:off x="7248636" y="1139190"/>
            <a:ext cx="3657600" cy="861005"/>
          </a:xfrm>
          <a:prstGeom prst="rect">
            <a:avLst/>
          </a:prstGeom>
        </p:spPr>
        <p:txBody>
          <a:bodyPr wrap="square" lIns="0" tIns="0" rIns="0" bIns="0" rtlCol="0" anchor="t">
            <a:spAutoFit/>
          </a:bodyPr>
          <a:lstStyle/>
          <a:p>
            <a:pPr algn="l" rtl="1">
              <a:lnSpc>
                <a:spcPts val="6675"/>
              </a:lnSpc>
            </a:pPr>
            <a:r>
              <a:rPr lang="en-PK" sz="6000" dirty="0" err="1">
                <a:latin typeface="Urdu Typesetting" panose="03020402040406030203" pitchFamily="66" charset="-78"/>
                <a:cs typeface="Urdu Typesetting" panose="03020402040406030203" pitchFamily="66" charset="-78"/>
              </a:rPr>
              <a:t>وراثت</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طلاق</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خلع</a:t>
            </a:r>
            <a:endParaRPr lang="en-US" sz="600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0"/>
            <a:ext cx="18421127" cy="10415229"/>
          </a:xfrm>
          <a:custGeom>
            <a:avLst/>
            <a:gdLst/>
            <a:ahLst/>
            <a:cxnLst/>
            <a:rect l="l" t="t" r="r" b="b"/>
            <a:pathLst>
              <a:path w="18421127" h="10415229">
                <a:moveTo>
                  <a:pt x="0" y="0"/>
                </a:moveTo>
                <a:lnTo>
                  <a:pt x="18421127" y="0"/>
                </a:lnTo>
                <a:lnTo>
                  <a:pt x="18421127" y="10415229"/>
                </a:lnTo>
                <a:lnTo>
                  <a:pt x="0" y="10415229"/>
                </a:lnTo>
                <a:lnTo>
                  <a:pt x="0" y="0"/>
                </a:lnTo>
                <a:close/>
              </a:path>
            </a:pathLst>
          </a:custGeom>
          <a:blipFill>
            <a:blip r:embed="rId2"/>
            <a:stretch>
              <a:fillRect t="-16362" b="-16362"/>
            </a:stretch>
          </a:blipFill>
        </p:spPr>
        <p:txBody>
          <a:bodyPr/>
          <a:lstStyle/>
          <a:p>
            <a:endParaRPr lang="en-PK"/>
          </a:p>
        </p:txBody>
      </p:sp>
      <p:sp>
        <p:nvSpPr>
          <p:cNvPr id="3" name="Freeform 3"/>
          <p:cNvSpPr/>
          <p:nvPr/>
        </p:nvSpPr>
        <p:spPr>
          <a:xfrm rot="-5400000">
            <a:off x="-1839701" y="3160979"/>
            <a:ext cx="9324231" cy="4093271"/>
          </a:xfrm>
          <a:custGeom>
            <a:avLst/>
            <a:gdLst/>
            <a:ahLst/>
            <a:cxnLst/>
            <a:rect l="l" t="t" r="r" b="b"/>
            <a:pathLst>
              <a:path w="9324231" h="4093271">
                <a:moveTo>
                  <a:pt x="0" y="0"/>
                </a:moveTo>
                <a:lnTo>
                  <a:pt x="9324231" y="0"/>
                </a:lnTo>
                <a:lnTo>
                  <a:pt x="9324231" y="4093271"/>
                </a:lnTo>
                <a:lnTo>
                  <a:pt x="0" y="4093271"/>
                </a:lnTo>
                <a:lnTo>
                  <a:pt x="0" y="0"/>
                </a:lnTo>
                <a:close/>
              </a:path>
            </a:pathLst>
          </a:custGeom>
          <a:blipFill>
            <a:blip r:embed="rId3">
              <a:alphaModFix amt="65000"/>
            </a:blip>
            <a:stretch>
              <a:fillRect b="-167730"/>
            </a:stretch>
          </a:blipFill>
        </p:spPr>
        <p:txBody>
          <a:bodyPr/>
          <a:lstStyle/>
          <a:p>
            <a:endParaRPr lang="en-PK"/>
          </a:p>
        </p:txBody>
      </p:sp>
      <p:sp>
        <p:nvSpPr>
          <p:cNvPr id="4" name="TextBox 4"/>
          <p:cNvSpPr txBox="1"/>
          <p:nvPr/>
        </p:nvSpPr>
        <p:spPr>
          <a:xfrm>
            <a:off x="2497791" y="2476500"/>
            <a:ext cx="13159290" cy="6401753"/>
          </a:xfrm>
          <a:prstGeom prst="rect">
            <a:avLst/>
          </a:prstGeom>
        </p:spPr>
        <p:txBody>
          <a:bodyPr lIns="0" tIns="0" rIns="0" bIns="0" rtlCol="0" anchor="t">
            <a:spAutoFit/>
          </a:bodyPr>
          <a:lstStyle/>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مجید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سورۃ</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مریم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بیان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جب</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حضرت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مریم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فرشتے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بیٹے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بشارت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انہوں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سوال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کیا</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endParaRPr lang="en-PK" sz="3200" dirty="0">
              <a:latin typeface="Urdu Typesetting" panose="03020402040406030203" pitchFamily="66" charset="-78"/>
              <a:cs typeface="Urdu Typesetting" panose="03020402040406030203" pitchFamily="66" charset="-78"/>
            </a:endParaRPr>
          </a:p>
          <a:p>
            <a:pPr algn="ctr" rtl="1"/>
            <a:r>
              <a:rPr lang="en-PK" sz="3200" dirty="0" err="1">
                <a:latin typeface="(A) Arslan Wessam A" panose="03020402040406030203" pitchFamily="66" charset="-78"/>
                <a:cs typeface="(A) Arslan Wessam A" panose="03020402040406030203" pitchFamily="66" charset="-78"/>
              </a:rPr>
              <a:t>أَنَّىٰ</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يَكُونُ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لِي</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غُلَامٌ</a:t>
            </a:r>
            <a:endParaRPr lang="en-US" sz="3200" dirty="0">
              <a:latin typeface="(A) Arslan Wessam A" panose="03020402040406030203" pitchFamily="66" charset="-78"/>
              <a:cs typeface="(A) Arslan Wessam A" panose="03020402040406030203" pitchFamily="66" charset="-78"/>
            </a:endParaRPr>
          </a:p>
          <a:p>
            <a:pPr algn="ctr" rtl="1"/>
            <a:r>
              <a:rPr lang="en-PK" sz="3200" dirty="0" err="1">
                <a:latin typeface="Urdu Typesetting" panose="03020402040406030203" pitchFamily="66" charset="-78"/>
                <a:cs typeface="Urdu Typesetting" panose="03020402040406030203" pitchFamily="66" charset="-78"/>
              </a:rPr>
              <a:t>میرے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لیے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بیٹا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سکتا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r>
              <a:rPr lang="en-PK" sz="3200" b="1" dirty="0">
                <a:latin typeface="Urdu Typesetting" panose="03020402040406030203" pitchFamily="66" charset="-78"/>
                <a:cs typeface="Urdu Typesetting" panose="03020402040406030203" pitchFamily="66" charset="-78"/>
              </a:rPr>
              <a:t> </a:t>
            </a:r>
            <a:endParaRPr lang="en-US" sz="3200" b="1" dirty="0">
              <a:latin typeface="Urdu Typesetting" panose="03020402040406030203" pitchFamily="66" charset="-78"/>
              <a:cs typeface="Urdu Typesetting" panose="03020402040406030203" pitchFamily="66" charset="-78"/>
            </a:endParaRPr>
          </a:p>
          <a:p>
            <a:pPr algn="ctr" rtl="1"/>
            <a:endParaRPr lang="en-US" sz="3200" b="1" dirty="0">
              <a:latin typeface="Urdu Typesetting" panose="03020402040406030203" pitchFamily="66" charset="-78"/>
              <a:cs typeface="Urdu Typesetting" panose="03020402040406030203" pitchFamily="66" charset="-78"/>
            </a:endParaRPr>
          </a:p>
          <a:p>
            <a:pPr algn="ct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سوال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نقل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اللہ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قدرت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جواب</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بیان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معلوم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ہوتا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ایمان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ساتھ</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سوال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حقیقت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سمجھنے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خواہش</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رکھنا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قابلِ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مذمت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ctr" rtl="1"/>
            <a:endParaRPr lang="en-PK"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بعد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جب</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قوم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حضرت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مریم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الزام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لگایا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بیان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انہوں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طرف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اشارہ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اللہ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تعالیٰ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حضرت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عیسیٰ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گہوارے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کلام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معجزہ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عطا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فرمایا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پاکدامنی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ظاہر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گئی</a:t>
            </a:r>
            <a:r>
              <a:rPr lang="en-PK" sz="3200" dirty="0">
                <a:latin typeface="Urdu Typesetting" panose="03020402040406030203" pitchFamily="66" charset="-78"/>
                <a:cs typeface="Urdu Typesetting" panose="03020402040406030203" pitchFamily="66" charset="-78"/>
              </a:rPr>
              <a:t>۔</a:t>
            </a:r>
          </a:p>
          <a:p>
            <a:pPr algn="r" rtl="1"/>
            <a:endParaRPr lang="en-US"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حضرت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مریم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شخصیت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ایمان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پاکیزگی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صبر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اللہ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کامل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بھروسے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مثال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طور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پیش</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یہی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اللہ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اعتماد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انسان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حقیقی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عزت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مضبوطی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عطا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p>
        </p:txBody>
      </p:sp>
      <p:sp>
        <p:nvSpPr>
          <p:cNvPr id="5" name="TextBox 5"/>
          <p:cNvSpPr txBox="1"/>
          <p:nvPr/>
        </p:nvSpPr>
        <p:spPr>
          <a:xfrm>
            <a:off x="4809112" y="952500"/>
            <a:ext cx="8536648" cy="861005"/>
          </a:xfrm>
          <a:prstGeom prst="rect">
            <a:avLst/>
          </a:prstGeom>
        </p:spPr>
        <p:txBody>
          <a:bodyPr wrap="square" lIns="0" tIns="0" rIns="0" bIns="0" rtlCol="0" anchor="t">
            <a:spAutoFit/>
          </a:bodyPr>
          <a:lstStyle/>
          <a:p>
            <a:pPr algn="ctr">
              <a:lnSpc>
                <a:spcPts val="6675"/>
              </a:lnSpc>
            </a:pPr>
            <a:r>
              <a:rPr lang="en-PK" sz="6000" dirty="0" err="1">
                <a:latin typeface="Urdu Typesetting" panose="03020402040406030203" pitchFamily="66" charset="-78"/>
                <a:cs typeface="Urdu Typesetting" panose="03020402040406030203" pitchFamily="66" charset="-78"/>
              </a:rPr>
              <a:t>قرآن</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کی</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واحد</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خاتون</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جن</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کے</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نام</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پر</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سورت</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ہے</a:t>
            </a:r>
            <a:endParaRPr lang="en-US" sz="600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
        <p:nvSpPr>
          <p:cNvPr id="6" name="Freeform 6"/>
          <p:cNvSpPr/>
          <p:nvPr/>
        </p:nvSpPr>
        <p:spPr>
          <a:xfrm rot="-5400000" flipH="1" flipV="1">
            <a:off x="10830402" y="3160979"/>
            <a:ext cx="9324231" cy="4093271"/>
          </a:xfrm>
          <a:custGeom>
            <a:avLst/>
            <a:gdLst/>
            <a:ahLst/>
            <a:cxnLst/>
            <a:rect l="l" t="t" r="r" b="b"/>
            <a:pathLst>
              <a:path w="9324231" h="4093271">
                <a:moveTo>
                  <a:pt x="9324231" y="4093271"/>
                </a:moveTo>
                <a:lnTo>
                  <a:pt x="0" y="4093271"/>
                </a:lnTo>
                <a:lnTo>
                  <a:pt x="0" y="0"/>
                </a:lnTo>
                <a:lnTo>
                  <a:pt x="9324231" y="0"/>
                </a:lnTo>
                <a:lnTo>
                  <a:pt x="9324231" y="4093271"/>
                </a:lnTo>
                <a:close/>
              </a:path>
            </a:pathLst>
          </a:custGeom>
          <a:blipFill>
            <a:blip r:embed="rId3">
              <a:alphaModFix amt="65000"/>
            </a:blip>
            <a:stretch>
              <a:fillRect b="-167730"/>
            </a:stretch>
          </a:blipFill>
        </p:spPr>
        <p:txBody>
          <a:bodyPr/>
          <a:lstStyle/>
          <a:p>
            <a:endParaRPr lang="en-PK"/>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38772"/>
            <a:ext cx="18421127" cy="10282596"/>
          </a:xfrm>
          <a:custGeom>
            <a:avLst/>
            <a:gdLst/>
            <a:ahLst/>
            <a:cxnLst/>
            <a:rect l="l" t="t" r="r" b="b"/>
            <a:pathLst>
              <a:path w="18421127" h="10282596">
                <a:moveTo>
                  <a:pt x="0" y="0"/>
                </a:moveTo>
                <a:lnTo>
                  <a:pt x="18421127" y="0"/>
                </a:lnTo>
                <a:lnTo>
                  <a:pt x="18421127" y="10282596"/>
                </a:lnTo>
                <a:lnTo>
                  <a:pt x="0" y="10282596"/>
                </a:lnTo>
                <a:lnTo>
                  <a:pt x="0" y="0"/>
                </a:lnTo>
                <a:close/>
              </a:path>
            </a:pathLst>
          </a:custGeom>
          <a:blipFill>
            <a:blip r:embed="rId2"/>
            <a:stretch>
              <a:fillRect t="-10201" b="-10201"/>
            </a:stretch>
          </a:blipFill>
        </p:spPr>
        <p:txBody>
          <a:bodyPr/>
          <a:lstStyle/>
          <a:p>
            <a:endParaRPr lang="en-PK"/>
          </a:p>
        </p:txBody>
      </p:sp>
      <p:sp>
        <p:nvSpPr>
          <p:cNvPr id="3" name="Freeform 3"/>
          <p:cNvSpPr/>
          <p:nvPr/>
        </p:nvSpPr>
        <p:spPr>
          <a:xfrm>
            <a:off x="314015" y="444875"/>
            <a:ext cx="8057723" cy="9470390"/>
          </a:xfrm>
          <a:custGeom>
            <a:avLst/>
            <a:gdLst/>
            <a:ahLst/>
            <a:cxnLst/>
            <a:rect l="l" t="t" r="r" b="b"/>
            <a:pathLst>
              <a:path w="8057723" h="9470390">
                <a:moveTo>
                  <a:pt x="0" y="0"/>
                </a:moveTo>
                <a:lnTo>
                  <a:pt x="8057724" y="0"/>
                </a:lnTo>
                <a:lnTo>
                  <a:pt x="8057724" y="9470390"/>
                </a:lnTo>
                <a:lnTo>
                  <a:pt x="0" y="9470390"/>
                </a:lnTo>
                <a:lnTo>
                  <a:pt x="0" y="0"/>
                </a:lnTo>
                <a:close/>
              </a:path>
            </a:pathLst>
          </a:custGeom>
          <a:blipFill>
            <a:blip r:embed="rId3">
              <a:alphaModFix amt="65000"/>
            </a:blip>
            <a:stretch>
              <a:fillRect/>
            </a:stretch>
          </a:blipFill>
        </p:spPr>
        <p:txBody>
          <a:bodyPr/>
          <a:lstStyle/>
          <a:p>
            <a:endParaRPr lang="en-PK"/>
          </a:p>
        </p:txBody>
      </p:sp>
      <p:sp>
        <p:nvSpPr>
          <p:cNvPr id="4" name="Freeform 4"/>
          <p:cNvSpPr/>
          <p:nvPr/>
        </p:nvSpPr>
        <p:spPr>
          <a:xfrm>
            <a:off x="9717273" y="408305"/>
            <a:ext cx="8057723" cy="9470390"/>
          </a:xfrm>
          <a:custGeom>
            <a:avLst/>
            <a:gdLst/>
            <a:ahLst/>
            <a:cxnLst/>
            <a:rect l="l" t="t" r="r" b="b"/>
            <a:pathLst>
              <a:path w="8057723" h="9470390">
                <a:moveTo>
                  <a:pt x="0" y="0"/>
                </a:moveTo>
                <a:lnTo>
                  <a:pt x="8057724" y="0"/>
                </a:lnTo>
                <a:lnTo>
                  <a:pt x="8057724" y="9470390"/>
                </a:lnTo>
                <a:lnTo>
                  <a:pt x="0" y="9470390"/>
                </a:lnTo>
                <a:lnTo>
                  <a:pt x="0" y="0"/>
                </a:lnTo>
                <a:close/>
              </a:path>
            </a:pathLst>
          </a:custGeom>
          <a:blipFill>
            <a:blip r:embed="rId3">
              <a:alphaModFix amt="65000"/>
            </a:blip>
            <a:stretch>
              <a:fillRect/>
            </a:stretch>
          </a:blipFill>
        </p:spPr>
        <p:txBody>
          <a:bodyPr/>
          <a:lstStyle/>
          <a:p>
            <a:endParaRPr lang="en-PK"/>
          </a:p>
        </p:txBody>
      </p:sp>
      <p:grpSp>
        <p:nvGrpSpPr>
          <p:cNvPr id="5" name="Group 5"/>
          <p:cNvGrpSpPr/>
          <p:nvPr/>
        </p:nvGrpSpPr>
        <p:grpSpPr>
          <a:xfrm>
            <a:off x="2131859" y="2546387"/>
            <a:ext cx="4422036" cy="5267365"/>
            <a:chOff x="0" y="0"/>
            <a:chExt cx="685089" cy="816053"/>
          </a:xfrm>
        </p:grpSpPr>
        <p:sp>
          <p:nvSpPr>
            <p:cNvPr id="6" name="Freeform 6"/>
            <p:cNvSpPr/>
            <p:nvPr/>
          </p:nvSpPr>
          <p:spPr>
            <a:xfrm>
              <a:off x="0" y="0"/>
              <a:ext cx="685089" cy="816053"/>
            </a:xfrm>
            <a:custGeom>
              <a:avLst/>
              <a:gdLst/>
              <a:ahLst/>
              <a:cxnLst/>
              <a:rect l="l" t="t" r="r" b="b"/>
              <a:pathLst>
                <a:path w="685089" h="816053">
                  <a:moveTo>
                    <a:pt x="40267" y="0"/>
                  </a:moveTo>
                  <a:lnTo>
                    <a:pt x="644822" y="0"/>
                  </a:lnTo>
                  <a:cubicBezTo>
                    <a:pt x="655501" y="0"/>
                    <a:pt x="665743" y="4242"/>
                    <a:pt x="673295" y="11794"/>
                  </a:cubicBezTo>
                  <a:cubicBezTo>
                    <a:pt x="680847" y="19346"/>
                    <a:pt x="685089" y="29588"/>
                    <a:pt x="685089" y="40267"/>
                  </a:cubicBezTo>
                  <a:lnTo>
                    <a:pt x="685089" y="775785"/>
                  </a:lnTo>
                  <a:cubicBezTo>
                    <a:pt x="685089" y="786465"/>
                    <a:pt x="680847" y="796707"/>
                    <a:pt x="673295" y="804259"/>
                  </a:cubicBezTo>
                  <a:cubicBezTo>
                    <a:pt x="665743" y="811810"/>
                    <a:pt x="655501" y="816053"/>
                    <a:pt x="644822" y="816053"/>
                  </a:cubicBezTo>
                  <a:lnTo>
                    <a:pt x="40267" y="816053"/>
                  </a:lnTo>
                  <a:cubicBezTo>
                    <a:pt x="29588" y="816053"/>
                    <a:pt x="19346" y="811810"/>
                    <a:pt x="11794" y="804259"/>
                  </a:cubicBezTo>
                  <a:cubicBezTo>
                    <a:pt x="4242" y="796707"/>
                    <a:pt x="0" y="786465"/>
                    <a:pt x="0" y="775785"/>
                  </a:cubicBezTo>
                  <a:lnTo>
                    <a:pt x="0" y="40267"/>
                  </a:lnTo>
                  <a:cubicBezTo>
                    <a:pt x="0" y="29588"/>
                    <a:pt x="4242" y="19346"/>
                    <a:pt x="11794" y="11794"/>
                  </a:cubicBezTo>
                  <a:cubicBezTo>
                    <a:pt x="19346" y="4242"/>
                    <a:pt x="29588" y="0"/>
                    <a:pt x="40267" y="0"/>
                  </a:cubicBezTo>
                  <a:close/>
                </a:path>
              </a:pathLst>
            </a:custGeom>
            <a:blipFill>
              <a:blip r:embed="rId4"/>
              <a:stretch>
                <a:fillRect l="-39225" r="-39225"/>
              </a:stretch>
            </a:blipFill>
          </p:spPr>
          <p:txBody>
            <a:bodyPr/>
            <a:lstStyle/>
            <a:p>
              <a:endParaRPr lang="en-PK"/>
            </a:p>
          </p:txBody>
        </p:sp>
      </p:grpSp>
      <p:sp>
        <p:nvSpPr>
          <p:cNvPr id="7" name="TextBox 7"/>
          <p:cNvSpPr txBox="1"/>
          <p:nvPr/>
        </p:nvSpPr>
        <p:spPr>
          <a:xfrm>
            <a:off x="10211602" y="3142845"/>
            <a:ext cx="7069065" cy="4308872"/>
          </a:xfrm>
          <a:prstGeom prst="rect">
            <a:avLst/>
          </a:prstGeom>
        </p:spPr>
        <p:txBody>
          <a:bodyPr lIns="0" tIns="0" rIns="0" bIns="0" rtlCol="0" anchor="t">
            <a:spAutoFit/>
          </a:bodyPr>
          <a:lstStyle/>
          <a:p>
            <a:pPr algn="r" rtl="1"/>
            <a:r>
              <a:rPr lang="en-PK" sz="2000" dirty="0" err="1">
                <a:latin typeface="Urdu Typesetting" panose="03020402040406030203" pitchFamily="66" charset="-78"/>
                <a:cs typeface="Urdu Typesetting" panose="03020402040406030203" pitchFamily="66" charset="-78"/>
              </a:rPr>
              <a:t>مغربی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فیمنزم</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ایک</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بنیادی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بحث</a:t>
            </a:r>
            <a:r>
              <a:rPr lang="en-PK" sz="2000" dirty="0">
                <a:latin typeface="Urdu Typesetting" panose="03020402040406030203" pitchFamily="66" charset="-78"/>
                <a:cs typeface="Urdu Typesetting" panose="03020402040406030203" pitchFamily="66" charset="-78"/>
              </a:rPr>
              <a:t> </a:t>
            </a:r>
            <a:r>
              <a:rPr lang="en-PK" sz="2000" b="1" dirty="0">
                <a:latin typeface="Urdu Typesetting" panose="03020402040406030203" pitchFamily="66" charset="-78"/>
                <a:cs typeface="Urdu Typesetting" panose="03020402040406030203" pitchFamily="66" charset="-78"/>
              </a:rPr>
              <a:t>Bodily Autonomy</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یعنی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جسم</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مکمل</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اختیار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گھومتی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p>
          <a:p>
            <a:pPr algn="r" rtl="1"/>
            <a:r>
              <a:rPr lang="en-PK" sz="2000" dirty="0" err="1">
                <a:latin typeface="Urdu Typesetting" panose="03020402040406030203" pitchFamily="66" charset="-78"/>
                <a:cs typeface="Urdu Typesetting" panose="03020402040406030203" pitchFamily="66" charset="-78"/>
              </a:rPr>
              <a:t>قرآنِ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مجید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سورۃ</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الاحزاب</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آیت</a:t>
            </a:r>
            <a:r>
              <a:rPr lang="en-PK" sz="2000" dirty="0">
                <a:latin typeface="Urdu Typesetting" panose="03020402040406030203" pitchFamily="66" charset="-78"/>
                <a:cs typeface="Urdu Typesetting" panose="03020402040406030203" pitchFamily="66" charset="-78"/>
              </a:rPr>
              <a:t> 35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ایک</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مختلف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بنیاد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پیش</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کرتا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endParaRPr lang="en-US" sz="2000" dirty="0">
              <a:latin typeface="Urdu Typesetting" panose="03020402040406030203" pitchFamily="66" charset="-78"/>
              <a:cs typeface="Urdu Typesetting" panose="03020402040406030203" pitchFamily="66" charset="-78"/>
            </a:endParaRPr>
          </a:p>
          <a:p>
            <a:pPr algn="r" rtl="1"/>
            <a:endParaRPr lang="en-US" sz="2000" dirty="0">
              <a:latin typeface="Urdu Typesetting" panose="03020402040406030203" pitchFamily="66" charset="-78"/>
              <a:cs typeface="Urdu Typesetting" panose="03020402040406030203" pitchFamily="66" charset="-78"/>
            </a:endParaRPr>
          </a:p>
          <a:p>
            <a:pPr algn="ctr" rtl="1"/>
            <a:r>
              <a:rPr lang="en-PK" sz="2000" dirty="0">
                <a:latin typeface="(A) Arslan Wessam A" panose="03020402040406030203" pitchFamily="66" charset="-78"/>
                <a:cs typeface="(A) Arslan Wessam A" panose="03020402040406030203" pitchFamily="66" charset="-78"/>
              </a:rPr>
              <a:t>"</a:t>
            </a:r>
            <a:r>
              <a:rPr lang="en-PK" sz="2000" dirty="0" err="1">
                <a:latin typeface="(A) Arslan Wessam A" panose="03020402040406030203" pitchFamily="66" charset="-78"/>
                <a:cs typeface="(A) Arslan Wessam A" panose="03020402040406030203" pitchFamily="66" charset="-78"/>
              </a:rPr>
              <a:t>إِنَّ</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الْمُسْلِمِينَ</a:t>
            </a:r>
            <a:r>
              <a:rPr lang="en-PK" sz="2000" dirty="0">
                <a:latin typeface="(A) Arslan Wessam A" panose="03020402040406030203" pitchFamily="66" charset="-78"/>
                <a:cs typeface="(A) Arslan Wessam A" panose="03020402040406030203" pitchFamily="66" charset="-78"/>
              </a:rPr>
              <a:t> </a:t>
            </a:r>
            <a:r>
              <a:rPr lang="en-PK" sz="2000" dirty="0" err="1">
                <a:latin typeface="(A) Arslan Wessam A" panose="03020402040406030203" pitchFamily="66" charset="-78"/>
                <a:cs typeface="(A) Arslan Wessam A" panose="03020402040406030203" pitchFamily="66" charset="-78"/>
              </a:rPr>
              <a:t>وَالْمُسْلِمَاتِ</a:t>
            </a:r>
            <a:r>
              <a:rPr lang="en-PK" sz="2000" dirty="0">
                <a:latin typeface="(A) Arslan Wessam A" panose="03020402040406030203" pitchFamily="66" charset="-78"/>
                <a:cs typeface="(A) Arslan Wessam A" panose="03020402040406030203" pitchFamily="66" charset="-78"/>
              </a:rPr>
              <a:t>...“</a:t>
            </a:r>
            <a:endParaRPr lang="en-US" sz="2000" dirty="0">
              <a:latin typeface="(A) Arslan Wessam A" panose="03020402040406030203" pitchFamily="66" charset="-78"/>
              <a:cs typeface="(A) Arslan Wessam A" panose="03020402040406030203" pitchFamily="66" charset="-78"/>
            </a:endParaRPr>
          </a:p>
          <a:p>
            <a:pPr algn="ctr" rtl="1"/>
            <a:endParaRPr lang="en-PK" sz="2000" dirty="0">
              <a:latin typeface="(A) Arslan Wessam A" panose="03020402040406030203" pitchFamily="66" charset="-78"/>
              <a:cs typeface="(A) Arslan Wessam A" panose="03020402040406030203" pitchFamily="66" charset="-78"/>
            </a:endParaRPr>
          </a:p>
          <a:p>
            <a:pPr algn="r" rtl="1"/>
            <a:r>
              <a:rPr lang="en-PK" sz="2000" dirty="0" err="1">
                <a:latin typeface="Urdu Typesetting" panose="03020402040406030203" pitchFamily="66" charset="-78"/>
                <a:cs typeface="Urdu Typesetting" panose="03020402040406030203" pitchFamily="66" charset="-78"/>
              </a:rPr>
              <a:t>اس</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آیت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اللہ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تعالیٰ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ایمان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اطاعت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سچائی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صبر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عاجزی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صدقہ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روزہ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پاکدامنی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ذکرِ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الٰہی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جیسی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متعدد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صفات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بیان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کرتے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صفت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مردوں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عورتوں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ساتھ</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ساتھ</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ذکر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کرتے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پھر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آخر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دونوں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لیے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یکساں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اجر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مغفرت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بشارت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دیتے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ہیں</a:t>
            </a:r>
            <a:r>
              <a:rPr lang="en-PK" sz="2000" dirty="0">
                <a:latin typeface="Urdu Typesetting" panose="03020402040406030203" pitchFamily="66" charset="-78"/>
                <a:cs typeface="Urdu Typesetting" panose="03020402040406030203" pitchFamily="66" charset="-78"/>
              </a:rPr>
              <a:t>۔</a:t>
            </a:r>
          </a:p>
          <a:p>
            <a:pPr algn="r" rtl="1"/>
            <a:r>
              <a:rPr lang="en-PK" sz="2000" dirty="0" err="1">
                <a:latin typeface="Urdu Typesetting" panose="03020402040406030203" pitchFamily="66" charset="-78"/>
                <a:cs typeface="Urdu Typesetting" panose="03020402040406030203" pitchFamily="66" charset="-78"/>
              </a:rPr>
              <a:t>اس</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واضح</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ہوتا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اللہ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نزدیک</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جزا</a:t>
            </a:r>
            <a:r>
              <a:rPr lang="en-PK" sz="2000" dirty="0">
                <a:latin typeface="Urdu Typesetting" panose="03020402040406030203" pitchFamily="66" charset="-78"/>
                <a:cs typeface="Urdu Typesetting" panose="03020402040406030203" pitchFamily="66" charset="-78"/>
              </a:rPr>
              <a:t> و </a:t>
            </a:r>
            <a:r>
              <a:rPr lang="en-PK" sz="2000" dirty="0" err="1">
                <a:latin typeface="Urdu Typesetting" panose="03020402040406030203" pitchFamily="66" charset="-78"/>
                <a:cs typeface="Urdu Typesetting" panose="03020402040406030203" pitchFamily="66" charset="-78"/>
              </a:rPr>
              <a:t>سزا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معیار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جنس</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نہیں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بلکہ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ایمان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عملِ</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صالح</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p>
          <a:p>
            <a:pPr algn="r" rtl="1"/>
            <a:endParaRPr lang="en-US" sz="2000" dirty="0">
              <a:latin typeface="Urdu Typesetting" panose="03020402040406030203" pitchFamily="66" charset="-78"/>
              <a:cs typeface="Urdu Typesetting" panose="03020402040406030203" pitchFamily="66" charset="-78"/>
            </a:endParaRPr>
          </a:p>
          <a:p>
            <a:pPr algn="r" rtl="1"/>
            <a:r>
              <a:rPr lang="en-PK" sz="2000" dirty="0" err="1">
                <a:latin typeface="Urdu Typesetting" panose="03020402040406030203" pitchFamily="66" charset="-78"/>
                <a:cs typeface="Urdu Typesetting" panose="03020402040406030203" pitchFamily="66" charset="-78"/>
              </a:rPr>
              <a:t>فیمنزم</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فرد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خودمختاری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پر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زور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دیتا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جبکہ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قرآن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انسان</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کو</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یاد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دلاتا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مرد</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عورت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براہِ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راست</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اللہ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سامنے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جواب</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endParaRPr lang="en-US" sz="2000" dirty="0">
              <a:latin typeface="Urdu Typesetting" panose="03020402040406030203" pitchFamily="66" charset="-78"/>
              <a:cs typeface="Urdu Typesetting" panose="03020402040406030203" pitchFamily="66" charset="-78"/>
            </a:endParaRPr>
          </a:p>
          <a:p>
            <a:pPr algn="r" rtl="1"/>
            <a:endParaRPr lang="en-PK" sz="2000" dirty="0">
              <a:latin typeface="Urdu Typesetting" panose="03020402040406030203" pitchFamily="66" charset="-78"/>
              <a:cs typeface="Urdu Typesetting" panose="03020402040406030203" pitchFamily="66" charset="-78"/>
            </a:endParaRPr>
          </a:p>
          <a:p>
            <a:pPr algn="r" rtl="1"/>
            <a:r>
              <a:rPr lang="en-PK" sz="2000" dirty="0" err="1">
                <a:latin typeface="Urdu Typesetting" panose="03020402040406030203" pitchFamily="66" charset="-78"/>
                <a:cs typeface="Urdu Typesetting" panose="03020402040406030203" pitchFamily="66" charset="-78"/>
              </a:rPr>
              <a:t>یہ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تصور</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صرف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آزادی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نہیں</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بلکہ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آزادی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کے</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ساتھ</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ذمہ</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داری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کا</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بھی</a:t>
            </a:r>
            <a:r>
              <a:rPr lang="en-PK" sz="2000" dirty="0">
                <a:latin typeface="Urdu Typesetting" panose="03020402040406030203" pitchFamily="66" charset="-78"/>
                <a:cs typeface="Urdu Typesetting" panose="03020402040406030203" pitchFamily="66" charset="-78"/>
              </a:rPr>
              <a:t> </a:t>
            </a:r>
            <a:r>
              <a:rPr lang="en-PK" sz="2000" dirty="0" err="1">
                <a:latin typeface="Urdu Typesetting" panose="03020402040406030203" pitchFamily="66" charset="-78"/>
                <a:cs typeface="Urdu Typesetting" panose="03020402040406030203" pitchFamily="66" charset="-78"/>
              </a:rPr>
              <a:t>ہے</a:t>
            </a:r>
            <a:r>
              <a:rPr lang="en-PK" sz="2000" dirty="0">
                <a:latin typeface="Urdu Typesetting" panose="03020402040406030203" pitchFamily="66" charset="-78"/>
                <a:cs typeface="Urdu Typesetting" panose="03020402040406030203" pitchFamily="66" charset="-78"/>
              </a:rPr>
              <a:t>۔</a:t>
            </a:r>
          </a:p>
        </p:txBody>
      </p:sp>
      <p:sp>
        <p:nvSpPr>
          <p:cNvPr id="9" name="TextBox 9"/>
          <p:cNvSpPr txBox="1"/>
          <p:nvPr/>
        </p:nvSpPr>
        <p:spPr>
          <a:xfrm>
            <a:off x="11323325" y="947209"/>
            <a:ext cx="4845618" cy="1718419"/>
          </a:xfrm>
          <a:prstGeom prst="rect">
            <a:avLst/>
          </a:prstGeom>
        </p:spPr>
        <p:txBody>
          <a:bodyPr wrap="square" lIns="0" tIns="0" rIns="0" bIns="0" rtlCol="0" anchor="t">
            <a:spAutoFit/>
          </a:bodyPr>
          <a:lstStyle/>
          <a:p>
            <a:pPr algn="ctr" rtl="1">
              <a:lnSpc>
                <a:spcPts val="6675"/>
              </a:lnSpc>
            </a:pPr>
            <a:r>
              <a:rPr lang="en-PK" sz="5000" dirty="0" err="1">
                <a:latin typeface="Urdu Typesetting" panose="03020402040406030203" pitchFamily="66" charset="-78"/>
                <a:cs typeface="Urdu Typesetting" panose="03020402040406030203" pitchFamily="66" charset="-78"/>
              </a:rPr>
              <a:t>فیمنزم</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کا</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وہ</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سوال</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جس</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کا</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جواب</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صرف</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اسلام</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کے</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پاس</a:t>
            </a:r>
            <a:r>
              <a:rPr lang="en-PK" sz="5000" dirty="0">
                <a:latin typeface="Urdu Typesetting" panose="03020402040406030203" pitchFamily="66" charset="-78"/>
                <a:cs typeface="Urdu Typesetting" panose="03020402040406030203" pitchFamily="66" charset="-78"/>
              </a:rPr>
              <a:t> </a:t>
            </a:r>
            <a:r>
              <a:rPr lang="en-PK" sz="5000" dirty="0" err="1">
                <a:latin typeface="Urdu Typesetting" panose="03020402040406030203" pitchFamily="66" charset="-78"/>
                <a:cs typeface="Urdu Typesetting" panose="03020402040406030203" pitchFamily="66" charset="-78"/>
              </a:rPr>
              <a:t>ہے</a:t>
            </a:r>
            <a:endParaRPr lang="en-US" sz="500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0"/>
            <a:ext cx="18421127" cy="10415229"/>
          </a:xfrm>
          <a:custGeom>
            <a:avLst/>
            <a:gdLst/>
            <a:ahLst/>
            <a:cxnLst/>
            <a:rect l="l" t="t" r="r" b="b"/>
            <a:pathLst>
              <a:path w="18421127" h="10415229">
                <a:moveTo>
                  <a:pt x="0" y="0"/>
                </a:moveTo>
                <a:lnTo>
                  <a:pt x="18421127" y="0"/>
                </a:lnTo>
                <a:lnTo>
                  <a:pt x="18421127" y="10415229"/>
                </a:lnTo>
                <a:lnTo>
                  <a:pt x="0" y="10415229"/>
                </a:lnTo>
                <a:lnTo>
                  <a:pt x="0" y="0"/>
                </a:lnTo>
                <a:close/>
              </a:path>
            </a:pathLst>
          </a:custGeom>
          <a:blipFill>
            <a:blip r:embed="rId2"/>
            <a:stretch>
              <a:fillRect t="-16362" b="-16362"/>
            </a:stretch>
          </a:blipFill>
        </p:spPr>
        <p:txBody>
          <a:bodyPr/>
          <a:lstStyle/>
          <a:p>
            <a:endParaRPr lang="en-PK"/>
          </a:p>
        </p:txBody>
      </p:sp>
      <p:sp>
        <p:nvSpPr>
          <p:cNvPr id="3" name="Freeform 3"/>
          <p:cNvSpPr/>
          <p:nvPr/>
        </p:nvSpPr>
        <p:spPr>
          <a:xfrm rot="-5400000">
            <a:off x="-1839701" y="3160979"/>
            <a:ext cx="9324231" cy="4093271"/>
          </a:xfrm>
          <a:custGeom>
            <a:avLst/>
            <a:gdLst/>
            <a:ahLst/>
            <a:cxnLst/>
            <a:rect l="l" t="t" r="r" b="b"/>
            <a:pathLst>
              <a:path w="9324231" h="4093271">
                <a:moveTo>
                  <a:pt x="0" y="0"/>
                </a:moveTo>
                <a:lnTo>
                  <a:pt x="9324231" y="0"/>
                </a:lnTo>
                <a:lnTo>
                  <a:pt x="9324231" y="4093271"/>
                </a:lnTo>
                <a:lnTo>
                  <a:pt x="0" y="4093271"/>
                </a:lnTo>
                <a:lnTo>
                  <a:pt x="0" y="0"/>
                </a:lnTo>
                <a:close/>
              </a:path>
            </a:pathLst>
          </a:custGeom>
          <a:blipFill>
            <a:blip r:embed="rId3">
              <a:alphaModFix amt="65000"/>
            </a:blip>
            <a:stretch>
              <a:fillRect b="-167730"/>
            </a:stretch>
          </a:blipFill>
        </p:spPr>
        <p:txBody>
          <a:bodyPr/>
          <a:lstStyle/>
          <a:p>
            <a:endParaRPr lang="en-PK"/>
          </a:p>
        </p:txBody>
      </p:sp>
      <p:sp>
        <p:nvSpPr>
          <p:cNvPr id="4" name="Freeform 4"/>
          <p:cNvSpPr/>
          <p:nvPr/>
        </p:nvSpPr>
        <p:spPr>
          <a:xfrm rot="-5400000" flipH="1" flipV="1">
            <a:off x="10830402" y="3160979"/>
            <a:ext cx="9324231" cy="4093271"/>
          </a:xfrm>
          <a:custGeom>
            <a:avLst/>
            <a:gdLst/>
            <a:ahLst/>
            <a:cxnLst/>
            <a:rect l="l" t="t" r="r" b="b"/>
            <a:pathLst>
              <a:path w="9324231" h="4093271">
                <a:moveTo>
                  <a:pt x="9324231" y="4093271"/>
                </a:moveTo>
                <a:lnTo>
                  <a:pt x="0" y="4093271"/>
                </a:lnTo>
                <a:lnTo>
                  <a:pt x="0" y="0"/>
                </a:lnTo>
                <a:lnTo>
                  <a:pt x="9324231" y="0"/>
                </a:lnTo>
                <a:lnTo>
                  <a:pt x="9324231" y="4093271"/>
                </a:lnTo>
                <a:close/>
              </a:path>
            </a:pathLst>
          </a:custGeom>
          <a:blipFill>
            <a:blip r:embed="rId3">
              <a:alphaModFix amt="65000"/>
            </a:blip>
            <a:stretch>
              <a:fillRect b="-167730"/>
            </a:stretch>
          </a:blipFill>
        </p:spPr>
        <p:txBody>
          <a:bodyPr/>
          <a:lstStyle/>
          <a:p>
            <a:endParaRPr lang="en-PK"/>
          </a:p>
        </p:txBody>
      </p:sp>
      <p:sp>
        <p:nvSpPr>
          <p:cNvPr id="5" name="TextBox 5"/>
          <p:cNvSpPr txBox="1"/>
          <p:nvPr/>
        </p:nvSpPr>
        <p:spPr>
          <a:xfrm>
            <a:off x="2497791" y="2180611"/>
            <a:ext cx="13159290" cy="6401753"/>
          </a:xfrm>
          <a:prstGeom prst="rect">
            <a:avLst/>
          </a:prstGeom>
        </p:spPr>
        <p:txBody>
          <a:bodyPr lIns="0" tIns="0" rIns="0" bIns="0" rtlCol="0" anchor="t">
            <a:spAutoFit/>
          </a:bodyPr>
          <a:lstStyle/>
          <a:p>
            <a:pPr algn="r" rtl="1"/>
            <a:r>
              <a:rPr lang="en-PK" sz="3200" dirty="0" err="1">
                <a:latin typeface="Urdu Typesetting" panose="03020402040406030203" pitchFamily="66" charset="-78"/>
                <a:cs typeface="Urdu Typesetting" panose="03020402040406030203" pitchFamily="66" charset="-78"/>
              </a:rPr>
              <a:t>یہ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اسلام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فیمنزم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بالکل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ایک</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درست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دونوں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درمیان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بعض</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بنیادی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اختلافات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موجود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مجید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سورۃ</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النساء</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ایک</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زیادہ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نکاح</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اجازت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لیکن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ساتھ</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سخت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شرط</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عائد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endParaRPr lang="en-PK" sz="3200" dirty="0">
              <a:latin typeface="Urdu Typesetting" panose="03020402040406030203" pitchFamily="66" charset="-78"/>
              <a:cs typeface="Urdu Typesetting" panose="03020402040406030203" pitchFamily="66" charset="-78"/>
            </a:endParaRPr>
          </a:p>
          <a:p>
            <a:pPr algn="ctr" rtl="1"/>
            <a:r>
              <a:rPr lang="en-PK" sz="3200" dirty="0">
                <a:latin typeface="(A) Arslan Wessam A" panose="03020402040406030203" pitchFamily="66" charset="-78"/>
                <a:cs typeface="(A) Arslan Wessam A" panose="03020402040406030203" pitchFamily="66" charset="-78"/>
              </a:rPr>
              <a:t>"</a:t>
            </a:r>
            <a:r>
              <a:rPr lang="en-PK" sz="3200" dirty="0" err="1">
                <a:latin typeface="(A) Arslan Wessam A" panose="03020402040406030203" pitchFamily="66" charset="-78"/>
                <a:cs typeface="(A) Arslan Wessam A" panose="03020402040406030203" pitchFamily="66" charset="-78"/>
              </a:rPr>
              <a:t>فَإِنْ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خِفْتُمْ</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أَلَّا</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تَعْدِلُوا</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فَوَاحِدَةً</a:t>
            </a:r>
            <a:r>
              <a:rPr lang="en-PK" sz="3200" dirty="0">
                <a:latin typeface="(A) Arslan Wessam A" panose="03020402040406030203" pitchFamily="66" charset="-78"/>
                <a:cs typeface="(A) Arslan Wessam A" panose="03020402040406030203" pitchFamily="66" charset="-78"/>
              </a:rPr>
              <a:t>"</a:t>
            </a:r>
          </a:p>
          <a:p>
            <a:pPr algn="ctr" rtl="1"/>
            <a:r>
              <a:rPr lang="en-PK" sz="3200" dirty="0" err="1">
                <a:latin typeface="Urdu Typesetting" panose="03020402040406030203" pitchFamily="66" charset="-78"/>
                <a:cs typeface="Urdu Typesetting" panose="03020402040406030203" pitchFamily="66" charset="-78"/>
              </a:rPr>
              <a:t>یعنی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اگر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عدل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سکنے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اندیشہ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ایک</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اکتفا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کرو</a:t>
            </a:r>
            <a:r>
              <a:rPr lang="en-PK" sz="3200" dirty="0">
                <a:latin typeface="Urdu Typesetting" panose="03020402040406030203" pitchFamily="66" charset="-78"/>
                <a:cs typeface="Urdu Typesetting" panose="03020402040406030203" pitchFamily="66" charset="-78"/>
              </a:rPr>
              <a:t>۔</a:t>
            </a:r>
          </a:p>
          <a:p>
            <a:pPr algn="r" rtl="1"/>
            <a:r>
              <a:rPr lang="en-PK" sz="3200" dirty="0" err="1">
                <a:latin typeface="Urdu Typesetting" panose="03020402040406030203" pitchFamily="66" charset="-78"/>
                <a:cs typeface="Urdu Typesetting" panose="03020402040406030203" pitchFamily="66" charset="-78"/>
              </a:rPr>
              <a:t>اسی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یہ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فرماتا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p>
          <a:p>
            <a:pPr algn="ctr" rtl="1"/>
            <a:r>
              <a:rPr lang="en-PK" sz="3200" dirty="0">
                <a:latin typeface="(A) Arslan Wessam A" panose="03020402040406030203" pitchFamily="66" charset="-78"/>
                <a:cs typeface="(A) Arslan Wessam A" panose="03020402040406030203" pitchFamily="66" charset="-78"/>
              </a:rPr>
              <a:t>"</a:t>
            </a:r>
            <a:r>
              <a:rPr lang="en-PK" sz="3200" dirty="0" err="1">
                <a:latin typeface="(A) Arslan Wessam A" panose="03020402040406030203" pitchFamily="66" charset="-78"/>
                <a:cs typeface="(A) Arslan Wessam A" panose="03020402040406030203" pitchFamily="66" charset="-78"/>
              </a:rPr>
              <a:t>وَلَنْ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تَسْتَطِيعُوا</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أَنْ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تَعْدِلُوا</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بَيْنَ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النِّسَاءِ</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وَلَوْ</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حَرَصْتُمْ</a:t>
            </a:r>
            <a:r>
              <a:rPr lang="en-PK" sz="3200" dirty="0">
                <a:latin typeface="(A) Arslan Wessam A" panose="03020402040406030203" pitchFamily="66" charset="-78"/>
                <a:cs typeface="(A) Arslan Wessam A" panose="03020402040406030203" pitchFamily="66" charset="-78"/>
              </a:rPr>
              <a:t>"</a:t>
            </a:r>
          </a:p>
          <a:p>
            <a:pPr algn="ctr" rtl="1"/>
            <a:r>
              <a:rPr lang="en-PK" sz="3200" dirty="0" err="1">
                <a:latin typeface="Urdu Typesetting" panose="03020402040406030203" pitchFamily="66" charset="-78"/>
                <a:cs typeface="Urdu Typesetting" panose="03020402040406030203" pitchFamily="66" charset="-78"/>
              </a:rPr>
              <a:t>یعنی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پوری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طرح</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عدل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گے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خواہ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کتنی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کوشش</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کرو</a:t>
            </a:r>
            <a:r>
              <a:rPr lang="en-PK" sz="3200" dirty="0">
                <a:latin typeface="Urdu Typesetting" panose="03020402040406030203" pitchFamily="66" charset="-78"/>
                <a:cs typeface="Urdu Typesetting" panose="03020402040406030203" pitchFamily="66" charset="-78"/>
              </a:rPr>
              <a:t>۔</a:t>
            </a:r>
          </a:p>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بعض</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حالات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حصے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مختلف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مقرر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ساتھ</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مہر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نان</a:t>
            </a:r>
            <a:r>
              <a:rPr lang="en-PK" sz="3200" dirty="0">
                <a:latin typeface="Urdu Typesetting" panose="03020402040406030203" pitchFamily="66" charset="-78"/>
                <a:cs typeface="Urdu Typesetting" panose="03020402040406030203" pitchFamily="66" charset="-78"/>
              </a:rPr>
              <a:t> و </a:t>
            </a:r>
            <a:r>
              <a:rPr lang="en-PK" sz="3200" dirty="0" err="1">
                <a:latin typeface="Urdu Typesetting" panose="03020402040406030203" pitchFamily="66" charset="-78"/>
                <a:cs typeface="Urdu Typesetting" panose="03020402040406030203" pitchFamily="66" charset="-78"/>
              </a:rPr>
              <a:t>نفقہ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خاندان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مالی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ذمہ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داری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عائد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جبکہ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ذاتی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ملکیت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قرار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لیے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اسلامی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نظام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وراثت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دیگر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مالی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ذمہ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داریوں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دیکھا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جاتا</a:t>
            </a:r>
            <a:r>
              <a:rPr lang="en-PK" sz="3200" dirty="0">
                <a:latin typeface="Urdu Typesetting" panose="03020402040406030203" pitchFamily="66" charset="-78"/>
                <a:cs typeface="Urdu Typesetting" panose="03020402040406030203" pitchFamily="66" charset="-78"/>
              </a:rPr>
              <a:t>۔</a:t>
            </a:r>
          </a:p>
          <a:p>
            <a:pPr algn="r" rtl="1"/>
            <a:r>
              <a:rPr lang="en-PK" sz="3200" dirty="0" err="1">
                <a:latin typeface="Urdu Typesetting" panose="03020402040406030203" pitchFamily="66" charset="-78"/>
                <a:cs typeface="Urdu Typesetting" panose="03020402040406030203" pitchFamily="66" charset="-78"/>
              </a:rPr>
              <a:t>اسلام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اپنا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ایک</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مستقل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اخلاقی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قانونی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فلسفہ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سمجھنے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لیے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ضروری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احکام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مجموعی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نظام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تناظر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دیکھا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جائے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کسی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دوسرے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فکری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سانچے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ڈھال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a:t>
            </a:r>
            <a:r>
              <a:rPr lang="en-PK" sz="3200" dirty="0">
                <a:latin typeface="Urdu Typesetting" panose="03020402040406030203" pitchFamily="66" charset="-78"/>
                <a:cs typeface="Urdu Typesetting" panose="03020402040406030203" pitchFamily="66" charset="-78"/>
              </a:rPr>
              <a:t>۔</a:t>
            </a:r>
          </a:p>
        </p:txBody>
      </p:sp>
      <p:sp>
        <p:nvSpPr>
          <p:cNvPr id="6" name="TextBox 6"/>
          <p:cNvSpPr txBox="1"/>
          <p:nvPr/>
        </p:nvSpPr>
        <p:spPr>
          <a:xfrm>
            <a:off x="5133736" y="952500"/>
            <a:ext cx="8536648" cy="859210"/>
          </a:xfrm>
          <a:prstGeom prst="rect">
            <a:avLst/>
          </a:prstGeom>
        </p:spPr>
        <p:txBody>
          <a:bodyPr wrap="square" lIns="0" tIns="0" rIns="0" bIns="0" rtlCol="0" anchor="t">
            <a:spAutoFit/>
          </a:bodyPr>
          <a:lstStyle/>
          <a:p>
            <a:pPr>
              <a:lnSpc>
                <a:spcPts val="6675"/>
              </a:lnSpc>
            </a:pPr>
            <a:r>
              <a:rPr lang="en-PK" sz="6000" dirty="0" err="1">
                <a:latin typeface="Urdu Typesetting" panose="03020402040406030203" pitchFamily="66" charset="-78"/>
                <a:cs typeface="Urdu Typesetting" panose="03020402040406030203" pitchFamily="66" charset="-78"/>
              </a:rPr>
              <a:t>وہ</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جگہ</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جہاں</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فیمنزم</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اور</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اسلام</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واقعی</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ٹکراتے</a:t>
            </a:r>
            <a:r>
              <a:rPr lang="en-PK" sz="6000" dirty="0">
                <a:latin typeface="Urdu Typesetting" panose="03020402040406030203" pitchFamily="66" charset="-78"/>
                <a:cs typeface="Urdu Typesetting" panose="03020402040406030203" pitchFamily="66" charset="-78"/>
              </a:rPr>
              <a:t> </a:t>
            </a:r>
            <a:r>
              <a:rPr lang="en-PK" sz="6000" dirty="0" err="1">
                <a:latin typeface="Urdu Typesetting" panose="03020402040406030203" pitchFamily="66" charset="-78"/>
                <a:cs typeface="Urdu Typesetting" panose="03020402040406030203" pitchFamily="66" charset="-78"/>
              </a:rPr>
              <a:t>ہیں</a:t>
            </a:r>
            <a:endParaRPr lang="en-US" sz="6000"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3127" y="0"/>
            <a:ext cx="18421127" cy="10415229"/>
          </a:xfrm>
          <a:custGeom>
            <a:avLst/>
            <a:gdLst/>
            <a:ahLst/>
            <a:cxnLst/>
            <a:rect l="l" t="t" r="r" b="b"/>
            <a:pathLst>
              <a:path w="18421127" h="10415229">
                <a:moveTo>
                  <a:pt x="0" y="0"/>
                </a:moveTo>
                <a:lnTo>
                  <a:pt x="18421127" y="0"/>
                </a:lnTo>
                <a:lnTo>
                  <a:pt x="18421127" y="10415229"/>
                </a:lnTo>
                <a:lnTo>
                  <a:pt x="0" y="10415229"/>
                </a:lnTo>
                <a:lnTo>
                  <a:pt x="0" y="0"/>
                </a:lnTo>
                <a:close/>
              </a:path>
            </a:pathLst>
          </a:custGeom>
          <a:blipFill>
            <a:blip r:embed="rId2"/>
            <a:stretch>
              <a:fillRect t="-16362" b="-16362"/>
            </a:stretch>
          </a:blipFill>
        </p:spPr>
        <p:txBody>
          <a:bodyPr/>
          <a:lstStyle/>
          <a:p>
            <a:endParaRPr lang="en-PK"/>
          </a:p>
        </p:txBody>
      </p:sp>
      <p:sp>
        <p:nvSpPr>
          <p:cNvPr id="3" name="Freeform 3"/>
          <p:cNvSpPr/>
          <p:nvPr/>
        </p:nvSpPr>
        <p:spPr>
          <a:xfrm rot="-5400000">
            <a:off x="-1839701" y="3160979"/>
            <a:ext cx="9324231" cy="4093271"/>
          </a:xfrm>
          <a:custGeom>
            <a:avLst/>
            <a:gdLst/>
            <a:ahLst/>
            <a:cxnLst/>
            <a:rect l="l" t="t" r="r" b="b"/>
            <a:pathLst>
              <a:path w="9324231" h="4093271">
                <a:moveTo>
                  <a:pt x="0" y="0"/>
                </a:moveTo>
                <a:lnTo>
                  <a:pt x="9324231" y="0"/>
                </a:lnTo>
                <a:lnTo>
                  <a:pt x="9324231" y="4093271"/>
                </a:lnTo>
                <a:lnTo>
                  <a:pt x="0" y="4093271"/>
                </a:lnTo>
                <a:lnTo>
                  <a:pt x="0" y="0"/>
                </a:lnTo>
                <a:close/>
              </a:path>
            </a:pathLst>
          </a:custGeom>
          <a:blipFill>
            <a:blip r:embed="rId3">
              <a:alphaModFix amt="65000"/>
            </a:blip>
            <a:stretch>
              <a:fillRect b="-167730"/>
            </a:stretch>
          </a:blipFill>
        </p:spPr>
        <p:txBody>
          <a:bodyPr/>
          <a:lstStyle/>
          <a:p>
            <a:endParaRPr lang="en-PK"/>
          </a:p>
        </p:txBody>
      </p:sp>
      <p:sp>
        <p:nvSpPr>
          <p:cNvPr id="4" name="Freeform 4"/>
          <p:cNvSpPr/>
          <p:nvPr/>
        </p:nvSpPr>
        <p:spPr>
          <a:xfrm rot="-5400000" flipH="1" flipV="1">
            <a:off x="10830402" y="3160979"/>
            <a:ext cx="9324231" cy="4093271"/>
          </a:xfrm>
          <a:custGeom>
            <a:avLst/>
            <a:gdLst/>
            <a:ahLst/>
            <a:cxnLst/>
            <a:rect l="l" t="t" r="r" b="b"/>
            <a:pathLst>
              <a:path w="9324231" h="4093271">
                <a:moveTo>
                  <a:pt x="9324231" y="4093271"/>
                </a:moveTo>
                <a:lnTo>
                  <a:pt x="0" y="4093271"/>
                </a:lnTo>
                <a:lnTo>
                  <a:pt x="0" y="0"/>
                </a:lnTo>
                <a:lnTo>
                  <a:pt x="9324231" y="0"/>
                </a:lnTo>
                <a:lnTo>
                  <a:pt x="9324231" y="4093271"/>
                </a:lnTo>
                <a:close/>
              </a:path>
            </a:pathLst>
          </a:custGeom>
          <a:blipFill>
            <a:blip r:embed="rId3">
              <a:alphaModFix amt="65000"/>
            </a:blip>
            <a:stretch>
              <a:fillRect b="-167730"/>
            </a:stretch>
          </a:blipFill>
        </p:spPr>
        <p:txBody>
          <a:bodyPr/>
          <a:lstStyle/>
          <a:p>
            <a:endParaRPr lang="en-PK"/>
          </a:p>
        </p:txBody>
      </p:sp>
      <p:sp>
        <p:nvSpPr>
          <p:cNvPr id="5" name="TextBox 5"/>
          <p:cNvSpPr txBox="1"/>
          <p:nvPr/>
        </p:nvSpPr>
        <p:spPr>
          <a:xfrm>
            <a:off x="2564355" y="2334097"/>
            <a:ext cx="13159290" cy="6401753"/>
          </a:xfrm>
          <a:prstGeom prst="rect">
            <a:avLst/>
          </a:prstGeom>
        </p:spPr>
        <p:txBody>
          <a:bodyPr lIns="0" tIns="0" rIns="0" bIns="0" rtlCol="0" anchor="t">
            <a:spAutoFit/>
          </a:bodyPr>
          <a:lstStyle/>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مجید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سورۃ</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التوبہ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آیت</a:t>
            </a:r>
            <a:r>
              <a:rPr lang="en-PK" sz="3200" dirty="0">
                <a:latin typeface="Urdu Typesetting" panose="03020402040406030203" pitchFamily="66" charset="-78"/>
                <a:cs typeface="Urdu Typesetting" panose="03020402040406030203" pitchFamily="66" charset="-78"/>
              </a:rPr>
              <a:t> 71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فرمایا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گیا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endParaRPr lang="en-PK" sz="3200" dirty="0">
              <a:latin typeface="Urdu Typesetting" panose="03020402040406030203" pitchFamily="66" charset="-78"/>
              <a:cs typeface="Urdu Typesetting" panose="03020402040406030203" pitchFamily="66" charset="-78"/>
            </a:endParaRPr>
          </a:p>
          <a:p>
            <a:pPr algn="ctr" rtl="1"/>
            <a:r>
              <a:rPr lang="en-PK" sz="3200" dirty="0">
                <a:latin typeface="(A) Arslan Wessam A" panose="03020402040406030203" pitchFamily="66" charset="-78"/>
                <a:cs typeface="(A) Arslan Wessam A" panose="03020402040406030203" pitchFamily="66" charset="-78"/>
              </a:rPr>
              <a:t>"</a:t>
            </a:r>
            <a:r>
              <a:rPr lang="en-PK" sz="3200" dirty="0" err="1">
                <a:latin typeface="(A) Arslan Wessam A" panose="03020402040406030203" pitchFamily="66" charset="-78"/>
                <a:cs typeface="(A) Arslan Wessam A" panose="03020402040406030203" pitchFamily="66" charset="-78"/>
              </a:rPr>
              <a:t>وَالْمُؤْمِنُونَ</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وَالْمُؤْمِنَاتُ</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بَعْضُهُمْ</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أَوْلِيَاءُ</a:t>
            </a:r>
            <a:r>
              <a:rPr lang="en-PK" sz="3200" dirty="0">
                <a:latin typeface="(A) Arslan Wessam A" panose="03020402040406030203" pitchFamily="66" charset="-78"/>
                <a:cs typeface="(A) Arslan Wessam A" panose="03020402040406030203" pitchFamily="66" charset="-78"/>
              </a:rPr>
              <a:t> </a:t>
            </a:r>
            <a:r>
              <a:rPr lang="en-PK" sz="3200" dirty="0" err="1">
                <a:latin typeface="(A) Arslan Wessam A" panose="03020402040406030203" pitchFamily="66" charset="-78"/>
                <a:cs typeface="(A) Arslan Wessam A" panose="03020402040406030203" pitchFamily="66" charset="-78"/>
              </a:rPr>
              <a:t>بَعْضٍ</a:t>
            </a:r>
            <a:r>
              <a:rPr lang="en-PK" sz="3200" dirty="0">
                <a:latin typeface="(A) Arslan Wessam A" panose="03020402040406030203" pitchFamily="66" charset="-78"/>
                <a:cs typeface="(A) Arslan Wessam A" panose="03020402040406030203" pitchFamily="66" charset="-78"/>
              </a:rPr>
              <a:t>"</a:t>
            </a:r>
          </a:p>
          <a:p>
            <a:pPr algn="ctr" rtl="1"/>
            <a:r>
              <a:rPr lang="en-PK" sz="3200" dirty="0">
                <a:latin typeface="Urdu Typesetting" panose="03020402040406030203" pitchFamily="66" charset="-78"/>
                <a:cs typeface="Urdu Typesetting" panose="03020402040406030203" pitchFamily="66" charset="-78"/>
              </a:rPr>
              <a:t>"</a:t>
            </a:r>
            <a:r>
              <a:rPr lang="en-PK" sz="3200" dirty="0" err="1">
                <a:latin typeface="Urdu Typesetting" panose="03020402040406030203" pitchFamily="66" charset="-78"/>
                <a:cs typeface="Urdu Typesetting" panose="03020402040406030203" pitchFamily="66" charset="-78"/>
              </a:rPr>
              <a:t>مومن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مومن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ایک</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دوسرے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مددگار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رفیق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سرپرست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ctr" rtl="1"/>
            <a:endParaRPr lang="en-PK"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آیت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تعلق</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باہمی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تعاون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خیر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خواہی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ذمہ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داری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رشتے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طور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بیان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پھر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آگے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دونوں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مشترکہ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ذمہ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داریاں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بھی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ذکر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 </a:t>
            </a:r>
            <a:endParaRPr lang="en-US" sz="3200" dirty="0">
              <a:latin typeface="Urdu Typesetting" panose="03020402040406030203" pitchFamily="66" charset="-78"/>
              <a:cs typeface="Urdu Typesetting" panose="03020402040406030203" pitchFamily="66" charset="-78"/>
            </a:endParaRPr>
          </a:p>
          <a:p>
            <a:pPr algn="ctr" rtl="1"/>
            <a:r>
              <a:rPr lang="en-PK" sz="3200" dirty="0" err="1">
                <a:latin typeface="Urdu Typesetting" panose="03020402040406030203" pitchFamily="66" charset="-78"/>
                <a:cs typeface="Urdu Typesetting" panose="03020402040406030203" pitchFamily="66" charset="-78"/>
              </a:rPr>
              <a:t>نیکی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حکم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برائی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روکنا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نماز</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قائم</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زکوٰۃ</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ادا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کرنا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اللہ</a:t>
            </a:r>
            <a:r>
              <a:rPr lang="en-PK" sz="3200" dirty="0">
                <a:latin typeface="Urdu Typesetting" panose="03020402040406030203" pitchFamily="66" charset="-78"/>
                <a:cs typeface="Urdu Typesetting" panose="03020402040406030203" pitchFamily="66" charset="-78"/>
              </a:rPr>
              <a:t> و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رسول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اطاعت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کرنا</a:t>
            </a:r>
            <a:r>
              <a:rPr lang="en-PK" sz="3200" dirty="0">
                <a:latin typeface="Urdu Typesetting" panose="03020402040406030203" pitchFamily="66" charset="-78"/>
                <a:cs typeface="Urdu Typesetting" panose="03020402040406030203" pitchFamily="66" charset="-78"/>
              </a:rPr>
              <a:t>۔</a:t>
            </a:r>
          </a:p>
          <a:p>
            <a:pPr algn="r" rtl="1"/>
            <a:endParaRPr lang="en-US"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مختلف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فکری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مکاتبِ</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فکر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آزادی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مساوات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مختلف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تعبیرات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پیش</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کرتے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جبکہ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مرد</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اور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عورت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دونوں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کو</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اللہ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سامنے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برابر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جواب</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انسان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قرار</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دیتا</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endParaRPr lang="en-US" sz="3200" dirty="0">
              <a:latin typeface="Urdu Typesetting" panose="03020402040406030203" pitchFamily="66" charset="-78"/>
              <a:cs typeface="Urdu Typesetting" panose="03020402040406030203" pitchFamily="66" charset="-78"/>
            </a:endParaRPr>
          </a:p>
          <a:p>
            <a:pPr algn="r" rtl="1"/>
            <a:endParaRPr lang="en-PK" sz="3200" dirty="0">
              <a:latin typeface="Urdu Typesetting" panose="03020402040406030203" pitchFamily="66" charset="-78"/>
              <a:cs typeface="Urdu Typesetting" panose="03020402040406030203" pitchFamily="66" charset="-78"/>
            </a:endParaRPr>
          </a:p>
          <a:p>
            <a:pPr algn="r" rtl="1"/>
            <a:r>
              <a:rPr lang="en-PK" sz="3200" dirty="0" err="1">
                <a:latin typeface="Urdu Typesetting" panose="03020402040406030203" pitchFamily="66" charset="-78"/>
                <a:cs typeface="Urdu Typesetting" panose="03020402040406030203" pitchFamily="66" charset="-78"/>
              </a:rPr>
              <a:t>قرآن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کے</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نزدیک</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انسان</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اصل</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فضیلت</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جنس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نہیں</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بلکہ</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اس</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کا</a:t>
            </a:r>
            <a:r>
              <a:rPr lang="en-PK" sz="3200" dirty="0">
                <a:latin typeface="Urdu Typesetting" panose="03020402040406030203" pitchFamily="66" charset="-78"/>
                <a:cs typeface="Urdu Typesetting" panose="03020402040406030203" pitchFamily="66" charset="-78"/>
              </a:rPr>
              <a:t> </a:t>
            </a:r>
            <a:r>
              <a:rPr lang="en-PK" sz="3200" b="1" dirty="0" err="1">
                <a:latin typeface="Urdu Typesetting" panose="03020402040406030203" pitchFamily="66" charset="-78"/>
                <a:cs typeface="Urdu Typesetting" panose="03020402040406030203" pitchFamily="66" charset="-78"/>
              </a:rPr>
              <a:t>تقویٰ</a:t>
            </a:r>
            <a:r>
              <a:rPr lang="en-PK" sz="3200" dirty="0">
                <a:latin typeface="Urdu Typesetting" panose="03020402040406030203" pitchFamily="66" charset="-78"/>
                <a:cs typeface="Urdu Typesetting" panose="03020402040406030203" pitchFamily="66" charset="-78"/>
              </a:rPr>
              <a:t> </a:t>
            </a:r>
            <a:r>
              <a:rPr lang="en-PK" sz="3200" dirty="0" err="1">
                <a:latin typeface="Urdu Typesetting" panose="03020402040406030203" pitchFamily="66" charset="-78"/>
                <a:cs typeface="Urdu Typesetting" panose="03020402040406030203" pitchFamily="66" charset="-78"/>
              </a:rPr>
              <a:t>ہے</a:t>
            </a:r>
            <a:r>
              <a:rPr lang="en-PK" sz="3200" dirty="0">
                <a:latin typeface="Urdu Typesetting" panose="03020402040406030203" pitchFamily="66" charset="-78"/>
                <a:cs typeface="Urdu Typesetting" panose="03020402040406030203" pitchFamily="66" charset="-78"/>
              </a:rPr>
              <a:t>۔</a:t>
            </a:r>
          </a:p>
        </p:txBody>
      </p:sp>
      <p:sp>
        <p:nvSpPr>
          <p:cNvPr id="6" name="TextBox 6"/>
          <p:cNvSpPr txBox="1"/>
          <p:nvPr/>
        </p:nvSpPr>
        <p:spPr>
          <a:xfrm>
            <a:off x="8394387" y="898458"/>
            <a:ext cx="1366098" cy="861005"/>
          </a:xfrm>
          <a:prstGeom prst="rect">
            <a:avLst/>
          </a:prstGeom>
        </p:spPr>
        <p:txBody>
          <a:bodyPr wrap="square" lIns="0" tIns="0" rIns="0" bIns="0" rtlCol="0" anchor="t">
            <a:spAutoFit/>
          </a:bodyPr>
          <a:lstStyle/>
          <a:p>
            <a:pPr algn="r" rtl="1">
              <a:lnSpc>
                <a:spcPts val="6675"/>
              </a:lnSpc>
            </a:pPr>
            <a:r>
              <a:rPr lang="en-PK" sz="7200" dirty="0" err="1">
                <a:latin typeface="Urdu Typesetting" panose="03020402040406030203" pitchFamily="66" charset="-78"/>
                <a:cs typeface="Urdu Typesetting" panose="03020402040406030203" pitchFamily="66" charset="-78"/>
              </a:rPr>
              <a:t>اختتام</a:t>
            </a:r>
            <a:endParaRPr lang="en-US" sz="6609" dirty="0">
              <a:solidFill>
                <a:srgbClr val="27231B"/>
              </a:solidFill>
              <a:latin typeface="Urdu Typesetting" panose="03020402040406030203" pitchFamily="66" charset="-78"/>
              <a:ea typeface="Dream Avenue"/>
              <a:cs typeface="Urdu Typesetting" panose="03020402040406030203" pitchFamily="66" charset="-78"/>
              <a:sym typeface="Dream Avenue"/>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21284" y="-22272"/>
            <a:ext cx="19344252" cy="10309272"/>
          </a:xfrm>
          <a:custGeom>
            <a:avLst/>
            <a:gdLst/>
            <a:ahLst/>
            <a:cxnLst/>
            <a:rect l="l" t="t" r="r" b="b"/>
            <a:pathLst>
              <a:path w="19344252" h="10309272">
                <a:moveTo>
                  <a:pt x="0" y="0"/>
                </a:moveTo>
                <a:lnTo>
                  <a:pt x="19344252" y="0"/>
                </a:lnTo>
                <a:lnTo>
                  <a:pt x="19344252" y="10309272"/>
                </a:lnTo>
                <a:lnTo>
                  <a:pt x="0" y="10309272"/>
                </a:lnTo>
                <a:lnTo>
                  <a:pt x="0" y="0"/>
                </a:lnTo>
                <a:close/>
              </a:path>
            </a:pathLst>
          </a:custGeom>
          <a:blipFill>
            <a:blip r:embed="rId2"/>
            <a:stretch>
              <a:fillRect l="-9042" t="-30327" r="-4883" b="-20558"/>
            </a:stretch>
          </a:blipFill>
        </p:spPr>
        <p:txBody>
          <a:bodyPr/>
          <a:lstStyle/>
          <a:p>
            <a:endParaRPr lang="en-PK"/>
          </a:p>
        </p:txBody>
      </p:sp>
      <p:sp>
        <p:nvSpPr>
          <p:cNvPr id="3" name="Freeform 3"/>
          <p:cNvSpPr/>
          <p:nvPr/>
        </p:nvSpPr>
        <p:spPr>
          <a:xfrm>
            <a:off x="15166459" y="5448809"/>
            <a:ext cx="3121541" cy="5551066"/>
          </a:xfrm>
          <a:custGeom>
            <a:avLst/>
            <a:gdLst/>
            <a:ahLst/>
            <a:cxnLst/>
            <a:rect l="l" t="t" r="r" b="b"/>
            <a:pathLst>
              <a:path w="3121541" h="5551066">
                <a:moveTo>
                  <a:pt x="0" y="0"/>
                </a:moveTo>
                <a:lnTo>
                  <a:pt x="3121541" y="0"/>
                </a:lnTo>
                <a:lnTo>
                  <a:pt x="3121541" y="5551066"/>
                </a:lnTo>
                <a:lnTo>
                  <a:pt x="0" y="5551066"/>
                </a:lnTo>
                <a:lnTo>
                  <a:pt x="0" y="0"/>
                </a:lnTo>
                <a:close/>
              </a:path>
            </a:pathLst>
          </a:custGeom>
          <a:blipFill>
            <a:blip r:embed="rId3"/>
            <a:stretch>
              <a:fillRect/>
            </a:stretch>
          </a:blipFill>
        </p:spPr>
        <p:txBody>
          <a:bodyPr/>
          <a:lstStyle/>
          <a:p>
            <a:endParaRPr lang="en-PK"/>
          </a:p>
        </p:txBody>
      </p:sp>
      <p:sp>
        <p:nvSpPr>
          <p:cNvPr id="4" name="TextBox 4"/>
          <p:cNvSpPr txBox="1"/>
          <p:nvPr/>
        </p:nvSpPr>
        <p:spPr>
          <a:xfrm>
            <a:off x="1804694" y="5028163"/>
            <a:ext cx="5318544" cy="2019065"/>
          </a:xfrm>
          <a:prstGeom prst="rect">
            <a:avLst/>
          </a:prstGeom>
        </p:spPr>
        <p:txBody>
          <a:bodyPr lIns="0" tIns="0" rIns="0" bIns="0" rtlCol="0" anchor="t">
            <a:spAutoFit/>
          </a:bodyPr>
          <a:lstStyle/>
          <a:p>
            <a:pPr algn="ctr">
              <a:lnSpc>
                <a:spcPts val="15140"/>
              </a:lnSpc>
            </a:pPr>
            <a:r>
              <a:rPr lang="en-US" sz="14990" dirty="0">
                <a:solidFill>
                  <a:srgbClr val="27231B"/>
                </a:solidFill>
                <a:latin typeface="Dream Avenue"/>
                <a:ea typeface="Dream Avenue"/>
                <a:cs typeface="Dream Avenue"/>
                <a:sym typeface="Dream Avenue"/>
              </a:rPr>
              <a:t>You</a:t>
            </a:r>
          </a:p>
        </p:txBody>
      </p:sp>
      <p:sp>
        <p:nvSpPr>
          <p:cNvPr id="5" name="Freeform 5"/>
          <p:cNvSpPr/>
          <p:nvPr/>
        </p:nvSpPr>
        <p:spPr>
          <a:xfrm flipH="1" flipV="1">
            <a:off x="-421284" y="-155869"/>
            <a:ext cx="3121541" cy="5551066"/>
          </a:xfrm>
          <a:custGeom>
            <a:avLst/>
            <a:gdLst/>
            <a:ahLst/>
            <a:cxnLst/>
            <a:rect l="l" t="t" r="r" b="b"/>
            <a:pathLst>
              <a:path w="3121541" h="5551066">
                <a:moveTo>
                  <a:pt x="3121542" y="5551067"/>
                </a:moveTo>
                <a:lnTo>
                  <a:pt x="0" y="5551067"/>
                </a:lnTo>
                <a:lnTo>
                  <a:pt x="0" y="0"/>
                </a:lnTo>
                <a:lnTo>
                  <a:pt x="3121542" y="0"/>
                </a:lnTo>
                <a:lnTo>
                  <a:pt x="3121542" y="5551067"/>
                </a:lnTo>
                <a:close/>
              </a:path>
            </a:pathLst>
          </a:custGeom>
          <a:blipFill>
            <a:blip r:embed="rId3"/>
            <a:stretch>
              <a:fillRect/>
            </a:stretch>
          </a:blipFill>
        </p:spPr>
        <p:txBody>
          <a:bodyPr/>
          <a:lstStyle/>
          <a:p>
            <a:endParaRPr lang="en-PK"/>
          </a:p>
        </p:txBody>
      </p:sp>
      <p:sp>
        <p:nvSpPr>
          <p:cNvPr id="6" name="Freeform 6"/>
          <p:cNvSpPr/>
          <p:nvPr/>
        </p:nvSpPr>
        <p:spPr>
          <a:xfrm>
            <a:off x="-133127" y="5909108"/>
            <a:ext cx="2323653" cy="4630468"/>
          </a:xfrm>
          <a:custGeom>
            <a:avLst/>
            <a:gdLst/>
            <a:ahLst/>
            <a:cxnLst/>
            <a:rect l="l" t="t" r="r" b="b"/>
            <a:pathLst>
              <a:path w="2323653" h="4630468">
                <a:moveTo>
                  <a:pt x="0" y="0"/>
                </a:moveTo>
                <a:lnTo>
                  <a:pt x="2323654" y="0"/>
                </a:lnTo>
                <a:lnTo>
                  <a:pt x="2323654" y="4630468"/>
                </a:lnTo>
                <a:lnTo>
                  <a:pt x="0" y="4630468"/>
                </a:lnTo>
                <a:lnTo>
                  <a:pt x="0" y="0"/>
                </a:lnTo>
                <a:close/>
              </a:path>
            </a:pathLst>
          </a:custGeom>
          <a:blipFill>
            <a:blip r:embed="rId4"/>
            <a:stretch>
              <a:fillRect/>
            </a:stretch>
          </a:blipFill>
        </p:spPr>
        <p:txBody>
          <a:bodyPr/>
          <a:lstStyle/>
          <a:p>
            <a:endParaRPr lang="en-PK"/>
          </a:p>
        </p:txBody>
      </p:sp>
      <p:sp>
        <p:nvSpPr>
          <p:cNvPr id="7" name="Freeform 7"/>
          <p:cNvSpPr/>
          <p:nvPr/>
        </p:nvSpPr>
        <p:spPr>
          <a:xfrm flipV="1">
            <a:off x="2190527" y="7337303"/>
            <a:ext cx="4002678" cy="485325"/>
          </a:xfrm>
          <a:custGeom>
            <a:avLst/>
            <a:gdLst/>
            <a:ahLst/>
            <a:cxnLst/>
            <a:rect l="l" t="t" r="r" b="b"/>
            <a:pathLst>
              <a:path w="4002678" h="485325">
                <a:moveTo>
                  <a:pt x="0" y="485325"/>
                </a:moveTo>
                <a:lnTo>
                  <a:pt x="4002677" y="485325"/>
                </a:lnTo>
                <a:lnTo>
                  <a:pt x="4002677" y="0"/>
                </a:lnTo>
                <a:lnTo>
                  <a:pt x="0" y="0"/>
                </a:lnTo>
                <a:lnTo>
                  <a:pt x="0" y="485325"/>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sp>
        <p:nvSpPr>
          <p:cNvPr id="8" name="Freeform 8"/>
          <p:cNvSpPr/>
          <p:nvPr/>
        </p:nvSpPr>
        <p:spPr>
          <a:xfrm>
            <a:off x="2190527" y="2492900"/>
            <a:ext cx="4002678" cy="485325"/>
          </a:xfrm>
          <a:custGeom>
            <a:avLst/>
            <a:gdLst/>
            <a:ahLst/>
            <a:cxnLst/>
            <a:rect l="l" t="t" r="r" b="b"/>
            <a:pathLst>
              <a:path w="4002678" h="485325">
                <a:moveTo>
                  <a:pt x="0" y="0"/>
                </a:moveTo>
                <a:lnTo>
                  <a:pt x="4002677" y="0"/>
                </a:lnTo>
                <a:lnTo>
                  <a:pt x="4002677" y="485325"/>
                </a:lnTo>
                <a:lnTo>
                  <a:pt x="0" y="4853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PK"/>
          </a:p>
        </p:txBody>
      </p:sp>
      <p:grpSp>
        <p:nvGrpSpPr>
          <p:cNvPr id="9" name="Group 9"/>
          <p:cNvGrpSpPr/>
          <p:nvPr/>
        </p:nvGrpSpPr>
        <p:grpSpPr>
          <a:xfrm>
            <a:off x="11860276" y="1668960"/>
            <a:ext cx="4422036" cy="6383834"/>
            <a:chOff x="0" y="0"/>
            <a:chExt cx="685089" cy="989023"/>
          </a:xfrm>
        </p:grpSpPr>
        <p:sp>
          <p:nvSpPr>
            <p:cNvPr id="10" name="Freeform 10"/>
            <p:cNvSpPr/>
            <p:nvPr/>
          </p:nvSpPr>
          <p:spPr>
            <a:xfrm>
              <a:off x="0" y="0"/>
              <a:ext cx="685089" cy="989023"/>
            </a:xfrm>
            <a:custGeom>
              <a:avLst/>
              <a:gdLst/>
              <a:ahLst/>
              <a:cxnLst/>
              <a:rect l="l" t="t" r="r" b="b"/>
              <a:pathLst>
                <a:path w="685089" h="989023">
                  <a:moveTo>
                    <a:pt x="40267" y="0"/>
                  </a:moveTo>
                  <a:lnTo>
                    <a:pt x="644822" y="0"/>
                  </a:lnTo>
                  <a:cubicBezTo>
                    <a:pt x="655501" y="0"/>
                    <a:pt x="665743" y="4242"/>
                    <a:pt x="673295" y="11794"/>
                  </a:cubicBezTo>
                  <a:cubicBezTo>
                    <a:pt x="680847" y="19346"/>
                    <a:pt x="685089" y="29588"/>
                    <a:pt x="685089" y="40267"/>
                  </a:cubicBezTo>
                  <a:lnTo>
                    <a:pt x="685089" y="948755"/>
                  </a:lnTo>
                  <a:cubicBezTo>
                    <a:pt x="685089" y="959435"/>
                    <a:pt x="680847" y="969677"/>
                    <a:pt x="673295" y="977229"/>
                  </a:cubicBezTo>
                  <a:cubicBezTo>
                    <a:pt x="665743" y="984780"/>
                    <a:pt x="655501" y="989023"/>
                    <a:pt x="644822" y="989023"/>
                  </a:cubicBezTo>
                  <a:lnTo>
                    <a:pt x="40267" y="989023"/>
                  </a:lnTo>
                  <a:cubicBezTo>
                    <a:pt x="29588" y="989023"/>
                    <a:pt x="19346" y="984780"/>
                    <a:pt x="11794" y="977229"/>
                  </a:cubicBezTo>
                  <a:cubicBezTo>
                    <a:pt x="4242" y="969677"/>
                    <a:pt x="0" y="959435"/>
                    <a:pt x="0" y="948755"/>
                  </a:cubicBezTo>
                  <a:lnTo>
                    <a:pt x="0" y="40267"/>
                  </a:lnTo>
                  <a:cubicBezTo>
                    <a:pt x="0" y="29588"/>
                    <a:pt x="4242" y="19346"/>
                    <a:pt x="11794" y="11794"/>
                  </a:cubicBezTo>
                  <a:cubicBezTo>
                    <a:pt x="19346" y="4242"/>
                    <a:pt x="29588" y="0"/>
                    <a:pt x="40267" y="0"/>
                  </a:cubicBezTo>
                  <a:close/>
                </a:path>
              </a:pathLst>
            </a:custGeom>
            <a:blipFill>
              <a:blip r:embed="rId6"/>
              <a:stretch>
                <a:fillRect l="-43439" r="-43439"/>
              </a:stretch>
            </a:blipFill>
          </p:spPr>
          <p:txBody>
            <a:bodyPr/>
            <a:lstStyle/>
            <a:p>
              <a:endParaRPr lang="en-PK"/>
            </a:p>
          </p:txBody>
        </p:sp>
      </p:grpSp>
      <p:sp>
        <p:nvSpPr>
          <p:cNvPr id="11" name="TextBox 11"/>
          <p:cNvSpPr txBox="1"/>
          <p:nvPr/>
        </p:nvSpPr>
        <p:spPr>
          <a:xfrm>
            <a:off x="1139487" y="3429744"/>
            <a:ext cx="6648958" cy="2019065"/>
          </a:xfrm>
          <a:prstGeom prst="rect">
            <a:avLst/>
          </a:prstGeom>
        </p:spPr>
        <p:txBody>
          <a:bodyPr lIns="0" tIns="0" rIns="0" bIns="0" rtlCol="0" anchor="t">
            <a:spAutoFit/>
          </a:bodyPr>
          <a:lstStyle/>
          <a:p>
            <a:pPr algn="ctr">
              <a:lnSpc>
                <a:spcPts val="15140"/>
              </a:lnSpc>
            </a:pPr>
            <a:r>
              <a:rPr lang="en-US" sz="14990">
                <a:solidFill>
                  <a:srgbClr val="27231B"/>
                </a:solidFill>
                <a:latin typeface="Dream Avenue"/>
                <a:ea typeface="Dream Avenue"/>
                <a:cs typeface="Dream Avenue"/>
                <a:sym typeface="Dream Avenue"/>
              </a:rPr>
              <a:t>Thank</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1195</Words>
  <Application>Microsoft Office PowerPoint</Application>
  <PresentationFormat>Custom</PresentationFormat>
  <Paragraphs>85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Dream Avenue</vt:lpstr>
      <vt:lpstr>Arial</vt:lpstr>
      <vt:lpstr>Calibri</vt:lpstr>
      <vt:lpstr>(A) Arslan Wessam A</vt:lpstr>
      <vt:lpstr>Urdu Typesetting</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Cream Brown Classic Book History Project Presentation </dc:title>
  <cp:lastModifiedBy>Dev Hamnah</cp:lastModifiedBy>
  <cp:revision>6</cp:revision>
  <dcterms:created xsi:type="dcterms:W3CDTF">2006-08-16T00:00:00Z</dcterms:created>
  <dcterms:modified xsi:type="dcterms:W3CDTF">2026-06-28T07:07:07Z</dcterms:modified>
  <dc:identifier>DAHNyI3yz-A</dc:identifier>
</cp:coreProperties>
</file>