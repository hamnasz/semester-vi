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 Italics" charset="1" panose="00000500000000000000"/>
      <p:regular r:id="rId16"/>
    </p:embeddedFont>
    <p:embeddedFont>
      <p:font typeface="Montserrat Bold Italics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58532" y="291504"/>
            <a:ext cx="19109864" cy="10008791"/>
          </a:xfrm>
          <a:custGeom>
            <a:avLst/>
            <a:gdLst/>
            <a:ahLst/>
            <a:cxnLst/>
            <a:rect r="r" b="b" t="t" l="l"/>
            <a:pathLst>
              <a:path h="10008791" w="19109864">
                <a:moveTo>
                  <a:pt x="0" y="0"/>
                </a:moveTo>
                <a:lnTo>
                  <a:pt x="19109864" y="0"/>
                </a:lnTo>
                <a:lnTo>
                  <a:pt x="19109864" y="10008792"/>
                </a:lnTo>
                <a:lnTo>
                  <a:pt x="0" y="100087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1136152"/>
            <a:ext cx="9445523" cy="269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506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the MOA and Why Are We Debating It?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143080"/>
            <a:ext cx="9445523" cy="238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Memorandum of Association (MOA) is fundamentally the constitution of a company. It defines the company's relationship with the outside world and traditionally outlines the company's name, registered office province, liability of members, authorised capital, and its core business objectives.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730155"/>
            <a:ext cx="9445523" cy="238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 the introduction of the </a:t>
            </a:r>
            <a:r>
              <a:rPr lang="en-US" sz="218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Companies Act, 2017</a:t>
            </a: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Pakistan, the strict rules surrounding what a company can and cannot do were significantly relaxed. Because of these legal relaxations, many legal and corporate professionals ask: </a:t>
            </a:r>
            <a:r>
              <a:rPr lang="en-US" sz="2187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Has the MOA become just a formal checkbox rather than a vital corporate document?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407871"/>
            <a:ext cx="136922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8261" y="709165"/>
            <a:ext cx="13977490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506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Evolution of Corporate Law in Pakistan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58532" y="291504"/>
            <a:ext cx="19109864" cy="10008791"/>
          </a:xfrm>
          <a:custGeom>
            <a:avLst/>
            <a:gdLst/>
            <a:ahLst/>
            <a:cxnLst/>
            <a:rect r="r" b="b" t="t" l="l"/>
            <a:pathLst>
              <a:path h="10008791" w="19109864">
                <a:moveTo>
                  <a:pt x="0" y="0"/>
                </a:moveTo>
                <a:lnTo>
                  <a:pt x="19109864" y="0"/>
                </a:lnTo>
                <a:lnTo>
                  <a:pt x="19109864" y="10008792"/>
                </a:lnTo>
                <a:lnTo>
                  <a:pt x="0" y="100087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34923" y="1923155"/>
            <a:ext cx="8285264" cy="3426619"/>
            <a:chOff x="0" y="0"/>
            <a:chExt cx="11047019" cy="4568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1034395" cy="4556125"/>
            </a:xfrm>
            <a:custGeom>
              <a:avLst/>
              <a:gdLst/>
              <a:ahLst/>
              <a:cxnLst/>
              <a:rect r="r" b="b" t="t" l="l"/>
              <a:pathLst>
                <a:path h="4556125" w="11034395">
                  <a:moveTo>
                    <a:pt x="0" y="138938"/>
                  </a:moveTo>
                  <a:cubicBezTo>
                    <a:pt x="0" y="62230"/>
                    <a:pt x="62357" y="0"/>
                    <a:pt x="139192" y="0"/>
                  </a:cubicBezTo>
                  <a:lnTo>
                    <a:pt x="10895203" y="0"/>
                  </a:lnTo>
                  <a:cubicBezTo>
                    <a:pt x="10972038" y="0"/>
                    <a:pt x="11034395" y="62230"/>
                    <a:pt x="11034395" y="138938"/>
                  </a:cubicBezTo>
                  <a:lnTo>
                    <a:pt x="11034395" y="4417187"/>
                  </a:lnTo>
                  <a:cubicBezTo>
                    <a:pt x="11034395" y="4493895"/>
                    <a:pt x="10972038" y="4556125"/>
                    <a:pt x="10895203" y="4556125"/>
                  </a:cubicBezTo>
                  <a:lnTo>
                    <a:pt x="139192" y="4556125"/>
                  </a:lnTo>
                  <a:cubicBezTo>
                    <a:pt x="62357" y="4556125"/>
                    <a:pt x="0" y="4493895"/>
                    <a:pt x="0" y="4417187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47095" cy="4568825"/>
            </a:xfrm>
            <a:custGeom>
              <a:avLst/>
              <a:gdLst/>
              <a:ahLst/>
              <a:cxnLst/>
              <a:rect r="r" b="b" t="t" l="l"/>
              <a:pathLst>
                <a:path h="4568825" w="11047095">
                  <a:moveTo>
                    <a:pt x="0" y="145288"/>
                  </a:moveTo>
                  <a:cubicBezTo>
                    <a:pt x="0" y="65024"/>
                    <a:pt x="65151" y="0"/>
                    <a:pt x="145542" y="0"/>
                  </a:cubicBezTo>
                  <a:lnTo>
                    <a:pt x="10901553" y="0"/>
                  </a:lnTo>
                  <a:lnTo>
                    <a:pt x="10901553" y="6350"/>
                  </a:lnTo>
                  <a:lnTo>
                    <a:pt x="10901553" y="0"/>
                  </a:lnTo>
                  <a:cubicBezTo>
                    <a:pt x="10981944" y="0"/>
                    <a:pt x="11047095" y="65024"/>
                    <a:pt x="11047095" y="145288"/>
                  </a:cubicBezTo>
                  <a:lnTo>
                    <a:pt x="11040745" y="145288"/>
                  </a:lnTo>
                  <a:lnTo>
                    <a:pt x="11047095" y="145288"/>
                  </a:lnTo>
                  <a:lnTo>
                    <a:pt x="11047095" y="4423537"/>
                  </a:lnTo>
                  <a:lnTo>
                    <a:pt x="11040745" y="4423537"/>
                  </a:lnTo>
                  <a:lnTo>
                    <a:pt x="11047095" y="4423537"/>
                  </a:lnTo>
                  <a:cubicBezTo>
                    <a:pt x="11047095" y="4503801"/>
                    <a:pt x="10981944" y="4568825"/>
                    <a:pt x="10901553" y="4568825"/>
                  </a:cubicBezTo>
                  <a:lnTo>
                    <a:pt x="10901553" y="4562475"/>
                  </a:lnTo>
                  <a:lnTo>
                    <a:pt x="10901553" y="4568825"/>
                  </a:lnTo>
                  <a:lnTo>
                    <a:pt x="145542" y="4568825"/>
                  </a:lnTo>
                  <a:lnTo>
                    <a:pt x="145542" y="4562475"/>
                  </a:lnTo>
                  <a:lnTo>
                    <a:pt x="145542" y="4568825"/>
                  </a:lnTo>
                  <a:cubicBezTo>
                    <a:pt x="65151" y="4568825"/>
                    <a:pt x="0" y="4503801"/>
                    <a:pt x="0" y="4423537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4423537"/>
                  </a:lnTo>
                  <a:lnTo>
                    <a:pt x="6350" y="4423537"/>
                  </a:lnTo>
                  <a:lnTo>
                    <a:pt x="12700" y="4423537"/>
                  </a:lnTo>
                  <a:cubicBezTo>
                    <a:pt x="12700" y="4496689"/>
                    <a:pt x="72136" y="4556125"/>
                    <a:pt x="145542" y="4556125"/>
                  </a:cubicBezTo>
                  <a:lnTo>
                    <a:pt x="10901553" y="4556125"/>
                  </a:lnTo>
                  <a:cubicBezTo>
                    <a:pt x="10974960" y="4556125"/>
                    <a:pt x="11034395" y="4496816"/>
                    <a:pt x="11034395" y="4423537"/>
                  </a:cubicBezTo>
                  <a:lnTo>
                    <a:pt x="11034395" y="145288"/>
                  </a:lnTo>
                  <a:cubicBezTo>
                    <a:pt x="11034268" y="72009"/>
                    <a:pt x="10974832" y="12700"/>
                    <a:pt x="10901553" y="12700"/>
                  </a:cubicBezTo>
                  <a:lnTo>
                    <a:pt x="145542" y="12700"/>
                  </a:lnTo>
                  <a:lnTo>
                    <a:pt x="145542" y="6350"/>
                  </a:lnTo>
                  <a:lnTo>
                    <a:pt x="145542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45866" y="2185397"/>
            <a:ext cx="7421613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Old Regime (Companies Ordinance, 1984)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166" y="2636634"/>
            <a:ext cx="7770314" cy="245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Required an exhaustive, highly detailed "Object Clause"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Companies were strictly bound by the </a:t>
            </a:r>
            <a:r>
              <a:rPr lang="en-US" b="true" sz="19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Doctrine of Ultra Vires</a:t>
            </a:r>
            <a:r>
              <a:rPr lang="en-US" sz="19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(meaning any action outside the explicitly stated objects in the MOA was legally void)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Result: MOAs were dozens of pages long, trying to predict every possible future business activity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67812" y="5774379"/>
            <a:ext cx="8285264" cy="3798684"/>
            <a:chOff x="0" y="0"/>
            <a:chExt cx="11047019" cy="50649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11034268" cy="5052187"/>
            </a:xfrm>
            <a:custGeom>
              <a:avLst/>
              <a:gdLst/>
              <a:ahLst/>
              <a:cxnLst/>
              <a:rect r="r" b="b" t="t" l="l"/>
              <a:pathLst>
                <a:path h="5052187" w="11034268">
                  <a:moveTo>
                    <a:pt x="0" y="0"/>
                  </a:moveTo>
                  <a:lnTo>
                    <a:pt x="11034268" y="0"/>
                  </a:lnTo>
                  <a:lnTo>
                    <a:pt x="11034268" y="5052187"/>
                  </a:lnTo>
                  <a:lnTo>
                    <a:pt x="0" y="5052187"/>
                  </a:lnTo>
                  <a:close/>
                </a:path>
              </a:pathLst>
            </a:custGeom>
            <a:solidFill>
              <a:srgbClr val="D6F5E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46968" cy="5064887"/>
            </a:xfrm>
            <a:custGeom>
              <a:avLst/>
              <a:gdLst/>
              <a:ahLst/>
              <a:cxnLst/>
              <a:rect r="r" b="b" t="t" l="l"/>
              <a:pathLst>
                <a:path h="5064887" w="11046968">
                  <a:moveTo>
                    <a:pt x="6350" y="0"/>
                  </a:moveTo>
                  <a:lnTo>
                    <a:pt x="11040618" y="0"/>
                  </a:lnTo>
                  <a:cubicBezTo>
                    <a:pt x="11044175" y="0"/>
                    <a:pt x="11046968" y="2794"/>
                    <a:pt x="11046968" y="6350"/>
                  </a:cubicBezTo>
                  <a:lnTo>
                    <a:pt x="11046968" y="5058537"/>
                  </a:lnTo>
                  <a:cubicBezTo>
                    <a:pt x="11046968" y="5062093"/>
                    <a:pt x="11044175" y="5064887"/>
                    <a:pt x="11040618" y="5064887"/>
                  </a:cubicBezTo>
                  <a:lnTo>
                    <a:pt x="6350" y="5064887"/>
                  </a:lnTo>
                  <a:cubicBezTo>
                    <a:pt x="2794" y="5064887"/>
                    <a:pt x="0" y="5062093"/>
                    <a:pt x="0" y="505853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5058537"/>
                  </a:lnTo>
                  <a:lnTo>
                    <a:pt x="6350" y="5058537"/>
                  </a:lnTo>
                  <a:lnTo>
                    <a:pt x="6350" y="5052187"/>
                  </a:lnTo>
                  <a:lnTo>
                    <a:pt x="11040618" y="5052187"/>
                  </a:lnTo>
                  <a:lnTo>
                    <a:pt x="11040618" y="5058537"/>
                  </a:lnTo>
                  <a:lnTo>
                    <a:pt x="11034268" y="5058537"/>
                  </a:lnTo>
                  <a:lnTo>
                    <a:pt x="11034268" y="6350"/>
                  </a:lnTo>
                  <a:lnTo>
                    <a:pt x="11040618" y="6350"/>
                  </a:lnTo>
                  <a:lnTo>
                    <a:pt x="11040618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20520" y="6036621"/>
            <a:ext cx="6923484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Current Regime (Companies Act, 2017)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0520" y="6487868"/>
            <a:ext cx="7770314" cy="282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Introduced a massive simplification: A company may engage in </a:t>
            </a:r>
            <a:r>
              <a:rPr lang="en-US" b="true" sz="19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"any lawful business"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exhaustive Object Clause was replaced by a simple requirement to state the </a:t>
            </a:r>
            <a:r>
              <a:rPr lang="en-US" b="true" sz="19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"Principal Line of Business"</a:t>
            </a:r>
          </a:p>
          <a:p>
            <a:pPr algn="l" marL="292199" indent="-146100" lvl="1">
              <a:lnSpc>
                <a:spcPts val="287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Result: The MOA is now highly streamlined, often relying on standardised templates provided by the SECP (Securities and Exchange Commission of Pakistan)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4122" y="9407871"/>
            <a:ext cx="206077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66365"/>
            <a:ext cx="15526645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506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the MOA Feels Less Important Today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638425"/>
            <a:ext cx="8048034" cy="3108874"/>
            <a:chOff x="0" y="0"/>
            <a:chExt cx="10730713" cy="4145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79938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193" y="0"/>
                  </a:lnTo>
                  <a:cubicBezTo>
                    <a:pt x="10569956" y="0"/>
                    <a:pt x="10679938" y="109220"/>
                    <a:pt x="10679938" y="243840"/>
                  </a:cubicBezTo>
                  <a:lnTo>
                    <a:pt x="10679938" y="3850513"/>
                  </a:lnTo>
                  <a:cubicBezTo>
                    <a:pt x="10679938" y="3985133"/>
                    <a:pt x="10569956" y="4094353"/>
                    <a:pt x="10434193" y="4094353"/>
                  </a:cubicBezTo>
                  <a:lnTo>
                    <a:pt x="245745" y="4094353"/>
                  </a:lnTo>
                  <a:cubicBezTo>
                    <a:pt x="109982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738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593" y="0"/>
                  </a:lnTo>
                  <a:lnTo>
                    <a:pt x="10459593" y="25400"/>
                  </a:lnTo>
                  <a:lnTo>
                    <a:pt x="10459593" y="0"/>
                  </a:lnTo>
                  <a:cubicBezTo>
                    <a:pt x="10609200" y="0"/>
                    <a:pt x="10730738" y="120396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875913"/>
                  </a:lnTo>
                  <a:lnTo>
                    <a:pt x="10705338" y="3875913"/>
                  </a:lnTo>
                  <a:lnTo>
                    <a:pt x="10730738" y="3875913"/>
                  </a:lnTo>
                  <a:cubicBezTo>
                    <a:pt x="10730738" y="4024757"/>
                    <a:pt x="10609200" y="4145153"/>
                    <a:pt x="10459593" y="4145153"/>
                  </a:cubicBezTo>
                  <a:lnTo>
                    <a:pt x="10459593" y="4119753"/>
                  </a:lnTo>
                  <a:lnTo>
                    <a:pt x="10459593" y="4145153"/>
                  </a:lnTo>
                  <a:lnTo>
                    <a:pt x="271145" y="4145153"/>
                  </a:lnTo>
                  <a:lnTo>
                    <a:pt x="271145" y="4119753"/>
                  </a:lnTo>
                  <a:lnTo>
                    <a:pt x="271145" y="4145153"/>
                  </a:lnTo>
                  <a:cubicBezTo>
                    <a:pt x="121539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225" y="4094353"/>
                    <a:pt x="271145" y="4094353"/>
                  </a:cubicBezTo>
                  <a:lnTo>
                    <a:pt x="10459593" y="4094353"/>
                  </a:lnTo>
                  <a:cubicBezTo>
                    <a:pt x="10581513" y="4094353"/>
                    <a:pt x="10679938" y="3996309"/>
                    <a:pt x="10679938" y="3875913"/>
                  </a:cubicBezTo>
                  <a:lnTo>
                    <a:pt x="10679938" y="269240"/>
                  </a:lnTo>
                  <a:cubicBezTo>
                    <a:pt x="10679938" y="148717"/>
                    <a:pt x="10581513" y="50800"/>
                    <a:pt x="10459593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2657475"/>
            <a:ext cx="152400" cy="3070774"/>
            <a:chOff x="0" y="0"/>
            <a:chExt cx="203200" cy="40943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7D1B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2960046"/>
            <a:ext cx="551869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Death of Strict </a:t>
            </a:r>
            <a:r>
              <a:rPr lang="en-US" b="true" sz="275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Ultra Vires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3477816"/>
            <a:ext cx="7252392" cy="192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Because a company is broadly authorised to conduct "any lawful business," contracts or actions are rarely struck down simply for falling outside a rigid list of objectives.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4" y="2638425"/>
            <a:ext cx="8048177" cy="3108874"/>
            <a:chOff x="0" y="0"/>
            <a:chExt cx="10730903" cy="41451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192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80192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447" y="0"/>
                  </a:lnTo>
                  <a:cubicBezTo>
                    <a:pt x="10570210" y="0"/>
                    <a:pt x="10680192" y="109220"/>
                    <a:pt x="10680192" y="243840"/>
                  </a:cubicBezTo>
                  <a:lnTo>
                    <a:pt x="10680192" y="3850513"/>
                  </a:lnTo>
                  <a:cubicBezTo>
                    <a:pt x="10680192" y="3985133"/>
                    <a:pt x="10570210" y="4094353"/>
                    <a:pt x="10434447" y="4094353"/>
                  </a:cubicBezTo>
                  <a:lnTo>
                    <a:pt x="245745" y="4094353"/>
                  </a:lnTo>
                  <a:cubicBezTo>
                    <a:pt x="109982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992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992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847" y="0"/>
                  </a:lnTo>
                  <a:lnTo>
                    <a:pt x="10459847" y="25400"/>
                  </a:lnTo>
                  <a:lnTo>
                    <a:pt x="10459847" y="0"/>
                  </a:lnTo>
                  <a:cubicBezTo>
                    <a:pt x="10609453" y="0"/>
                    <a:pt x="10730992" y="120396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875913"/>
                  </a:lnTo>
                  <a:lnTo>
                    <a:pt x="10705592" y="3875913"/>
                  </a:lnTo>
                  <a:lnTo>
                    <a:pt x="10730992" y="3875913"/>
                  </a:lnTo>
                  <a:cubicBezTo>
                    <a:pt x="10730992" y="4024757"/>
                    <a:pt x="10609453" y="4145153"/>
                    <a:pt x="10459847" y="4145153"/>
                  </a:cubicBezTo>
                  <a:lnTo>
                    <a:pt x="10459847" y="4119753"/>
                  </a:lnTo>
                  <a:lnTo>
                    <a:pt x="10459847" y="4145153"/>
                  </a:lnTo>
                  <a:lnTo>
                    <a:pt x="271145" y="4145153"/>
                  </a:lnTo>
                  <a:lnTo>
                    <a:pt x="271145" y="4119753"/>
                  </a:lnTo>
                  <a:lnTo>
                    <a:pt x="271145" y="4145153"/>
                  </a:lnTo>
                  <a:cubicBezTo>
                    <a:pt x="121539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225" y="4094353"/>
                    <a:pt x="271145" y="4094353"/>
                  </a:cubicBezTo>
                  <a:lnTo>
                    <a:pt x="10459847" y="4094353"/>
                  </a:lnTo>
                  <a:cubicBezTo>
                    <a:pt x="10581767" y="4094353"/>
                    <a:pt x="10680192" y="3996309"/>
                    <a:pt x="10680192" y="3875913"/>
                  </a:cubicBezTo>
                  <a:lnTo>
                    <a:pt x="10680192" y="269240"/>
                  </a:lnTo>
                  <a:cubicBezTo>
                    <a:pt x="10680192" y="148717"/>
                    <a:pt x="10581767" y="50800"/>
                    <a:pt x="10459847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47584" y="2657475"/>
            <a:ext cx="152400" cy="3070774"/>
            <a:chOff x="0" y="0"/>
            <a:chExt cx="203200" cy="4094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7D1B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1606" y="2960046"/>
            <a:ext cx="376848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Ease of Modification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258532" y="291504"/>
            <a:ext cx="19109864" cy="10008791"/>
          </a:xfrm>
          <a:custGeom>
            <a:avLst/>
            <a:gdLst/>
            <a:ahLst/>
            <a:cxnLst/>
            <a:rect r="r" b="b" t="t" l="l"/>
            <a:pathLst>
              <a:path h="10008791" w="19109864">
                <a:moveTo>
                  <a:pt x="0" y="0"/>
                </a:moveTo>
                <a:lnTo>
                  <a:pt x="19109864" y="0"/>
                </a:lnTo>
                <a:lnTo>
                  <a:pt x="19109864" y="10008792"/>
                </a:lnTo>
                <a:lnTo>
                  <a:pt x="0" y="100087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21606" y="3477816"/>
            <a:ext cx="7252545" cy="147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Changing the principal line of business is now a relatively straightforward administrative process, reducing the document's historical permanence.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3188" y="5992711"/>
            <a:ext cx="8048034" cy="3108874"/>
            <a:chOff x="0" y="0"/>
            <a:chExt cx="10730713" cy="41451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10679938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79938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193" y="0"/>
                  </a:lnTo>
                  <a:cubicBezTo>
                    <a:pt x="10569956" y="0"/>
                    <a:pt x="10679938" y="109220"/>
                    <a:pt x="10679938" y="243840"/>
                  </a:cubicBezTo>
                  <a:lnTo>
                    <a:pt x="10679938" y="3850513"/>
                  </a:lnTo>
                  <a:cubicBezTo>
                    <a:pt x="10679938" y="3985133"/>
                    <a:pt x="10569956" y="4094353"/>
                    <a:pt x="10434193" y="4094353"/>
                  </a:cubicBezTo>
                  <a:lnTo>
                    <a:pt x="245745" y="4094353"/>
                  </a:lnTo>
                  <a:cubicBezTo>
                    <a:pt x="109982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30738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738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593" y="0"/>
                  </a:lnTo>
                  <a:lnTo>
                    <a:pt x="10459593" y="25400"/>
                  </a:lnTo>
                  <a:lnTo>
                    <a:pt x="10459593" y="0"/>
                  </a:lnTo>
                  <a:cubicBezTo>
                    <a:pt x="10609200" y="0"/>
                    <a:pt x="10730738" y="120396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875913"/>
                  </a:lnTo>
                  <a:lnTo>
                    <a:pt x="10705338" y="3875913"/>
                  </a:lnTo>
                  <a:lnTo>
                    <a:pt x="10730738" y="3875913"/>
                  </a:lnTo>
                  <a:cubicBezTo>
                    <a:pt x="10730738" y="4024757"/>
                    <a:pt x="10609200" y="4145153"/>
                    <a:pt x="10459593" y="4145153"/>
                  </a:cubicBezTo>
                  <a:lnTo>
                    <a:pt x="10459593" y="4119753"/>
                  </a:lnTo>
                  <a:lnTo>
                    <a:pt x="10459593" y="4145153"/>
                  </a:lnTo>
                  <a:lnTo>
                    <a:pt x="271145" y="4145153"/>
                  </a:lnTo>
                  <a:lnTo>
                    <a:pt x="271145" y="4119753"/>
                  </a:lnTo>
                  <a:lnTo>
                    <a:pt x="271145" y="4145153"/>
                  </a:lnTo>
                  <a:cubicBezTo>
                    <a:pt x="121539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225" y="4094353"/>
                    <a:pt x="271145" y="4094353"/>
                  </a:cubicBezTo>
                  <a:lnTo>
                    <a:pt x="10459593" y="4094353"/>
                  </a:lnTo>
                  <a:cubicBezTo>
                    <a:pt x="10581513" y="4094353"/>
                    <a:pt x="10679938" y="3996309"/>
                    <a:pt x="10679938" y="3875913"/>
                  </a:cubicBezTo>
                  <a:lnTo>
                    <a:pt x="10679938" y="269240"/>
                  </a:lnTo>
                  <a:cubicBezTo>
                    <a:pt x="10679938" y="148717"/>
                    <a:pt x="10581513" y="50800"/>
                    <a:pt x="10459593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4138" y="6011761"/>
            <a:ext cx="152400" cy="3070774"/>
            <a:chOff x="0" y="0"/>
            <a:chExt cx="203200" cy="40943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7D1B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28159" y="6314332"/>
            <a:ext cx="664264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Standardisation over Customisation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8159" y="6832102"/>
            <a:ext cx="7252392" cy="192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Start-ups and SMEs usually adopt the boilerplate MOA templates provided on the SECP's eServices portal without drafting custom clauses, treating it as a mere administrative hurdle for incorporation.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66634" y="5992711"/>
            <a:ext cx="8048177" cy="3108874"/>
            <a:chOff x="0" y="0"/>
            <a:chExt cx="10730903" cy="4145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10680192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80192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447" y="0"/>
                  </a:lnTo>
                  <a:cubicBezTo>
                    <a:pt x="10570210" y="0"/>
                    <a:pt x="10680192" y="109220"/>
                    <a:pt x="10680192" y="243840"/>
                  </a:cubicBezTo>
                  <a:lnTo>
                    <a:pt x="10680192" y="3850513"/>
                  </a:lnTo>
                  <a:cubicBezTo>
                    <a:pt x="10680192" y="3985133"/>
                    <a:pt x="10570210" y="4094353"/>
                    <a:pt x="10434447" y="4094353"/>
                  </a:cubicBezTo>
                  <a:lnTo>
                    <a:pt x="245745" y="4094353"/>
                  </a:lnTo>
                  <a:cubicBezTo>
                    <a:pt x="109982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30992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992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847" y="0"/>
                  </a:lnTo>
                  <a:lnTo>
                    <a:pt x="10459847" y="25400"/>
                  </a:lnTo>
                  <a:lnTo>
                    <a:pt x="10459847" y="0"/>
                  </a:lnTo>
                  <a:cubicBezTo>
                    <a:pt x="10609453" y="0"/>
                    <a:pt x="10730992" y="120396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875913"/>
                  </a:lnTo>
                  <a:lnTo>
                    <a:pt x="10705592" y="3875913"/>
                  </a:lnTo>
                  <a:lnTo>
                    <a:pt x="10730992" y="3875913"/>
                  </a:lnTo>
                  <a:cubicBezTo>
                    <a:pt x="10730992" y="4024757"/>
                    <a:pt x="10609453" y="4145153"/>
                    <a:pt x="10459847" y="4145153"/>
                  </a:cubicBezTo>
                  <a:lnTo>
                    <a:pt x="10459847" y="4119753"/>
                  </a:lnTo>
                  <a:lnTo>
                    <a:pt x="10459847" y="4145153"/>
                  </a:lnTo>
                  <a:lnTo>
                    <a:pt x="271145" y="4145153"/>
                  </a:lnTo>
                  <a:lnTo>
                    <a:pt x="271145" y="4119753"/>
                  </a:lnTo>
                  <a:lnTo>
                    <a:pt x="271145" y="4145153"/>
                  </a:lnTo>
                  <a:cubicBezTo>
                    <a:pt x="121539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225" y="4094353"/>
                    <a:pt x="271145" y="4094353"/>
                  </a:cubicBezTo>
                  <a:lnTo>
                    <a:pt x="10459847" y="4094353"/>
                  </a:lnTo>
                  <a:cubicBezTo>
                    <a:pt x="10581767" y="4094353"/>
                    <a:pt x="10680192" y="3996309"/>
                    <a:pt x="10680192" y="3875913"/>
                  </a:cubicBezTo>
                  <a:lnTo>
                    <a:pt x="10680192" y="269240"/>
                  </a:lnTo>
                  <a:cubicBezTo>
                    <a:pt x="10680192" y="148717"/>
                    <a:pt x="10581767" y="50800"/>
                    <a:pt x="10459847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47584" y="6011761"/>
            <a:ext cx="152400" cy="3070774"/>
            <a:chOff x="0" y="0"/>
            <a:chExt cx="203200" cy="40943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7D1B3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721606" y="6314332"/>
            <a:ext cx="677123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Shift to Articles of Association (AOA)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1606" y="6832102"/>
            <a:ext cx="7252545" cy="192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Corporate lawyers and founders now spend far more time negotiating the AOA (which governs internal rules, shareholder rights, and board powers) than the MOA.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3775" y="9407871"/>
            <a:ext cx="206772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410932" y="139104"/>
            <a:ext cx="19109864" cy="10008791"/>
          </a:xfrm>
          <a:custGeom>
            <a:avLst/>
            <a:gdLst/>
            <a:ahLst/>
            <a:cxnLst/>
            <a:rect r="r" b="b" t="t" l="l"/>
            <a:pathLst>
              <a:path h="10008791" w="19109864">
                <a:moveTo>
                  <a:pt x="0" y="0"/>
                </a:moveTo>
                <a:lnTo>
                  <a:pt x="19109864" y="0"/>
                </a:lnTo>
                <a:lnTo>
                  <a:pt x="19109864" y="10008792"/>
                </a:lnTo>
                <a:lnTo>
                  <a:pt x="0" y="100087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91373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666" r="0" b="-6667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6544866" y="391373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67" r="0" b="-10667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12097493" y="391373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33" t="0" r="-133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2238" y="1196426"/>
            <a:ext cx="8177212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506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Evolved, Not Obsolete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573236"/>
            <a:ext cx="16303523" cy="102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MOA hasn't lost its importance; rather, its function has shifted from </a:t>
            </a:r>
            <a:r>
              <a:rPr lang="en-US" sz="218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restricting</a:t>
            </a: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business activities to </a:t>
            </a:r>
            <a:r>
              <a:rPr lang="en-US" sz="218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categorising</a:t>
            </a: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them. It is leaner and more practical for the modern economy.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55314" y="3894687"/>
            <a:ext cx="413519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"Principal Line" Dictates the Name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5314" y="4855369"/>
            <a:ext cx="4135193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 SECP regulations, a company's name must reflect its Principal Line of Business as stated in the MOA. You cannot name a company "Tech Solutions" if its MOA says its principal business is agriculture.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07941" y="3894687"/>
            <a:ext cx="413519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Protecting Specialised Sectors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7941" y="4855369"/>
            <a:ext cx="4135193" cy="419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"any lawful business" rule does </a:t>
            </a:r>
            <a:r>
              <a:rPr lang="en-US" sz="218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</a:t>
            </a: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apply to regulated sectors. If a company wants to engage in banking, insurance, power generation, or non-banking finance, it </a:t>
            </a:r>
            <a:r>
              <a:rPr lang="en-US" sz="2187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must</a:t>
            </a: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have those specific objects explicitly stated and approved in the MOA.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0578" y="3894687"/>
            <a:ext cx="413519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Shareholder and Creditor Clarity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60578" y="4855369"/>
            <a:ext cx="4135193" cy="238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still serves its core purpose of informing investors and creditors exactly what primary sector their capital is being deployed into.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809" y="9407871"/>
            <a:ext cx="240705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DAHH9T1PhXc</dc:identifier>
  <dcterms:modified xsi:type="dcterms:W3CDTF">2011-08-01T06:04:30Z</dcterms:modified>
  <cp:revision>1</cp:revision>
  <dc:title>What-is-the-MOA-and-Why-Are-We-Debating-It.pptx</dc:title>
</cp:coreProperties>
</file>