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218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E91E6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E91E8C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Counselling in Education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Parenting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Counselling • Teacher Counselling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Home-Based Techniques for Uneducated Mothers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8FB1"/>
                </a:solidFill>
              </a:rPr>
              <a:t>Group Presentation • 6 Members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640080" cy="12344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77724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Counselling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77240"/>
            <a:ext cx="640080" cy="12344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77724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32120" y="77724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Counselling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94560"/>
            <a:ext cx="640080" cy="1234440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9456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219456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Counselling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1945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194560"/>
            <a:ext cx="640080" cy="12344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19456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32120" y="219456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Techniques for Uneducated Mothers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11880"/>
            <a:ext cx="640080" cy="12344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61188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361188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Activities &amp; Class Exercises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11880"/>
            <a:ext cx="640080" cy="1234440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61188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361188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Counselling?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is a professional relationship that empowers individuals, families, and groups to accomplish mental health, wellness, education, and career goals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involves a trained counsellor who listens, guides, and supports clients through emotional, behavioral, and situational challenges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is not advice-giving — it is a collaborative process that helps people find their own solutions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confidential, non-judgmental, and focused on the client's well-being and growth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education, counselling bridges the gap between academic performance, emotional health, and family dynamics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empowers communities — especially mothers and teachers — to create nurturing environments for children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Counselling Matters in Pakistan &amp; South Asia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9202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Affected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academic performance directly linked to home emotional 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822960"/>
            <a:ext cx="1920240" cy="4023360"/>
          </a:xfrm>
          <a:prstGeom prst="rect">
            <a:avLst/>
          </a:prstGeom>
          <a:solidFill>
            <a:srgbClr val="FCE4EC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1887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Burnout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9260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report emotional exhaustion without proper counselling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19202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1887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Uneducated Mothers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Mothers without formal education need accessible parenting guidance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822960"/>
            <a:ext cx="1920240" cy="4023360"/>
          </a:xfrm>
          <a:prstGeom prst="rect">
            <a:avLst/>
          </a:prstGeom>
          <a:solidFill>
            <a:srgbClr val="FCE4EC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887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76656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Outcomes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29260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of counselled parents show 3x better social-emotional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Counselling Relevant to Education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Family-Based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counselling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therapy &amp; communication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Mother-child bonding sessions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environment improvement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intervention for families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School-Based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counselling &amp; wellness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counselling programs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mediation training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&amp; academic guidance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intervention planning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0"/>
            <a:ext cx="2743200" cy="2743200"/>
          </a:xfrm>
          <a:prstGeom prst="ellipse">
            <a:avLst/>
          </a:prstGeom>
          <a:solidFill>
            <a:srgbClr val="E91E8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Counselling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8FB1"/>
                </a:solidFill>
              </a:rPr>
              <a:t>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Parental Counselling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counselling helps parents develop skills, attitudes, and strategies to support their children's emotional, social, and academic growth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addresses challenges such as child behavioral issues, academic struggles, parent-child conflict, and stress within the family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aim: Strengthen the parent-child relationship through improved communication and emotional attunement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counselling helps parents understand child development stages and set age-appropriate expectations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punitive parenting practices and replaces them with nurturing, evidence-based approaches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can be individual, group-based, or family-wide — all adapted to the parent's literacy and cultural background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Parental Counselling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parent-child communication and emotional connection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parents understand and respond to their child's emotional needs effectively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parental stress and prevent burnout through coping strategies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parents about child development milestones and behavioral norms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address early signs of learning disabilities or emotional disorders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consistent, warm, and supportive home environments for children to thrive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parents to become advocates for their children's education and mental health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 in Parental Counselling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with full attention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listening &amp; paraphrasing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'I' statements instead of blame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open-ended questions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child's feelings openly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Strategies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reinforcement &amp; praise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and logical consequences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routines and boundaries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together with child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yelling; using calm tone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Strong Parent-Child Relationships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TIME: Dedicate 15-20 minutes of undivided, child-directed play every 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COACHING: Label and validate emotions — 'I see you are feeling sad. That's okay.'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EFFORTS not outcomes — 'You worked so hard on this!' builds growth mindset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AFFECTION: Hugs, pats, and kind touch are critical for child brain development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RITUALS: Bedtime stories, meal-time conversations, and weekend activities build security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AFTER CONFLICT: Apologizing to children when wrong models accountability and respect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 Parents Face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Challenges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and financial stress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parenting education or role models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family interference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mental health resources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taboos about seeking help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overload and time constraints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Challenges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trauma from own childhood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 expectations of children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management difficulties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self-confidence as a parent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or anxiety in parents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conflict affecting parenting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Fathers in Parental Counselling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Fathers play an equally critical role — father involvement linked to better academic and social outcomes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Paternal warmth and engagement reduces children's aggression and behavioral problems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Counsellors should create male-friendly environments that reduce stigma around emotional discussion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Strategies: brief check-ins, strength-based framing, practical skill-building sessions for fathers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fathers to participate in school events, homework help, and bedtime routines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sessions for fathers (father circles) increase engagement and community accountability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0"/>
            <a:ext cx="2743200" cy="2743200"/>
          </a:xfrm>
          <a:prstGeom prst="ellipse">
            <a:avLst/>
          </a:prstGeom>
          <a:solidFill>
            <a:srgbClr val="E91E8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Counselling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8FB1"/>
                </a:solidFill>
              </a:rPr>
              <a:t>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Teacher Counselling?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counselling supports educators' mental, emotional, and professional well-being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addresses teacher burnout, classroom management difficulties, student relationship challenges, and occupational stress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are often in the front line of identifying children with emotional or learning needs — they need support too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counselled teacher is more empathetic, patient, and effective in the classroom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counselling can be individual (one-on-one with a counsellor) or peer-based (teacher support groups)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Well-supported teachers create safe, warm classrooms that directly benefit student mental health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 Teacher Needs Counselling Support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&amp; Personal Signs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exhaustion beyond normal tiredness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detached or cynical about teaching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irritability or emotional outbursts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enthusiasm and creativity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concentrating or making decisions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absenteeism or tardiness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&amp; Classroom Signs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or inconsistent student discipline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interactions with students/parents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lesson preparation quality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conflicts with colleagues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overwhelmed by workload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classroom atmosphere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Teacher Burnout: Counselling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SELF-CARE PLANNING: Create structured weekly plans for physical activity, rest, and social connection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RESTRUCTURING: Challenge negative beliefs like 'I am a failure' — replace with realistic thinking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SETTING: Learn to say no to excessive workloads and protect personal time after school hours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PRACTICE: Brief daily mindfulness (5-10 min) reduces stress hormones and emotional reactivity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CIRCLES: Regular teacher support groups reduce isolation and normalize help-seeking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SOLUTION-FOCUSED COUNSELLING: Focus on strengths and small wins rather than what's going wrong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Counselling-Informed Teacher-Student Skills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POSITIVE REGARD: Separate student behavior from their worth as a person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EMPATHIC ATTUNEMENT: Notice when students are distressed before behavioral problems escalate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TEACHING: Understand that misbehavior may be a trauma response, not defiance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RESTORATIVE PRACTICES: Use circles and dialogue to repair relationships after conflicts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WITNESSING: Take time to understand student's perspective before reacting or judging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COMMUNICATION: Use clear, culturally sensitive, non-shaming language at all times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Counselling-Based Classroom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Strategies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consistent daily routines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greeting at classroom door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schedules and calm cues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agreements built together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corners / calm spaces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check-in circles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Strategies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before punishment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correction, not public shame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giving to restore control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Restorative conversations not lectures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counsellor for persistent issues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communication partnerships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Growth Through Teacher Counselling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practice: Keeping a teaching journal to track emotional patterns and growth areas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observation with feedback: Non-evaluative classroom visits build collaborative learning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sessions: Regular meetings with a counsellor or mentor to process challenges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setting: Short and long-term professional goals grounded in personal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 student mental health: Equipping teachers to recognize anxiety, depression, ADHD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integration skills: Creating boundaries that protect both teaching quality and personal wellness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Counselling for Teachers: Peer Support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support groups (4-8 members) meet bi-weekly to share challenges and successes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format: Check-in → Topic discussion → Problem-solving → Commitment → Check-out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agreements create psychological safety for honest sharing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include: difficult student situations, parental conflicts, administrative stress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develop collective coping strategies and build school-wide emotional culture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(school counsellor or trained lead teacher) guides without judging or directing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0"/>
            <a:ext cx="2743200" cy="2743200"/>
          </a:xfrm>
          <a:prstGeom prst="ellipse">
            <a:avLst/>
          </a:prstGeom>
          <a:solidFill>
            <a:srgbClr val="E91E8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Techniques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Uneducated Mothers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8FB1"/>
                </a:solidFill>
              </a:rPr>
              <a:t>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Context: Uneducated Mothers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mothers in Pakistan and South Asia lack formal education but are primary caregivers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literacy does not mean lack of capability — these mothers have rich intuitive knowledge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barriers: Limited access to written information, low self-confidence in school settings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context: Many mothers receive parenting advice only from elders and community tradition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approach must be oral, visual, practical, and deeply respectful of existing knowledge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should be simple Urdu/local dialect — avoiding jargon builds trust and engagement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Strategies for Uneducated Mothers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PICTURES &amp; DRAWINGS: Illustrated cards showing child development stages, emotions, routines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STORYTELLING: Use relatable stories, parables, and local folk tales to convey counselling concepts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PLAY: Act out scenarios (e.g., how to handle a tantrum) — no reading needed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DEMONSTRATION: Show techniques physically — correct posture for comfort, how to praise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MESSAGES: WhatsApp voice notes from counsellors with daily tips and encouragement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DISCUSSIONS: Women's circles where mothers share, support, and learn from each other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Healthy Daily Routines at Home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ROUTINE: Wake up time → Morning dua/prayer → Breakfast together → School preparation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AFTER-SCHOOL ROUTINE: Snack → Rest time → Homework help (even if mother can't read — sit beside!)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ROUTINE: Storytime (oral stories) → Dua → Cuddle → Consistent bedtime builds security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TIME CONNECTION: No mobile phones — talk about the child's day during meals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FAMILY TIME: One shared activity per week — cooking, cleaning together, outdoor walk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TIMETABLES: Draw or use pictures to make a daily schedule on the wall — child helps make it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Support Techniques Without Literacy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FACES CHART: Laminated chart with emoji/drawn faces — child points to how they feel daily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HUG RULE: Teach mothers — when child cries, hug first, talk later. Never dismiss tears.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NAMING IN URDU: 'Tu udaas lag raha hai' (You look sad) — reflect emotions out loud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CALM-DOWN CORNER: A quiet, safe spot in the home with a soft mat or cushion for big feelings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TOGETHER: Teach simple 'balloon breath' — breathe in slowly, breathe out slowly together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CARDS: Pre-drawn star cards mothers can give children for positive behavior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Discipline Techniques for Mothers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 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acceptable behavior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simple, clear instructions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natural consequences calmly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specifically: 'You cleaned up!'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before transitions: '5 min more'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— lower your own voice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punishment (hitting/slapping)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shaming or name-calling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threats with no follow-through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with siblings or cousins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Shouting and lecturing at length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child's emotional needs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Home Learning Environment Without Resources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CORNER: A dedicated quiet corner with any books, magazines, or drawings — signals learning matters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TRADITION: Nightly oral storytelling in mother tongue develops language and imagination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IN DAILY LIFE: Count chapatis, vegetables, coins — math learning through everyday tasks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CLASSROOM: Explore the garden, count leaves, name colors — outdoor learning is free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RHYMES &amp; SONGS: Traditional lullabies and rhymes build phonological awareness and bonding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TOGETHER: Following a recipe (even orally) builds sequencing, math, and science skills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Mother's Own Mental Health at Home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Mothers cannot pour from an empty cup — self-care is not selfishness, it is necessity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REST: Even 20 minutes of rest without screens or demands is restorative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CONNECTION: Regular contact with friends or women's groups reduces isolation and depression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 PRACTICE: Prayer, Quran recitation, or meditation provides grounding and peace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BREATHING: 4-count breathing exercise before reacting to a difficult child situation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 YOURSELF DAILY: Teach mothers simple self-affirmations in Urdu: 'Main achi maa hoon'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HELP WITHOUT SHAME: Normalize that asking for help is strength, not weakness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Uneducated Mothers with Schools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DIARY: School sends home a simple pictorial diary showing what was learned — no text needed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MOTHER MEETINGS: School holds inclusive meetings where mothers share and counsellors guide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VISITOR PROGRAMS: Counsellors or trained volunteers visit homes to support mothers directly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UPDATES: Teachers call (not just send notes) to update mothers on child's progress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CORNER at school: A welcoming space where mothers feel safe, respected, and heard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MOTHER MENTORING: Educated mothers paired with uneducated mothers for informal support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Sensitive Approaches for Mothers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begin sessions with respect for the mother's wisdom and experience (Aaap kay tajurbay aham hain)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Islamic values: Hadith about kindness to children resonates deeply in Muslim families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Western counselling jargon — use community language and familiar metaphors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purdah and family privacy while still delivering effective guidance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respected community figures (imam, elder, female health worker) to validate messages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sensitive to joint family dynamics — mother-in-law's role must be acknowledged and respected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criticize cultural traditions directly — work within and gently expand existing frameworks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0"/>
            <a:ext cx="2743200" cy="2743200"/>
          </a:xfrm>
          <a:prstGeom prst="ellipse">
            <a:avLst/>
          </a:prstGeom>
          <a:solidFill>
            <a:srgbClr val="E91E8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Activities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Class Exercises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8FB1"/>
                </a:solidFill>
              </a:rPr>
              <a:t>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Activity 1: The Feeling Wheel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print emotion wheel cards with 6-8 basic feelings. Each member gets 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Round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picks a feeling and shares a time a child (or parent) might feel that 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Practice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role-plays how to respond to a child showing each emotion — what to say and do.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Activity 2: Parent-Child Role Play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pairs. One plays parent, one plays child facing a common challenge (e.g., won't do homework).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It 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acts for 3 minutes using old habits, then again using counselling techniques.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Debrief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What changed? How did it feel different? What was hard? What worked beautifully?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Activity 3: Teacher Stress Mapping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Week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draws a simple map of their most stressful teaching moments across the school week.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Hunt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identifies common stressors — time, specific students, parental pressure, admin demands.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Circle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one practical counselling-based strategy for each shared stressor on the map.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Activity 4: Home Visit Simulation for Mothers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Scene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 plays a counsellor, another plays an uneducated mother with a struggling child at home.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Visit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conducts a 5-minute oral, visual home visit using pictures — no reading required.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Reflect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discusses: Was it respectful? Effective? What would make it better in real communities?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Activity 5: The Positive Parenting Pledge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Reflection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writes (or draws) 3 parenting habits they want to change and 3 they want to keep.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collaborates to write one shared 'Positive Parenting Pledge' with commitments from all 6 members.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Celebrate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members sign the pledge. Post it visibly. Revisit it next session — accountability and growth!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Activity 6: Build a 'Calm Down Toolkit' for Mothers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creates a physical or drawn toolkit of 5 items/strategies a mother can use when overwhelmed.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Together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might include: breathing card, affirmation note, a smooth stone, a short prayer, an escape route plan.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C2185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00584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55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&amp; Share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presents their toolkit. Group votes on the most creative and most practical toolkits.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0"/>
            <a:ext cx="2743200" cy="2743200"/>
          </a:xfrm>
          <a:prstGeom prst="ellipse">
            <a:avLst/>
          </a:prstGeom>
          <a:solidFill>
            <a:srgbClr val="E91E8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8FB1"/>
                </a:solidFill>
              </a:rPr>
              <a:t>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All 6 Group Members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C2185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PARENTAL COUNSELLING builds parent-child bonds, improves communication, and reduces punitive discipline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TEACHER COUNSELLING prevents burnout, builds classroom empathy, and supports teacher professional growth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HOME TECHNIQUES for uneducated mothers must be oral, visual, culturally sensitive, and practically demonstrated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POSITIVE DISCIPLINE, emotional coaching, and daily routines are accessible to ALL parents regardless of literacy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CULTURAL SENSITIVITY is non-negotiable — effective counselling meets families where they are with respect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ACTIVITIES &amp; GROUP WORK deepen learning — role play, discussion, and simulations turn knowledge into skills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6D3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Every child deserves a counselled parent AND teacher — both environments shape the whole child together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218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E91E6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E91E8C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B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greatest gift you can give your child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8B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your own self-improvement."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71800"/>
            <a:ext cx="7680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References &amp; Resources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8BBD9"/>
                </a:solidFill>
              </a:rPr>
              <a:t>American Counselling Association (ACA) Guidelines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8BBD9"/>
                </a:solidFill>
              </a:rPr>
              <a:t>UNESCO Pakistan Education Reports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8BBD9"/>
                </a:solidFill>
              </a:rPr>
              <a:t>UNICEF Early Childhood Development Framework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8BBD9"/>
                </a:solidFill>
              </a:rPr>
              <a:t>Triple P Parenting Program | Positive Parenting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8FB1"/>
                </a:solidFill>
              </a:rPr>
              <a:t>Presented by: Group of 6 Members  |  Course: Counselling in Education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Parental &amp; Teacher Counselling</dc:title>
  <dc:subject>PptxGenJS Presentation</dc:subject>
  <dc:creator>PptxGenJS</dc:creator>
  <cp:lastModifiedBy>PptxGenJS</cp:lastModifiedBy>
  <cp:revision>1</cp:revision>
  <dcterms:created xsi:type="dcterms:W3CDTF">2026-05-14T07:52:12Z</dcterms:created>
  <dcterms:modified xsi:type="dcterms:W3CDTF">2026-05-14T07:52:12Z</dcterms:modified>
</cp:coreProperties>
</file>