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  <p:sldId id="257" r:id="rId5"/>
    <p:sldId id="259" r:id="rId6"/>
    <p:sldId id="280" r:id="rId7"/>
    <p:sldId id="260" r:id="rId8"/>
    <p:sldId id="262" r:id="rId9"/>
    <p:sldId id="263" r:id="rId10"/>
    <p:sldId id="276" r:id="rId11"/>
    <p:sldId id="264" r:id="rId12"/>
    <p:sldId id="265" r:id="rId13"/>
    <p:sldId id="277" r:id="rId14"/>
    <p:sldId id="278" r:id="rId15"/>
    <p:sldId id="279" r:id="rId16"/>
    <p:sldId id="268" r:id="rId17"/>
    <p:sldId id="269" r:id="rId18"/>
    <p:sldId id="270" r:id="rId19"/>
    <p:sldId id="27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en-GB"/>
              <a:t>U-NET, SEGNET, MASK-RCNN</a:t>
            </a:r>
            <a:endParaRPr lang="en-US" altLang="en-GB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>
                <a:sym typeface="+mn-ea"/>
              </a:rPr>
              <a:t>Instance Segmentation</a:t>
            </a:r>
            <a:endParaRPr lang="en-GB" alt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altLang="en-GB"/>
              <a:t>Instance segmentation combines:</a:t>
            </a:r>
            <a:endParaRPr lang="en-US" altLang="en-GB"/>
          </a:p>
          <a:p>
            <a:pPr lvl="1"/>
            <a:r>
              <a:rPr lang="en-US" altLang="en-GB"/>
              <a:t>Object Detection</a:t>
            </a:r>
            <a:endParaRPr lang="en-US" altLang="en-GB"/>
          </a:p>
          <a:p>
            <a:pPr lvl="1"/>
            <a:r>
              <a:rPr lang="en-US" altLang="en-GB"/>
              <a:t>Semantic Segmentation</a:t>
            </a:r>
            <a:endParaRPr lang="en-US" altLang="en-GB"/>
          </a:p>
          <a:p>
            <a:r>
              <a:rPr lang="en-US" altLang="en-GB"/>
              <a:t>It not only identifies what object exists but also separates each object instance independently.</a:t>
            </a:r>
            <a:endParaRPr lang="en-US" altLang="en-GB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>
                <a:sym typeface="+mn-ea"/>
              </a:rPr>
              <a:t>What is Mask R-CNN?</a:t>
            </a:r>
            <a:endParaRPr lang="en-US" altLang="en-GB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/>
          </a:bodyPr>
          <a:p>
            <a:r>
              <a:rPr lang="en-US" altLang="en-GB"/>
              <a:t>Mask R-CNN is an advanced deep learning architecture used for instance segmentation. </a:t>
            </a:r>
            <a:endParaRPr lang="en-US" altLang="en-GB"/>
          </a:p>
          <a:p>
            <a:r>
              <a:rPr lang="en-US" altLang="en-GB"/>
              <a:t>It can detect objects, classify them, draw bounding boxes, and generate precise segmentation masks for each individual object.</a:t>
            </a:r>
            <a:endParaRPr lang="en-US" altLang="en-GB"/>
          </a:p>
          <a:p>
            <a:r>
              <a:rPr lang="en-US" altLang="en-GB"/>
              <a:t>Evolution of Mask R-CNN</a:t>
            </a:r>
            <a:endParaRPr lang="en-US" altLang="en-GB"/>
          </a:p>
          <a:p>
            <a:r>
              <a:rPr lang="en-US" altLang="en-GB"/>
              <a:t>Mask R-CNN is an extension of Faster R-CNN.</a:t>
            </a:r>
            <a:endParaRPr lang="en-US" altLang="en-GB"/>
          </a:p>
          <a:p>
            <a:r>
              <a:rPr lang="en-US" altLang="en-GB"/>
              <a:t>Faster R-CNN:</a:t>
            </a:r>
            <a:endParaRPr lang="en-US" altLang="en-GB"/>
          </a:p>
          <a:p>
            <a:pPr lvl="1"/>
            <a:r>
              <a:rPr lang="en-US" altLang="en-GB"/>
              <a:t>Detects objects</a:t>
            </a:r>
            <a:endParaRPr lang="en-US" altLang="en-GB"/>
          </a:p>
          <a:p>
            <a:pPr lvl="1"/>
            <a:r>
              <a:rPr lang="en-US" altLang="en-GB"/>
              <a:t>Generates bounding boxes</a:t>
            </a:r>
            <a:endParaRPr lang="en-US" altLang="en-GB"/>
          </a:p>
          <a:p>
            <a:r>
              <a:rPr lang="en-US" altLang="en-GB"/>
              <a:t>Mask R-CNN:</a:t>
            </a:r>
            <a:endParaRPr lang="en-US" altLang="en-GB"/>
          </a:p>
          <a:p>
            <a:pPr lvl="1"/>
            <a:r>
              <a:rPr lang="en-US" altLang="en-GB"/>
              <a:t>Detects objects</a:t>
            </a:r>
            <a:endParaRPr lang="en-US" altLang="en-GB"/>
          </a:p>
          <a:p>
            <a:pPr lvl="1"/>
            <a:r>
              <a:rPr lang="en-US" altLang="en-GB"/>
              <a:t>Generates bounding boxes</a:t>
            </a:r>
            <a:endParaRPr lang="en-US" altLang="en-GB"/>
          </a:p>
          <a:p>
            <a:pPr lvl="1"/>
            <a:r>
              <a:rPr lang="en-US" altLang="en-GB"/>
              <a:t>Creates segmentation masks</a:t>
            </a:r>
            <a:endParaRPr lang="en-US" altLang="en-GB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>
                <a:sym typeface="+mn-ea"/>
              </a:rPr>
              <a:t>Why Mask R-CNN is Important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GB"/>
              <a:t>Mask R-CNN is important because it identifies both the exact location and shape of each object.</a:t>
            </a:r>
            <a:endParaRPr lang="en-US" altLang="en-GB"/>
          </a:p>
          <a:p>
            <a:r>
              <a:rPr lang="en-US" altLang="en-GB"/>
              <a:t>For example, if five people appear in an image, Mask R-CNN can detect all five separately and generate unique masks for each one.</a:t>
            </a:r>
            <a:endParaRPr lang="en-US" altLang="en-GB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452880" y="753110"/>
            <a:ext cx="9286240" cy="54470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>
                <a:sym typeface="+mn-ea"/>
              </a:rPr>
              <a:t>Overall Architecture of Mask R-CNN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altLang="en-GB"/>
              <a:t>The architecture consists of:</a:t>
            </a:r>
            <a:endParaRPr lang="en-US" altLang="en-GB"/>
          </a:p>
          <a:p>
            <a:pPr lvl="1"/>
            <a:r>
              <a:rPr lang="en-US" altLang="en-GB"/>
              <a:t>Backbone Network</a:t>
            </a:r>
            <a:endParaRPr lang="en-US" altLang="en-GB"/>
          </a:p>
          <a:p>
            <a:pPr lvl="1"/>
            <a:r>
              <a:rPr lang="en-US" altLang="en-GB"/>
              <a:t>Feature Pyramid Network (FPN)</a:t>
            </a:r>
            <a:endParaRPr lang="en-US" altLang="en-GB"/>
          </a:p>
          <a:p>
            <a:pPr lvl="1"/>
            <a:r>
              <a:rPr lang="en-US" altLang="en-GB"/>
              <a:t>Region Proposal Network (RPN)</a:t>
            </a:r>
            <a:endParaRPr lang="en-US" altLang="en-GB"/>
          </a:p>
          <a:p>
            <a:pPr lvl="1"/>
            <a:r>
              <a:rPr lang="en-US" altLang="en-GB"/>
              <a:t>ROI Align</a:t>
            </a:r>
            <a:endParaRPr lang="en-US" altLang="en-GB"/>
          </a:p>
          <a:p>
            <a:pPr lvl="1"/>
            <a:r>
              <a:rPr lang="en-US" altLang="en-GB"/>
              <a:t>Three Parallel Branches</a:t>
            </a:r>
            <a:endParaRPr lang="en-US" altLang="en-GB"/>
          </a:p>
          <a:p>
            <a:r>
              <a:rPr lang="en-US" altLang="en-GB"/>
              <a:t>Together these components enable accurate object detection and segmentation.</a:t>
            </a:r>
            <a:endParaRPr lang="en-US" altLang="en-GB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>
                <a:sym typeface="+mn-ea"/>
              </a:rPr>
              <a:t>Backbone Network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altLang="en-GB"/>
              <a:t>The backbone network extracts image features.</a:t>
            </a:r>
            <a:endParaRPr lang="en-US" altLang="en-GB"/>
          </a:p>
          <a:p>
            <a:r>
              <a:rPr lang="en-US" altLang="en-GB"/>
              <a:t>Common backbones include:</a:t>
            </a:r>
            <a:endParaRPr lang="en-US" altLang="en-GB"/>
          </a:p>
          <a:p>
            <a:pPr lvl="1"/>
            <a:r>
              <a:rPr lang="en-US" altLang="en-GB"/>
              <a:t>ResNet50</a:t>
            </a:r>
            <a:endParaRPr lang="en-US" altLang="en-GB"/>
          </a:p>
          <a:p>
            <a:pPr lvl="1"/>
            <a:r>
              <a:rPr lang="en-US" altLang="en-GB"/>
              <a:t>ResNet101</a:t>
            </a:r>
            <a:endParaRPr lang="en-US" altLang="en-GB"/>
          </a:p>
          <a:p>
            <a:r>
              <a:rPr lang="en-US" altLang="en-GB"/>
              <a:t>The backbone learns:</a:t>
            </a:r>
            <a:endParaRPr lang="en-US" altLang="en-GB"/>
          </a:p>
          <a:p>
            <a:pPr lvl="1"/>
            <a:r>
              <a:rPr lang="en-US" altLang="en-GB"/>
              <a:t>Edges</a:t>
            </a:r>
            <a:endParaRPr lang="en-US" altLang="en-GB"/>
          </a:p>
          <a:p>
            <a:pPr lvl="1"/>
            <a:r>
              <a:rPr lang="en-US" altLang="en-GB"/>
              <a:t>Shapes</a:t>
            </a:r>
            <a:endParaRPr lang="en-US" altLang="en-GB"/>
          </a:p>
          <a:p>
            <a:pPr lvl="1"/>
            <a:r>
              <a:rPr lang="en-US" altLang="en-GB"/>
              <a:t>Textures</a:t>
            </a:r>
            <a:endParaRPr lang="en-US" altLang="en-GB"/>
          </a:p>
          <a:p>
            <a:pPr lvl="1"/>
            <a:r>
              <a:rPr lang="en-US" altLang="en-GB"/>
              <a:t>Complex object patterns</a:t>
            </a:r>
            <a:endParaRPr lang="en-US" altLang="en-GB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>
                <a:sym typeface="+mn-ea"/>
              </a:rPr>
              <a:t>Feature Pyramid Network (FPN)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altLang="en-GB"/>
              <a:t>Objects in images appear at different sizes.</a:t>
            </a:r>
            <a:endParaRPr lang="en-US" altLang="en-GB"/>
          </a:p>
          <a:p>
            <a:r>
              <a:rPr lang="en-US" altLang="en-GB"/>
              <a:t>FPN helps detect:</a:t>
            </a:r>
            <a:endParaRPr lang="en-US" altLang="en-GB"/>
          </a:p>
          <a:p>
            <a:pPr lvl="1"/>
            <a:r>
              <a:rPr lang="en-US" altLang="en-GB"/>
              <a:t>Small objects</a:t>
            </a:r>
            <a:endParaRPr lang="en-US" altLang="en-GB"/>
          </a:p>
          <a:p>
            <a:pPr lvl="1"/>
            <a:r>
              <a:rPr lang="en-US" altLang="en-GB"/>
              <a:t>Medium objects</a:t>
            </a:r>
            <a:endParaRPr lang="en-US" altLang="en-GB"/>
          </a:p>
          <a:p>
            <a:pPr lvl="1"/>
            <a:r>
              <a:rPr lang="en-US" altLang="en-GB"/>
              <a:t>Large objects</a:t>
            </a:r>
            <a:endParaRPr lang="en-US" altLang="en-GB"/>
          </a:p>
          <a:p>
            <a:r>
              <a:rPr lang="en-US" altLang="en-GB"/>
              <a:t>It creates feature maps at multiple scales for better detection accuracy.</a:t>
            </a:r>
            <a:endParaRPr lang="en-US" altLang="en-GB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>
                <a:sym typeface="+mn-ea"/>
              </a:rPr>
              <a:t>Region Proposal Network (RPN)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altLang="en-GB"/>
              <a:t>The Region Proposal Network predicts where objects are likely to exist.</a:t>
            </a:r>
            <a:endParaRPr lang="en-US" altLang="en-GB"/>
          </a:p>
          <a:p>
            <a:r>
              <a:rPr lang="en-US" altLang="en-GB"/>
              <a:t>These predicted areas are called: Regions of Interest (ROIs)</a:t>
            </a:r>
            <a:endParaRPr lang="en-US" altLang="en-GB"/>
          </a:p>
          <a:p>
            <a:r>
              <a:rPr lang="en-US" altLang="en-GB"/>
              <a:t>Instead of scanning the whole image randomly, the model focuses on important regions.</a:t>
            </a:r>
            <a:endParaRPr lang="en-US" altLang="en-GB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>
                <a:sym typeface="+mn-ea"/>
              </a:rPr>
              <a:t>Example of RPN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altLang="en-GB"/>
              <a:t>Suppose an image contains:</a:t>
            </a:r>
            <a:endParaRPr lang="en-US" altLang="en-GB"/>
          </a:p>
          <a:p>
            <a:pPr lvl="1"/>
            <a:r>
              <a:rPr lang="en-US" altLang="en-GB"/>
              <a:t>Three people</a:t>
            </a:r>
            <a:endParaRPr lang="en-US" altLang="en-GB"/>
          </a:p>
          <a:p>
            <a:pPr lvl="1"/>
            <a:r>
              <a:rPr lang="en-US" altLang="en-GB"/>
              <a:t>Two cars</a:t>
            </a:r>
            <a:endParaRPr lang="en-US" altLang="en-GB"/>
          </a:p>
          <a:p>
            <a:pPr lvl="1"/>
            <a:r>
              <a:rPr lang="en-US" altLang="en-GB"/>
              <a:t>One bicycle</a:t>
            </a:r>
            <a:endParaRPr lang="en-US" altLang="en-GB"/>
          </a:p>
          <a:p>
            <a:r>
              <a:rPr lang="en-US" altLang="en-GB"/>
              <a:t>The RPN first identifies possible object locations before detailed analysis begins.</a:t>
            </a:r>
            <a:endParaRPr lang="en-US" altLang="en-GB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>
                <a:sym typeface="+mn-ea"/>
              </a:rPr>
              <a:t>ROI Pooling Problem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altLang="en-GB"/>
              <a:t>Earlier models used ROI Pooling.</a:t>
            </a:r>
            <a:endParaRPr lang="en-US" altLang="en-GB"/>
          </a:p>
          <a:p>
            <a:r>
              <a:rPr lang="en-US" altLang="en-GB"/>
              <a:t>Problem:</a:t>
            </a:r>
            <a:endParaRPr lang="en-US" altLang="en-GB"/>
          </a:p>
          <a:p>
            <a:pPr lvl="1"/>
            <a:r>
              <a:rPr lang="en-US" altLang="en-GB"/>
              <a:t>Rounding errors occurred</a:t>
            </a:r>
            <a:endParaRPr lang="en-US" altLang="en-GB"/>
          </a:p>
          <a:p>
            <a:pPr lvl="1"/>
            <a:r>
              <a:rPr lang="en-US" altLang="en-GB"/>
              <a:t>Object boundaries became misaligned</a:t>
            </a:r>
            <a:endParaRPr lang="en-US" altLang="en-GB"/>
          </a:p>
          <a:p>
            <a:pPr lvl="1"/>
            <a:r>
              <a:rPr lang="en-US" altLang="en-GB"/>
              <a:t>Segmentation accuracy decreased</a:t>
            </a:r>
            <a:endParaRPr lang="en-US" altLang="en-GB"/>
          </a:p>
          <a:p>
            <a:r>
              <a:rPr lang="en-US" altLang="en-GB"/>
              <a:t>This created challenges in precise mask generation.</a:t>
            </a:r>
            <a:endParaRPr lang="en-US" altLang="en-GB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>
                <a:sym typeface="+mn-ea"/>
              </a:rPr>
              <a:t>ROI Align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altLang="en-GB"/>
              <a:t>Mask R-CNN introduced ROI Align.</a:t>
            </a:r>
            <a:endParaRPr lang="en-US" altLang="en-GB"/>
          </a:p>
          <a:p>
            <a:r>
              <a:rPr lang="en-US" altLang="en-GB"/>
              <a:t>ROI Align preserves exact spatial information without rounding.</a:t>
            </a:r>
            <a:endParaRPr lang="en-US" altLang="en-GB"/>
          </a:p>
          <a:p>
            <a:r>
              <a:rPr lang="en-US" altLang="en-GB"/>
              <a:t>Benefits:</a:t>
            </a:r>
            <a:endParaRPr lang="en-US" altLang="en-GB"/>
          </a:p>
          <a:p>
            <a:pPr lvl="1"/>
            <a:r>
              <a:rPr lang="en-US" altLang="en-GB"/>
              <a:t>Better localization</a:t>
            </a:r>
            <a:endParaRPr lang="en-US" altLang="en-GB"/>
          </a:p>
          <a:p>
            <a:pPr lvl="1"/>
            <a:r>
              <a:rPr lang="en-US" altLang="en-GB"/>
              <a:t>Sharper boundaries</a:t>
            </a:r>
            <a:endParaRPr lang="en-US" altLang="en-GB"/>
          </a:p>
          <a:p>
            <a:pPr lvl="1"/>
            <a:r>
              <a:rPr lang="en-US" altLang="en-GB"/>
              <a:t>More accurate segmentation masks</a:t>
            </a:r>
            <a:endParaRPr lang="en-US" altLang="en-GB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>
                <a:sym typeface="+mn-ea"/>
              </a:rPr>
              <a:t>Three Parallel Branches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 marL="0" indent="0">
              <a:buNone/>
            </a:pPr>
            <a:r>
              <a:rPr lang="en-US" altLang="en-GB"/>
              <a:t>After ROI Align, Mask R-CNN divides processing into three branches:</a:t>
            </a:r>
            <a:endParaRPr lang="en-US" altLang="en-GB"/>
          </a:p>
          <a:p>
            <a:pPr lvl="1"/>
            <a:r>
              <a:rPr lang="en-US" altLang="en-GB"/>
              <a:t>Classification Branch</a:t>
            </a:r>
            <a:endParaRPr lang="en-US" altLang="en-GB"/>
          </a:p>
          <a:p>
            <a:pPr lvl="1"/>
            <a:r>
              <a:rPr lang="en-US" altLang="en-GB"/>
              <a:t>Bounding Box Regression Branch</a:t>
            </a:r>
            <a:endParaRPr lang="en-US" altLang="en-GB"/>
          </a:p>
          <a:p>
            <a:pPr lvl="1"/>
            <a:r>
              <a:rPr lang="en-US" altLang="en-GB"/>
              <a:t>Mask Prediction Branch</a:t>
            </a:r>
            <a:endParaRPr lang="en-US" altLang="en-GB"/>
          </a:p>
          <a:p>
            <a:r>
              <a:rPr lang="en-US" altLang="en-GB"/>
              <a:t>These tasks are performed simultaneously.</a:t>
            </a:r>
            <a:endParaRPr lang="en-US" altLang="en-GB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>
                <a:sym typeface="+mn-ea"/>
              </a:rPr>
              <a:t>Classification Branch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altLang="en-GB"/>
              <a:t>This branch predicts the category of the object.</a:t>
            </a:r>
            <a:endParaRPr lang="en-US" altLang="en-GB"/>
          </a:p>
          <a:p>
            <a:r>
              <a:rPr lang="en-US" altLang="en-GB"/>
              <a:t>Examples:</a:t>
            </a:r>
            <a:endParaRPr lang="en-US" altLang="en-GB"/>
          </a:p>
          <a:p>
            <a:pPr lvl="1"/>
            <a:r>
              <a:rPr lang="en-US" altLang="en-GB"/>
              <a:t>Person</a:t>
            </a:r>
            <a:endParaRPr lang="en-US" altLang="en-GB"/>
          </a:p>
          <a:p>
            <a:pPr lvl="1"/>
            <a:r>
              <a:rPr lang="en-US" altLang="en-GB"/>
              <a:t>Car</a:t>
            </a:r>
            <a:endParaRPr lang="en-US" altLang="en-GB"/>
          </a:p>
          <a:p>
            <a:pPr lvl="1"/>
            <a:r>
              <a:rPr lang="en-US" altLang="en-GB"/>
              <a:t>Bicycle</a:t>
            </a:r>
            <a:endParaRPr lang="en-US" altLang="en-GB"/>
          </a:p>
          <a:p>
            <a:pPr lvl="1"/>
            <a:r>
              <a:rPr lang="en-US" altLang="en-GB"/>
              <a:t>Dog</a:t>
            </a:r>
            <a:endParaRPr lang="en-US" altLang="en-GB"/>
          </a:p>
          <a:p>
            <a:pPr lvl="1"/>
            <a:r>
              <a:rPr lang="en-US" altLang="en-GB"/>
              <a:t>Building</a:t>
            </a:r>
            <a:endParaRPr lang="en-US" altLang="en-GB"/>
          </a:p>
          <a:p>
            <a:r>
              <a:rPr lang="en-US" altLang="en-GB"/>
              <a:t>It determines what object exists.</a:t>
            </a:r>
            <a:endParaRPr lang="en-US" altLang="en-GB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>
                <a:sym typeface="+mn-ea"/>
              </a:rPr>
              <a:t>Bounding Box Regression Branch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altLang="en-GB"/>
              <a:t>This branch improves object localization.</a:t>
            </a:r>
            <a:endParaRPr lang="en-US" altLang="en-GB"/>
          </a:p>
          <a:p>
            <a:r>
              <a:rPr lang="en-US" altLang="en-GB"/>
              <a:t>It adjusts bounding box coordinates to fit the object more accurately.</a:t>
            </a:r>
            <a:endParaRPr lang="en-US" altLang="en-GB"/>
          </a:p>
          <a:p>
            <a:r>
              <a:rPr lang="en-US" altLang="en-GB"/>
              <a:t>Result: More precise object detection.</a:t>
            </a:r>
            <a:endParaRPr lang="en-US" altLang="en-GB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>
                <a:sym typeface="+mn-ea"/>
              </a:rPr>
              <a:t>Mask Prediction Branch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altLang="en-GB"/>
              <a:t>This branch generates segmentation masks.</a:t>
            </a:r>
            <a:endParaRPr lang="en-US" altLang="en-GB"/>
          </a:p>
          <a:p>
            <a:r>
              <a:rPr lang="en-US" altLang="en-GB"/>
              <a:t>Each detected object receives:</a:t>
            </a:r>
            <a:endParaRPr lang="en-US" altLang="en-GB"/>
          </a:p>
          <a:p>
            <a:pPr lvl="1"/>
            <a:r>
              <a:rPr lang="en-US" altLang="en-GB"/>
              <a:t>A separate mask</a:t>
            </a:r>
            <a:endParaRPr lang="en-US" altLang="en-GB"/>
          </a:p>
          <a:p>
            <a:pPr lvl="1"/>
            <a:r>
              <a:rPr lang="en-US" altLang="en-GB"/>
              <a:t>Pixel-level identification</a:t>
            </a:r>
            <a:endParaRPr lang="en-US" altLang="en-GB"/>
          </a:p>
          <a:p>
            <a:r>
              <a:rPr lang="en-US" altLang="en-GB"/>
              <a:t>This is the key feature of Mask R-CNN</a:t>
            </a:r>
            <a:endParaRPr lang="en-US" altLang="en-GB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>
                <a:sym typeface="+mn-ea"/>
              </a:rPr>
              <a:t>Training Mask R-CNN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altLang="en-GB"/>
              <a:t>Mask R-CNN uses a multi-task loss function.</a:t>
            </a:r>
            <a:endParaRPr lang="en-US" altLang="en-GB"/>
          </a:p>
          <a:p>
            <a:r>
              <a:rPr lang="en-US" altLang="en-GB"/>
              <a:t>It combines:</a:t>
            </a:r>
            <a:endParaRPr lang="en-US" altLang="en-GB"/>
          </a:p>
          <a:p>
            <a:pPr lvl="1"/>
            <a:r>
              <a:rPr lang="en-US" altLang="en-GB"/>
              <a:t>Classification Loss</a:t>
            </a:r>
            <a:endParaRPr lang="en-US" altLang="en-GB"/>
          </a:p>
          <a:p>
            <a:pPr lvl="1"/>
            <a:r>
              <a:rPr lang="en-US" altLang="en-GB"/>
              <a:t>Bounding Box Loss</a:t>
            </a:r>
            <a:endParaRPr lang="en-US" altLang="en-GB"/>
          </a:p>
          <a:p>
            <a:pPr lvl="1"/>
            <a:r>
              <a:rPr lang="en-US" altLang="en-GB"/>
              <a:t>Mask Loss</a:t>
            </a:r>
            <a:endParaRPr lang="en-US" altLang="en-GB"/>
          </a:p>
          <a:p>
            <a:r>
              <a:rPr lang="en-US" altLang="en-GB"/>
              <a:t>The model learns all three tasks simultaneously.</a:t>
            </a:r>
            <a:endParaRPr lang="en-US" altLang="en-GB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>
                <a:sym typeface="+mn-ea"/>
              </a:rPr>
              <a:t>Advantages of Mask R-CNN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3720" y="1894840"/>
            <a:ext cx="10515600" cy="4351338"/>
          </a:xfrm>
        </p:spPr>
        <p:txBody>
          <a:bodyPr>
            <a:normAutofit/>
          </a:bodyPr>
          <a:p>
            <a:r>
              <a:rPr lang="en-US" altLang="en-GB"/>
              <a:t>Major advantages include:</a:t>
            </a:r>
            <a:endParaRPr lang="en-US" altLang="en-GB"/>
          </a:p>
          <a:p>
            <a:pPr lvl="1"/>
            <a:r>
              <a:rPr lang="en-US" altLang="en-GB"/>
              <a:t>Highly accurate segmentation</a:t>
            </a:r>
            <a:endParaRPr lang="en-US" altLang="en-GB"/>
          </a:p>
          <a:p>
            <a:pPr lvl="1"/>
            <a:r>
              <a:rPr lang="en-US" altLang="en-GB"/>
              <a:t>Individual object separation</a:t>
            </a:r>
            <a:endParaRPr lang="en-US" altLang="en-GB"/>
          </a:p>
          <a:p>
            <a:pPr lvl="1"/>
            <a:r>
              <a:rPr lang="en-US" altLang="en-GB"/>
              <a:t>Precise localization</a:t>
            </a:r>
            <a:endParaRPr lang="en-US" altLang="en-GB"/>
          </a:p>
          <a:p>
            <a:pPr lvl="1"/>
            <a:r>
              <a:rPr lang="en-US" altLang="en-GB"/>
              <a:t>Works well with overlapping objects</a:t>
            </a:r>
            <a:endParaRPr lang="en-US" altLang="en-GB"/>
          </a:p>
          <a:p>
            <a:pPr lvl="1"/>
            <a:r>
              <a:rPr lang="en-US" altLang="en-GB"/>
              <a:t>Multi-task learning</a:t>
            </a:r>
            <a:endParaRPr lang="en-US" altLang="en-GB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3316</Words>
  <Application>WPS Presentation</Application>
  <PresentationFormat>Widescreen</PresentationFormat>
  <Paragraphs>142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6" baseType="lpstr">
      <vt:lpstr>Arial</vt:lpstr>
      <vt:lpstr>SimSun</vt:lpstr>
      <vt:lpstr>Wingdings</vt:lpstr>
      <vt:lpstr>Arial Unicode MS</vt:lpstr>
      <vt:lpstr>Calibri Light</vt:lpstr>
      <vt:lpstr>Calibri</vt:lpstr>
      <vt:lpstr>Microsoft YaHei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Why is U-Net Important?</vt:lpstr>
      <vt:lpstr>Main Components of U-Net</vt:lpstr>
      <vt:lpstr>Contracting Path (Encoder)</vt:lpstr>
      <vt:lpstr>VGG16 Inspiration</vt:lpstr>
      <vt:lpstr>Convolution Operation</vt:lpstr>
      <vt:lpstr>Activation Function (ReLU)</vt:lpstr>
      <vt:lpstr>Pooling Layer</vt:lpstr>
      <vt:lpstr>Challenge of Pooling</vt:lpstr>
      <vt:lpstr>Pooling Indices in SegNet</vt:lpstr>
      <vt:lpstr>Bottleneck Layer</vt:lpstr>
      <vt:lpstr>Expanding Path (Decoder)</vt:lpstr>
      <vt:lpstr>Upsampling in U-Net</vt:lpstr>
      <vt:lpstr>Dice Coefficient Formula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Administrator</dc:creator>
  <cp:lastModifiedBy>saher nawaz</cp:lastModifiedBy>
  <cp:revision>60</cp:revision>
  <dcterms:created xsi:type="dcterms:W3CDTF">2025-07-23T00:59:00Z</dcterms:created>
  <dcterms:modified xsi:type="dcterms:W3CDTF">2026-05-17T14:51:58Z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96984ECC09E7448F876E821A22C18987_13</vt:lpwstr>
  </property>
  <property fmtid="{D5CDD505-2E9C-101B-9397-08002B2CF9AE}" pid="3" name="KSOProductBuildVer">
    <vt:lpwstr>2057-12.2.0.23202</vt:lpwstr>
  </property>
</Properties>
</file>