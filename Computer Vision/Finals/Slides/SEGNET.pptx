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7" r:id="rId5"/>
    <p:sldId id="259" r:id="rId6"/>
    <p:sldId id="280" r:id="rId7"/>
    <p:sldId id="260" r:id="rId8"/>
    <p:sldId id="262" r:id="rId9"/>
    <p:sldId id="263" r:id="rId10"/>
    <p:sldId id="276" r:id="rId11"/>
    <p:sldId id="264" r:id="rId12"/>
    <p:sldId id="265" r:id="rId13"/>
    <p:sldId id="277" r:id="rId14"/>
    <p:sldId id="278" r:id="rId15"/>
    <p:sldId id="279" r:id="rId16"/>
    <p:sldId id="268" r:id="rId17"/>
    <p:sldId id="269" r:id="rId18"/>
    <p:sldId id="270" r:id="rId19"/>
    <p:sldId id="271" r:id="rId20"/>
    <p:sldId id="273" r:id="rId21"/>
    <p:sldId id="274" r:id="rId22"/>
    <p:sldId id="27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en-GB"/>
              <a:t>U-NET, SEGNET, MASK-RCNN</a:t>
            </a:r>
            <a:endParaRPr lang="en-US" alt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 b="1">
                <a:sym typeface="+mn-ea"/>
              </a:rPr>
              <a:t>Image segmentation</a:t>
            </a:r>
            <a:endParaRPr lang="en-GB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GB"/>
              <a:t>Process of dividing an image into meaningful regions by assigning a class label to each pixel. </a:t>
            </a:r>
            <a:endParaRPr lang="en-US" altLang="en-GB"/>
          </a:p>
          <a:p>
            <a:r>
              <a:rPr lang="en-US" altLang="en-GB"/>
              <a:t>Unlike image classification, which labels the whole image, segmentation provides detailed understanding at the pixel level.</a:t>
            </a:r>
            <a:endParaRPr lang="en-US" altLang="en-GB"/>
          </a:p>
          <a:p>
            <a:r>
              <a:rPr lang="en-US" altLang="en-GB"/>
              <a:t>Example:</a:t>
            </a:r>
            <a:endParaRPr lang="en-US" altLang="en-GB"/>
          </a:p>
          <a:p>
            <a:pPr lvl="1"/>
            <a:r>
              <a:rPr lang="en-US" altLang="en-GB"/>
              <a:t>Classification </a:t>
            </a:r>
            <a:r>
              <a:rPr lang="en-US" altLang="en-US"/>
              <a:t>→</a:t>
            </a:r>
            <a:r>
              <a:rPr lang="en-US" altLang="en-GB"/>
              <a:t> “Tumor Present”</a:t>
            </a:r>
            <a:endParaRPr lang="en-US" altLang="en-GB"/>
          </a:p>
          <a:p>
            <a:pPr lvl="1"/>
            <a:r>
              <a:rPr lang="en-US" altLang="en-GB"/>
              <a:t>Object Detection </a:t>
            </a:r>
            <a:r>
              <a:rPr lang="en-US" altLang="en-US"/>
              <a:t>→</a:t>
            </a:r>
            <a:r>
              <a:rPr lang="en-US" altLang="en-GB"/>
              <a:t> Rectangle around tumor</a:t>
            </a:r>
            <a:endParaRPr lang="en-US" altLang="en-GB"/>
          </a:p>
          <a:p>
            <a:pPr lvl="1"/>
            <a:r>
              <a:rPr lang="en-US" altLang="en-GB"/>
              <a:t>Segmentation </a:t>
            </a:r>
            <a:r>
              <a:rPr lang="en-US" altLang="en-US"/>
              <a:t>→</a:t>
            </a:r>
            <a:r>
              <a:rPr lang="en-US" altLang="en-GB"/>
              <a:t> Exact shape and boundary of tumor</a:t>
            </a:r>
            <a:endParaRPr lang="en-US" alt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What is SegNet?</a:t>
            </a:r>
            <a:endParaRPr lang="en-US" altLang="en-GB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/>
              <a:t>SegNet is a deep learning architecture designed for semantic image segmentation. </a:t>
            </a:r>
            <a:endParaRPr lang="en-US" altLang="en-GB"/>
          </a:p>
          <a:p>
            <a:r>
              <a:rPr lang="en-US" altLang="en-GB"/>
              <a:t>It assigns a class label to every pixel in an image, helping identify objects and scene components with high precision.</a:t>
            </a:r>
            <a:endParaRPr lang="en-US" alt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Why SegNet is Important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/>
              <a:t>SegNet is important because it helps machines understand scenes in detail. </a:t>
            </a:r>
            <a:endParaRPr lang="en-US" altLang="en-GB"/>
          </a:p>
          <a:p>
            <a:r>
              <a:rPr lang="en-US" altLang="en-GB"/>
              <a:t>Instead of only identifying objects, it determines their exact position and boundaries, which is useful in autonomous driving, robotics, and surveillance.</a:t>
            </a:r>
            <a:endParaRPr lang="en-US" alt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21460" y="1449705"/>
            <a:ext cx="9351645" cy="42081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Architecture of SegNet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GB"/>
              <a:t>SegNet follows an Encoder-Decoder Architecture.</a:t>
            </a:r>
            <a:endParaRPr lang="en-US" altLang="en-GB"/>
          </a:p>
          <a:p>
            <a:r>
              <a:rPr lang="en-US" altLang="en-GB"/>
              <a:t>It consists of two major parts:</a:t>
            </a:r>
            <a:endParaRPr lang="en-US" altLang="en-GB"/>
          </a:p>
          <a:p>
            <a:pPr lvl="1"/>
            <a:r>
              <a:rPr lang="en-US" altLang="en-GB"/>
              <a:t>Encoder (Feature Extraction)</a:t>
            </a:r>
            <a:endParaRPr lang="en-US" altLang="en-GB"/>
          </a:p>
          <a:p>
            <a:pPr lvl="1"/>
            <a:r>
              <a:rPr lang="en-US" altLang="en-GB"/>
              <a:t>Decoder (Image Reconstruction)</a:t>
            </a:r>
            <a:endParaRPr lang="en-US" altLang="en-GB"/>
          </a:p>
          <a:p>
            <a:r>
              <a:rPr lang="en-US" altLang="en-GB"/>
              <a:t>These stages work together to produce segmented images.</a:t>
            </a:r>
            <a:endParaRPr lang="en-US" alt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Encoder Stage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GB"/>
              <a:t>The encoder is responsible for learning important image features.</a:t>
            </a:r>
            <a:endParaRPr lang="en-US" altLang="en-GB"/>
          </a:p>
          <a:p>
            <a:r>
              <a:rPr lang="en-US" altLang="en-GB"/>
              <a:t>It extracts information such as:</a:t>
            </a:r>
            <a:endParaRPr lang="en-US" altLang="en-GB"/>
          </a:p>
          <a:p>
            <a:pPr lvl="1"/>
            <a:r>
              <a:rPr lang="en-US" altLang="en-GB"/>
              <a:t>Edges</a:t>
            </a:r>
            <a:endParaRPr lang="en-US" altLang="en-GB"/>
          </a:p>
          <a:p>
            <a:pPr lvl="1"/>
            <a:r>
              <a:rPr lang="en-US" altLang="en-GB"/>
              <a:t>Textures</a:t>
            </a:r>
            <a:endParaRPr lang="en-US" altLang="en-GB"/>
          </a:p>
          <a:p>
            <a:pPr lvl="1"/>
            <a:r>
              <a:rPr lang="en-US" altLang="en-GB"/>
              <a:t>Shapes</a:t>
            </a:r>
            <a:endParaRPr lang="en-US" altLang="en-GB"/>
          </a:p>
          <a:p>
            <a:pPr lvl="1"/>
            <a:r>
              <a:rPr lang="en-US" altLang="en-GB"/>
              <a:t>Patterns</a:t>
            </a:r>
            <a:endParaRPr lang="en-US" altLang="en-GB"/>
          </a:p>
          <a:p>
            <a:r>
              <a:rPr lang="en-US" altLang="en-GB"/>
              <a:t>The encoder gradually reduces image dimensions while learning meaningful information.</a:t>
            </a:r>
            <a:endParaRPr lang="en-US" alt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VGG16 Inspiration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GB"/>
              <a:t>The encoder of SegNet is inspired by the VGG16 network.</a:t>
            </a:r>
            <a:endParaRPr lang="en-US" altLang="en-GB"/>
          </a:p>
          <a:p>
            <a:r>
              <a:rPr lang="en-US" altLang="en-GB"/>
              <a:t>It uses multiple convolutional layers to learn visual patterns and semantic information from images.</a:t>
            </a:r>
            <a:endParaRPr lang="en-US" alt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Convolution in SegNet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GB"/>
              <a:t>Convolution operations apply filters to detect image features.</a:t>
            </a:r>
            <a:endParaRPr lang="en-US" altLang="en-GB"/>
          </a:p>
          <a:p>
            <a:r>
              <a:rPr lang="en-US" altLang="en-GB"/>
              <a:t>Early layers learn:</a:t>
            </a:r>
            <a:endParaRPr lang="en-US" altLang="en-GB"/>
          </a:p>
          <a:p>
            <a:pPr lvl="1"/>
            <a:r>
              <a:rPr lang="en-US" altLang="en-GB"/>
              <a:t>Edges</a:t>
            </a:r>
            <a:endParaRPr lang="en-US" altLang="en-GB"/>
          </a:p>
          <a:p>
            <a:pPr lvl="1"/>
            <a:r>
              <a:rPr lang="en-US" altLang="en-GB"/>
              <a:t>Corners</a:t>
            </a:r>
            <a:endParaRPr lang="en-US" altLang="en-GB"/>
          </a:p>
          <a:p>
            <a:pPr lvl="1"/>
            <a:r>
              <a:rPr lang="en-US" altLang="en-GB"/>
              <a:t>Texture patterns</a:t>
            </a:r>
            <a:endParaRPr lang="en-US" altLang="en-GB"/>
          </a:p>
          <a:p>
            <a:r>
              <a:rPr lang="en-US" altLang="en-GB"/>
              <a:t>Deeper layers learn:</a:t>
            </a:r>
            <a:endParaRPr lang="en-US" altLang="en-GB"/>
          </a:p>
          <a:p>
            <a:pPr lvl="1"/>
            <a:r>
              <a:rPr lang="en-US" altLang="en-GB"/>
              <a:t>Vehicles</a:t>
            </a:r>
            <a:endParaRPr lang="en-US" altLang="en-GB"/>
          </a:p>
          <a:p>
            <a:pPr lvl="1"/>
            <a:r>
              <a:rPr lang="en-US" altLang="en-GB"/>
              <a:t>Roads</a:t>
            </a:r>
            <a:endParaRPr lang="en-US" altLang="en-GB"/>
          </a:p>
          <a:p>
            <a:pPr lvl="1"/>
            <a:r>
              <a:rPr lang="en-US" altLang="en-GB"/>
              <a:t>Buildings</a:t>
            </a:r>
            <a:endParaRPr lang="en-US" altLang="en-GB"/>
          </a:p>
          <a:p>
            <a:pPr lvl="1"/>
            <a:r>
              <a:rPr lang="en-US" altLang="en-GB"/>
              <a:t>Human shapes</a:t>
            </a:r>
            <a:endParaRPr lang="en-US" altLang="en-GB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Activation Function (ReLU)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GB"/>
              <a:t>After convolution, U-Net commonly uses the ReLU activation function.</a:t>
            </a:r>
            <a:endParaRPr lang="en-US" altLang="en-GB"/>
          </a:p>
          <a:p>
            <a:r>
              <a:rPr lang="en-US" altLang="en-GB"/>
              <a:t>Purpose of ReLU:</a:t>
            </a:r>
            <a:endParaRPr lang="en-US" altLang="en-GB"/>
          </a:p>
          <a:p>
            <a:pPr lvl="1"/>
            <a:r>
              <a:rPr lang="en-US" altLang="en-GB"/>
              <a:t>Introduces non-linearity</a:t>
            </a:r>
            <a:endParaRPr lang="en-US" altLang="en-GB"/>
          </a:p>
          <a:p>
            <a:pPr lvl="1"/>
            <a:r>
              <a:rPr lang="en-US" altLang="en-GB"/>
              <a:t>Helps learn complex relationships</a:t>
            </a:r>
            <a:endParaRPr lang="en-US" altLang="en-GB"/>
          </a:p>
          <a:p>
            <a:pPr lvl="1"/>
            <a:r>
              <a:rPr lang="en-US" altLang="en-GB"/>
              <a:t>Improves training performance</a:t>
            </a:r>
            <a:endParaRPr lang="en-US" alt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Pooling Layer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GB"/>
              <a:t>Pooling reduces image dimensions while keeping important information.</a:t>
            </a:r>
            <a:endParaRPr lang="en-US" altLang="en-GB"/>
          </a:p>
          <a:p>
            <a:pPr lvl="1"/>
            <a:r>
              <a:rPr lang="en-US" altLang="en-GB"/>
              <a:t>Example: 256 </a:t>
            </a:r>
            <a:r>
              <a:rPr lang="en-US" altLang="en-US"/>
              <a:t>×</a:t>
            </a:r>
            <a:r>
              <a:rPr lang="en-US" altLang="en-GB"/>
              <a:t> 256 </a:t>
            </a:r>
            <a:r>
              <a:rPr lang="en-US" altLang="en-US"/>
              <a:t>→</a:t>
            </a:r>
            <a:r>
              <a:rPr lang="en-US" altLang="en-GB"/>
              <a:t> 128 </a:t>
            </a:r>
            <a:r>
              <a:rPr lang="en-US" altLang="en-US"/>
              <a:t>×</a:t>
            </a:r>
            <a:r>
              <a:rPr lang="en-US" altLang="en-GB"/>
              <a:t> 128</a:t>
            </a:r>
            <a:endParaRPr lang="en-US" altLang="en-GB"/>
          </a:p>
          <a:p>
            <a:r>
              <a:rPr lang="en-US" altLang="en-GB"/>
              <a:t>Benefits:</a:t>
            </a:r>
            <a:endParaRPr lang="en-US" altLang="en-GB"/>
          </a:p>
          <a:p>
            <a:pPr lvl="1"/>
            <a:r>
              <a:rPr lang="en-US" altLang="en-GB"/>
              <a:t>Reduces computation</a:t>
            </a:r>
            <a:endParaRPr lang="en-US" altLang="en-GB"/>
          </a:p>
          <a:p>
            <a:pPr lvl="1"/>
            <a:r>
              <a:rPr lang="en-US" altLang="en-GB"/>
              <a:t>Removes unnecessary details</a:t>
            </a:r>
            <a:endParaRPr lang="en-US" altLang="en-GB"/>
          </a:p>
          <a:p>
            <a:pPr lvl="1"/>
            <a:r>
              <a:rPr lang="en-US" altLang="en-GB"/>
              <a:t>Focuses on important features</a:t>
            </a:r>
            <a:endParaRPr lang="en-US" alt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Challenge of Pooling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GB"/>
              <a:t>Pooling reduces dimensions but also causes loss of spatial information.</a:t>
            </a:r>
            <a:endParaRPr lang="en-US" altLang="en-GB"/>
          </a:p>
          <a:p>
            <a:r>
              <a:rPr lang="en-US" altLang="en-GB"/>
              <a:t>Problem:</a:t>
            </a:r>
            <a:endParaRPr lang="en-US" altLang="en-GB"/>
          </a:p>
          <a:p>
            <a:pPr lvl="1"/>
            <a:r>
              <a:rPr lang="en-US" altLang="en-GB"/>
              <a:t>Object boundaries become unclear</a:t>
            </a:r>
            <a:endParaRPr lang="en-US" altLang="en-GB"/>
          </a:p>
          <a:p>
            <a:pPr lvl="1"/>
            <a:r>
              <a:rPr lang="en-US" altLang="en-GB"/>
              <a:t>Location details may disappear</a:t>
            </a:r>
            <a:endParaRPr lang="en-US" altLang="en-GB"/>
          </a:p>
          <a:p>
            <a:r>
              <a:rPr lang="en-US" altLang="en-GB"/>
              <a:t>This creates difficulty in accurate segmentation.</a:t>
            </a:r>
            <a:endParaRPr lang="en-US" altLang="en-GB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Pooling Indices in SegNet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GB"/>
              <a:t>To solve information loss, SegNet stores the positions of maximum values selected during pooling.</a:t>
            </a:r>
            <a:endParaRPr lang="en-US" altLang="en-GB"/>
          </a:p>
          <a:p>
            <a:r>
              <a:rPr lang="en-US" altLang="en-GB"/>
              <a:t>These stored positions are called Pooling Indices.</a:t>
            </a:r>
            <a:endParaRPr lang="en-US" altLang="en-GB"/>
          </a:p>
          <a:p>
            <a:r>
              <a:rPr lang="en-US" altLang="en-GB"/>
              <a:t>This is one of SegNet’s most important innovations.</a:t>
            </a:r>
            <a:endParaRPr lang="en-US" altLang="en-GB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How Pooling Indices Work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GB"/>
              <a:t>During max pooling:</a:t>
            </a:r>
            <a:endParaRPr lang="en-US" altLang="en-GB"/>
          </a:p>
          <a:p>
            <a:pPr lvl="1"/>
            <a:r>
              <a:rPr lang="en-US" altLang="en-GB"/>
              <a:t>Maximum values are selected</a:t>
            </a:r>
            <a:endParaRPr lang="en-US" altLang="en-GB"/>
          </a:p>
          <a:p>
            <a:pPr lvl="1"/>
            <a:r>
              <a:rPr lang="en-US" altLang="en-GB"/>
              <a:t>Their exact locations are stored</a:t>
            </a:r>
            <a:endParaRPr lang="en-US" altLang="en-GB"/>
          </a:p>
          <a:p>
            <a:r>
              <a:rPr lang="en-US" altLang="en-GB"/>
              <a:t>During decoding:</a:t>
            </a:r>
            <a:endParaRPr lang="en-US" altLang="en-GB"/>
          </a:p>
          <a:p>
            <a:pPr lvl="1"/>
            <a:r>
              <a:rPr lang="en-US" altLang="en-GB"/>
              <a:t>Stored positions are reused</a:t>
            </a:r>
            <a:endParaRPr lang="en-US" altLang="en-GB"/>
          </a:p>
          <a:p>
            <a:pPr lvl="1"/>
            <a:r>
              <a:rPr lang="en-US" altLang="en-GB"/>
              <a:t>Features are restored to original locations</a:t>
            </a:r>
            <a:endParaRPr lang="en-US" altLang="en-GB"/>
          </a:p>
          <a:p>
            <a:r>
              <a:rPr lang="en-US" altLang="en-GB"/>
              <a:t>This helps maintain spatial structure.</a:t>
            </a:r>
            <a:endParaRPr lang="en-US" altLang="en-GB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Decoder Stage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GB"/>
              <a:t>The decoder reconstructs the compressed image.</a:t>
            </a:r>
            <a:endParaRPr lang="en-US" altLang="en-GB"/>
          </a:p>
          <a:p>
            <a:r>
              <a:rPr lang="en-US" altLang="en-GB"/>
              <a:t>Its purpose is to restore image dimensions and generate an accurate segmentation map.</a:t>
            </a:r>
            <a:endParaRPr lang="en-US" altLang="en-GB"/>
          </a:p>
          <a:p>
            <a:r>
              <a:rPr lang="en-US" altLang="en-GB"/>
              <a:t>This process is called Upsampling.</a:t>
            </a:r>
            <a:endParaRPr lang="en-US" altLang="en-GB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Upsampling in SegNet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GB"/>
              <a:t>Upsampling increases image dimensions and restores lost information.</a:t>
            </a:r>
            <a:endParaRPr lang="en-US" altLang="en-GB"/>
          </a:p>
          <a:p>
            <a:r>
              <a:rPr lang="en-US" altLang="en-GB"/>
              <a:t>However, enlargement alone is insufficient because fine details may disappear during pooling.</a:t>
            </a:r>
            <a:endParaRPr lang="en-US" altLang="en-GB"/>
          </a:p>
          <a:p>
            <a:r>
              <a:rPr lang="en-US" altLang="en-GB"/>
              <a:t>This issue is solved using skip connections.</a:t>
            </a:r>
            <a:endParaRPr lang="en-US" altLang="en-GB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Non-Linear Upsampling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GB"/>
              <a:t>SegNet uses index-based upsampling.</a:t>
            </a:r>
            <a:endParaRPr lang="en-US" altLang="en-GB"/>
          </a:p>
          <a:p>
            <a:r>
              <a:rPr lang="en-US" altLang="en-GB"/>
              <a:t>Instead of directly enlarging images, it places feature values back into their original pooled positions using pooling indices.</a:t>
            </a:r>
            <a:endParaRPr lang="en-US" altLang="en-GB"/>
          </a:p>
          <a:p>
            <a:r>
              <a:rPr lang="en-US" altLang="en-GB"/>
              <a:t>This improves reconstruction quality.</a:t>
            </a:r>
            <a:endParaRPr lang="en-US" altLang="en-GB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Final Segmentation Output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GB"/>
              <a:t>After decoding, SegNet predicts a class for every pixel.</a:t>
            </a:r>
            <a:endParaRPr lang="en-US" altLang="en-GB"/>
          </a:p>
          <a:p>
            <a:r>
              <a:rPr lang="en-US" altLang="en-GB"/>
              <a:t>Example in road scene:</a:t>
            </a:r>
            <a:endParaRPr lang="en-US" altLang="en-GB"/>
          </a:p>
          <a:p>
            <a:pPr lvl="1"/>
            <a:r>
              <a:rPr lang="en-US" altLang="en-GB"/>
              <a:t>Road </a:t>
            </a:r>
            <a:r>
              <a:rPr lang="en-US" altLang="en-US"/>
              <a:t>→</a:t>
            </a:r>
            <a:r>
              <a:rPr lang="en-US" altLang="en-GB"/>
              <a:t> One label</a:t>
            </a:r>
            <a:endParaRPr lang="en-US" altLang="en-GB"/>
          </a:p>
          <a:p>
            <a:pPr lvl="1"/>
            <a:r>
              <a:rPr lang="en-US" altLang="en-GB"/>
              <a:t>Car </a:t>
            </a:r>
            <a:r>
              <a:rPr lang="en-US" altLang="en-US"/>
              <a:t>→</a:t>
            </a:r>
            <a:r>
              <a:rPr lang="en-US" altLang="en-GB"/>
              <a:t> Another label</a:t>
            </a:r>
            <a:endParaRPr lang="en-US" altLang="en-GB"/>
          </a:p>
          <a:p>
            <a:pPr lvl="1"/>
            <a:r>
              <a:rPr lang="en-US" altLang="en-GB"/>
              <a:t>Building </a:t>
            </a:r>
            <a:r>
              <a:rPr lang="en-US" altLang="en-US"/>
              <a:t>→</a:t>
            </a:r>
            <a:r>
              <a:rPr lang="en-US" altLang="en-GB"/>
              <a:t> Another label</a:t>
            </a:r>
            <a:endParaRPr lang="en-US" altLang="en-GB"/>
          </a:p>
          <a:p>
            <a:pPr lvl="1"/>
            <a:r>
              <a:rPr lang="en-US" altLang="en-GB"/>
              <a:t>Pedestrian </a:t>
            </a:r>
            <a:r>
              <a:rPr lang="en-US" altLang="en-US"/>
              <a:t>→</a:t>
            </a:r>
            <a:r>
              <a:rPr lang="en-US" altLang="en-GB"/>
              <a:t> Separate label</a:t>
            </a:r>
            <a:endParaRPr lang="en-US" altLang="en-GB"/>
          </a:p>
          <a:p>
            <a:r>
              <a:rPr lang="en-US" altLang="en-GB"/>
              <a:t>The output becomes a fully segmented image.</a:t>
            </a:r>
            <a:endParaRPr lang="en-US" altLang="en-GB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Loss Function in SegNet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GB"/>
              <a:t>SegNet commonly uses Cross-Entropy Loss.</a:t>
            </a:r>
            <a:endParaRPr lang="en-US" altLang="en-GB"/>
          </a:p>
          <a:p>
            <a:r>
              <a:rPr lang="en-US" altLang="en-GB"/>
              <a:t>Purpose:</a:t>
            </a:r>
            <a:endParaRPr lang="en-US" altLang="en-GB"/>
          </a:p>
          <a:p>
            <a:pPr lvl="1"/>
            <a:r>
              <a:rPr lang="en-US" altLang="en-GB"/>
              <a:t>Compare predicted segmentation with actual labels</a:t>
            </a:r>
            <a:endParaRPr lang="en-US" altLang="en-GB"/>
          </a:p>
          <a:p>
            <a:pPr lvl="1"/>
            <a:r>
              <a:rPr lang="en-US" altLang="en-GB"/>
              <a:t>Penalize incorrect predictions</a:t>
            </a:r>
            <a:endParaRPr lang="en-US" altLang="en-GB"/>
          </a:p>
          <a:p>
            <a:pPr lvl="1"/>
            <a:r>
              <a:rPr lang="en-US" altLang="en-GB"/>
              <a:t>Improve accuracy during training</a:t>
            </a:r>
            <a:endParaRPr lang="en-US" altLang="en-GB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Difference Between SegNet and U-Net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GB"/>
              <a:t>SegNet: Uses pooling indices to restore information.</a:t>
            </a:r>
            <a:endParaRPr lang="en-US" altLang="en-GB"/>
          </a:p>
          <a:p>
            <a:r>
              <a:rPr lang="en-US" altLang="en-GB"/>
              <a:t>U-Net: Uses skip connections to transfer encoder features.</a:t>
            </a:r>
            <a:endParaRPr lang="en-US" altLang="en-GB"/>
          </a:p>
          <a:p>
            <a:r>
              <a:rPr lang="en-US" altLang="en-GB"/>
              <a:t>SegNet is more memory-efficient, while U-Net often provides sharper boundaries</a:t>
            </a:r>
            <a:endParaRPr lang="en-US" altLang="en-GB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GB">
                <a:sym typeface="+mn-ea"/>
              </a:rPr>
              <a:t>Advantages of SegNet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3720" y="1894840"/>
            <a:ext cx="10515600" cy="4351338"/>
          </a:xfrm>
        </p:spPr>
        <p:txBody>
          <a:bodyPr>
            <a:normAutofit/>
          </a:bodyPr>
          <a:p>
            <a:r>
              <a:rPr lang="en-US" altLang="en-GB"/>
              <a:t>Major benefits of SegNet include:</a:t>
            </a:r>
            <a:endParaRPr lang="en-US" altLang="en-GB"/>
          </a:p>
          <a:p>
            <a:pPr lvl="1"/>
            <a:r>
              <a:rPr lang="en-US" altLang="en-GB"/>
              <a:t>Efficient memory usage</a:t>
            </a:r>
            <a:endParaRPr lang="en-US" altLang="en-GB"/>
          </a:p>
          <a:p>
            <a:pPr lvl="1"/>
            <a:r>
              <a:rPr lang="en-US" altLang="en-GB"/>
              <a:t>Good scene understanding</a:t>
            </a:r>
            <a:endParaRPr lang="en-US" altLang="en-GB"/>
          </a:p>
          <a:p>
            <a:pPr lvl="1"/>
            <a:r>
              <a:rPr lang="en-US" altLang="en-GB"/>
              <a:t>Effective semantic segmentation</a:t>
            </a:r>
            <a:endParaRPr lang="en-US" altLang="en-GB"/>
          </a:p>
          <a:p>
            <a:pPr lvl="1"/>
            <a:r>
              <a:rPr lang="en-US" altLang="en-GB"/>
              <a:t>Suitable for real-time applications</a:t>
            </a:r>
            <a:endParaRPr lang="en-US" alt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4123</Words>
  <Application>WPS Presentation</Application>
  <PresentationFormat>Widescreen</PresentationFormat>
  <Paragraphs>148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9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Office Theme</vt:lpstr>
      <vt:lpstr>U-NET, SEGNET, MASK-RCNN</vt:lpstr>
      <vt:lpstr>Image segmentation</vt:lpstr>
      <vt:lpstr>What is SegNet?</vt:lpstr>
      <vt:lpstr>Why SegNet is Important</vt:lpstr>
      <vt:lpstr>PowerPoint 演示文稿</vt:lpstr>
      <vt:lpstr>Architecture of SegNet</vt:lpstr>
      <vt:lpstr>Encoder Stage</vt:lpstr>
      <vt:lpstr>VGG16 Inspiration</vt:lpstr>
      <vt:lpstr>Convolution in SegNet</vt:lpstr>
      <vt:lpstr>Activation Function (ReLU)</vt:lpstr>
      <vt:lpstr>Pooling Layer</vt:lpstr>
      <vt:lpstr>Challenge of Pooling</vt:lpstr>
      <vt:lpstr>Pooling Indices in SegNet</vt:lpstr>
      <vt:lpstr>How Pooling Indices Work</vt:lpstr>
      <vt:lpstr>Decoder Stage</vt:lpstr>
      <vt:lpstr>Upsampling in SegNet</vt:lpstr>
      <vt:lpstr>Non-Linear Upsampling</vt:lpstr>
      <vt:lpstr>Final Segmentation Output</vt:lpstr>
      <vt:lpstr>Loss Function in SegNet</vt:lpstr>
      <vt:lpstr>Difference Between SegNet and U-Net</vt:lpstr>
      <vt:lpstr>Advantages of SegNet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Administrator</dc:creator>
  <cp:lastModifiedBy>saher nawaz</cp:lastModifiedBy>
  <cp:revision>42</cp:revision>
  <dcterms:created xsi:type="dcterms:W3CDTF">2025-07-23T00:59:00Z</dcterms:created>
  <dcterms:modified xsi:type="dcterms:W3CDTF">2026-05-17T14:50:47Z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3F3F60FA411A40C7AB5B5D2AFD6A8E85_13</vt:lpwstr>
  </property>
  <property fmtid="{D5CDD505-2E9C-101B-9397-08002B2CF9AE}" pid="3" name="KSOProductBuildVer">
    <vt:lpwstr>2057-12.2.0.23202</vt:lpwstr>
  </property>
</Properties>
</file>