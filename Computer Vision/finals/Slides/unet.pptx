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76" r:id="rId8"/>
    <p:sldId id="277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GB"/>
              <a:t>U-NET, SEGNET, MASK-RCNN</a:t>
            </a:r>
            <a:endParaRPr lang="en-US" alt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ym typeface="+mn-ea"/>
              </a:rPr>
              <a:t>Image segmentation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Process of dividing an image into meaningful regions by assigning a class label to each pixel. </a:t>
            </a:r>
            <a:endParaRPr lang="en-US" altLang="en-GB"/>
          </a:p>
          <a:p>
            <a:r>
              <a:rPr lang="en-US" altLang="en-GB"/>
              <a:t>Unlike image classification, which labels the whole image, segmentation provides detailed understanding at the pixel level.</a:t>
            </a:r>
            <a:endParaRPr lang="en-US" altLang="en-GB"/>
          </a:p>
          <a:p>
            <a:r>
              <a:rPr lang="en-US" altLang="en-GB"/>
              <a:t>Example:</a:t>
            </a:r>
            <a:endParaRPr lang="en-US" altLang="en-GB"/>
          </a:p>
          <a:p>
            <a:pPr lvl="1"/>
            <a:r>
              <a:rPr lang="en-US" altLang="en-GB"/>
              <a:t>Classification </a:t>
            </a:r>
            <a:r>
              <a:rPr lang="en-US" altLang="en-US"/>
              <a:t>→</a:t>
            </a:r>
            <a:r>
              <a:rPr lang="en-US" altLang="en-GB"/>
              <a:t> “Tumor Present”</a:t>
            </a:r>
            <a:endParaRPr lang="en-US" altLang="en-GB"/>
          </a:p>
          <a:p>
            <a:pPr lvl="1"/>
            <a:r>
              <a:rPr lang="en-US" altLang="en-GB"/>
              <a:t>Object Detection </a:t>
            </a:r>
            <a:r>
              <a:rPr lang="en-US" altLang="en-US"/>
              <a:t>→</a:t>
            </a:r>
            <a:r>
              <a:rPr lang="en-US" altLang="en-GB"/>
              <a:t> Rectangle around tumor</a:t>
            </a:r>
            <a:endParaRPr lang="en-US" altLang="en-GB"/>
          </a:p>
          <a:p>
            <a:pPr lvl="1"/>
            <a:r>
              <a:rPr lang="en-US" altLang="en-GB"/>
              <a:t>Segmentation </a:t>
            </a:r>
            <a:r>
              <a:rPr lang="en-US" altLang="en-US"/>
              <a:t>→</a:t>
            </a:r>
            <a:r>
              <a:rPr lang="en-US" altLang="en-GB"/>
              <a:t> Exact shape and boundary of tumor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ym typeface="+mn-ea"/>
              </a:rPr>
              <a:t>What is U-Net?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U-Net is a deep learning architecture mainly used for semantic image segmentation. </a:t>
            </a:r>
            <a:endParaRPr lang="en-US" altLang="en-GB"/>
          </a:p>
          <a:p>
            <a:r>
              <a:rPr lang="en-US" altLang="en-GB"/>
              <a:t>It classifies every pixel in an image into a specific category, allowing precise identification of objects and boundaries. </a:t>
            </a:r>
            <a:endParaRPr lang="en-US" altLang="en-GB"/>
          </a:p>
          <a:p>
            <a:r>
              <a:rPr lang="en-US" altLang="en-GB"/>
              <a:t>It was originally developed for biomedical image segmentation but is now used in many computer vision fields.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Why is U-Net Important?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U-Net is important because it provides very accurate object boundaries. </a:t>
            </a:r>
            <a:endParaRPr lang="en-US" altLang="en-GB"/>
          </a:p>
          <a:p>
            <a:r>
              <a:rPr lang="en-US" altLang="en-GB"/>
              <a:t>In medical imaging, even a small mistake in identifying a tumor or organ can affect diagnosis and treatment. </a:t>
            </a:r>
            <a:endParaRPr lang="en-US" altLang="en-GB"/>
          </a:p>
          <a:p>
            <a:r>
              <a:rPr lang="en-US" altLang="en-GB"/>
              <a:t>U-Net solves this problem by preserving fine image details.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Why is it Called U-Net?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The name U-Net comes from its U-shaped architecture. It consists of two major sections:</a:t>
            </a:r>
            <a:endParaRPr lang="en-US" altLang="en-GB"/>
          </a:p>
          <a:p>
            <a:pPr lvl="1"/>
            <a:r>
              <a:rPr lang="en-US" altLang="en-GB"/>
              <a:t>Contracting Path (Encoder)</a:t>
            </a:r>
            <a:endParaRPr lang="en-US" altLang="en-GB"/>
          </a:p>
          <a:p>
            <a:pPr lvl="1"/>
            <a:r>
              <a:rPr lang="en-US" altLang="en-GB"/>
              <a:t>Expanding Path (Decoder)</a:t>
            </a:r>
            <a:endParaRPr lang="en-US" altLang="en-GB"/>
          </a:p>
          <a:p>
            <a:pPr lvl="1"/>
            <a:r>
              <a:rPr lang="en-US" altLang="en-GB"/>
              <a:t>Between them lies a bottleneck layer.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1-s2.0-S0168169922008195-gr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02410" y="673735"/>
            <a:ext cx="8681720" cy="5426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73225" y="598805"/>
            <a:ext cx="8380095" cy="5551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Main Components of U-Net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Encoder (Downsampling Path)</a:t>
            </a:r>
            <a:endParaRPr lang="en-US" altLang="en-GB"/>
          </a:p>
          <a:p>
            <a:r>
              <a:rPr lang="en-US" altLang="en-GB"/>
              <a:t>Bottleneck Layer</a:t>
            </a:r>
            <a:endParaRPr lang="en-US" altLang="en-GB"/>
          </a:p>
          <a:p>
            <a:r>
              <a:rPr lang="en-US" altLang="en-GB"/>
              <a:t>Decoder (Upsampling Path)</a:t>
            </a:r>
            <a:endParaRPr lang="en-US" altLang="en-GB"/>
          </a:p>
          <a:p>
            <a:r>
              <a:rPr lang="en-US" altLang="en-GB"/>
              <a:t>Skip Connections</a:t>
            </a:r>
            <a:endParaRPr lang="en-US" altLang="en-GB"/>
          </a:p>
          <a:p>
            <a:r>
              <a:rPr lang="en-US" altLang="en-GB"/>
              <a:t>Together, these components help extract features and reconstruct precise segmented images.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Contracting Path (Encoder)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The encoder is responsible for extracting features from the input image. </a:t>
            </a:r>
            <a:endParaRPr lang="en-US" altLang="en-GB"/>
          </a:p>
          <a:p>
            <a:r>
              <a:rPr lang="en-US" altLang="en-GB"/>
              <a:t>It applies convolution layers, activation functions, and pooling repeatedly to understand patterns in the image.</a:t>
            </a:r>
            <a:endParaRPr lang="en-US" altLang="en-GB"/>
          </a:p>
          <a:p>
            <a:r>
              <a:rPr lang="en-US" altLang="en-GB"/>
              <a:t>The image size becomes smaller while learned features become richer.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Convolution Operation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Convolution applies filters to identify patterns such as:</a:t>
            </a:r>
            <a:endParaRPr lang="en-US" altLang="en-GB"/>
          </a:p>
          <a:p>
            <a:pPr lvl="1"/>
            <a:r>
              <a:rPr lang="en-US" altLang="en-GB"/>
              <a:t>Edges</a:t>
            </a:r>
            <a:endParaRPr lang="en-US" altLang="en-GB"/>
          </a:p>
          <a:p>
            <a:pPr lvl="1"/>
            <a:r>
              <a:rPr lang="en-US" altLang="en-GB"/>
              <a:t>Corners</a:t>
            </a:r>
            <a:endParaRPr lang="en-US" altLang="en-GB"/>
          </a:p>
          <a:p>
            <a:pPr lvl="1"/>
            <a:r>
              <a:rPr lang="en-US" altLang="en-GB"/>
              <a:t>Textures</a:t>
            </a:r>
            <a:endParaRPr lang="en-US" altLang="en-GB"/>
          </a:p>
          <a:p>
            <a:pPr lvl="1"/>
            <a:r>
              <a:rPr lang="en-US" altLang="en-GB"/>
              <a:t>Shapes</a:t>
            </a:r>
            <a:endParaRPr lang="en-US" altLang="en-GB"/>
          </a:p>
          <a:p>
            <a:r>
              <a:rPr lang="en-US" altLang="en-GB"/>
              <a:t>Early layers detect simple patterns, while deeper layers identify complex structures like organs or roads.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Activation Function (ReLU)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After convolution, U-Net commonly uses the ReLU activation function.</a:t>
            </a:r>
            <a:endParaRPr lang="en-US" altLang="en-GB"/>
          </a:p>
          <a:p>
            <a:r>
              <a:rPr lang="en-US" altLang="en-GB"/>
              <a:t>Purpose of ReLU:</a:t>
            </a:r>
            <a:endParaRPr lang="en-US" altLang="en-GB"/>
          </a:p>
          <a:p>
            <a:pPr lvl="1"/>
            <a:r>
              <a:rPr lang="en-US" altLang="en-GB"/>
              <a:t>Introduces non-linearity</a:t>
            </a:r>
            <a:endParaRPr lang="en-US" altLang="en-GB"/>
          </a:p>
          <a:p>
            <a:pPr lvl="1"/>
            <a:r>
              <a:rPr lang="en-US" altLang="en-GB"/>
              <a:t>Helps learn complex relationships</a:t>
            </a:r>
            <a:endParaRPr lang="en-US" altLang="en-GB"/>
          </a:p>
          <a:p>
            <a:pPr lvl="1"/>
            <a:r>
              <a:rPr lang="en-US" altLang="en-GB"/>
              <a:t>Improves training performance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Pooling Layer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Pooling reduces image dimensions while keeping important information.</a:t>
            </a:r>
            <a:endParaRPr lang="en-US" altLang="en-GB"/>
          </a:p>
          <a:p>
            <a:pPr lvl="1"/>
            <a:r>
              <a:rPr lang="en-US" altLang="en-GB"/>
              <a:t>Example: 256 </a:t>
            </a:r>
            <a:r>
              <a:rPr lang="en-US" altLang="en-US"/>
              <a:t>×</a:t>
            </a:r>
            <a:r>
              <a:rPr lang="en-US" altLang="en-GB"/>
              <a:t> 256 </a:t>
            </a:r>
            <a:r>
              <a:rPr lang="en-US" altLang="en-US"/>
              <a:t>→</a:t>
            </a:r>
            <a:r>
              <a:rPr lang="en-US" altLang="en-GB"/>
              <a:t> 128 </a:t>
            </a:r>
            <a:r>
              <a:rPr lang="en-US" altLang="en-US"/>
              <a:t>×</a:t>
            </a:r>
            <a:r>
              <a:rPr lang="en-US" altLang="en-GB"/>
              <a:t> 128</a:t>
            </a:r>
            <a:endParaRPr lang="en-US" altLang="en-GB"/>
          </a:p>
          <a:p>
            <a:r>
              <a:rPr lang="en-US" altLang="en-GB"/>
              <a:t>Benefits:</a:t>
            </a:r>
            <a:endParaRPr lang="en-US" altLang="en-GB"/>
          </a:p>
          <a:p>
            <a:pPr lvl="1"/>
            <a:r>
              <a:rPr lang="en-US" altLang="en-GB"/>
              <a:t>Reduces computation</a:t>
            </a:r>
            <a:endParaRPr lang="en-US" altLang="en-GB"/>
          </a:p>
          <a:p>
            <a:pPr lvl="1"/>
            <a:r>
              <a:rPr lang="en-US" altLang="en-GB"/>
              <a:t>Removes unnecessary details</a:t>
            </a:r>
            <a:endParaRPr lang="en-US" altLang="en-GB"/>
          </a:p>
          <a:p>
            <a:pPr lvl="1"/>
            <a:r>
              <a:rPr lang="en-US" altLang="en-GB"/>
              <a:t>Focuses on important features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Feature Learning in Encoder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As depth increases:</a:t>
            </a:r>
            <a:endParaRPr lang="en-US" altLang="en-GB"/>
          </a:p>
          <a:p>
            <a:pPr lvl="1"/>
            <a:r>
              <a:rPr lang="en-US" altLang="en-GB"/>
              <a:t>Initial layers </a:t>
            </a:r>
            <a:r>
              <a:rPr lang="en-US" altLang="en-US"/>
              <a:t>→</a:t>
            </a:r>
            <a:r>
              <a:rPr lang="en-US" altLang="en-GB"/>
              <a:t> detect edges and textures</a:t>
            </a:r>
            <a:endParaRPr lang="en-US" altLang="en-GB"/>
          </a:p>
          <a:p>
            <a:pPr lvl="1"/>
            <a:r>
              <a:rPr lang="en-US" altLang="en-GB"/>
              <a:t>Middle layers </a:t>
            </a:r>
            <a:r>
              <a:rPr lang="en-US" altLang="en-US"/>
              <a:t>→</a:t>
            </a:r>
            <a:r>
              <a:rPr lang="en-US" altLang="en-GB"/>
              <a:t> identify shapes</a:t>
            </a:r>
            <a:endParaRPr lang="en-US" altLang="en-GB"/>
          </a:p>
          <a:p>
            <a:pPr lvl="1"/>
            <a:r>
              <a:rPr lang="en-US" altLang="en-GB"/>
              <a:t>Deep layers </a:t>
            </a:r>
            <a:r>
              <a:rPr lang="en-US" altLang="en-US"/>
              <a:t>→</a:t>
            </a:r>
            <a:r>
              <a:rPr lang="en-US" altLang="en-GB"/>
              <a:t> understand complete objects</a:t>
            </a:r>
            <a:endParaRPr lang="en-US" altLang="en-GB"/>
          </a:p>
          <a:p>
            <a:r>
              <a:rPr lang="en-US" altLang="en-GB"/>
              <a:t>This hierarchical learning helps the model understand images effectively.</a:t>
            </a: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Bottleneck Layer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The bottleneck is the center of U-Net where the image representation becomes highly compressed.</a:t>
            </a:r>
            <a:endParaRPr lang="en-US" altLang="en-GB"/>
          </a:p>
          <a:p>
            <a:r>
              <a:rPr lang="en-US" altLang="en-GB"/>
              <a:t>At this stage:</a:t>
            </a:r>
            <a:endParaRPr lang="en-US" altLang="en-GB"/>
          </a:p>
          <a:p>
            <a:pPr lvl="1"/>
            <a:r>
              <a:rPr lang="en-US" altLang="en-GB"/>
              <a:t>Resolution is smallest</a:t>
            </a:r>
            <a:endParaRPr lang="en-US" altLang="en-GB"/>
          </a:p>
          <a:p>
            <a:pPr lvl="1"/>
            <a:r>
              <a:rPr lang="en-US" altLang="en-GB"/>
              <a:t>Features are highly informative</a:t>
            </a:r>
            <a:endParaRPr lang="en-US" altLang="en-GB"/>
          </a:p>
          <a:p>
            <a:pPr lvl="1"/>
            <a:r>
              <a:rPr lang="en-US" altLang="en-GB"/>
              <a:t>Semantic understanding becomes strongest</a:t>
            </a:r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Expanding Path (Decoder)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The decoder reconstructs the image to its original size.</a:t>
            </a:r>
            <a:endParaRPr lang="en-US" altLang="en-GB"/>
          </a:p>
          <a:p>
            <a:r>
              <a:rPr lang="en-US" altLang="en-GB"/>
              <a:t>Its goal is to create an accurate segmentation map by gradually increasing image resolution.</a:t>
            </a:r>
            <a:endParaRPr lang="en-US" altLang="en-GB"/>
          </a:p>
          <a:p>
            <a:pPr lvl="1"/>
            <a:r>
              <a:rPr lang="en-US" altLang="en-GB"/>
              <a:t>Example: 64 </a:t>
            </a:r>
            <a:r>
              <a:rPr lang="en-US" altLang="en-US"/>
              <a:t>×</a:t>
            </a:r>
            <a:r>
              <a:rPr lang="en-US" altLang="en-GB"/>
              <a:t> 64 </a:t>
            </a:r>
            <a:r>
              <a:rPr lang="en-US" altLang="en-US"/>
              <a:t>→</a:t>
            </a:r>
            <a:r>
              <a:rPr lang="en-US" altLang="en-GB"/>
              <a:t> 128 </a:t>
            </a:r>
            <a:r>
              <a:rPr lang="en-US" altLang="en-US"/>
              <a:t>×</a:t>
            </a:r>
            <a:r>
              <a:rPr lang="en-US" altLang="en-GB"/>
              <a:t> 128 </a:t>
            </a:r>
            <a:r>
              <a:rPr lang="en-US" altLang="en-US"/>
              <a:t>→</a:t>
            </a:r>
            <a:r>
              <a:rPr lang="en-US" altLang="en-GB"/>
              <a:t> 256 </a:t>
            </a:r>
            <a:r>
              <a:rPr lang="en-US" altLang="en-US"/>
              <a:t>×</a:t>
            </a:r>
            <a:r>
              <a:rPr lang="en-US" altLang="en-GB"/>
              <a:t> 256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Upsampling in U-Net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Upsampling increases image dimensions and restores lost information.</a:t>
            </a:r>
            <a:endParaRPr lang="en-US" altLang="en-GB"/>
          </a:p>
          <a:p>
            <a:r>
              <a:rPr lang="en-US" altLang="en-GB"/>
              <a:t>However, enlargement alone is insufficient because fine details may disappear during pooling.</a:t>
            </a:r>
            <a:endParaRPr lang="en-US" altLang="en-GB"/>
          </a:p>
          <a:p>
            <a:r>
              <a:rPr lang="en-US" altLang="en-GB"/>
              <a:t>This issue is solved using skip connections.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Skip Connections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Skip connections transfer feature information directly from encoder layers to decoder layers.</a:t>
            </a:r>
            <a:endParaRPr lang="en-US" altLang="en-GB"/>
          </a:p>
          <a:p>
            <a:r>
              <a:rPr lang="en-US" altLang="en-GB"/>
              <a:t>Their purpose is to preserve:</a:t>
            </a:r>
            <a:endParaRPr lang="en-US" altLang="en-GB"/>
          </a:p>
          <a:p>
            <a:pPr lvl="1"/>
            <a:r>
              <a:rPr lang="en-US" altLang="en-GB"/>
              <a:t>Fine boundaries</a:t>
            </a:r>
            <a:endParaRPr lang="en-US" altLang="en-GB"/>
          </a:p>
          <a:p>
            <a:pPr lvl="1"/>
            <a:r>
              <a:rPr lang="en-US" altLang="en-GB"/>
              <a:t>Object location</a:t>
            </a:r>
            <a:endParaRPr lang="en-US" altLang="en-GB"/>
          </a:p>
          <a:p>
            <a:pPr lvl="1"/>
            <a:r>
              <a:rPr lang="en-US" altLang="en-GB"/>
              <a:t>Small details</a:t>
            </a:r>
            <a:endParaRPr lang="en-US" altLang="en-GB"/>
          </a:p>
          <a:p>
            <a:r>
              <a:rPr lang="en-US" altLang="en-GB"/>
              <a:t>This is one of the most important innovations of U-Net.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Importance of Skip Connections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Without Skip Connections:</a:t>
            </a:r>
            <a:endParaRPr lang="en-US" altLang="en-GB"/>
          </a:p>
          <a:p>
            <a:pPr lvl="1"/>
            <a:r>
              <a:rPr lang="en-US" altLang="en-GB"/>
              <a:t>Blurry boundaries</a:t>
            </a:r>
            <a:endParaRPr lang="en-US" altLang="en-GB"/>
          </a:p>
          <a:p>
            <a:pPr lvl="1"/>
            <a:r>
              <a:rPr lang="en-US" altLang="en-GB"/>
              <a:t>Small objects disappear</a:t>
            </a:r>
            <a:endParaRPr lang="en-US" altLang="en-GB"/>
          </a:p>
          <a:p>
            <a:pPr lvl="1"/>
            <a:r>
              <a:rPr lang="en-US" altLang="en-GB"/>
              <a:t>Poor segmentation</a:t>
            </a:r>
            <a:endParaRPr lang="en-US" altLang="en-GB"/>
          </a:p>
          <a:p>
            <a:r>
              <a:rPr lang="en-US" altLang="en-GB"/>
              <a:t>With Skip Connections:</a:t>
            </a:r>
            <a:endParaRPr lang="en-US" altLang="en-GB"/>
          </a:p>
          <a:p>
            <a:pPr lvl="1"/>
            <a:r>
              <a:rPr lang="en-US" altLang="en-GB"/>
              <a:t>Sharp boundaries</a:t>
            </a:r>
            <a:endParaRPr lang="en-US" altLang="en-GB"/>
          </a:p>
          <a:p>
            <a:pPr lvl="1"/>
            <a:r>
              <a:rPr lang="en-US" altLang="en-GB"/>
              <a:t>Better localization</a:t>
            </a:r>
            <a:endParaRPr lang="en-US" altLang="en-GB"/>
          </a:p>
          <a:p>
            <a:pPr lvl="1"/>
            <a:r>
              <a:rPr lang="en-US" altLang="en-GB"/>
              <a:t>Higher accuracy</a:t>
            </a:r>
            <a:endParaRPr lang="en-US" alt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Working Process of U-Net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Input image enters encoder</a:t>
            </a:r>
            <a:endParaRPr lang="en-US" altLang="en-GB"/>
          </a:p>
          <a:p>
            <a:r>
              <a:rPr lang="en-US" altLang="en-GB"/>
              <a:t>Features are extracted</a:t>
            </a:r>
            <a:endParaRPr lang="en-US" altLang="en-GB"/>
          </a:p>
          <a:p>
            <a:r>
              <a:rPr lang="en-US" altLang="en-GB"/>
              <a:t>Pooling reduces dimensions</a:t>
            </a:r>
            <a:endParaRPr lang="en-US" altLang="en-GB"/>
          </a:p>
          <a:p>
            <a:r>
              <a:rPr lang="en-US" altLang="en-GB"/>
              <a:t>Bottleneck learns high-level information</a:t>
            </a:r>
            <a:endParaRPr lang="en-US" altLang="en-GB"/>
          </a:p>
          <a:p>
            <a:r>
              <a:rPr lang="en-US" altLang="en-GB"/>
              <a:t>Decoder upsamples image</a:t>
            </a:r>
            <a:endParaRPr lang="en-US" altLang="en-GB"/>
          </a:p>
          <a:p>
            <a:r>
              <a:rPr lang="en-US" altLang="en-GB"/>
              <a:t>Skip connections restore details</a:t>
            </a:r>
            <a:endParaRPr lang="en-US" altLang="en-GB"/>
          </a:p>
          <a:p>
            <a:r>
              <a:rPr lang="en-US" altLang="en-GB"/>
              <a:t>Final segmented mask is generated</a:t>
            </a:r>
            <a:endParaRPr lang="en-US" alt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Loss Functions in U-Net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Loss functions measure prediction error.</a:t>
            </a:r>
            <a:endParaRPr lang="en-US" altLang="en-GB"/>
          </a:p>
          <a:p>
            <a:r>
              <a:rPr lang="en-US" altLang="en-GB"/>
              <a:t>Commonly Used Loss Functions:</a:t>
            </a:r>
            <a:endParaRPr lang="en-US" altLang="en-GB"/>
          </a:p>
          <a:p>
            <a:pPr lvl="1"/>
            <a:r>
              <a:rPr lang="en-US" altLang="en-GB"/>
              <a:t>Cross-Entropy Loss</a:t>
            </a:r>
            <a:endParaRPr lang="en-US" altLang="en-GB"/>
          </a:p>
          <a:p>
            <a:pPr lvl="1"/>
            <a:r>
              <a:rPr lang="en-US" altLang="en-GB"/>
              <a:t>Dice Loss</a:t>
            </a:r>
            <a:endParaRPr lang="en-US" altLang="en-GB"/>
          </a:p>
          <a:p>
            <a:r>
              <a:rPr lang="en-US" altLang="en-GB"/>
              <a:t>Dice Loss is especially useful in medical image segmentation because it measures overlap accuracy.</a:t>
            </a:r>
            <a:endParaRPr lang="en-US" alt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Dice Coefficient Formula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Dice Coefficient:</a:t>
            </a:r>
            <a:endParaRPr lang="en-US" altLang="en-GB"/>
          </a:p>
          <a:p>
            <a:r>
              <a:rPr lang="en-US" altLang="en-GB"/>
              <a:t>Dice = 2(A ∩ B) / (A + B)</a:t>
            </a:r>
            <a:endParaRPr lang="en-US" altLang="en-GB"/>
          </a:p>
          <a:p>
            <a:r>
              <a:rPr lang="en-US" altLang="en-GB"/>
              <a:t>Where:</a:t>
            </a:r>
            <a:endParaRPr lang="en-US" altLang="en-GB"/>
          </a:p>
          <a:p>
            <a:r>
              <a:rPr lang="en-US" altLang="en-GB"/>
              <a:t>A = Predicted region</a:t>
            </a:r>
            <a:endParaRPr lang="en-US" altLang="en-GB"/>
          </a:p>
          <a:p>
            <a:r>
              <a:rPr lang="en-US" altLang="en-GB"/>
              <a:t>B = Actual region</a:t>
            </a:r>
            <a:endParaRPr lang="en-US" altLang="en-GB"/>
          </a:p>
          <a:p>
            <a:r>
              <a:rPr lang="en-US" altLang="en-GB"/>
              <a:t>Higher Dice Score = Better segmentation accuracy.</a:t>
            </a:r>
            <a:endParaRPr lang="en-US" alt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Advantages of U-Net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20" y="1894840"/>
            <a:ext cx="10515600" cy="4351338"/>
          </a:xfrm>
        </p:spPr>
        <p:txBody>
          <a:bodyPr>
            <a:normAutofit/>
          </a:bodyPr>
          <a:p>
            <a:r>
              <a:rPr lang="en-US" altLang="en-GB"/>
              <a:t>U-Net offers several benefits:</a:t>
            </a:r>
            <a:endParaRPr lang="en-US" altLang="en-GB"/>
          </a:p>
          <a:p>
            <a:pPr lvl="1"/>
            <a:r>
              <a:rPr lang="en-US" altLang="en-GB"/>
              <a:t>High segmentation accuracy</a:t>
            </a:r>
            <a:endParaRPr lang="en-US" altLang="en-GB"/>
          </a:p>
          <a:p>
            <a:pPr lvl="1"/>
            <a:r>
              <a:rPr lang="en-US" altLang="en-GB"/>
              <a:t>Works with small datasets</a:t>
            </a:r>
            <a:endParaRPr lang="en-US" altLang="en-GB"/>
          </a:p>
          <a:p>
            <a:pPr lvl="1"/>
            <a:r>
              <a:rPr lang="en-US" altLang="en-GB"/>
              <a:t>Excellent boundary detection</a:t>
            </a:r>
            <a:endParaRPr lang="en-US" altLang="en-GB"/>
          </a:p>
          <a:p>
            <a:pPr lvl="1"/>
            <a:r>
              <a:rPr lang="en-US" altLang="en-GB"/>
              <a:t>Strong localization performance</a:t>
            </a:r>
            <a:endParaRPr lang="en-US" altLang="en-GB"/>
          </a:p>
          <a:p>
            <a:pPr lvl="1"/>
            <a:r>
              <a:rPr lang="en-US" altLang="en-GB"/>
              <a:t>Widely used in medical imaging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4354</Words>
  <Application>WPS Presentation</Application>
  <PresentationFormat>Widescreen</PresentationFormat>
  <Paragraphs>154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U-NET, SEGNET, MASK-RCNN</vt:lpstr>
      <vt:lpstr>Image segmentation</vt:lpstr>
      <vt:lpstr>What is U-Net?</vt:lpstr>
      <vt:lpstr>Why is U-Net Important?</vt:lpstr>
      <vt:lpstr>Why is it Called U-Net?</vt:lpstr>
      <vt:lpstr>PowerPoint 演示文稿</vt:lpstr>
      <vt:lpstr>PowerPoint 演示文稿</vt:lpstr>
      <vt:lpstr>Main Components of U-Net</vt:lpstr>
      <vt:lpstr>Contracting Path (Encoder)</vt:lpstr>
      <vt:lpstr>Convolution Operation</vt:lpstr>
      <vt:lpstr>Activation Function (ReLU)</vt:lpstr>
      <vt:lpstr>Pooling Layer</vt:lpstr>
      <vt:lpstr>Feature Learning in Encoder</vt:lpstr>
      <vt:lpstr>Bottleneck Layer</vt:lpstr>
      <vt:lpstr>Expanding Path (Decoder)</vt:lpstr>
      <vt:lpstr>Upsampling in U-Net</vt:lpstr>
      <vt:lpstr>Skip Connections</vt:lpstr>
      <vt:lpstr>Importance of Skip Connections</vt:lpstr>
      <vt:lpstr>Working Process of U-Net</vt:lpstr>
      <vt:lpstr>Loss Functions in U-Net</vt:lpstr>
      <vt:lpstr>Dice Coefficient Formula</vt:lpstr>
      <vt:lpstr>Advantages of U-Net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Administrator</dc:creator>
  <cp:lastModifiedBy>saher nawaz</cp:lastModifiedBy>
  <cp:revision>28</cp:revision>
  <dcterms:created xsi:type="dcterms:W3CDTF">2025-07-23T00:59:00Z</dcterms:created>
  <dcterms:modified xsi:type="dcterms:W3CDTF">2026-05-17T14:52:17Z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15F2FF1390764A31BB968C46450EC1E6_11</vt:lpwstr>
  </property>
  <property fmtid="{D5CDD505-2E9C-101B-9397-08002B2CF9AE}" pid="3" name="KSOProductBuildVer">
    <vt:lpwstr>2057-12.2.0.23202</vt:lpwstr>
  </property>
</Properties>
</file>