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9/26/2024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9/26/2024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9/26/2024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9/26/2024</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9/26/2024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smtClean="0"/>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9/26/2024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9/26/2024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9/26/2024</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9/26/2024</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9/26/2024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9/26/2024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9/26/2024</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Regular </a:t>
            </a:r>
            <a:r>
              <a:rPr lang="en-US" b="1" dirty="0" smtClean="0"/>
              <a:t>Expression</a:t>
            </a:r>
            <a:endParaRPr lang="en-US"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8065" y="386306"/>
            <a:ext cx="2875870" cy="1651391"/>
          </a:xfrm>
          <a:prstGeom prst="rect">
            <a:avLst/>
          </a:prstGeom>
        </p:spPr>
      </p:pic>
    </p:spTree>
    <p:extLst>
      <p:ext uri="{BB962C8B-B14F-4D97-AF65-F5344CB8AC3E}">
        <p14:creationId xmlns:p14="http://schemas.microsoft.com/office/powerpoint/2010/main" val="33464149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Regular </a:t>
            </a:r>
            <a:r>
              <a:rPr lang="en-US" b="1" dirty="0" smtClean="0"/>
              <a:t>Expression</a:t>
            </a:r>
            <a:endParaRPr lang="en-US" b="1" dirty="0"/>
          </a:p>
        </p:txBody>
      </p:sp>
      <p:sp>
        <p:nvSpPr>
          <p:cNvPr id="3" name="Content Placeholder 2"/>
          <p:cNvSpPr>
            <a:spLocks noGrp="1"/>
          </p:cNvSpPr>
          <p:nvPr>
            <p:ph idx="1"/>
          </p:nvPr>
        </p:nvSpPr>
        <p:spPr>
          <a:xfrm>
            <a:off x="916577" y="2533540"/>
            <a:ext cx="10358846" cy="4324459"/>
          </a:xfrm>
        </p:spPr>
        <p:txBody>
          <a:bodyPr>
            <a:noAutofit/>
          </a:bodyPr>
          <a:lstStyle/>
          <a:p>
            <a:pPr algn="just"/>
            <a:r>
              <a:rPr lang="en-US" sz="2000" dirty="0"/>
              <a:t>The language accepted by finite automata can be easily described by simple expressions called Regular Expressions. It is the most effective way to represent any language.</a:t>
            </a:r>
          </a:p>
          <a:p>
            <a:pPr algn="just"/>
            <a:r>
              <a:rPr lang="en-US" sz="2000" dirty="0"/>
              <a:t>The languages accepted by some regular expression are referred to as Regular languages.</a:t>
            </a:r>
          </a:p>
          <a:p>
            <a:pPr algn="just"/>
            <a:r>
              <a:rPr lang="en-US" sz="2000" dirty="0"/>
              <a:t>A regular expression can also be described as a sequence of pattern that defines a string.</a:t>
            </a:r>
          </a:p>
          <a:p>
            <a:pPr algn="just"/>
            <a:r>
              <a:rPr lang="en-US" sz="2000" dirty="0"/>
              <a:t>Regular expressions are used to match character combinations in strings. String searching algorithm used this pattern to find the </a:t>
            </a:r>
            <a:r>
              <a:rPr lang="en-US" sz="2000" dirty="0" smtClean="0"/>
              <a:t>operations </a:t>
            </a:r>
            <a:r>
              <a:rPr lang="en-US" sz="2000" dirty="0"/>
              <a:t>on a string</a:t>
            </a:r>
            <a:r>
              <a:rPr lang="en-US" sz="2000" dirty="0" smtClean="0"/>
              <a:t>.</a:t>
            </a:r>
          </a:p>
          <a:p>
            <a:pPr marL="0" indent="0" algn="just">
              <a:buNone/>
            </a:pPr>
            <a:r>
              <a:rPr lang="en-US" sz="2000" b="1" dirty="0"/>
              <a:t>For instance:</a:t>
            </a:r>
            <a:endParaRPr lang="en-US" sz="2000" dirty="0"/>
          </a:p>
          <a:p>
            <a:pPr algn="just"/>
            <a:r>
              <a:rPr lang="en-US" sz="2000" dirty="0"/>
              <a:t>In a regular expression, x* means zero or more occurrence of x. It can generate {e, x, xx, xxx, </a:t>
            </a:r>
            <a:r>
              <a:rPr lang="en-US" sz="2000" dirty="0" err="1"/>
              <a:t>xxxx</a:t>
            </a:r>
            <a:r>
              <a:rPr lang="en-US" sz="2000" dirty="0"/>
              <a:t>, .....}</a:t>
            </a:r>
          </a:p>
          <a:p>
            <a:pPr algn="just"/>
            <a:r>
              <a:rPr lang="en-US" sz="2000" dirty="0"/>
              <a:t>In a regular expression, x</a:t>
            </a:r>
            <a:r>
              <a:rPr lang="en-US" sz="2000" baseline="30000" dirty="0"/>
              <a:t>+</a:t>
            </a:r>
            <a:r>
              <a:rPr lang="en-US" sz="2000" dirty="0"/>
              <a:t> means one or more occurrence of x. It can generate {x, xx, xxx, </a:t>
            </a:r>
            <a:r>
              <a:rPr lang="en-US" sz="2000" dirty="0" err="1"/>
              <a:t>xxxx</a:t>
            </a:r>
            <a:r>
              <a:rPr lang="en-US" sz="2000" dirty="0"/>
              <a:t>, </a:t>
            </a:r>
            <a:r>
              <a:rPr lang="en-US" sz="2000" dirty="0" smtClean="0"/>
              <a:t>.....}</a:t>
            </a:r>
            <a:endParaRPr lang="en-US" sz="2000" dirty="0"/>
          </a:p>
        </p:txBody>
      </p:sp>
    </p:spTree>
    <p:extLst>
      <p:ext uri="{BB962C8B-B14F-4D97-AF65-F5344CB8AC3E}">
        <p14:creationId xmlns:p14="http://schemas.microsoft.com/office/powerpoint/2010/main" val="35475519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Operations on Regular </a:t>
            </a:r>
            <a:r>
              <a:rPr lang="en-US" b="1" dirty="0" smtClean="0"/>
              <a:t>Language</a:t>
            </a:r>
            <a:endParaRPr lang="en-US" b="1" dirty="0"/>
          </a:p>
        </p:txBody>
      </p:sp>
      <p:sp>
        <p:nvSpPr>
          <p:cNvPr id="3" name="Content Placeholder 2"/>
          <p:cNvSpPr>
            <a:spLocks noGrp="1"/>
          </p:cNvSpPr>
          <p:nvPr>
            <p:ph idx="1"/>
          </p:nvPr>
        </p:nvSpPr>
        <p:spPr>
          <a:xfrm>
            <a:off x="783771" y="2638044"/>
            <a:ext cx="10698480" cy="4219956"/>
          </a:xfrm>
        </p:spPr>
        <p:txBody>
          <a:bodyPr>
            <a:noAutofit/>
          </a:bodyPr>
          <a:lstStyle/>
          <a:p>
            <a:pPr algn="just"/>
            <a:r>
              <a:rPr lang="en-US" sz="2200" dirty="0"/>
              <a:t>The various operations on regular language are:</a:t>
            </a:r>
          </a:p>
          <a:p>
            <a:pPr marL="457200" indent="-457200" algn="just">
              <a:buFont typeface="+mj-lt"/>
              <a:buAutoNum type="arabicPeriod"/>
            </a:pPr>
            <a:r>
              <a:rPr lang="en-US" sz="2200" b="1" dirty="0"/>
              <a:t>Union:</a:t>
            </a:r>
            <a:r>
              <a:rPr lang="en-US" sz="2200" dirty="0"/>
              <a:t> If L and M are two regular languages then their union L U M is also a union.</a:t>
            </a:r>
          </a:p>
          <a:p>
            <a:pPr marL="0" indent="0" algn="ctr">
              <a:buNone/>
            </a:pPr>
            <a:r>
              <a:rPr lang="en-US" sz="2200" dirty="0" smtClean="0"/>
              <a:t>L</a:t>
            </a:r>
            <a:r>
              <a:rPr lang="en-US" sz="2200" dirty="0"/>
              <a:t> U M = {s | s is in L or s is in </a:t>
            </a:r>
            <a:r>
              <a:rPr lang="en-US" sz="2200" dirty="0" smtClean="0"/>
              <a:t>M}</a:t>
            </a:r>
          </a:p>
          <a:p>
            <a:pPr marL="457200" indent="-457200" algn="just">
              <a:buFont typeface="+mj-lt"/>
              <a:buAutoNum type="arabicPeriod" startAt="2"/>
            </a:pPr>
            <a:r>
              <a:rPr lang="en-US" sz="2200" b="1" dirty="0" smtClean="0"/>
              <a:t>Intersection:</a:t>
            </a:r>
            <a:r>
              <a:rPr lang="en-US" sz="2200" dirty="0" smtClean="0"/>
              <a:t> If L and M are two regular languages then their intersection is also an intersection.</a:t>
            </a:r>
          </a:p>
          <a:p>
            <a:pPr marL="0" indent="0" algn="ctr">
              <a:buNone/>
            </a:pPr>
            <a:r>
              <a:rPr lang="en-US" sz="2200" dirty="0" smtClean="0"/>
              <a:t>L</a:t>
            </a:r>
            <a:r>
              <a:rPr lang="en-US" sz="2200" dirty="0"/>
              <a:t> ⋂ M = {</a:t>
            </a:r>
            <a:r>
              <a:rPr lang="en-US" sz="2200" dirty="0" err="1"/>
              <a:t>st</a:t>
            </a:r>
            <a:r>
              <a:rPr lang="en-US" sz="2200" dirty="0"/>
              <a:t> | s is in L and t is in M}  </a:t>
            </a:r>
          </a:p>
          <a:p>
            <a:pPr marL="457200" indent="-457200" algn="just">
              <a:buFont typeface="+mj-lt"/>
              <a:buAutoNum type="arabicPeriod" startAt="3"/>
            </a:pPr>
            <a:r>
              <a:rPr lang="en-US" sz="2200" b="1" dirty="0" err="1"/>
              <a:t>Kleen</a:t>
            </a:r>
            <a:r>
              <a:rPr lang="en-US" sz="2200" b="1" dirty="0"/>
              <a:t> closure:</a:t>
            </a:r>
            <a:r>
              <a:rPr lang="en-US" sz="2200" dirty="0"/>
              <a:t> If L is a regular language then its </a:t>
            </a:r>
            <a:r>
              <a:rPr lang="en-US" sz="2200" dirty="0" err="1"/>
              <a:t>Kleen</a:t>
            </a:r>
            <a:r>
              <a:rPr lang="en-US" sz="2200" dirty="0"/>
              <a:t> closure L1* will also be a regular language</a:t>
            </a:r>
            <a:r>
              <a:rPr lang="en-US" sz="2200" dirty="0" smtClean="0"/>
              <a:t>.</a:t>
            </a:r>
          </a:p>
          <a:p>
            <a:pPr marL="0" indent="0" algn="ctr">
              <a:buNone/>
            </a:pPr>
            <a:r>
              <a:rPr lang="en-US" sz="2200" dirty="0" smtClean="0"/>
              <a:t>L</a:t>
            </a:r>
            <a:r>
              <a:rPr lang="en-US" sz="2200" dirty="0"/>
              <a:t>* = Zero or more occurrence of language L.</a:t>
            </a:r>
          </a:p>
        </p:txBody>
      </p:sp>
    </p:spTree>
    <p:extLst>
      <p:ext uri="{BB962C8B-B14F-4D97-AF65-F5344CB8AC3E}">
        <p14:creationId xmlns:p14="http://schemas.microsoft.com/office/powerpoint/2010/main" val="156038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1</a:t>
            </a:r>
            <a:r>
              <a:rPr lang="en-US" b="1" dirty="0" smtClean="0"/>
              <a:t>:</a:t>
            </a:r>
            <a:endParaRPr lang="en-US" b="1" dirty="0"/>
          </a:p>
        </p:txBody>
      </p:sp>
      <p:sp>
        <p:nvSpPr>
          <p:cNvPr id="3" name="Content Placeholder 2"/>
          <p:cNvSpPr>
            <a:spLocks noGrp="1"/>
          </p:cNvSpPr>
          <p:nvPr>
            <p:ph idx="1"/>
          </p:nvPr>
        </p:nvSpPr>
        <p:spPr>
          <a:xfrm>
            <a:off x="927463" y="2638044"/>
            <a:ext cx="10202091" cy="4219956"/>
          </a:xfrm>
        </p:spPr>
        <p:txBody>
          <a:bodyPr>
            <a:normAutofit/>
          </a:bodyPr>
          <a:lstStyle/>
          <a:p>
            <a:pPr algn="just"/>
            <a:r>
              <a:rPr lang="en-US" sz="2400" dirty="0"/>
              <a:t>Write the regular expression for the language accepting all combinations of a's, over the set ∑ = {a}</a:t>
            </a:r>
          </a:p>
          <a:p>
            <a:pPr marL="0" indent="0" algn="just">
              <a:buNone/>
            </a:pPr>
            <a:r>
              <a:rPr lang="en-US" sz="2400" b="1" dirty="0"/>
              <a:t>Solution:</a:t>
            </a:r>
            <a:endParaRPr lang="en-US" sz="2400" dirty="0"/>
          </a:p>
          <a:p>
            <a:pPr algn="just"/>
            <a:r>
              <a:rPr lang="en-US" sz="2400" dirty="0"/>
              <a:t>All combinations of a's means a may be zero, single, double and so on. If a is appearing zero times, that means a null string. That is we expect the set of {ε, a, aa, </a:t>
            </a:r>
            <a:r>
              <a:rPr lang="en-US" sz="2400" dirty="0" err="1"/>
              <a:t>aaa</a:t>
            </a:r>
            <a:r>
              <a:rPr lang="en-US" sz="2400" dirty="0"/>
              <a:t>, ....}. So we give a regular expression for this as:</a:t>
            </a:r>
          </a:p>
          <a:p>
            <a:pPr marL="0" indent="0" algn="ctr">
              <a:buNone/>
            </a:pPr>
            <a:r>
              <a:rPr lang="en-US" sz="2400" dirty="0"/>
              <a:t>R = a</a:t>
            </a:r>
            <a:r>
              <a:rPr lang="en-US" sz="2400" dirty="0" smtClean="0"/>
              <a:t>*</a:t>
            </a:r>
          </a:p>
          <a:p>
            <a:pPr algn="just"/>
            <a:r>
              <a:rPr lang="en-US" sz="2400" dirty="0"/>
              <a:t>That is </a:t>
            </a:r>
            <a:r>
              <a:rPr lang="en-US" sz="2400" dirty="0" err="1"/>
              <a:t>Kleen</a:t>
            </a:r>
            <a:r>
              <a:rPr lang="en-US" sz="2400" dirty="0"/>
              <a:t> closure of a.</a:t>
            </a:r>
          </a:p>
        </p:txBody>
      </p:sp>
    </p:spTree>
    <p:extLst>
      <p:ext uri="{BB962C8B-B14F-4D97-AF65-F5344CB8AC3E}">
        <p14:creationId xmlns:p14="http://schemas.microsoft.com/office/powerpoint/2010/main" val="3613737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2:</a:t>
            </a:r>
          </a:p>
        </p:txBody>
      </p:sp>
      <p:sp>
        <p:nvSpPr>
          <p:cNvPr id="3" name="Content Placeholder 2"/>
          <p:cNvSpPr>
            <a:spLocks noGrp="1"/>
          </p:cNvSpPr>
          <p:nvPr>
            <p:ph idx="1"/>
          </p:nvPr>
        </p:nvSpPr>
        <p:spPr>
          <a:xfrm>
            <a:off x="796834" y="2638044"/>
            <a:ext cx="10789920" cy="4219956"/>
          </a:xfrm>
        </p:spPr>
        <p:txBody>
          <a:bodyPr>
            <a:normAutofit/>
          </a:bodyPr>
          <a:lstStyle/>
          <a:p>
            <a:pPr algn="just"/>
            <a:r>
              <a:rPr lang="en-US" sz="2400" dirty="0"/>
              <a:t>Write the regular expression for the language accepting all combinations of a's except the null string, over the set ∑ = {a}</a:t>
            </a:r>
          </a:p>
          <a:p>
            <a:pPr marL="0" indent="0" algn="just">
              <a:buNone/>
            </a:pPr>
            <a:r>
              <a:rPr lang="en-US" sz="2400" b="1" dirty="0"/>
              <a:t>Solution:</a:t>
            </a:r>
            <a:endParaRPr lang="en-US" sz="2400" dirty="0"/>
          </a:p>
          <a:p>
            <a:pPr algn="just"/>
            <a:r>
              <a:rPr lang="en-US" sz="2400" dirty="0"/>
              <a:t>The regular expression has to be built for the language</a:t>
            </a:r>
          </a:p>
          <a:p>
            <a:pPr marL="0" indent="0" algn="ctr">
              <a:buNone/>
            </a:pPr>
            <a:r>
              <a:rPr lang="en-US" sz="2400" dirty="0"/>
              <a:t>L = {a, aa, </a:t>
            </a:r>
            <a:r>
              <a:rPr lang="en-US" sz="2400" dirty="0" err="1"/>
              <a:t>aaa</a:t>
            </a:r>
            <a:r>
              <a:rPr lang="en-US" sz="2400" dirty="0"/>
              <a:t>, </a:t>
            </a:r>
            <a:r>
              <a:rPr lang="en-US" sz="2400" dirty="0" smtClean="0"/>
              <a:t>....}</a:t>
            </a:r>
          </a:p>
          <a:p>
            <a:pPr algn="just"/>
            <a:r>
              <a:rPr lang="en-US" sz="2400" dirty="0"/>
              <a:t>This set indicates that there is no null string. So we can denote regular expression as</a:t>
            </a:r>
            <a:r>
              <a:rPr lang="en-US" sz="2400" dirty="0" smtClean="0"/>
              <a:t>:</a:t>
            </a:r>
          </a:p>
        </p:txBody>
      </p:sp>
      <p:sp>
        <p:nvSpPr>
          <p:cNvPr id="5" name="Rectangle 2"/>
          <p:cNvSpPr>
            <a:spLocks noChangeArrowheads="1"/>
          </p:cNvSpPr>
          <p:nvPr/>
        </p:nvSpPr>
        <p:spPr bwMode="auto">
          <a:xfrm>
            <a:off x="6096000" y="5792692"/>
            <a:ext cx="2939143" cy="459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872" tIns="44436" rIns="91440" bIns="44436"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333333"/>
                </a:solidFill>
                <a:effectLst/>
                <a:latin typeface="Arial Unicode MS"/>
              </a:rPr>
              <a:t>R = a</a:t>
            </a:r>
            <a:r>
              <a:rPr kumimoji="0" lang="en-US" altLang="en-US" sz="2400" b="0" i="0" u="none" strike="noStrike" cap="none" normalizeH="0" baseline="30000" dirty="0" smtClean="0">
                <a:ln>
                  <a:noFill/>
                </a:ln>
                <a:solidFill>
                  <a:srgbClr val="333333"/>
                </a:solidFill>
                <a:effectLst/>
                <a:latin typeface="Arial Unicode MS"/>
              </a:rPr>
              <a:t>+</a:t>
            </a:r>
            <a:r>
              <a:rPr kumimoji="0" lang="en-US" altLang="en-US" sz="2400" b="0" i="0" u="none" strike="noStrike" cap="none" normalizeH="0" baseline="0" dirty="0" smtClean="0">
                <a:ln>
                  <a:noFill/>
                </a:ln>
                <a:solidFill>
                  <a:schemeClr val="tx1"/>
                </a:solidFill>
                <a:effectLst/>
              </a:rPr>
              <a:t> </a:t>
            </a:r>
            <a:endParaRPr kumimoji="0" lang="en-US" altLang="en-US" sz="2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03881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3</a:t>
            </a:r>
            <a:r>
              <a:rPr lang="en-US" b="1" dirty="0" smtClean="0"/>
              <a:t>:</a:t>
            </a:r>
            <a:endParaRPr lang="en-US" b="1" dirty="0"/>
          </a:p>
        </p:txBody>
      </p:sp>
      <p:sp>
        <p:nvSpPr>
          <p:cNvPr id="3" name="Content Placeholder 2"/>
          <p:cNvSpPr>
            <a:spLocks noGrp="1"/>
          </p:cNvSpPr>
          <p:nvPr>
            <p:ph idx="1"/>
          </p:nvPr>
        </p:nvSpPr>
        <p:spPr>
          <a:xfrm>
            <a:off x="888273" y="2638044"/>
            <a:ext cx="10411097" cy="4219956"/>
          </a:xfrm>
        </p:spPr>
        <p:txBody>
          <a:bodyPr>
            <a:normAutofit/>
          </a:bodyPr>
          <a:lstStyle/>
          <a:p>
            <a:pPr algn="just"/>
            <a:r>
              <a:rPr lang="en-US" sz="2400" dirty="0"/>
              <a:t>Write the regular expression for the language accepting all the string containing any number of a's and b's.</a:t>
            </a:r>
          </a:p>
          <a:p>
            <a:pPr marL="0" indent="0" algn="just">
              <a:buNone/>
            </a:pPr>
            <a:r>
              <a:rPr lang="en-US" sz="2400" b="1" dirty="0"/>
              <a:t>Solution:</a:t>
            </a:r>
            <a:endParaRPr lang="en-US" sz="2400" dirty="0"/>
          </a:p>
          <a:p>
            <a:pPr algn="just"/>
            <a:r>
              <a:rPr lang="en-US" sz="2400" dirty="0"/>
              <a:t>The regular expression will be:</a:t>
            </a:r>
          </a:p>
          <a:p>
            <a:pPr marL="0" indent="0" algn="ctr">
              <a:buNone/>
            </a:pPr>
            <a:r>
              <a:rPr lang="en-US" sz="2400" dirty="0" err="1"/>
              <a:t>r.e</a:t>
            </a:r>
            <a:r>
              <a:rPr lang="en-US" sz="2400" dirty="0"/>
              <a:t>. = (a + b</a:t>
            </a:r>
            <a:r>
              <a:rPr lang="en-US" sz="2400" dirty="0" smtClean="0"/>
              <a:t>)*</a:t>
            </a:r>
          </a:p>
          <a:p>
            <a:pPr algn="just"/>
            <a:r>
              <a:rPr lang="en-US" sz="2400" dirty="0"/>
              <a:t>This will give the set as L = {ε, a, aa, b, bb, ab, </a:t>
            </a:r>
            <a:r>
              <a:rPr lang="en-US" sz="2400" dirty="0" err="1"/>
              <a:t>ba</a:t>
            </a:r>
            <a:r>
              <a:rPr lang="en-US" sz="2400" dirty="0"/>
              <a:t>, aba, </a:t>
            </a:r>
            <a:r>
              <a:rPr lang="en-US" sz="2400" dirty="0" err="1"/>
              <a:t>bab</a:t>
            </a:r>
            <a:r>
              <a:rPr lang="en-US" sz="2400" dirty="0"/>
              <a:t>, .....}, any combination of a and b.</a:t>
            </a:r>
          </a:p>
          <a:p>
            <a:pPr algn="just"/>
            <a:r>
              <a:rPr lang="en-US" sz="2400" dirty="0"/>
              <a:t>The (a + b)* shows any combination with a and b even a null string</a:t>
            </a:r>
            <a:r>
              <a:rPr lang="en-US" sz="2400" dirty="0" smtClean="0"/>
              <a:t>.</a:t>
            </a:r>
            <a:endParaRPr lang="en-US" sz="2400" dirty="0"/>
          </a:p>
        </p:txBody>
      </p:sp>
    </p:spTree>
    <p:extLst>
      <p:ext uri="{BB962C8B-B14F-4D97-AF65-F5344CB8AC3E}">
        <p14:creationId xmlns:p14="http://schemas.microsoft.com/office/powerpoint/2010/main" val="2075431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4</a:t>
            </a:r>
            <a:r>
              <a:rPr lang="en-US" b="1" dirty="0" smtClean="0"/>
              <a:t>:</a:t>
            </a:r>
            <a:endParaRPr lang="en-US" b="1" dirty="0"/>
          </a:p>
        </p:txBody>
      </p:sp>
      <p:sp>
        <p:nvSpPr>
          <p:cNvPr id="3" name="Content Placeholder 2"/>
          <p:cNvSpPr>
            <a:spLocks noGrp="1"/>
          </p:cNvSpPr>
          <p:nvPr>
            <p:ph idx="1"/>
          </p:nvPr>
        </p:nvSpPr>
        <p:spPr>
          <a:xfrm>
            <a:off x="692331" y="2638044"/>
            <a:ext cx="10450286" cy="4219956"/>
          </a:xfrm>
        </p:spPr>
        <p:txBody>
          <a:bodyPr>
            <a:normAutofit/>
          </a:bodyPr>
          <a:lstStyle/>
          <a:p>
            <a:r>
              <a:rPr lang="en-US" sz="2400" dirty="0"/>
              <a:t>Write the regular expression for the language accepting all the string which are starting with 1 and ending with 0, over ∑ = {0, 1}.</a:t>
            </a:r>
          </a:p>
          <a:p>
            <a:pPr marL="0" indent="0">
              <a:buNone/>
            </a:pPr>
            <a:r>
              <a:rPr lang="en-US" sz="2400" b="1" dirty="0"/>
              <a:t>Solution:</a:t>
            </a:r>
            <a:endParaRPr lang="en-US" sz="2400" dirty="0"/>
          </a:p>
          <a:p>
            <a:r>
              <a:rPr lang="en-US" sz="2400" dirty="0"/>
              <a:t>In a regular expression, the first symbol should be 1, and the last symbol should be 0. The </a:t>
            </a:r>
            <a:r>
              <a:rPr lang="en-US" sz="2400" dirty="0" err="1"/>
              <a:t>r.e</a:t>
            </a:r>
            <a:r>
              <a:rPr lang="en-US" sz="2400" dirty="0"/>
              <a:t>. is as follows:</a:t>
            </a:r>
          </a:p>
          <a:p>
            <a:pPr marL="0" indent="0" algn="ctr">
              <a:buNone/>
            </a:pPr>
            <a:r>
              <a:rPr lang="en-US" sz="2400" dirty="0"/>
              <a:t>R = 1 (0+1)* 0</a:t>
            </a:r>
          </a:p>
        </p:txBody>
      </p:sp>
    </p:spTree>
    <p:extLst>
      <p:ext uri="{BB962C8B-B14F-4D97-AF65-F5344CB8AC3E}">
        <p14:creationId xmlns:p14="http://schemas.microsoft.com/office/powerpoint/2010/main" val="3612974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5</a:t>
            </a:r>
            <a:r>
              <a:rPr lang="en-US" b="1" dirty="0" smtClean="0"/>
              <a:t>:</a:t>
            </a:r>
            <a:endParaRPr lang="en-US" b="1" dirty="0"/>
          </a:p>
        </p:txBody>
      </p:sp>
      <p:sp>
        <p:nvSpPr>
          <p:cNvPr id="3" name="Content Placeholder 2"/>
          <p:cNvSpPr>
            <a:spLocks noGrp="1"/>
          </p:cNvSpPr>
          <p:nvPr>
            <p:ph idx="1"/>
          </p:nvPr>
        </p:nvSpPr>
        <p:spPr>
          <a:xfrm>
            <a:off x="757646" y="2638044"/>
            <a:ext cx="10554788" cy="4219956"/>
          </a:xfrm>
        </p:spPr>
        <p:txBody>
          <a:bodyPr>
            <a:normAutofit/>
          </a:bodyPr>
          <a:lstStyle/>
          <a:p>
            <a:pPr algn="just"/>
            <a:r>
              <a:rPr lang="en-US" sz="2400" dirty="0"/>
              <a:t>Write the regular expression for the language starting and ending with a and having any having any combination of b's in between.</a:t>
            </a:r>
          </a:p>
          <a:p>
            <a:pPr marL="0" indent="0" algn="just">
              <a:buNone/>
            </a:pPr>
            <a:r>
              <a:rPr lang="en-US" sz="2400" b="1" dirty="0"/>
              <a:t>Solution:</a:t>
            </a:r>
            <a:endParaRPr lang="en-US" sz="2400" dirty="0"/>
          </a:p>
          <a:p>
            <a:pPr algn="just"/>
            <a:r>
              <a:rPr lang="en-US" sz="2400" dirty="0"/>
              <a:t>The regular expression will be:</a:t>
            </a:r>
          </a:p>
          <a:p>
            <a:pPr marL="0" indent="0" algn="ctr">
              <a:buNone/>
            </a:pPr>
            <a:r>
              <a:rPr lang="en-US" sz="2400" dirty="0"/>
              <a:t>R = a b* b</a:t>
            </a:r>
          </a:p>
        </p:txBody>
      </p:sp>
    </p:spTree>
    <p:extLst>
      <p:ext uri="{BB962C8B-B14F-4D97-AF65-F5344CB8AC3E}">
        <p14:creationId xmlns:p14="http://schemas.microsoft.com/office/powerpoint/2010/main" val="2633210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6</a:t>
            </a:r>
            <a:r>
              <a:rPr lang="en-US" b="1" dirty="0" smtClean="0"/>
              <a:t>:</a:t>
            </a:r>
            <a:endParaRPr lang="en-US" b="1" dirty="0"/>
          </a:p>
        </p:txBody>
      </p:sp>
      <p:sp>
        <p:nvSpPr>
          <p:cNvPr id="3" name="Content Placeholder 2"/>
          <p:cNvSpPr>
            <a:spLocks noGrp="1"/>
          </p:cNvSpPr>
          <p:nvPr>
            <p:ph idx="1"/>
          </p:nvPr>
        </p:nvSpPr>
        <p:spPr>
          <a:xfrm>
            <a:off x="836023" y="2638044"/>
            <a:ext cx="10554788" cy="4219956"/>
          </a:xfrm>
        </p:spPr>
        <p:txBody>
          <a:bodyPr>
            <a:normAutofit/>
          </a:bodyPr>
          <a:lstStyle/>
          <a:p>
            <a:pPr algn="just"/>
            <a:r>
              <a:rPr lang="en-US" sz="2400" dirty="0"/>
              <a:t>Write the regular expression for the language starting with a but not having consecutive b's.</a:t>
            </a:r>
          </a:p>
          <a:p>
            <a:pPr marL="0" indent="0" algn="just">
              <a:buNone/>
            </a:pPr>
            <a:r>
              <a:rPr lang="en-US" sz="2400" b="1" dirty="0" smtClean="0"/>
              <a:t>Solution:</a:t>
            </a:r>
            <a:r>
              <a:rPr lang="en-US" sz="2400" b="1" dirty="0"/>
              <a:t> </a:t>
            </a:r>
            <a:r>
              <a:rPr lang="en-US" sz="2400" dirty="0"/>
              <a:t>The regular expression has to be built for the language:</a:t>
            </a:r>
          </a:p>
          <a:p>
            <a:pPr marL="0" indent="0" algn="ctr">
              <a:buNone/>
            </a:pPr>
            <a:r>
              <a:rPr lang="es-ES" sz="2400" dirty="0"/>
              <a:t>L = {a, aba, </a:t>
            </a:r>
            <a:r>
              <a:rPr lang="es-ES" sz="2400" dirty="0" err="1"/>
              <a:t>aab</a:t>
            </a:r>
            <a:r>
              <a:rPr lang="es-ES" sz="2400" dirty="0"/>
              <a:t>, aba, </a:t>
            </a:r>
            <a:r>
              <a:rPr lang="es-ES" sz="2400" dirty="0" err="1"/>
              <a:t>aaa</a:t>
            </a:r>
            <a:r>
              <a:rPr lang="es-ES" sz="2400" dirty="0"/>
              <a:t>, abab, </a:t>
            </a:r>
            <a:r>
              <a:rPr lang="es-ES" sz="2400" dirty="0" smtClean="0"/>
              <a:t>.....}</a:t>
            </a:r>
          </a:p>
          <a:p>
            <a:pPr algn="just"/>
            <a:r>
              <a:rPr lang="en-US" sz="2400" dirty="0"/>
              <a:t>The regular expression for the above language is</a:t>
            </a:r>
            <a:r>
              <a:rPr lang="en-US" sz="2400" dirty="0" smtClean="0"/>
              <a:t>:</a:t>
            </a:r>
          </a:p>
          <a:p>
            <a:pPr marL="0" indent="0" algn="ctr">
              <a:buNone/>
            </a:pPr>
            <a:r>
              <a:rPr lang="en-US" sz="2400" dirty="0"/>
              <a:t>R = {a + ab}*</a:t>
            </a:r>
          </a:p>
        </p:txBody>
      </p:sp>
    </p:spTree>
    <p:extLst>
      <p:ext uri="{BB962C8B-B14F-4D97-AF65-F5344CB8AC3E}">
        <p14:creationId xmlns:p14="http://schemas.microsoft.com/office/powerpoint/2010/main" val="870811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7</a:t>
            </a:r>
            <a:r>
              <a:rPr lang="en-US" b="1" dirty="0" smtClean="0"/>
              <a:t>:</a:t>
            </a:r>
            <a:endParaRPr lang="en-US" b="1" dirty="0"/>
          </a:p>
        </p:txBody>
      </p:sp>
      <p:sp>
        <p:nvSpPr>
          <p:cNvPr id="3" name="Content Placeholder 2"/>
          <p:cNvSpPr>
            <a:spLocks noGrp="1"/>
          </p:cNvSpPr>
          <p:nvPr>
            <p:ph idx="1"/>
          </p:nvPr>
        </p:nvSpPr>
        <p:spPr>
          <a:xfrm>
            <a:off x="757645" y="2638044"/>
            <a:ext cx="10528663" cy="4219956"/>
          </a:xfrm>
        </p:spPr>
        <p:txBody>
          <a:bodyPr>
            <a:normAutofit/>
          </a:bodyPr>
          <a:lstStyle/>
          <a:p>
            <a:pPr algn="just"/>
            <a:r>
              <a:rPr lang="en-US" sz="2400" dirty="0"/>
              <a:t>Write the regular expression for the language accepting all the string in which any number of a's is followed by any number of b's is followed by any number of c's.</a:t>
            </a:r>
          </a:p>
          <a:p>
            <a:pPr algn="just"/>
            <a:r>
              <a:rPr lang="en-US" sz="2400" b="1" dirty="0"/>
              <a:t>Solution:</a:t>
            </a:r>
            <a:r>
              <a:rPr lang="en-US" sz="2400" dirty="0"/>
              <a:t> As we know, any number of a's means a* any number of b's means b*, any number of c's means c*. Since as given in problem statement, b's appear after a's and c's appear after b's. So the regular expression could be:</a:t>
            </a:r>
          </a:p>
          <a:p>
            <a:pPr marL="0" indent="0" algn="ctr">
              <a:buNone/>
            </a:pPr>
            <a:r>
              <a:rPr lang="en-US" sz="2400" dirty="0"/>
              <a:t>R = a* b* c*</a:t>
            </a:r>
          </a:p>
        </p:txBody>
      </p:sp>
    </p:spTree>
    <p:extLst>
      <p:ext uri="{BB962C8B-B14F-4D97-AF65-F5344CB8AC3E}">
        <p14:creationId xmlns:p14="http://schemas.microsoft.com/office/powerpoint/2010/main" val="4270007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8</a:t>
            </a:r>
            <a:r>
              <a:rPr lang="en-US" b="1" dirty="0" smtClean="0"/>
              <a:t>:</a:t>
            </a:r>
            <a:endParaRPr lang="en-US" b="1" dirty="0"/>
          </a:p>
        </p:txBody>
      </p:sp>
      <p:sp>
        <p:nvSpPr>
          <p:cNvPr id="3" name="Content Placeholder 2"/>
          <p:cNvSpPr>
            <a:spLocks noGrp="1"/>
          </p:cNvSpPr>
          <p:nvPr>
            <p:ph idx="1"/>
          </p:nvPr>
        </p:nvSpPr>
        <p:spPr>
          <a:xfrm>
            <a:off x="862149" y="2638044"/>
            <a:ext cx="10280468" cy="4219956"/>
          </a:xfrm>
        </p:spPr>
        <p:txBody>
          <a:bodyPr>
            <a:normAutofit/>
          </a:bodyPr>
          <a:lstStyle/>
          <a:p>
            <a:pPr algn="just"/>
            <a:r>
              <a:rPr lang="en-US" sz="2400" dirty="0"/>
              <a:t>Write the regular expression for the language over ∑ = {0} having even length of the string.</a:t>
            </a:r>
          </a:p>
          <a:p>
            <a:pPr marL="0" indent="0" algn="just">
              <a:buNone/>
            </a:pPr>
            <a:r>
              <a:rPr lang="en-US" sz="2400" b="1" dirty="0"/>
              <a:t>Solution:</a:t>
            </a:r>
            <a:endParaRPr lang="en-US" sz="2400" dirty="0"/>
          </a:p>
          <a:p>
            <a:pPr algn="just"/>
            <a:r>
              <a:rPr lang="en-US" sz="2400" dirty="0"/>
              <a:t>The regular expression has to be built for the language:</a:t>
            </a:r>
          </a:p>
          <a:p>
            <a:pPr marL="0" indent="0" algn="ctr">
              <a:buNone/>
            </a:pPr>
            <a:r>
              <a:rPr lang="el-GR" sz="2400" dirty="0"/>
              <a:t>L = {ε, 00, 0000, 000000, </a:t>
            </a:r>
            <a:r>
              <a:rPr lang="el-GR" sz="2400" dirty="0" smtClean="0"/>
              <a:t>......}</a:t>
            </a:r>
            <a:endParaRPr lang="en-US" sz="2400" dirty="0" smtClean="0"/>
          </a:p>
          <a:p>
            <a:pPr algn="just"/>
            <a:r>
              <a:rPr lang="en-US" sz="2400" dirty="0"/>
              <a:t>The regular expression for the above language is</a:t>
            </a:r>
            <a:r>
              <a:rPr lang="en-US" sz="2400" dirty="0" smtClean="0"/>
              <a:t>:</a:t>
            </a:r>
          </a:p>
          <a:p>
            <a:pPr marL="0" indent="0" algn="ctr">
              <a:buNone/>
            </a:pPr>
            <a:r>
              <a:rPr lang="en-US" sz="2400" dirty="0"/>
              <a:t>R = (00)*</a:t>
            </a:r>
          </a:p>
        </p:txBody>
      </p:sp>
    </p:spTree>
    <p:extLst>
      <p:ext uri="{BB962C8B-B14F-4D97-AF65-F5344CB8AC3E}">
        <p14:creationId xmlns:p14="http://schemas.microsoft.com/office/powerpoint/2010/main" val="3934950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9</a:t>
            </a:r>
            <a:r>
              <a:rPr lang="en-US" b="1" dirty="0" smtClean="0"/>
              <a:t>:</a:t>
            </a:r>
            <a:endParaRPr lang="en-US" b="1" dirty="0"/>
          </a:p>
        </p:txBody>
      </p:sp>
      <p:sp>
        <p:nvSpPr>
          <p:cNvPr id="3" name="Content Placeholder 2"/>
          <p:cNvSpPr>
            <a:spLocks noGrp="1"/>
          </p:cNvSpPr>
          <p:nvPr>
            <p:ph idx="1"/>
          </p:nvPr>
        </p:nvSpPr>
        <p:spPr>
          <a:xfrm>
            <a:off x="992777" y="2638044"/>
            <a:ext cx="10254343" cy="4219956"/>
          </a:xfrm>
        </p:spPr>
        <p:txBody>
          <a:bodyPr>
            <a:normAutofit/>
          </a:bodyPr>
          <a:lstStyle/>
          <a:p>
            <a:pPr algn="just"/>
            <a:r>
              <a:rPr lang="en-US" sz="2400" dirty="0"/>
              <a:t>Write the regular expression for the language having a string which should have </a:t>
            </a:r>
            <a:r>
              <a:rPr lang="en-US" sz="2400" dirty="0" smtClean="0"/>
              <a:t>at least </a:t>
            </a:r>
            <a:r>
              <a:rPr lang="en-US" sz="2400" dirty="0"/>
              <a:t>one 0 and </a:t>
            </a:r>
            <a:r>
              <a:rPr lang="en-US" sz="2400" dirty="0" smtClean="0"/>
              <a:t>at least </a:t>
            </a:r>
            <a:r>
              <a:rPr lang="en-US" sz="2400" dirty="0"/>
              <a:t>one 1.</a:t>
            </a:r>
          </a:p>
          <a:p>
            <a:pPr marL="0" indent="0" algn="just">
              <a:buNone/>
            </a:pPr>
            <a:r>
              <a:rPr lang="en-US" sz="2400" b="1" dirty="0"/>
              <a:t>Solution:</a:t>
            </a:r>
            <a:endParaRPr lang="en-US" sz="2400" dirty="0"/>
          </a:p>
          <a:p>
            <a:pPr algn="just"/>
            <a:r>
              <a:rPr lang="en-US" sz="2400" dirty="0"/>
              <a:t>The regular expression will be:</a:t>
            </a:r>
          </a:p>
          <a:p>
            <a:pPr marL="0" indent="0" algn="ctr">
              <a:buNone/>
            </a:pPr>
            <a:r>
              <a:rPr lang="pt-BR" sz="2400" dirty="0"/>
              <a:t>R = [(0 + 1)* 0 (0 + 1)* 1 (0 + 1)*] + [(0 + 1)* 1 (0 + 1)* 0 (0 + 1)*]</a:t>
            </a:r>
            <a:endParaRPr lang="en-US" sz="2400" dirty="0"/>
          </a:p>
        </p:txBody>
      </p:sp>
    </p:spTree>
    <p:extLst>
      <p:ext uri="{BB962C8B-B14F-4D97-AF65-F5344CB8AC3E}">
        <p14:creationId xmlns:p14="http://schemas.microsoft.com/office/powerpoint/2010/main" val="3858851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 10:</a:t>
            </a:r>
            <a:endParaRPr lang="en-US" b="1" dirty="0"/>
          </a:p>
        </p:txBody>
      </p:sp>
      <p:sp>
        <p:nvSpPr>
          <p:cNvPr id="3" name="Content Placeholder 2"/>
          <p:cNvSpPr>
            <a:spLocks noGrp="1"/>
          </p:cNvSpPr>
          <p:nvPr>
            <p:ph idx="1"/>
          </p:nvPr>
        </p:nvSpPr>
        <p:spPr>
          <a:xfrm>
            <a:off x="809897" y="2638044"/>
            <a:ext cx="10384972" cy="4219956"/>
          </a:xfrm>
        </p:spPr>
        <p:txBody>
          <a:bodyPr>
            <a:normAutofit/>
          </a:bodyPr>
          <a:lstStyle/>
          <a:p>
            <a:pPr algn="just"/>
            <a:r>
              <a:rPr lang="en-US" sz="2400" dirty="0"/>
              <a:t>Describe the language denoted by following regular </a:t>
            </a:r>
            <a:r>
              <a:rPr lang="en-US" sz="2400" dirty="0" smtClean="0"/>
              <a:t>expression</a:t>
            </a:r>
          </a:p>
          <a:p>
            <a:pPr marL="0" indent="0" algn="ctr">
              <a:buNone/>
            </a:pPr>
            <a:r>
              <a:rPr lang="en-US" sz="2400" dirty="0" err="1"/>
              <a:t>r.e</a:t>
            </a:r>
            <a:r>
              <a:rPr lang="en-US" sz="2400" dirty="0"/>
              <a:t>. = (b* (</a:t>
            </a:r>
            <a:r>
              <a:rPr lang="en-US" sz="2400" dirty="0" err="1"/>
              <a:t>aaa</a:t>
            </a:r>
            <a:r>
              <a:rPr lang="en-US" sz="2400" dirty="0"/>
              <a:t>)* b</a:t>
            </a:r>
            <a:r>
              <a:rPr lang="en-US" sz="2400" dirty="0" smtClean="0"/>
              <a:t>*)*</a:t>
            </a:r>
          </a:p>
          <a:p>
            <a:pPr marL="0" indent="0" algn="just">
              <a:buNone/>
            </a:pPr>
            <a:r>
              <a:rPr lang="en-US" sz="2400" b="1" dirty="0"/>
              <a:t>Solution:</a:t>
            </a:r>
            <a:endParaRPr lang="en-US" sz="2400" dirty="0"/>
          </a:p>
          <a:p>
            <a:pPr algn="just"/>
            <a:r>
              <a:rPr lang="en-US" sz="2400" dirty="0"/>
              <a:t>The language can be predicted from the regular expression by finding the meaning of it. We will first split the regular expression as:</a:t>
            </a:r>
          </a:p>
          <a:p>
            <a:pPr algn="just"/>
            <a:r>
              <a:rPr lang="en-US" sz="2400" dirty="0" err="1"/>
              <a:t>r.e</a:t>
            </a:r>
            <a:r>
              <a:rPr lang="en-US" sz="2400" dirty="0"/>
              <a:t>. = (any combination of b's) (</a:t>
            </a:r>
            <a:r>
              <a:rPr lang="en-US" sz="2400" dirty="0" err="1"/>
              <a:t>aaa</a:t>
            </a:r>
            <a:r>
              <a:rPr lang="en-US" sz="2400" dirty="0"/>
              <a:t>)* (any combination of b's)</a:t>
            </a:r>
          </a:p>
          <a:p>
            <a:pPr algn="just"/>
            <a:r>
              <a:rPr lang="en-US" sz="2400" dirty="0"/>
              <a:t>L = {The language consists of the string in which a's appear triples, there is no restriction on the number of b's</a:t>
            </a:r>
            <a:r>
              <a:rPr lang="en-US" sz="2400" dirty="0" smtClean="0"/>
              <a:t>}</a:t>
            </a:r>
            <a:endParaRPr lang="en-US" sz="2400" dirty="0"/>
          </a:p>
        </p:txBody>
      </p:sp>
    </p:spTree>
    <p:extLst>
      <p:ext uri="{BB962C8B-B14F-4D97-AF65-F5344CB8AC3E}">
        <p14:creationId xmlns:p14="http://schemas.microsoft.com/office/powerpoint/2010/main" val="1277665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a:t>
            </a:r>
            <a:r>
              <a:rPr lang="en-US" b="1" dirty="0" smtClean="0"/>
              <a:t>11:</a:t>
            </a:r>
            <a:endParaRPr lang="en-US" b="1" dirty="0"/>
          </a:p>
        </p:txBody>
      </p:sp>
      <p:sp>
        <p:nvSpPr>
          <p:cNvPr id="3" name="Content Placeholder 2"/>
          <p:cNvSpPr>
            <a:spLocks noGrp="1"/>
          </p:cNvSpPr>
          <p:nvPr>
            <p:ph idx="1"/>
          </p:nvPr>
        </p:nvSpPr>
        <p:spPr>
          <a:xfrm>
            <a:off x="849085" y="2638044"/>
            <a:ext cx="10411097" cy="4219956"/>
          </a:xfrm>
        </p:spPr>
        <p:txBody>
          <a:bodyPr>
            <a:normAutofit/>
          </a:bodyPr>
          <a:lstStyle/>
          <a:p>
            <a:pPr algn="just"/>
            <a:r>
              <a:rPr lang="en-US" sz="2400" dirty="0"/>
              <a:t>Write the regular expression for the language L over ∑ = {0, 1} such that all the string do not contain the substring 01.</a:t>
            </a:r>
          </a:p>
          <a:p>
            <a:pPr marL="0" indent="0" algn="just">
              <a:buNone/>
            </a:pPr>
            <a:r>
              <a:rPr lang="en-US" sz="2400" b="1" dirty="0"/>
              <a:t>Solution:</a:t>
            </a:r>
            <a:endParaRPr lang="en-US" sz="2400" dirty="0"/>
          </a:p>
          <a:p>
            <a:pPr algn="just"/>
            <a:r>
              <a:rPr lang="en-US" sz="2400" dirty="0"/>
              <a:t>The Language is as follows:</a:t>
            </a:r>
          </a:p>
          <a:p>
            <a:pPr marL="0" indent="0" algn="ctr">
              <a:buNone/>
            </a:pPr>
            <a:r>
              <a:rPr lang="el-GR" sz="2400" dirty="0"/>
              <a:t>L = {ε, 0, 1, 00, 11, 10, 100, </a:t>
            </a:r>
            <a:r>
              <a:rPr lang="el-GR" sz="2400" dirty="0" smtClean="0"/>
              <a:t>.....}</a:t>
            </a:r>
            <a:endParaRPr lang="en-US" sz="2400" dirty="0" smtClean="0"/>
          </a:p>
          <a:p>
            <a:pPr algn="just"/>
            <a:r>
              <a:rPr lang="en-US" sz="2400" dirty="0"/>
              <a:t>The regular expression for the above language is as follows</a:t>
            </a:r>
            <a:r>
              <a:rPr lang="en-US" sz="2400" dirty="0" smtClean="0"/>
              <a:t>:</a:t>
            </a:r>
          </a:p>
          <a:p>
            <a:pPr marL="0" indent="0" algn="ctr">
              <a:buNone/>
            </a:pPr>
            <a:r>
              <a:rPr lang="en-US" sz="2400" dirty="0"/>
              <a:t>R = (1* 0*)</a:t>
            </a:r>
          </a:p>
        </p:txBody>
      </p:sp>
    </p:spTree>
    <p:extLst>
      <p:ext uri="{BB962C8B-B14F-4D97-AF65-F5344CB8AC3E}">
        <p14:creationId xmlns:p14="http://schemas.microsoft.com/office/powerpoint/2010/main" val="31035482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a:t>
            </a:r>
            <a:r>
              <a:rPr lang="en-US" b="1" dirty="0" smtClean="0"/>
              <a:t>12:</a:t>
            </a:r>
            <a:endParaRPr lang="en-US" b="1" dirty="0"/>
          </a:p>
        </p:txBody>
      </p:sp>
      <p:sp>
        <p:nvSpPr>
          <p:cNvPr id="3" name="Content Placeholder 2"/>
          <p:cNvSpPr>
            <a:spLocks noGrp="1"/>
          </p:cNvSpPr>
          <p:nvPr>
            <p:ph idx="1"/>
          </p:nvPr>
        </p:nvSpPr>
        <p:spPr>
          <a:xfrm>
            <a:off x="783771" y="2638044"/>
            <a:ext cx="10306595" cy="4219956"/>
          </a:xfrm>
        </p:spPr>
        <p:txBody>
          <a:bodyPr>
            <a:normAutofit/>
          </a:bodyPr>
          <a:lstStyle/>
          <a:p>
            <a:pPr algn="just"/>
            <a:r>
              <a:rPr lang="en-US" sz="2400" dirty="0"/>
              <a:t>Write the regular expression for the language containing the string over {0, 1} in which there are at least two occurrences of 1's between any two occurrences of 1's between any two occurrences of 0's.</a:t>
            </a:r>
          </a:p>
          <a:p>
            <a:pPr algn="just"/>
            <a:r>
              <a:rPr lang="en-US" sz="2400" b="1" dirty="0"/>
              <a:t>Solution:</a:t>
            </a:r>
            <a:r>
              <a:rPr lang="en-US" sz="2400" dirty="0"/>
              <a:t> At least two 1's between two occurrences of 0's can be denoted by (0111*0)*.</a:t>
            </a:r>
          </a:p>
          <a:p>
            <a:pPr algn="just"/>
            <a:r>
              <a:rPr lang="en-US" sz="2400" dirty="0"/>
              <a:t>Similarly, if there is no occurrence of 0's, then any number of 1's are also allowed. Hence the </a:t>
            </a:r>
            <a:r>
              <a:rPr lang="en-US" sz="2400" dirty="0" err="1"/>
              <a:t>r.e</a:t>
            </a:r>
            <a:r>
              <a:rPr lang="en-US" sz="2400" dirty="0"/>
              <a:t>. for required language is</a:t>
            </a:r>
            <a:r>
              <a:rPr lang="en-US" sz="2400" dirty="0" smtClean="0"/>
              <a:t>:</a:t>
            </a:r>
          </a:p>
          <a:p>
            <a:pPr marL="0" indent="0" algn="ctr">
              <a:buNone/>
            </a:pPr>
            <a:r>
              <a:rPr lang="en-US" sz="2400" dirty="0"/>
              <a:t>R = (1 + (0111*0))*</a:t>
            </a:r>
          </a:p>
        </p:txBody>
      </p:sp>
    </p:spTree>
    <p:extLst>
      <p:ext uri="{BB962C8B-B14F-4D97-AF65-F5344CB8AC3E}">
        <p14:creationId xmlns:p14="http://schemas.microsoft.com/office/powerpoint/2010/main" val="32172992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a:t>
            </a:r>
            <a:r>
              <a:rPr lang="en-US" b="1" dirty="0" smtClean="0"/>
              <a:t>13:</a:t>
            </a:r>
            <a:endParaRPr lang="en-US" b="1" dirty="0"/>
          </a:p>
        </p:txBody>
      </p:sp>
      <p:sp>
        <p:nvSpPr>
          <p:cNvPr id="3" name="Content Placeholder 2"/>
          <p:cNvSpPr>
            <a:spLocks noGrp="1"/>
          </p:cNvSpPr>
          <p:nvPr>
            <p:ph idx="1"/>
          </p:nvPr>
        </p:nvSpPr>
        <p:spPr>
          <a:xfrm>
            <a:off x="705394" y="2638044"/>
            <a:ext cx="10515600" cy="4219956"/>
          </a:xfrm>
        </p:spPr>
        <p:txBody>
          <a:bodyPr>
            <a:normAutofit/>
          </a:bodyPr>
          <a:lstStyle/>
          <a:p>
            <a:pPr algn="just"/>
            <a:r>
              <a:rPr lang="en-US" sz="2400" dirty="0"/>
              <a:t>Write the regular expression for the language containing the string in which every 0 is immediately followed by 11.</a:t>
            </a:r>
          </a:p>
          <a:p>
            <a:pPr marL="0" indent="0" algn="just">
              <a:buNone/>
            </a:pPr>
            <a:r>
              <a:rPr lang="en-US" sz="2400" b="1" dirty="0"/>
              <a:t>Solution:</a:t>
            </a:r>
            <a:endParaRPr lang="en-US" sz="2400" dirty="0"/>
          </a:p>
          <a:p>
            <a:pPr algn="just"/>
            <a:r>
              <a:rPr lang="en-US" sz="2400" dirty="0"/>
              <a:t>The regular expectation will be:</a:t>
            </a:r>
          </a:p>
          <a:p>
            <a:pPr marL="0" indent="0" algn="ctr">
              <a:buNone/>
            </a:pPr>
            <a:r>
              <a:rPr lang="en-US" sz="2400" dirty="0"/>
              <a:t>R = (011 + 1)*</a:t>
            </a:r>
          </a:p>
        </p:txBody>
      </p:sp>
    </p:spTree>
    <p:extLst>
      <p:ext uri="{BB962C8B-B14F-4D97-AF65-F5344CB8AC3E}">
        <p14:creationId xmlns:p14="http://schemas.microsoft.com/office/powerpoint/2010/main" val="1026470828"/>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TM10001115[[fn=Parcel]]</Template>
  <TotalTime>45</TotalTime>
  <Words>659</Words>
  <Application>Microsoft Office PowerPoint</Application>
  <PresentationFormat>Widescreen</PresentationFormat>
  <Paragraphs>93</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Arial Unicode MS</vt:lpstr>
      <vt:lpstr>Corbel</vt:lpstr>
      <vt:lpstr>Gill Sans MT</vt:lpstr>
      <vt:lpstr>Parcel</vt:lpstr>
      <vt:lpstr>Regular Expression</vt:lpstr>
      <vt:lpstr>Regular Expression</vt:lpstr>
      <vt:lpstr>Operations on Regular Language</vt:lpstr>
      <vt:lpstr>Example 1:</vt:lpstr>
      <vt:lpstr>Example 2:</vt:lpstr>
      <vt:lpstr>Example 3:</vt:lpstr>
      <vt:lpstr>Example 4:</vt:lpstr>
      <vt:lpstr>Example 5:</vt:lpstr>
      <vt:lpstr>Example 6:</vt:lpstr>
      <vt:lpstr>Example 7:</vt:lpstr>
      <vt:lpstr>Example 8:</vt:lpstr>
      <vt:lpstr>Example 9:</vt:lpstr>
      <vt:lpstr>Example 10:</vt:lpstr>
      <vt:lpstr>Example 11:</vt:lpstr>
      <vt:lpstr>Example 12:</vt:lpstr>
      <vt:lpstr>Example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Regular Expression</dc:title>
  <dc:creator>Muhammad Sami Aqeel</dc:creator>
  <cp:lastModifiedBy>Muhammad Sami Aqeel</cp:lastModifiedBy>
  <cp:revision>6</cp:revision>
  <dcterms:created xsi:type="dcterms:W3CDTF">2024-03-04T06:04:28Z</dcterms:created>
  <dcterms:modified xsi:type="dcterms:W3CDTF">2024-09-26T05:14:36Z</dcterms:modified>
</cp:coreProperties>
</file>