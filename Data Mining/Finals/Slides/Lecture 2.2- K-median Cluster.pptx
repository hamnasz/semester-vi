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11.xml" ContentType="application/vnd.openxmlformats-officedocument.theme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  <p:sldMasterId id="2147483672" r:id="rId3"/>
    <p:sldMasterId id="2147483684" r:id="rId4"/>
    <p:sldMasterId id="2147483720" r:id="rId5"/>
    <p:sldMasterId id="2147483732" r:id="rId6"/>
    <p:sldMasterId id="2147483744" r:id="rId7"/>
    <p:sldMasterId id="2147483756" r:id="rId8"/>
    <p:sldMasterId id="2147483768" r:id="rId9"/>
    <p:sldMasterId id="2147483780" r:id="rId10"/>
    <p:sldMasterId id="2147483792" r:id="rId11"/>
    <p:sldMasterId id="2147483804" r:id="rId12"/>
  </p:sldMasterIdLst>
  <p:notesMasterIdLst>
    <p:notesMasterId r:id="rId29"/>
  </p:notesMasterIdLst>
  <p:handoutMasterIdLst>
    <p:handoutMasterId r:id="rId30"/>
  </p:handoutMasterIdLst>
  <p:sldIdLst>
    <p:sldId id="329" r:id="rId13"/>
    <p:sldId id="430" r:id="rId14"/>
    <p:sldId id="432" r:id="rId15"/>
    <p:sldId id="990" r:id="rId16"/>
    <p:sldId id="983" r:id="rId17"/>
    <p:sldId id="984" r:id="rId18"/>
    <p:sldId id="985" r:id="rId19"/>
    <p:sldId id="986" r:id="rId20"/>
    <p:sldId id="987" r:id="rId21"/>
    <p:sldId id="988" r:id="rId22"/>
    <p:sldId id="989" r:id="rId23"/>
    <p:sldId id="991" r:id="rId24"/>
    <p:sldId id="992" r:id="rId25"/>
    <p:sldId id="993" r:id="rId26"/>
    <p:sldId id="994" r:id="rId27"/>
    <p:sldId id="427" r:id="rId28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charset="-128"/>
        <a:cs typeface="MS PGothic" panose="020B060007020508020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83943" autoAdjust="0"/>
  </p:normalViewPr>
  <p:slideViewPr>
    <p:cSldViewPr snapToGrid="0" snapToObjects="1" showGuides="1">
      <p:cViewPr varScale="1">
        <p:scale>
          <a:sx n="61" d="100"/>
          <a:sy n="61" d="100"/>
        </p:scale>
        <p:origin x="1650" y="66"/>
      </p:cViewPr>
      <p:guideLst>
        <p:guide orient="horz" pos="2160"/>
        <p:guide pos="294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47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²"/>
              <a:defRPr sz="24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  <a:defRPr sz="20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2pPr>
            <a:lvl3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3pPr>
            <a:lvl4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4pPr>
            <a:lvl5pPr>
              <a:defRPr sz="1800">
                <a:solidFill>
                  <a:srgbClr val="46424D"/>
                </a:solidFill>
                <a:latin typeface="Arial" panose="020B0604020202020204"/>
                <a:cs typeface="Arial" panose="020B0604020202020204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/>
              <a:t>30/10/2014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F2747F-ECC4-BB44-B379-DEBCDE6D0557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6C1ACB-37F4-2E4E-A02F-3AD2C3500E5B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C9741-E27D-6644-A29C-7357B3CA2856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6FC00-01EB-8C4B-8EBA-327D665853CA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C4B30A-E151-554F-9F57-FEC60EAD6DEE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F5AC9E-F104-7046-909E-B47A8243FECD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DDB79-4A56-9B43-9E32-8AACDB1BCC49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70207B-D522-9843-9370-2EDD2ED326F5}" type="slidenum">
              <a:rPr lang="en-GB" smtClean="0"/>
              <a:t>‹#›</a:t>
            </a:fld>
            <a:endParaRPr lang="en-GB" dirty="0"/>
          </a:p>
        </p:txBody>
      </p:sp>
    </p:spTree>
  </p:cSld>
  <p:clrMapOvr>
    <a:masterClrMapping/>
  </p:clrMapOvr>
  <p:transition spd="med">
    <p:wipe dir="r"/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1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40626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Presentation title - </a:t>
            </a:r>
            <a:fld id="{DA4E4A1D-F72B-1945-8E69-DB5636470060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46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68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79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90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10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Relationship Id="rId14" Type="http://schemas.openxmlformats.org/officeDocument/2006/relationships/image" Target="../media/image2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theme" Target="../theme/theme11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11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image" Target="../media/image2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9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24.xml"/><Relationship Id="rId7" Type="http://schemas.openxmlformats.org/officeDocument/2006/relationships/slideLayout" Target="../slideLayouts/slideLayout128.xml"/><Relationship Id="rId12" Type="http://schemas.openxmlformats.org/officeDocument/2006/relationships/theme" Target="../theme/theme12.xml"/><Relationship Id="rId17" Type="http://schemas.openxmlformats.org/officeDocument/2006/relationships/image" Target="../media/image8.svg"/><Relationship Id="rId2" Type="http://schemas.openxmlformats.org/officeDocument/2006/relationships/slideLayout" Target="../slideLayouts/slideLayout12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2.xml"/><Relationship Id="rId6" Type="http://schemas.openxmlformats.org/officeDocument/2006/relationships/slideLayout" Target="../slideLayouts/slideLayout127.xml"/><Relationship Id="rId11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26.xml"/><Relationship Id="rId15" Type="http://schemas.openxmlformats.org/officeDocument/2006/relationships/image" Target="../media/image7.svg"/><Relationship Id="rId10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25.xml"/><Relationship Id="rId9" Type="http://schemas.openxmlformats.org/officeDocument/2006/relationships/slideLayout" Target="../slideLayouts/slideLayout13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 Introduction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30/10/2014</a:t>
            </a:r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CD492-2BC6-F348-9965-EC1D86DF57A8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1115736"/>
            <a:chOff x="0" y="0"/>
            <a:chExt cx="12962429" cy="1115736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12962429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 dirty="0"/>
            </a:p>
          </p:txBody>
        </p: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1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9" name="Graphic 11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21" name="Graphic 13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8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panose="020F0502020204030204" charset="0"/>
          <a:ea typeface="MS PGothic" panose="020B0600070205080204" charset="-128"/>
          <a:cs typeface="MS PGothic" panose="020B060007020508020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charset="-128"/>
          <a:cs typeface="MS PGothic" panose="020B0600070205080204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defRPr sz="28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889" y="1229265"/>
            <a:ext cx="7688222" cy="1153160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</a:t>
            </a:r>
            <a:b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DS-303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1233" y="3082889"/>
            <a:ext cx="6716268" cy="3181229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2</a:t>
            </a:r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800" b="1" dirty="0">
              <a:solidFill>
                <a:schemeClr val="bg1"/>
              </a:solidFill>
              <a:latin typeface="Garamond" panose="02020404030301010803" pitchFamily="18" charset="0"/>
            </a:endParaRP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Muhammad Arham</a:t>
            </a: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Lecturer</a:t>
            </a:r>
          </a:p>
          <a:p>
            <a:pPr algn="r"/>
            <a:r>
              <a:rPr lang="en-GB" sz="2400" b="1" dirty="0">
                <a:solidFill>
                  <a:schemeClr val="bg1"/>
                </a:solidFill>
                <a:latin typeface="Garamond" panose="02020404030301010803" pitchFamily="18" charset="0"/>
              </a:rPr>
              <a:t>The University of Faisalabad</a:t>
            </a: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2728" y="0"/>
            <a:ext cx="2708768" cy="3611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 and K-Median Clustering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6" grpId="0"/>
      <p:bldP spid="6" grpId="1"/>
      <p:bldP spid="8" grpId="0"/>
      <p:bldP spid="8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3390" y="3024505"/>
            <a:ext cx="8437880" cy="1143000"/>
          </a:xfrm>
        </p:spPr>
        <p:txBody>
          <a:bodyPr/>
          <a:lstStyle/>
          <a:p>
            <a:pPr algn="ctr"/>
            <a:r>
              <a:rPr lang="en-US" altLang="en-US" sz="4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K-Median Clustering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K-Median Clustering Algorithm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Mining / </a:t>
            </a:r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</a:p>
          <a:p>
            <a:r>
              <a:rPr lang="en-US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Technique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K-Median is a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algorithm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data mining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divides an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unlabeled dataset into K clusters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cluster is represented by its 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(center point)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similar to K-Means but more robust to noise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Median?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= middle value of a sorted dataset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400050" lvl="1" indent="0"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= {2, 4, 6, 8, 100}</a:t>
            </a:r>
          </a:p>
          <a:p>
            <a:pPr marL="400050" lvl="1" indent="0"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= 6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affected by extreme values (outliers)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7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K-Median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Minimize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 of distances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between data points and their cluster medians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 each point to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nearest median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 compact and well-separated clusters 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8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instead of mean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Typically uses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Manhattan distance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robust to outliers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 K-Means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well with noisy datasets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9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Steps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 the number of clusters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initial medians randomly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 each data point to the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nearest median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Recalculate medians for each cluster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 steps 3–4 until clusters do not change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10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Distance Measure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Manhattan Distance (L1 norm)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 distance along axes (grid-based path) 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F01AC0-DBE2-4059-8181-3BDE4759E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708" y="3128920"/>
            <a:ext cx="2924583" cy="6001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11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 vs K-Median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A6988D28-17A3-475E-A8A7-1CAAD8D67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402" y="2348187"/>
            <a:ext cx="7773196" cy="2650533"/>
          </a:xfr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12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sensitive to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outliers and noise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Produces more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 clusters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skewed data distributions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59941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13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more expensive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Slower convergence than K-Means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as widely used or supported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3303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14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</a:t>
            </a:r>
          </a:p>
          <a:p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with noisy datasets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5287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CD492-2BC6-F348-9965-EC1D86DF57A8}" type="slidenum">
              <a:rPr lang="en-US" smtClean="0"/>
              <a:t>15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553226" y="0"/>
            <a:ext cx="5461349" cy="1143000"/>
          </a:xfrm>
        </p:spPr>
        <p:txBody>
          <a:bodyPr/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(2,3), (3,4), (10,12), (11,13)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K = 2: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1 → (2,3), (3,4) → Median ≈ (2.5, 3.5) 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2 → (10,12), (11,13) → Median ≈ (10.5, 12.5)</a:t>
            </a:r>
          </a:p>
          <a:p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5553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381000"/>
            <a:ext cx="5257800" cy="76200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19200"/>
            <a:ext cx="8458200" cy="5334000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 algn="ctr">
              <a:lnSpc>
                <a:spcPct val="120000"/>
              </a:lnSpc>
              <a:buNone/>
            </a:pP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00000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Kindly read the book before and after the lecture, if some terms/ words are not covered in the lecture </a:t>
            </a:r>
            <a:r>
              <a:rPr lang="en-US" sz="2800" b="1">
                <a:solidFill>
                  <a:srgbClr val="C00000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like K-Medoids</a:t>
            </a:r>
            <a:r>
              <a:rPr lang="en-US" sz="2800" b="1" dirty="0">
                <a:solidFill>
                  <a:srgbClr val="C00000"/>
                </a:solidFill>
                <a:latin typeface="Arial Black" panose="020B0A04020102020204" charset="0"/>
                <a:cs typeface="Arial Black" panose="020B0A04020102020204" charset="0"/>
                <a:sym typeface="+mn-ea"/>
              </a:rPr>
              <a:t>, if appear in exam it might not appear strange or out of course.</a:t>
            </a:r>
            <a:endParaRPr lang="en-US" sz="2800" b="1" dirty="0">
              <a:solidFill>
                <a:srgbClr val="C00000"/>
              </a:solidFill>
              <a:latin typeface="Arial Black" panose="020B0A04020102020204" charset="0"/>
              <a:cs typeface="Arial Black" panose="020B0A04020102020204" charset="0"/>
            </a:endParaRPr>
          </a:p>
          <a:p>
            <a:pPr algn="ctr">
              <a:lnSpc>
                <a:spcPct val="120000"/>
              </a:lnSpc>
            </a:pPr>
            <a:endParaRPr lang="en-US" sz="2800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10</TotalTime>
  <Words>362</Words>
  <Application>Microsoft Office PowerPoint</Application>
  <PresentationFormat>On-screen Show (4:3)</PresentationFormat>
  <Paragraphs>84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16</vt:i4>
      </vt:variant>
    </vt:vector>
  </HeadingPairs>
  <TitlesOfParts>
    <vt:vector size="34" baseType="lpstr">
      <vt:lpstr>Arial</vt:lpstr>
      <vt:lpstr>Arial Black</vt:lpstr>
      <vt:lpstr>Calibri</vt:lpstr>
      <vt:lpstr>Garamond</vt:lpstr>
      <vt:lpstr>Times New Roman</vt:lpstr>
      <vt:lpstr>Wingdings</vt:lpstr>
      <vt:lpstr>SE10 slides</vt:lpstr>
      <vt:lpstr>2_SE10 slides</vt:lpstr>
      <vt:lpstr>5_SE10 slides</vt:lpstr>
      <vt:lpstr>7_SE10 slides</vt:lpstr>
      <vt:lpstr>3_SE10 slides</vt:lpstr>
      <vt:lpstr>4_SE10 slides</vt:lpstr>
      <vt:lpstr>6_SE10 slides</vt:lpstr>
      <vt:lpstr>8_SE10 slides</vt:lpstr>
      <vt:lpstr>9_SE10 slides</vt:lpstr>
      <vt:lpstr>10_SE10 slides</vt:lpstr>
      <vt:lpstr>11_SE10 slides</vt:lpstr>
      <vt:lpstr>12_SE10 slides</vt:lpstr>
      <vt:lpstr>Data Mining DS-303</vt:lpstr>
      <vt:lpstr>Content </vt:lpstr>
      <vt:lpstr>K-Median Clustering </vt:lpstr>
      <vt:lpstr>K-Median Clustering Algorithm</vt:lpstr>
      <vt:lpstr>Introduction</vt:lpstr>
      <vt:lpstr>What is Median?</vt:lpstr>
      <vt:lpstr>Objective of K-Median</vt:lpstr>
      <vt:lpstr>Key Characteristics</vt:lpstr>
      <vt:lpstr>Algorithm Steps</vt:lpstr>
      <vt:lpstr>Distance Measure</vt:lpstr>
      <vt:lpstr>K-Means vs K-Median</vt:lpstr>
      <vt:lpstr>Advantages</vt:lpstr>
      <vt:lpstr>Disadvantages</vt:lpstr>
      <vt:lpstr>Applications</vt:lpstr>
      <vt:lpstr>Example</vt:lpstr>
      <vt:lpstr>Advice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– Chapter 1</dc:title>
  <dc:creator>Ian Sommerville</dc:creator>
  <cp:lastModifiedBy>Muhammad Arham</cp:lastModifiedBy>
  <cp:revision>153</cp:revision>
  <dcterms:created xsi:type="dcterms:W3CDTF">2009-12-29T10:39:00Z</dcterms:created>
  <dcterms:modified xsi:type="dcterms:W3CDTF">2026-03-31T05:11:26Z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D1306A2FD05A48D7B302624F1CBE0347</vt:lpwstr>
  </property>
  <property fmtid="{D5CDD505-2E9C-101B-9397-08002B2CF9AE}" pid="3" name="KSOProductBuildVer">
    <vt:lpwstr>1033-12.2.0.23155</vt:lpwstr>
  </property>
</Properties>
</file>