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84" r:id="rId3"/>
    <p:sldMasterId id="2147483696" r:id="rId4"/>
    <p:sldMasterId id="2147483852" r:id="rId5"/>
  </p:sldMasterIdLst>
  <p:notesMasterIdLst>
    <p:notesMasterId r:id="rId28"/>
  </p:notesMasterIdLst>
  <p:handoutMasterIdLst>
    <p:handoutMasterId r:id="rId29"/>
  </p:handoutMasterIdLst>
  <p:sldIdLst>
    <p:sldId id="329" r:id="rId6"/>
    <p:sldId id="430" r:id="rId7"/>
    <p:sldId id="432" r:id="rId8"/>
    <p:sldId id="448" r:id="rId9"/>
    <p:sldId id="507" r:id="rId10"/>
    <p:sldId id="972" r:id="rId11"/>
    <p:sldId id="973" r:id="rId12"/>
    <p:sldId id="974" r:id="rId13"/>
    <p:sldId id="975" r:id="rId14"/>
    <p:sldId id="976" r:id="rId15"/>
    <p:sldId id="977" r:id="rId16"/>
    <p:sldId id="506" r:id="rId17"/>
    <p:sldId id="521" r:id="rId18"/>
    <p:sldId id="524" r:id="rId19"/>
    <p:sldId id="522" r:id="rId20"/>
    <p:sldId id="978" r:id="rId21"/>
    <p:sldId id="980" r:id="rId22"/>
    <p:sldId id="523" r:id="rId23"/>
    <p:sldId id="525" r:id="rId24"/>
    <p:sldId id="526" r:id="rId25"/>
    <p:sldId id="496" r:id="rId26"/>
    <p:sldId id="427" r:id="rId2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83943" autoAdjust="0"/>
  </p:normalViewPr>
  <p:slideViewPr>
    <p:cSldViewPr snapToGrid="0" snapToObjects="1" showGuides="1">
      <p:cViewPr varScale="1">
        <p:scale>
          <a:sx n="61" d="100"/>
          <a:sy n="61" d="100"/>
        </p:scale>
        <p:origin x="1650" y="66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7.png"/><Relationship Id="rId18" Type="http://schemas.openxmlformats.org/officeDocument/2006/relationships/image" Target="../media/image4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36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41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slideshow/supervised-machine-learning-258014214/258014214#4" TargetMode="External"/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&amp; Clustering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Supervised Learning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Supervised Learning?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is the type of machine learning in which machine are trained using well “Labelled” training data, and on basis of that data, machine predict the output.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supervised learning the training data provide to the machine work as the supervisor that teaches the machines to predict the output correctly. It applies the same concepts as a students learns in the supervision of the teacher.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Supervised Learning Works?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E345B6D-97F6-4209-863B-2A2B2E511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887" y="2111975"/>
            <a:ext cx="7014642" cy="3362868"/>
          </a:xfrm>
        </p:spPr>
      </p:pic>
    </p:spTree>
    <p:extLst>
      <p:ext uri="{BB962C8B-B14F-4D97-AF65-F5344CB8AC3E}">
        <p14:creationId xmlns:p14="http://schemas.microsoft.com/office/powerpoint/2010/main" val="1706940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1" y="86950"/>
            <a:ext cx="5227319" cy="1117614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spAutoFit/>
          </a:bodyPr>
          <a:lstStyle/>
          <a:p>
            <a:pPr marL="447675" algn="ctr">
              <a:spcBef>
                <a:spcPts val="75"/>
              </a:spcBef>
            </a:pPr>
            <a:r>
              <a:rPr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z="3600" spc="-1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Learning:</a:t>
            </a:r>
            <a:r>
              <a:rPr sz="3600" spc="-1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1" y="1619251"/>
            <a:ext cx="7139305" cy="1298432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75749" indent="-256699">
              <a:spcBef>
                <a:spcPts val="645"/>
              </a:spcBef>
              <a:buFont typeface="Arial MT"/>
              <a:buChar char="•"/>
              <a:tabLst>
                <a:tab pos="275749" algn="l"/>
              </a:tabLst>
            </a:pP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1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Georgia"/>
                <a:cs typeface="Georgia"/>
              </a:rPr>
              <a:t>y</a:t>
            </a:r>
            <a:r>
              <a:rPr sz="2363" spc="-23" baseline="-18518" dirty="0">
                <a:latin typeface="Calibri"/>
                <a:cs typeface="Calibri"/>
              </a:rPr>
              <a:t>1</a:t>
            </a:r>
            <a:r>
              <a:rPr sz="2400" spc="-15" dirty="0">
                <a:latin typeface="Calibri"/>
                <a:cs typeface="Calibri"/>
              </a:rPr>
              <a:t>),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2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Georgia"/>
                <a:cs typeface="Georgia"/>
              </a:rPr>
              <a:t>y</a:t>
            </a:r>
            <a:r>
              <a:rPr sz="2363" spc="-23" baseline="-18518" dirty="0">
                <a:latin typeface="Calibri"/>
                <a:cs typeface="Calibri"/>
              </a:rPr>
              <a:t>2</a:t>
            </a:r>
            <a:r>
              <a:rPr sz="2400" spc="-15" dirty="0">
                <a:latin typeface="Calibri"/>
                <a:cs typeface="Calibri"/>
              </a:rPr>
              <a:t>),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...,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n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9" dirty="0">
                <a:latin typeface="Georgia"/>
                <a:cs typeface="Georgia"/>
              </a:rPr>
              <a:t>y</a:t>
            </a:r>
            <a:r>
              <a:rPr sz="2363" spc="-28" baseline="-18518" dirty="0">
                <a:latin typeface="Calibri"/>
                <a:cs typeface="Calibri"/>
              </a:rPr>
              <a:t>n</a:t>
            </a:r>
            <a:r>
              <a:rPr sz="2400" spc="-19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75749" indent="-256699">
              <a:spcBef>
                <a:spcPts val="570"/>
              </a:spcBef>
              <a:buFont typeface="Arial MT"/>
              <a:buChar char="•"/>
              <a:tabLst>
                <a:tab pos="275749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i="1" spc="127" dirty="0">
                <a:latin typeface="Georgia"/>
                <a:cs typeface="Georgia"/>
              </a:rPr>
              <a:t>f</a:t>
            </a:r>
            <a:r>
              <a:rPr sz="2400" spc="127" dirty="0">
                <a:latin typeface="Calibri"/>
                <a:cs typeface="Calibri"/>
              </a:rPr>
              <a:t>(</a:t>
            </a:r>
            <a:r>
              <a:rPr sz="2400" i="1" spc="127" dirty="0">
                <a:latin typeface="Georgia"/>
                <a:cs typeface="Georgia"/>
              </a:rPr>
              <a:t>x</a:t>
            </a:r>
            <a:r>
              <a:rPr sz="2400" spc="127" dirty="0">
                <a:latin typeface="Calibri"/>
                <a:cs typeface="Calibri"/>
              </a:rPr>
              <a:t>)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i="1" spc="-180" dirty="0">
                <a:latin typeface="Georgia"/>
                <a:cs typeface="Georgia"/>
              </a:rPr>
              <a:t>y</a:t>
            </a:r>
            <a:r>
              <a:rPr sz="2400" i="1" spc="-34" dirty="0">
                <a:latin typeface="Georgia"/>
                <a:cs typeface="Georgia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spc="127" dirty="0">
                <a:latin typeface="Georgia"/>
                <a:cs typeface="Georgia"/>
              </a:rPr>
              <a:t>x</a:t>
            </a:r>
            <a:endParaRPr sz="2400" dirty="0">
              <a:latin typeface="Georgia"/>
              <a:cs typeface="Georgia"/>
            </a:endParaRPr>
          </a:p>
          <a:p>
            <a:pPr marL="361950">
              <a:spcBef>
                <a:spcPts val="570"/>
              </a:spcBef>
            </a:pP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98" dirty="0">
                <a:latin typeface="Arial MT"/>
                <a:cs typeface="Arial MT"/>
              </a:rPr>
              <a:t> </a:t>
            </a:r>
            <a:r>
              <a:rPr sz="2100" i="1" spc="-158" dirty="0">
                <a:latin typeface="Georgia"/>
                <a:cs typeface="Georgia"/>
              </a:rPr>
              <a:t>y</a:t>
            </a:r>
            <a:r>
              <a:rPr sz="2100" i="1" spc="-30" dirty="0">
                <a:latin typeface="Georgia"/>
                <a:cs typeface="Georgia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real-</a:t>
            </a:r>
            <a:r>
              <a:rPr sz="2100" dirty="0">
                <a:latin typeface="Calibri"/>
                <a:cs typeface="Calibri"/>
              </a:rPr>
              <a:t>valued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==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regression</a:t>
            </a:r>
            <a:endParaRPr sz="21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1340" y="3179398"/>
            <a:ext cx="4997450" cy="2127409"/>
            <a:chOff x="2331339" y="3096196"/>
            <a:chExt cx="4997450" cy="2836545"/>
          </a:xfrm>
        </p:grpSpPr>
        <p:sp>
          <p:nvSpPr>
            <p:cNvPr id="5" name="object 5"/>
            <p:cNvSpPr/>
            <p:nvPr/>
          </p:nvSpPr>
          <p:spPr>
            <a:xfrm>
              <a:off x="2394119" y="3102546"/>
              <a:ext cx="4928235" cy="2460625"/>
            </a:xfrm>
            <a:custGeom>
              <a:avLst/>
              <a:gdLst/>
              <a:ahLst/>
              <a:cxnLst/>
              <a:rect l="l" t="t" r="r" b="b"/>
              <a:pathLst>
                <a:path w="4928234" h="2460625">
                  <a:moveTo>
                    <a:pt x="0" y="2460054"/>
                  </a:moveTo>
                  <a:lnTo>
                    <a:pt x="4928193" y="2460054"/>
                  </a:lnTo>
                </a:path>
                <a:path w="4928234" h="2460625">
                  <a:moveTo>
                    <a:pt x="0" y="2155254"/>
                  </a:moveTo>
                  <a:lnTo>
                    <a:pt x="4928193" y="2155254"/>
                  </a:lnTo>
                </a:path>
                <a:path w="4928234" h="2460625">
                  <a:moveTo>
                    <a:pt x="0" y="1850454"/>
                  </a:moveTo>
                  <a:lnTo>
                    <a:pt x="4928193" y="1850454"/>
                  </a:lnTo>
                </a:path>
                <a:path w="4928234" h="2460625">
                  <a:moveTo>
                    <a:pt x="0" y="1532954"/>
                  </a:moveTo>
                  <a:lnTo>
                    <a:pt x="4928193" y="1532954"/>
                  </a:lnTo>
                </a:path>
                <a:path w="4928234" h="2460625">
                  <a:moveTo>
                    <a:pt x="0" y="1228154"/>
                  </a:moveTo>
                  <a:lnTo>
                    <a:pt x="4928193" y="1228154"/>
                  </a:lnTo>
                </a:path>
                <a:path w="4928234" h="2460625">
                  <a:moveTo>
                    <a:pt x="0" y="923354"/>
                  </a:moveTo>
                  <a:lnTo>
                    <a:pt x="4928193" y="923354"/>
                  </a:lnTo>
                </a:path>
                <a:path w="4928234" h="2460625">
                  <a:moveTo>
                    <a:pt x="0" y="618554"/>
                  </a:moveTo>
                  <a:lnTo>
                    <a:pt x="4928193" y="618554"/>
                  </a:lnTo>
                </a:path>
                <a:path w="4928234" h="2460625">
                  <a:moveTo>
                    <a:pt x="0" y="313754"/>
                  </a:moveTo>
                  <a:lnTo>
                    <a:pt x="4928193" y="313754"/>
                  </a:lnTo>
                </a:path>
                <a:path w="4928234" h="2460625">
                  <a:moveTo>
                    <a:pt x="0" y="0"/>
                  </a:moveTo>
                  <a:lnTo>
                    <a:pt x="4928193" y="0"/>
                  </a:lnTo>
                </a:path>
              </a:pathLst>
            </a:custGeom>
            <a:ln w="1270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94119" y="3102546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h="2767329">
                  <a:moveTo>
                    <a:pt x="0" y="2767183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37689" y="3102546"/>
              <a:ext cx="56515" cy="2767330"/>
            </a:xfrm>
            <a:custGeom>
              <a:avLst/>
              <a:gdLst/>
              <a:ahLst/>
              <a:cxnLst/>
              <a:rect l="l" t="t" r="r" b="b"/>
              <a:pathLst>
                <a:path w="56514" h="2767329">
                  <a:moveTo>
                    <a:pt x="0" y="2767183"/>
                  </a:moveTo>
                  <a:lnTo>
                    <a:pt x="56430" y="2767183"/>
                  </a:lnTo>
                </a:path>
                <a:path w="56514" h="2767329">
                  <a:moveTo>
                    <a:pt x="0" y="2460054"/>
                  </a:moveTo>
                  <a:lnTo>
                    <a:pt x="56430" y="2460054"/>
                  </a:lnTo>
                </a:path>
                <a:path w="56514" h="2767329">
                  <a:moveTo>
                    <a:pt x="0" y="2155254"/>
                  </a:moveTo>
                  <a:lnTo>
                    <a:pt x="56430" y="2155254"/>
                  </a:lnTo>
                </a:path>
                <a:path w="56514" h="2767329">
                  <a:moveTo>
                    <a:pt x="0" y="1850454"/>
                  </a:moveTo>
                  <a:lnTo>
                    <a:pt x="56430" y="1850454"/>
                  </a:lnTo>
                </a:path>
                <a:path w="56514" h="2767329">
                  <a:moveTo>
                    <a:pt x="0" y="1532954"/>
                  </a:moveTo>
                  <a:lnTo>
                    <a:pt x="56430" y="1532954"/>
                  </a:lnTo>
                </a:path>
                <a:path w="56514" h="2767329">
                  <a:moveTo>
                    <a:pt x="0" y="1228154"/>
                  </a:moveTo>
                  <a:lnTo>
                    <a:pt x="56430" y="1228154"/>
                  </a:lnTo>
                </a:path>
                <a:path w="56514" h="2767329">
                  <a:moveTo>
                    <a:pt x="0" y="923354"/>
                  </a:moveTo>
                  <a:lnTo>
                    <a:pt x="56430" y="923354"/>
                  </a:lnTo>
                </a:path>
                <a:path w="56514" h="2767329">
                  <a:moveTo>
                    <a:pt x="0" y="618554"/>
                  </a:moveTo>
                  <a:lnTo>
                    <a:pt x="56430" y="618554"/>
                  </a:lnTo>
                </a:path>
                <a:path w="56514" h="2767329">
                  <a:moveTo>
                    <a:pt x="0" y="313754"/>
                  </a:moveTo>
                  <a:lnTo>
                    <a:pt x="56430" y="313754"/>
                  </a:lnTo>
                </a:path>
                <a:path w="56514" h="2767329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94119" y="5869728"/>
              <a:ext cx="4928235" cy="56515"/>
            </a:xfrm>
            <a:custGeom>
              <a:avLst/>
              <a:gdLst/>
              <a:ahLst/>
              <a:cxnLst/>
              <a:rect l="l" t="t" r="r" b="b"/>
              <a:pathLst>
                <a:path w="4928234" h="56514">
                  <a:moveTo>
                    <a:pt x="0" y="0"/>
                  </a:moveTo>
                  <a:lnTo>
                    <a:pt x="4928193" y="1"/>
                  </a:lnTo>
                </a:path>
                <a:path w="4928234" h="56514">
                  <a:moveTo>
                    <a:pt x="0" y="0"/>
                  </a:moveTo>
                  <a:lnTo>
                    <a:pt x="0" y="56430"/>
                  </a:lnTo>
                </a:path>
                <a:path w="4928234" h="56514">
                  <a:moveTo>
                    <a:pt x="984081" y="0"/>
                  </a:moveTo>
                  <a:lnTo>
                    <a:pt x="984081" y="56430"/>
                  </a:lnTo>
                </a:path>
                <a:path w="4928234" h="56514">
                  <a:moveTo>
                    <a:pt x="1974681" y="0"/>
                  </a:moveTo>
                  <a:lnTo>
                    <a:pt x="1974681" y="56430"/>
                  </a:lnTo>
                </a:path>
                <a:path w="4928234" h="56514">
                  <a:moveTo>
                    <a:pt x="2952581" y="0"/>
                  </a:moveTo>
                  <a:lnTo>
                    <a:pt x="2952581" y="56430"/>
                  </a:lnTo>
                </a:path>
                <a:path w="4928234" h="56514">
                  <a:moveTo>
                    <a:pt x="3943181" y="0"/>
                  </a:moveTo>
                  <a:lnTo>
                    <a:pt x="3943181" y="56430"/>
                  </a:lnTo>
                </a:path>
                <a:path w="4928234" h="56514">
                  <a:moveTo>
                    <a:pt x="4928193" y="0"/>
                  </a:moveTo>
                  <a:lnTo>
                    <a:pt x="4928193" y="56430"/>
                  </a:lnTo>
                </a:path>
              </a:pathLst>
            </a:custGeom>
            <a:ln w="12700">
              <a:solidFill>
                <a:srgbClr val="86868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2300" y="3556000"/>
              <a:ext cx="241300" cy="241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3900" y="3365499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2800" y="3543300"/>
              <a:ext cx="241300" cy="241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4400" y="3479799"/>
              <a:ext cx="241300" cy="241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6000" y="3467099"/>
              <a:ext cx="241300" cy="241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00" y="3568700"/>
              <a:ext cx="241300" cy="241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6500" y="3644900"/>
              <a:ext cx="241300" cy="241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100" y="3454399"/>
              <a:ext cx="241300" cy="241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9700" y="3479799"/>
              <a:ext cx="241300" cy="241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300" y="3467099"/>
              <a:ext cx="241300" cy="241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0200" y="36068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800" y="3860800"/>
              <a:ext cx="241300" cy="241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00" y="3759200"/>
              <a:ext cx="241300" cy="241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5000" y="3454399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6600" y="3771900"/>
              <a:ext cx="241300" cy="241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5500" y="3568700"/>
              <a:ext cx="241300" cy="2413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38862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8700" y="3352799"/>
              <a:ext cx="241300" cy="241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0" y="370840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200" y="3759200"/>
              <a:ext cx="241300" cy="241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0800" y="386080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2400" y="3835400"/>
              <a:ext cx="241300" cy="241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0" y="369570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2900" y="3937000"/>
              <a:ext cx="241300" cy="241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0" y="388620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6100" y="3911600"/>
              <a:ext cx="241300" cy="241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7700" y="406400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6600" y="3949700"/>
              <a:ext cx="241300" cy="241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8200" y="4457700"/>
              <a:ext cx="241300" cy="2413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800" y="4330700"/>
              <a:ext cx="241300" cy="241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1400" y="4127500"/>
              <a:ext cx="241300" cy="241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0300" y="4267200"/>
              <a:ext cx="241300" cy="241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1900" y="4356100"/>
              <a:ext cx="241300" cy="241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3500" y="4660900"/>
              <a:ext cx="241300" cy="241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5325" y="3597275"/>
              <a:ext cx="101600" cy="101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235325" y="3597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6925" y="3406774"/>
              <a:ext cx="101600" cy="101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336925" y="34067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5825" y="3584575"/>
              <a:ext cx="101600" cy="101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425825" y="35845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7425" y="3521074"/>
              <a:ext cx="101600" cy="101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5274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9025" y="3508375"/>
              <a:ext cx="101600" cy="101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6290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0625" y="3609974"/>
              <a:ext cx="101600" cy="101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7306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9525" y="3686175"/>
              <a:ext cx="101600" cy="1016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819525" y="3686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21125" y="3495674"/>
              <a:ext cx="101600" cy="1016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9211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2725" y="3521074"/>
              <a:ext cx="101600" cy="101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022725" y="3521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24325" y="3508375"/>
              <a:ext cx="101600" cy="1016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124325" y="3508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3225" y="3648074"/>
              <a:ext cx="101600" cy="101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213225" y="3648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4825" y="3902074"/>
              <a:ext cx="101600" cy="1016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314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6425" y="3800475"/>
              <a:ext cx="101600" cy="1016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4164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8025" y="3495674"/>
              <a:ext cx="101600" cy="1016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518025" y="34956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9625" y="3813175"/>
              <a:ext cx="101600" cy="1016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619625" y="3813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8525" y="3609974"/>
              <a:ext cx="101600" cy="10160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708525" y="3609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10125" y="3927475"/>
              <a:ext cx="101600" cy="10160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8101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1725" y="3394074"/>
              <a:ext cx="101600" cy="1016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911725" y="3394074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3325" y="3749674"/>
              <a:ext cx="101600" cy="1016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013325" y="3749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2225" y="3800475"/>
              <a:ext cx="101600" cy="1016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102225" y="3800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3825" y="3902074"/>
              <a:ext cx="101600" cy="10160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203825" y="39020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5425" y="3876674"/>
              <a:ext cx="101600" cy="1016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305425" y="38766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7024" y="3736974"/>
              <a:ext cx="101600" cy="10160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407025" y="3736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5925" y="3978275"/>
              <a:ext cx="101600" cy="101600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495925" y="3978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525" y="3927475"/>
              <a:ext cx="101600" cy="101600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597525" y="3927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9125" y="3952874"/>
              <a:ext cx="101600" cy="101600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699125" y="39528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0725" y="4105275"/>
              <a:ext cx="101600" cy="10160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5800725" y="41052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9625" y="3990974"/>
              <a:ext cx="101600" cy="10160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889625" y="3990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1225" y="4498975"/>
              <a:ext cx="101600" cy="101600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991225" y="4498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2825" y="4371975"/>
              <a:ext cx="101600" cy="10160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092825" y="43719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4425" y="4168774"/>
              <a:ext cx="101600" cy="10160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194425" y="41687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3325" y="4308475"/>
              <a:ext cx="101600" cy="10160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6283325" y="43084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4925" y="4397374"/>
              <a:ext cx="101600" cy="10160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6384925" y="43973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6525" y="4702175"/>
              <a:ext cx="101600" cy="101600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486525" y="4702175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2126360" y="3013140"/>
            <a:ext cx="1446530" cy="2550698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9525">
              <a:spcBef>
                <a:spcPts val="630"/>
              </a:spcBef>
            </a:pPr>
            <a:r>
              <a:rPr sz="1050" spc="-38" dirty="0">
                <a:latin typeface="Calibri"/>
                <a:cs typeface="Calibri"/>
              </a:rPr>
              <a:t>9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5"/>
              </a:spcBef>
            </a:pPr>
            <a:r>
              <a:rPr sz="1050" spc="-38" dirty="0"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5"/>
              </a:spcBef>
            </a:pPr>
            <a:r>
              <a:rPr sz="1050" spc="-38" dirty="0">
                <a:latin typeface="Calibri"/>
                <a:cs typeface="Calibri"/>
              </a:rPr>
              <a:t>7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5"/>
              </a:spcBef>
            </a:pPr>
            <a:r>
              <a:rPr sz="1050" spc="-38" dirty="0"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9"/>
              </a:spcBef>
            </a:pPr>
            <a:r>
              <a:rPr sz="1050" spc="-38" dirty="0">
                <a:latin typeface="Calibri"/>
                <a:cs typeface="Calibri"/>
              </a:rPr>
              <a:t>5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5"/>
              </a:spcBef>
            </a:pPr>
            <a:r>
              <a:rPr sz="1050" spc="-38" dirty="0"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5"/>
              </a:spcBef>
            </a:pPr>
            <a:r>
              <a:rPr sz="1050" spc="-38" dirty="0"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5"/>
              </a:spcBef>
            </a:pPr>
            <a:r>
              <a:rPr sz="1050" spc="-38" dirty="0"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5"/>
              </a:spcBef>
            </a:pPr>
            <a:r>
              <a:rPr sz="1050" spc="-38" dirty="0"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559"/>
              </a:spcBef>
            </a:pPr>
            <a:r>
              <a:rPr sz="1050" spc="-38" dirty="0"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marL="65246">
              <a:spcBef>
                <a:spcPts val="45"/>
              </a:spcBef>
              <a:tabLst>
                <a:tab pos="804386" algn="l"/>
              </a:tabLst>
            </a:pPr>
            <a:r>
              <a:rPr sz="1050" spc="-15" dirty="0">
                <a:latin typeface="Calibri"/>
                <a:cs typeface="Calibri"/>
              </a:rPr>
              <a:t>1970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15" dirty="0">
                <a:latin typeface="Calibri"/>
                <a:cs typeface="Calibri"/>
              </a:rPr>
              <a:t>1980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172483" y="5325142"/>
            <a:ext cx="137160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748664" algn="l"/>
              </a:tabLst>
            </a:pPr>
            <a:r>
              <a:rPr sz="1050" spc="-15" dirty="0">
                <a:latin typeface="Calibri"/>
                <a:cs typeface="Calibri"/>
              </a:rPr>
              <a:t>1990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15" dirty="0">
                <a:latin typeface="Calibri"/>
                <a:cs typeface="Calibri"/>
              </a:rPr>
              <a:t>2000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6143760" y="5325142"/>
            <a:ext cx="38608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15" dirty="0">
                <a:latin typeface="Calibri"/>
                <a:cs typeface="Calibri"/>
              </a:rPr>
              <a:t>2010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129398" y="5325142"/>
            <a:ext cx="38608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15" dirty="0">
                <a:latin typeface="Calibri"/>
                <a:cs typeface="Calibri"/>
              </a:rPr>
              <a:t>2020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542033" y="3323982"/>
            <a:ext cx="321114" cy="1773079"/>
          </a:xfrm>
          <a:prstGeom prst="rect">
            <a:avLst/>
          </a:prstGeom>
        </p:spPr>
        <p:txBody>
          <a:bodyPr vert="vert270" wrap="square" lIns="0" tIns="953" rIns="0" bIns="0" rtlCol="0">
            <a:spAutoFit/>
          </a:bodyPr>
          <a:lstStyle/>
          <a:p>
            <a:pPr marL="395288" marR="3810" indent="-386238">
              <a:lnSpc>
                <a:spcPct val="101200"/>
              </a:lnSpc>
              <a:spcBef>
                <a:spcPts val="8"/>
              </a:spcBef>
            </a:pPr>
            <a:r>
              <a:rPr sz="1050" b="1" dirty="0">
                <a:latin typeface="Calibri"/>
                <a:cs typeface="Calibri"/>
              </a:rPr>
              <a:t>September</a:t>
            </a:r>
            <a:r>
              <a:rPr sz="1050" b="1" spc="-26" dirty="0">
                <a:latin typeface="Calibri"/>
                <a:cs typeface="Calibri"/>
              </a:rPr>
              <a:t> </a:t>
            </a:r>
            <a:r>
              <a:rPr sz="1050" b="1" dirty="0">
                <a:latin typeface="Calibri"/>
                <a:cs typeface="Calibri"/>
              </a:rPr>
              <a:t>Arctic</a:t>
            </a:r>
            <a:r>
              <a:rPr sz="1050" b="1" spc="-23" dirty="0">
                <a:latin typeface="Calibri"/>
                <a:cs typeface="Calibri"/>
              </a:rPr>
              <a:t> </a:t>
            </a:r>
            <a:r>
              <a:rPr sz="1050" b="1" dirty="0">
                <a:latin typeface="Calibri"/>
                <a:cs typeface="Calibri"/>
              </a:rPr>
              <a:t>Sea</a:t>
            </a:r>
            <a:r>
              <a:rPr sz="1050" b="1" spc="-26" dirty="0">
                <a:latin typeface="Calibri"/>
                <a:cs typeface="Calibri"/>
              </a:rPr>
              <a:t> </a:t>
            </a:r>
            <a:r>
              <a:rPr sz="1050" b="1" dirty="0">
                <a:latin typeface="Calibri"/>
                <a:cs typeface="Calibri"/>
              </a:rPr>
              <a:t>Ice</a:t>
            </a:r>
            <a:r>
              <a:rPr sz="1050" b="1" spc="-23" dirty="0">
                <a:latin typeface="Calibri"/>
                <a:cs typeface="Calibri"/>
              </a:rPr>
              <a:t> </a:t>
            </a:r>
            <a:r>
              <a:rPr sz="1050" b="1" spc="-8" dirty="0">
                <a:latin typeface="Calibri"/>
                <a:cs typeface="Calibri"/>
              </a:rPr>
              <a:t>Extent (1,000,000</a:t>
            </a:r>
            <a:r>
              <a:rPr sz="1050" b="1" spc="-4" dirty="0">
                <a:latin typeface="Calibri"/>
                <a:cs typeface="Calibri"/>
              </a:rPr>
              <a:t> </a:t>
            </a:r>
            <a:r>
              <a:rPr sz="1050" b="1" dirty="0">
                <a:latin typeface="Calibri"/>
                <a:cs typeface="Calibri"/>
              </a:rPr>
              <a:t>sq </a:t>
            </a:r>
            <a:r>
              <a:rPr sz="1050" b="1" spc="-19" dirty="0">
                <a:latin typeface="Calibri"/>
                <a:cs typeface="Calibri"/>
              </a:rPr>
              <a:t>km)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8739" y="5521262"/>
            <a:ext cx="5716270" cy="43537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576739" algn="r">
              <a:spcBef>
                <a:spcPts val="75"/>
              </a:spcBef>
            </a:pPr>
            <a:r>
              <a:rPr sz="1050" b="1" spc="-15" dirty="0">
                <a:latin typeface="Calibri"/>
                <a:cs typeface="Calibri"/>
              </a:rPr>
              <a:t>Year</a:t>
            </a:r>
            <a:endParaRPr sz="1050">
              <a:latin typeface="Calibri"/>
              <a:cs typeface="Calibri"/>
            </a:endParaRPr>
          </a:p>
          <a:p>
            <a:pPr marL="9525">
              <a:spcBef>
                <a:spcPts val="818"/>
              </a:spcBef>
            </a:pPr>
            <a:r>
              <a:rPr sz="1050" dirty="0">
                <a:latin typeface="Calibri"/>
                <a:cs typeface="Calibri"/>
              </a:rPr>
              <a:t>Data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from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G.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Witt.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Journal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spc="-8" dirty="0">
                <a:latin typeface="Calibri"/>
                <a:cs typeface="Calibri"/>
              </a:rPr>
              <a:t>Statistics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spc="-8" dirty="0">
                <a:latin typeface="Calibri"/>
                <a:cs typeface="Calibri"/>
              </a:rPr>
              <a:t>Education,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spc="-8" dirty="0">
                <a:latin typeface="Calibri"/>
                <a:cs typeface="Calibri"/>
              </a:rPr>
              <a:t>Volume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21,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Number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1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spc="-8" dirty="0">
                <a:latin typeface="Calibri"/>
                <a:cs typeface="Calibri"/>
              </a:rPr>
              <a:t>(2013)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794001" y="3381375"/>
            <a:ext cx="4279900" cy="1057275"/>
            <a:chOff x="2794000" y="3365500"/>
            <a:chExt cx="4279900" cy="1409700"/>
          </a:xfrm>
        </p:grpSpPr>
        <p:pic>
          <p:nvPicPr>
            <p:cNvPr id="118" name="object 1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4000" y="3365500"/>
              <a:ext cx="4254500" cy="1104900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2857500" y="3416300"/>
              <a:ext cx="4114800" cy="952500"/>
            </a:xfrm>
            <a:custGeom>
              <a:avLst/>
              <a:gdLst/>
              <a:ahLst/>
              <a:cxnLst/>
              <a:rect l="l" t="t" r="r" b="b"/>
              <a:pathLst>
                <a:path w="4114800" h="952500">
                  <a:moveTo>
                    <a:pt x="0" y="0"/>
                  </a:moveTo>
                  <a:lnTo>
                    <a:pt x="4114800" y="95250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2100" y="3517900"/>
              <a:ext cx="4241800" cy="125730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2895600" y="3568700"/>
              <a:ext cx="4114800" cy="1117600"/>
            </a:xfrm>
            <a:custGeom>
              <a:avLst/>
              <a:gdLst/>
              <a:ahLst/>
              <a:cxnLst/>
              <a:rect l="l" t="t" r="r" b="b"/>
              <a:pathLst>
                <a:path w="4114800" h="1117600">
                  <a:moveTo>
                    <a:pt x="0" y="0"/>
                  </a:moveTo>
                  <a:lnTo>
                    <a:pt x="52492" y="566"/>
                  </a:lnTo>
                  <a:lnTo>
                    <a:pt x="104977" y="1144"/>
                  </a:lnTo>
                  <a:lnTo>
                    <a:pt x="157449" y="1745"/>
                  </a:lnTo>
                  <a:lnTo>
                    <a:pt x="209901" y="2382"/>
                  </a:lnTo>
                  <a:lnTo>
                    <a:pt x="262327" y="3065"/>
                  </a:lnTo>
                  <a:lnTo>
                    <a:pt x="314719" y="3807"/>
                  </a:lnTo>
                  <a:lnTo>
                    <a:pt x="367070" y="4620"/>
                  </a:lnTo>
                  <a:lnTo>
                    <a:pt x="419375" y="5514"/>
                  </a:lnTo>
                  <a:lnTo>
                    <a:pt x="471627" y="6502"/>
                  </a:lnTo>
                  <a:lnTo>
                    <a:pt x="523818" y="7595"/>
                  </a:lnTo>
                  <a:lnTo>
                    <a:pt x="575942" y="8805"/>
                  </a:lnTo>
                  <a:lnTo>
                    <a:pt x="627993" y="10144"/>
                  </a:lnTo>
                  <a:lnTo>
                    <a:pt x="679963" y="11624"/>
                  </a:lnTo>
                  <a:lnTo>
                    <a:pt x="731847" y="13255"/>
                  </a:lnTo>
                  <a:lnTo>
                    <a:pt x="783637" y="15051"/>
                  </a:lnTo>
                  <a:lnTo>
                    <a:pt x="835326" y="17022"/>
                  </a:lnTo>
                  <a:lnTo>
                    <a:pt x="886908" y="19181"/>
                  </a:lnTo>
                  <a:lnTo>
                    <a:pt x="938377" y="21538"/>
                  </a:lnTo>
                  <a:lnTo>
                    <a:pt x="989725" y="24107"/>
                  </a:lnTo>
                  <a:lnTo>
                    <a:pt x="1040947" y="26897"/>
                  </a:lnTo>
                  <a:lnTo>
                    <a:pt x="1092034" y="29922"/>
                  </a:lnTo>
                  <a:lnTo>
                    <a:pt x="1142981" y="33193"/>
                  </a:lnTo>
                  <a:lnTo>
                    <a:pt x="1193781" y="36721"/>
                  </a:lnTo>
                  <a:lnTo>
                    <a:pt x="1244426" y="40519"/>
                  </a:lnTo>
                  <a:lnTo>
                    <a:pt x="1294912" y="44597"/>
                  </a:lnTo>
                  <a:lnTo>
                    <a:pt x="1345230" y="48968"/>
                  </a:lnTo>
                  <a:lnTo>
                    <a:pt x="1395374" y="53644"/>
                  </a:lnTo>
                  <a:lnTo>
                    <a:pt x="1445337" y="58636"/>
                  </a:lnTo>
                  <a:lnTo>
                    <a:pt x="1495114" y="63955"/>
                  </a:lnTo>
                  <a:lnTo>
                    <a:pt x="1544696" y="69614"/>
                  </a:lnTo>
                  <a:lnTo>
                    <a:pt x="1594077" y="75624"/>
                  </a:lnTo>
                  <a:lnTo>
                    <a:pt x="1643251" y="81997"/>
                  </a:lnTo>
                  <a:lnTo>
                    <a:pt x="1692211" y="88745"/>
                  </a:lnTo>
                  <a:lnTo>
                    <a:pt x="1740951" y="95879"/>
                  </a:lnTo>
                  <a:lnTo>
                    <a:pt x="1789463" y="103411"/>
                  </a:lnTo>
                  <a:lnTo>
                    <a:pt x="1837740" y="111353"/>
                  </a:lnTo>
                  <a:lnTo>
                    <a:pt x="1885777" y="119716"/>
                  </a:lnTo>
                  <a:lnTo>
                    <a:pt x="1933567" y="128513"/>
                  </a:lnTo>
                  <a:lnTo>
                    <a:pt x="1981102" y="137754"/>
                  </a:lnTo>
                  <a:lnTo>
                    <a:pt x="2028376" y="147452"/>
                  </a:lnTo>
                  <a:lnTo>
                    <a:pt x="2075383" y="157618"/>
                  </a:lnTo>
                  <a:lnTo>
                    <a:pt x="2122115" y="168264"/>
                  </a:lnTo>
                  <a:lnTo>
                    <a:pt x="2168566" y="179402"/>
                  </a:lnTo>
                  <a:lnTo>
                    <a:pt x="2214730" y="191043"/>
                  </a:lnTo>
                  <a:lnTo>
                    <a:pt x="2260600" y="203200"/>
                  </a:lnTo>
                  <a:lnTo>
                    <a:pt x="2839640" y="424656"/>
                  </a:lnTo>
                  <a:lnTo>
                    <a:pt x="3444875" y="730250"/>
                  </a:lnTo>
                  <a:lnTo>
                    <a:pt x="3921521" y="1000918"/>
                  </a:lnTo>
                  <a:lnTo>
                    <a:pt x="4114800" y="1117600"/>
                  </a:lnTo>
                </a:path>
              </a:pathLst>
            </a:custGeom>
            <a:ln w="254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8425816" y="5673805"/>
            <a:ext cx="180975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19" dirty="0">
                <a:solidFill>
                  <a:srgbClr val="898989"/>
                </a:solidFill>
                <a:latin typeface="Calibri"/>
                <a:cs typeface="Calibri"/>
              </a:rPr>
              <a:t>26</a:t>
            </a:r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2631068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3339" y="-31365"/>
            <a:ext cx="5535652" cy="1117614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spAutoFit/>
          </a:bodyPr>
          <a:lstStyle/>
          <a:p>
            <a:pPr marL="258604" algn="ctr">
              <a:spcBef>
                <a:spcPts val="75"/>
              </a:spcBef>
            </a:pPr>
            <a:r>
              <a:rPr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z="3600" spc="-1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Learning:</a:t>
            </a:r>
            <a:r>
              <a:rPr sz="3600" spc="-1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36751" y="3411986"/>
            <a:ext cx="4972685" cy="1479233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5141" y="1619251"/>
            <a:ext cx="7215505" cy="337079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04324" indent="-256699">
              <a:spcBef>
                <a:spcPts val="645"/>
              </a:spcBef>
              <a:buFont typeface="Arial MT"/>
              <a:buChar char="•"/>
              <a:tabLst>
                <a:tab pos="304324" algn="l"/>
              </a:tabLst>
            </a:pP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1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Georgia"/>
                <a:cs typeface="Georgia"/>
              </a:rPr>
              <a:t>y</a:t>
            </a:r>
            <a:r>
              <a:rPr sz="2363" spc="-23" baseline="-18518" dirty="0">
                <a:latin typeface="Calibri"/>
                <a:cs typeface="Calibri"/>
              </a:rPr>
              <a:t>1</a:t>
            </a:r>
            <a:r>
              <a:rPr sz="2400" spc="-15" dirty="0">
                <a:latin typeface="Calibri"/>
                <a:cs typeface="Calibri"/>
              </a:rPr>
              <a:t>),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2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Georgia"/>
                <a:cs typeface="Georgia"/>
              </a:rPr>
              <a:t>y</a:t>
            </a:r>
            <a:r>
              <a:rPr sz="2363" spc="-23" baseline="-18518" dirty="0">
                <a:latin typeface="Calibri"/>
                <a:cs typeface="Calibri"/>
              </a:rPr>
              <a:t>2</a:t>
            </a:r>
            <a:r>
              <a:rPr sz="2400" spc="-15" dirty="0">
                <a:latin typeface="Calibri"/>
                <a:cs typeface="Calibri"/>
              </a:rPr>
              <a:t>),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...,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n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9" dirty="0">
                <a:latin typeface="Georgia"/>
                <a:cs typeface="Georgia"/>
              </a:rPr>
              <a:t>y</a:t>
            </a:r>
            <a:r>
              <a:rPr sz="2363" spc="-28" baseline="-18518" dirty="0">
                <a:latin typeface="Calibri"/>
                <a:cs typeface="Calibri"/>
              </a:rPr>
              <a:t>n</a:t>
            </a:r>
            <a:r>
              <a:rPr sz="2400" spc="-19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304324" indent="-256699">
              <a:spcBef>
                <a:spcPts val="570"/>
              </a:spcBef>
              <a:buFont typeface="Arial MT"/>
              <a:buChar char="•"/>
              <a:tabLst>
                <a:tab pos="304324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i="1" spc="127" dirty="0">
                <a:latin typeface="Georgia"/>
                <a:cs typeface="Georgia"/>
              </a:rPr>
              <a:t>f</a:t>
            </a:r>
            <a:r>
              <a:rPr sz="2400" spc="127" dirty="0">
                <a:latin typeface="Calibri"/>
                <a:cs typeface="Calibri"/>
              </a:rPr>
              <a:t>(</a:t>
            </a:r>
            <a:r>
              <a:rPr sz="2400" i="1" spc="127" dirty="0">
                <a:latin typeface="Georgia"/>
                <a:cs typeface="Georgia"/>
              </a:rPr>
              <a:t>x</a:t>
            </a:r>
            <a:r>
              <a:rPr sz="2400" spc="127" dirty="0">
                <a:latin typeface="Calibri"/>
                <a:cs typeface="Calibri"/>
              </a:rPr>
              <a:t>)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i="1" spc="-180" dirty="0">
                <a:latin typeface="Georgia"/>
                <a:cs typeface="Georgia"/>
              </a:rPr>
              <a:t>y</a:t>
            </a:r>
            <a:r>
              <a:rPr sz="2400" i="1" spc="-34" dirty="0">
                <a:latin typeface="Georgia"/>
                <a:cs typeface="Georgia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spc="127" dirty="0">
                <a:latin typeface="Georgia"/>
                <a:cs typeface="Georgia"/>
              </a:rPr>
              <a:t>x</a:t>
            </a:r>
            <a:endParaRPr sz="2400" dirty="0">
              <a:latin typeface="Georgia"/>
              <a:cs typeface="Georgia"/>
            </a:endParaRPr>
          </a:p>
          <a:p>
            <a:pPr marL="390525">
              <a:spcBef>
                <a:spcPts val="570"/>
              </a:spcBef>
            </a:pP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98" dirty="0">
                <a:latin typeface="Arial MT"/>
                <a:cs typeface="Arial MT"/>
              </a:rPr>
              <a:t> </a:t>
            </a:r>
            <a:r>
              <a:rPr sz="2100" i="1" spc="-158" dirty="0">
                <a:latin typeface="Georgia"/>
                <a:cs typeface="Georgia"/>
              </a:rPr>
              <a:t>y</a:t>
            </a:r>
            <a:r>
              <a:rPr sz="2100" i="1" spc="-30" dirty="0">
                <a:latin typeface="Georgia"/>
                <a:cs typeface="Georgia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categorical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==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classification</a:t>
            </a:r>
            <a:endParaRPr sz="2100" dirty="0">
              <a:latin typeface="Calibri"/>
              <a:cs typeface="Calibri"/>
            </a:endParaRPr>
          </a:p>
          <a:p>
            <a:pPr marL="725329" algn="ctr">
              <a:spcBef>
                <a:spcPts val="2063"/>
              </a:spcBef>
            </a:pPr>
            <a:r>
              <a:rPr sz="1500" dirty="0">
                <a:latin typeface="Calibri"/>
                <a:cs typeface="Calibri"/>
              </a:rPr>
              <a:t>Breast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Cancer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(Malignant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Benign)</a:t>
            </a:r>
            <a:endParaRPr sz="1500" dirty="0">
              <a:latin typeface="Calibri"/>
              <a:cs typeface="Calibri"/>
            </a:endParaRPr>
          </a:p>
          <a:p>
            <a:pPr>
              <a:spcBef>
                <a:spcPts val="304"/>
              </a:spcBef>
            </a:pPr>
            <a:endParaRPr sz="1500" dirty="0">
              <a:latin typeface="Calibri"/>
              <a:cs typeface="Calibri"/>
            </a:endParaRPr>
          </a:p>
          <a:p>
            <a:pPr marL="45244"/>
            <a:r>
              <a:rPr sz="1500" spc="-8" dirty="0">
                <a:latin typeface="Calibri"/>
                <a:cs typeface="Calibri"/>
              </a:rPr>
              <a:t>1(Malignant)</a:t>
            </a:r>
            <a:endParaRPr sz="1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 dirty="0">
              <a:latin typeface="Calibri"/>
              <a:cs typeface="Calibri"/>
            </a:endParaRPr>
          </a:p>
          <a:p>
            <a:pPr>
              <a:spcBef>
                <a:spcPts val="398"/>
              </a:spcBef>
            </a:pPr>
            <a:endParaRPr sz="1500" dirty="0">
              <a:latin typeface="Calibri"/>
              <a:cs typeface="Calibri"/>
            </a:endParaRPr>
          </a:p>
          <a:p>
            <a:pPr marL="317659"/>
            <a:r>
              <a:rPr sz="1500" spc="-8" dirty="0">
                <a:latin typeface="Calibri"/>
                <a:cs typeface="Calibri"/>
              </a:rPr>
              <a:t>0(Benign)</a:t>
            </a:r>
            <a:endParaRPr sz="1500" dirty="0">
              <a:latin typeface="Calibri"/>
              <a:cs typeface="Calibri"/>
            </a:endParaRPr>
          </a:p>
          <a:p>
            <a:pPr marL="668179" algn="ctr">
              <a:spcBef>
                <a:spcPts val="428"/>
              </a:spcBef>
            </a:pPr>
            <a:r>
              <a:rPr spc="-15" dirty="0">
                <a:latin typeface="Calibri"/>
                <a:cs typeface="Calibri"/>
              </a:rPr>
              <a:t>Tumor</a:t>
            </a:r>
            <a:r>
              <a:rPr spc="-7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Size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1" y="3676650"/>
            <a:ext cx="4089400" cy="10287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8739" y="5784383"/>
            <a:ext cx="239522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dirty="0">
                <a:latin typeface="Calibri"/>
                <a:cs typeface="Calibri"/>
              </a:rPr>
              <a:t>Based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on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spc="-8" dirty="0">
                <a:latin typeface="Calibri"/>
                <a:cs typeface="Calibri"/>
              </a:rPr>
              <a:t>example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by</a:t>
            </a:r>
            <a:r>
              <a:rPr sz="1050" spc="-19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Andrew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spc="-19" dirty="0">
                <a:latin typeface="Calibri"/>
                <a:cs typeface="Calibri"/>
              </a:rPr>
              <a:t>Ng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25816" y="5673805"/>
            <a:ext cx="180975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19" dirty="0">
                <a:solidFill>
                  <a:srgbClr val="898989"/>
                </a:solidFill>
                <a:latin typeface="Calibri"/>
                <a:cs typeface="Calibri"/>
              </a:rPr>
              <a:t>27</a:t>
            </a:r>
            <a:endParaRPr sz="9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3395175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936751" y="3411986"/>
            <a:ext cx="4972685" cy="1479233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68948" y="2000964"/>
            <a:ext cx="7215505" cy="337079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04324" indent="-256699">
              <a:spcBef>
                <a:spcPts val="645"/>
              </a:spcBef>
              <a:buFont typeface="Arial MT"/>
              <a:buChar char="•"/>
              <a:tabLst>
                <a:tab pos="304324" algn="l"/>
              </a:tabLst>
            </a:pP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1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Georgia"/>
                <a:cs typeface="Georgia"/>
              </a:rPr>
              <a:t>y</a:t>
            </a:r>
            <a:r>
              <a:rPr sz="2363" spc="-23" baseline="-18518" dirty="0">
                <a:latin typeface="Calibri"/>
                <a:cs typeface="Calibri"/>
              </a:rPr>
              <a:t>1</a:t>
            </a:r>
            <a:r>
              <a:rPr sz="2400" spc="-15" dirty="0">
                <a:latin typeface="Calibri"/>
                <a:cs typeface="Calibri"/>
              </a:rPr>
              <a:t>),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2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Georgia"/>
                <a:cs typeface="Georgia"/>
              </a:rPr>
              <a:t>y</a:t>
            </a:r>
            <a:r>
              <a:rPr sz="2363" spc="-23" baseline="-18518" dirty="0">
                <a:latin typeface="Calibri"/>
                <a:cs typeface="Calibri"/>
              </a:rPr>
              <a:t>2</a:t>
            </a:r>
            <a:r>
              <a:rPr sz="2400" spc="-15" dirty="0">
                <a:latin typeface="Calibri"/>
                <a:cs typeface="Calibri"/>
              </a:rPr>
              <a:t>),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...,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n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9" dirty="0">
                <a:latin typeface="Georgia"/>
                <a:cs typeface="Georgia"/>
              </a:rPr>
              <a:t>y</a:t>
            </a:r>
            <a:r>
              <a:rPr sz="2363" spc="-28" baseline="-18518" dirty="0">
                <a:latin typeface="Calibri"/>
                <a:cs typeface="Calibri"/>
              </a:rPr>
              <a:t>n</a:t>
            </a:r>
            <a:r>
              <a:rPr sz="2400" spc="-19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304324" indent="-256699">
              <a:spcBef>
                <a:spcPts val="570"/>
              </a:spcBef>
              <a:buFont typeface="Arial MT"/>
              <a:buChar char="•"/>
              <a:tabLst>
                <a:tab pos="304324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i="1" spc="127" dirty="0">
                <a:latin typeface="Georgia"/>
                <a:cs typeface="Georgia"/>
              </a:rPr>
              <a:t>f</a:t>
            </a:r>
            <a:r>
              <a:rPr sz="2400" spc="127" dirty="0">
                <a:latin typeface="Calibri"/>
                <a:cs typeface="Calibri"/>
              </a:rPr>
              <a:t>(</a:t>
            </a:r>
            <a:r>
              <a:rPr sz="2400" i="1" spc="127" dirty="0">
                <a:latin typeface="Georgia"/>
                <a:cs typeface="Georgia"/>
              </a:rPr>
              <a:t>x</a:t>
            </a:r>
            <a:r>
              <a:rPr sz="2400" spc="127" dirty="0">
                <a:latin typeface="Calibri"/>
                <a:cs typeface="Calibri"/>
              </a:rPr>
              <a:t>)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i="1" spc="-180" dirty="0">
                <a:latin typeface="Georgia"/>
                <a:cs typeface="Georgia"/>
              </a:rPr>
              <a:t>y</a:t>
            </a:r>
            <a:r>
              <a:rPr sz="2400" i="1" spc="-34" dirty="0">
                <a:latin typeface="Georgia"/>
                <a:cs typeface="Georgia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spc="127" dirty="0">
                <a:latin typeface="Georgia"/>
                <a:cs typeface="Georgia"/>
              </a:rPr>
              <a:t>x</a:t>
            </a:r>
            <a:endParaRPr sz="2400" dirty="0">
              <a:latin typeface="Georgia"/>
              <a:cs typeface="Georgia"/>
            </a:endParaRPr>
          </a:p>
          <a:p>
            <a:pPr marL="390525">
              <a:spcBef>
                <a:spcPts val="570"/>
              </a:spcBef>
            </a:pP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98" dirty="0">
                <a:latin typeface="Arial MT"/>
                <a:cs typeface="Arial MT"/>
              </a:rPr>
              <a:t> </a:t>
            </a:r>
            <a:r>
              <a:rPr sz="2100" i="1" spc="-158" dirty="0">
                <a:latin typeface="Georgia"/>
                <a:cs typeface="Georgia"/>
              </a:rPr>
              <a:t>y</a:t>
            </a:r>
            <a:r>
              <a:rPr sz="2100" i="1" spc="-30" dirty="0">
                <a:latin typeface="Georgia"/>
                <a:cs typeface="Georgia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categorical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==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classification</a:t>
            </a:r>
            <a:endParaRPr sz="2100" dirty="0">
              <a:latin typeface="Calibri"/>
              <a:cs typeface="Calibri"/>
            </a:endParaRPr>
          </a:p>
          <a:p>
            <a:pPr marL="725329" algn="ctr">
              <a:spcBef>
                <a:spcPts val="2063"/>
              </a:spcBef>
            </a:pPr>
            <a:r>
              <a:rPr sz="1500" dirty="0">
                <a:latin typeface="Calibri"/>
                <a:cs typeface="Calibri"/>
              </a:rPr>
              <a:t>Breast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Cancer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(Malignant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Benign)</a:t>
            </a:r>
            <a:endParaRPr sz="1500" dirty="0">
              <a:latin typeface="Calibri"/>
              <a:cs typeface="Calibri"/>
            </a:endParaRPr>
          </a:p>
          <a:p>
            <a:pPr>
              <a:spcBef>
                <a:spcPts val="304"/>
              </a:spcBef>
            </a:pPr>
            <a:endParaRPr sz="1500" dirty="0">
              <a:latin typeface="Calibri"/>
              <a:cs typeface="Calibri"/>
            </a:endParaRPr>
          </a:p>
          <a:p>
            <a:pPr marL="45244"/>
            <a:r>
              <a:rPr sz="1500" spc="-8" dirty="0">
                <a:latin typeface="Calibri"/>
                <a:cs typeface="Calibri"/>
              </a:rPr>
              <a:t>1(Malignant)</a:t>
            </a:r>
            <a:endParaRPr sz="1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 dirty="0">
              <a:latin typeface="Calibri"/>
              <a:cs typeface="Calibri"/>
            </a:endParaRPr>
          </a:p>
          <a:p>
            <a:pPr>
              <a:spcBef>
                <a:spcPts val="398"/>
              </a:spcBef>
            </a:pPr>
            <a:endParaRPr sz="1500" dirty="0">
              <a:latin typeface="Calibri"/>
              <a:cs typeface="Calibri"/>
            </a:endParaRPr>
          </a:p>
          <a:p>
            <a:pPr marL="317659"/>
            <a:r>
              <a:rPr sz="1500" spc="-8" dirty="0">
                <a:latin typeface="Calibri"/>
                <a:cs typeface="Calibri"/>
              </a:rPr>
              <a:t>0(Benign)</a:t>
            </a:r>
            <a:endParaRPr sz="1500" dirty="0">
              <a:latin typeface="Calibri"/>
              <a:cs typeface="Calibri"/>
            </a:endParaRPr>
          </a:p>
          <a:p>
            <a:pPr marL="668179" algn="ctr">
              <a:spcBef>
                <a:spcPts val="428"/>
              </a:spcBef>
            </a:pPr>
            <a:r>
              <a:rPr spc="-15" dirty="0">
                <a:latin typeface="Calibri"/>
                <a:cs typeface="Calibri"/>
              </a:rPr>
              <a:t>Tumor</a:t>
            </a:r>
            <a:r>
              <a:rPr spc="-7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Size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1" y="3676650"/>
            <a:ext cx="4089400" cy="10287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11400" y="4749800"/>
              <a:ext cx="355600" cy="3683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900" y="4799567"/>
              <a:ext cx="228600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50" y="4793217"/>
              <a:ext cx="241300" cy="241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82900" y="4749800"/>
              <a:ext cx="355600" cy="368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399" y="4799567"/>
              <a:ext cx="2286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46400" y="479956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92400" y="4749800"/>
              <a:ext cx="355600" cy="3683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799567"/>
              <a:ext cx="228600" cy="2286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755900" y="479956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0900" y="4749800"/>
              <a:ext cx="368300" cy="3683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0" y="4799567"/>
              <a:ext cx="228600" cy="2286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0" y="4793217"/>
              <a:ext cx="241300" cy="241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91000" y="4749800"/>
              <a:ext cx="355600" cy="3683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4799567"/>
              <a:ext cx="228600" cy="2286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793217"/>
              <a:ext cx="241300" cy="241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37100" y="4749800"/>
              <a:ext cx="355600" cy="3683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4799567"/>
              <a:ext cx="2286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793217"/>
              <a:ext cx="241300" cy="241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16688" y="3804535"/>
              <a:ext cx="241300" cy="2413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84850" y="3804535"/>
              <a:ext cx="241300" cy="241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2290" y="3804535"/>
              <a:ext cx="241300" cy="241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65650" y="3804535"/>
              <a:ext cx="241300" cy="241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33850" y="3804535"/>
              <a:ext cx="241300" cy="241300"/>
            </a:xfrm>
            <a:prstGeom prst="rect">
              <a:avLst/>
            </a:prstGeom>
          </p:spPr>
        </p:pic>
      </p:grpSp>
      <p:sp>
        <p:nvSpPr>
          <p:cNvPr id="64" name="object 64"/>
          <p:cNvSpPr/>
          <p:nvPr/>
        </p:nvSpPr>
        <p:spPr>
          <a:xfrm>
            <a:off x="1962976" y="5414310"/>
            <a:ext cx="4946015" cy="129064"/>
          </a:xfrm>
          <a:custGeom>
            <a:avLst/>
            <a:gdLst/>
            <a:ahLst/>
            <a:cxnLst/>
            <a:rect l="l" t="t" r="r" b="b"/>
            <a:pathLst>
              <a:path w="4946015" h="172085">
                <a:moveTo>
                  <a:pt x="4793672" y="0"/>
                </a:moveTo>
                <a:lnTo>
                  <a:pt x="4774907" y="17224"/>
                </a:lnTo>
                <a:lnTo>
                  <a:pt x="4775382" y="24511"/>
                </a:lnTo>
                <a:lnTo>
                  <a:pt x="4778555" y="31089"/>
                </a:lnTo>
                <a:lnTo>
                  <a:pt x="4784206" y="36118"/>
                </a:lnTo>
                <a:lnTo>
                  <a:pt x="4837640" y="67288"/>
                </a:lnTo>
                <a:lnTo>
                  <a:pt x="0" y="67289"/>
                </a:lnTo>
                <a:lnTo>
                  <a:pt x="0" y="105389"/>
                </a:lnTo>
                <a:lnTo>
                  <a:pt x="4837640" y="105388"/>
                </a:lnTo>
                <a:lnTo>
                  <a:pt x="4784206" y="136558"/>
                </a:lnTo>
                <a:lnTo>
                  <a:pt x="4778555" y="141587"/>
                </a:lnTo>
                <a:lnTo>
                  <a:pt x="4775382" y="148165"/>
                </a:lnTo>
                <a:lnTo>
                  <a:pt x="4774907" y="155452"/>
                </a:lnTo>
                <a:lnTo>
                  <a:pt x="4777350" y="162612"/>
                </a:lnTo>
                <a:lnTo>
                  <a:pt x="4782379" y="168262"/>
                </a:lnTo>
                <a:lnTo>
                  <a:pt x="4788956" y="171436"/>
                </a:lnTo>
                <a:lnTo>
                  <a:pt x="4796244" y="171911"/>
                </a:lnTo>
                <a:lnTo>
                  <a:pt x="4803404" y="169468"/>
                </a:lnTo>
                <a:lnTo>
                  <a:pt x="4945912" y="86338"/>
                </a:lnTo>
                <a:lnTo>
                  <a:pt x="4798860" y="557"/>
                </a:lnTo>
                <a:lnTo>
                  <a:pt x="479367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3854081" y="5618768"/>
            <a:ext cx="13690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149"/>
              </a:lnSpc>
            </a:pPr>
            <a:r>
              <a:rPr spc="-15" dirty="0">
                <a:latin typeface="Calibri"/>
                <a:cs typeface="Calibri"/>
              </a:rPr>
              <a:t>Tumor</a:t>
            </a:r>
            <a:r>
              <a:rPr spc="-7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Size</a:t>
            </a:r>
            <a:endParaRPr>
              <a:latin typeface="Calibri"/>
              <a:cs typeface="Calibri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4294967295"/>
          </p:nvPr>
        </p:nvSpPr>
        <p:spPr>
          <a:xfrm>
            <a:off x="8400416" y="5696585"/>
            <a:ext cx="244475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28575">
              <a:spcBef>
                <a:spcPts val="30"/>
              </a:spcBef>
            </a:pPr>
            <a:r>
              <a:rPr spc="-19" dirty="0"/>
              <a:t>28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78739" y="5790763"/>
            <a:ext cx="2395220" cy="164469"/>
          </a:xfrm>
          <a:prstGeom prst="rect">
            <a:avLst/>
          </a:prstGeom>
        </p:spPr>
        <p:txBody>
          <a:bodyPr vert="horz" wrap="square" lIns="0" tIns="2858" rIns="0" bIns="0" rtlCol="0">
            <a:spAutoFit/>
          </a:bodyPr>
          <a:lstStyle/>
          <a:p>
            <a:pPr marL="9525">
              <a:spcBef>
                <a:spcPts val="23"/>
              </a:spcBef>
            </a:pPr>
            <a:r>
              <a:rPr sz="1050" dirty="0">
                <a:latin typeface="Calibri"/>
                <a:cs typeface="Calibri"/>
              </a:rPr>
              <a:t>Based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on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spc="-8" dirty="0">
                <a:latin typeface="Calibri"/>
                <a:cs typeface="Calibri"/>
              </a:rPr>
              <a:t>example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by</a:t>
            </a:r>
            <a:r>
              <a:rPr sz="1050" spc="-19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Andrew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spc="-19" dirty="0">
                <a:latin typeface="Calibri"/>
                <a:cs typeface="Calibri"/>
              </a:rPr>
              <a:t>Ng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0" name="object 2">
            <a:extLst>
              <a:ext uri="{FF2B5EF4-FFF2-40B4-BE49-F238E27FC236}">
                <a16:creationId xmlns:a16="http://schemas.microsoft.com/office/drawing/2014/main" id="{541632E5-9908-4266-878D-C36AE4CA68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3339" y="-31365"/>
            <a:ext cx="5535652" cy="1117614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spAutoFit/>
          </a:bodyPr>
          <a:lstStyle/>
          <a:p>
            <a:pPr marL="258604" algn="ctr">
              <a:spcBef>
                <a:spcPts val="75"/>
              </a:spcBef>
            </a:pPr>
            <a:r>
              <a:rPr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z="3600" spc="-1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Learning:</a:t>
            </a:r>
            <a:r>
              <a:rPr sz="3600" spc="-1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731449217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936751" y="3411986"/>
            <a:ext cx="4972685" cy="1479233"/>
            <a:chOff x="1936750" y="3406315"/>
            <a:chExt cx="4972685" cy="1972310"/>
          </a:xfrm>
        </p:grpSpPr>
        <p:sp>
          <p:nvSpPr>
            <p:cNvPr id="4" name="object 4"/>
            <p:cNvSpPr/>
            <p:nvPr/>
          </p:nvSpPr>
          <p:spPr>
            <a:xfrm>
              <a:off x="1962975" y="3406317"/>
              <a:ext cx="4946015" cy="1972310"/>
            </a:xfrm>
            <a:custGeom>
              <a:avLst/>
              <a:gdLst/>
              <a:ahLst/>
              <a:cxnLst/>
              <a:rect l="l" t="t" r="r" b="b"/>
              <a:pathLst>
                <a:path w="4946015" h="1972310">
                  <a:moveTo>
                    <a:pt x="4945900" y="1514932"/>
                  </a:moveTo>
                  <a:lnTo>
                    <a:pt x="4798860" y="1429156"/>
                  </a:lnTo>
                  <a:lnTo>
                    <a:pt x="4793666" y="1428597"/>
                  </a:lnTo>
                  <a:lnTo>
                    <a:pt x="4788954" y="1429842"/>
                  </a:lnTo>
                  <a:lnTo>
                    <a:pt x="4784242" y="1431086"/>
                  </a:lnTo>
                  <a:lnTo>
                    <a:pt x="4780000" y="1434122"/>
                  </a:lnTo>
                  <a:lnTo>
                    <a:pt x="4777346" y="1438668"/>
                  </a:lnTo>
                  <a:lnTo>
                    <a:pt x="4774895" y="1445818"/>
                  </a:lnTo>
                  <a:lnTo>
                    <a:pt x="4775378" y="1453108"/>
                  </a:lnTo>
                  <a:lnTo>
                    <a:pt x="4778553" y="1459687"/>
                  </a:lnTo>
                  <a:lnTo>
                    <a:pt x="4784204" y="1464716"/>
                  </a:lnTo>
                  <a:lnTo>
                    <a:pt x="4837633" y="1495882"/>
                  </a:lnTo>
                  <a:lnTo>
                    <a:pt x="157340" y="1495894"/>
                  </a:lnTo>
                  <a:lnTo>
                    <a:pt x="157340" y="108280"/>
                  </a:lnTo>
                  <a:lnTo>
                    <a:pt x="188518" y="161709"/>
                  </a:lnTo>
                  <a:lnTo>
                    <a:pt x="193548" y="167360"/>
                  </a:lnTo>
                  <a:lnTo>
                    <a:pt x="200113" y="170535"/>
                  </a:lnTo>
                  <a:lnTo>
                    <a:pt x="207403" y="171005"/>
                  </a:lnTo>
                  <a:lnTo>
                    <a:pt x="214566" y="168567"/>
                  </a:lnTo>
                  <a:lnTo>
                    <a:pt x="220218" y="163537"/>
                  </a:lnTo>
                  <a:lnTo>
                    <a:pt x="223393" y="156959"/>
                  </a:lnTo>
                  <a:lnTo>
                    <a:pt x="223862" y="149669"/>
                  </a:lnTo>
                  <a:lnTo>
                    <a:pt x="221424" y="142506"/>
                  </a:lnTo>
                  <a:lnTo>
                    <a:pt x="138290" y="0"/>
                  </a:lnTo>
                  <a:lnTo>
                    <a:pt x="55168" y="142506"/>
                  </a:lnTo>
                  <a:lnTo>
                    <a:pt x="52717" y="149669"/>
                  </a:lnTo>
                  <a:lnTo>
                    <a:pt x="53200" y="156959"/>
                  </a:lnTo>
                  <a:lnTo>
                    <a:pt x="56362" y="163537"/>
                  </a:lnTo>
                  <a:lnTo>
                    <a:pt x="62014" y="168567"/>
                  </a:lnTo>
                  <a:lnTo>
                    <a:pt x="69176" y="171005"/>
                  </a:lnTo>
                  <a:lnTo>
                    <a:pt x="76466" y="170535"/>
                  </a:lnTo>
                  <a:lnTo>
                    <a:pt x="83045" y="167360"/>
                  </a:lnTo>
                  <a:lnTo>
                    <a:pt x="88074" y="161709"/>
                  </a:lnTo>
                  <a:lnTo>
                    <a:pt x="119240" y="108280"/>
                  </a:lnTo>
                  <a:lnTo>
                    <a:pt x="119240" y="1495894"/>
                  </a:lnTo>
                  <a:lnTo>
                    <a:pt x="0" y="1495894"/>
                  </a:lnTo>
                  <a:lnTo>
                    <a:pt x="0" y="1533994"/>
                  </a:lnTo>
                  <a:lnTo>
                    <a:pt x="119240" y="1533994"/>
                  </a:lnTo>
                  <a:lnTo>
                    <a:pt x="119240" y="1972132"/>
                  </a:lnTo>
                  <a:lnTo>
                    <a:pt x="157340" y="1972132"/>
                  </a:lnTo>
                  <a:lnTo>
                    <a:pt x="157340" y="1533994"/>
                  </a:lnTo>
                  <a:lnTo>
                    <a:pt x="4837633" y="1533982"/>
                  </a:lnTo>
                  <a:lnTo>
                    <a:pt x="4784204" y="1565160"/>
                  </a:lnTo>
                  <a:lnTo>
                    <a:pt x="4778553" y="1570189"/>
                  </a:lnTo>
                  <a:lnTo>
                    <a:pt x="4775378" y="1576768"/>
                  </a:lnTo>
                  <a:lnTo>
                    <a:pt x="4774895" y="1584058"/>
                  </a:lnTo>
                  <a:lnTo>
                    <a:pt x="4777346" y="1591208"/>
                  </a:lnTo>
                  <a:lnTo>
                    <a:pt x="4782375" y="1596859"/>
                  </a:lnTo>
                  <a:lnTo>
                    <a:pt x="4788954" y="1600034"/>
                  </a:lnTo>
                  <a:lnTo>
                    <a:pt x="4796244" y="1600517"/>
                  </a:lnTo>
                  <a:lnTo>
                    <a:pt x="4803394" y="1598066"/>
                  </a:lnTo>
                  <a:lnTo>
                    <a:pt x="4945900" y="1514932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5800" y="3930650"/>
              <a:ext cx="266700" cy="0"/>
            </a:xfrm>
            <a:custGeom>
              <a:avLst/>
              <a:gdLst/>
              <a:ahLst/>
              <a:cxnLst/>
              <a:rect l="l" t="t" r="r" b="b"/>
              <a:pathLst>
                <a:path w="266700">
                  <a:moveTo>
                    <a:pt x="0" y="0"/>
                  </a:moveTo>
                  <a:lnTo>
                    <a:pt x="266700" y="1"/>
                  </a:lnTo>
                </a:path>
              </a:pathLst>
            </a:custGeom>
            <a:ln w="3810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1648" y="1868462"/>
            <a:ext cx="7190105" cy="304250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94799" indent="-256699">
              <a:spcBef>
                <a:spcPts val="645"/>
              </a:spcBef>
              <a:buFont typeface="Arial MT"/>
              <a:buChar char="•"/>
              <a:tabLst>
                <a:tab pos="294799" algn="l"/>
              </a:tabLst>
            </a:pP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1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Georgia"/>
                <a:cs typeface="Georgia"/>
              </a:rPr>
              <a:t>y</a:t>
            </a:r>
            <a:r>
              <a:rPr sz="2363" spc="-23" baseline="-18518" dirty="0">
                <a:latin typeface="Calibri"/>
                <a:cs typeface="Calibri"/>
              </a:rPr>
              <a:t>1</a:t>
            </a:r>
            <a:r>
              <a:rPr sz="2400" spc="-15" dirty="0">
                <a:latin typeface="Calibri"/>
                <a:cs typeface="Calibri"/>
              </a:rPr>
              <a:t>),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2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Georgia"/>
                <a:cs typeface="Georgia"/>
              </a:rPr>
              <a:t>y</a:t>
            </a:r>
            <a:r>
              <a:rPr sz="2363" spc="-23" baseline="-18518" dirty="0">
                <a:latin typeface="Calibri"/>
                <a:cs typeface="Calibri"/>
              </a:rPr>
              <a:t>2</a:t>
            </a:r>
            <a:r>
              <a:rPr sz="2400" spc="-15" dirty="0">
                <a:latin typeface="Calibri"/>
                <a:cs typeface="Calibri"/>
              </a:rPr>
              <a:t>),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...,</a:t>
            </a:r>
            <a:r>
              <a:rPr sz="2400" spc="-41" dirty="0">
                <a:latin typeface="Calibri"/>
                <a:cs typeface="Calibri"/>
              </a:rPr>
              <a:t> </a:t>
            </a:r>
            <a:r>
              <a:rPr sz="2400" spc="41" dirty="0">
                <a:latin typeface="Calibri"/>
                <a:cs typeface="Calibri"/>
              </a:rPr>
              <a:t>(</a:t>
            </a:r>
            <a:r>
              <a:rPr sz="2400" i="1" spc="41" dirty="0">
                <a:latin typeface="Georgia"/>
                <a:cs typeface="Georgia"/>
              </a:rPr>
              <a:t>x</a:t>
            </a:r>
            <a:r>
              <a:rPr sz="2363" spc="62" baseline="-18518" dirty="0">
                <a:latin typeface="Calibri"/>
                <a:cs typeface="Calibri"/>
              </a:rPr>
              <a:t>n</a:t>
            </a:r>
            <a:r>
              <a:rPr sz="2400" spc="41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9" dirty="0">
                <a:latin typeface="Georgia"/>
                <a:cs typeface="Georgia"/>
              </a:rPr>
              <a:t>y</a:t>
            </a:r>
            <a:r>
              <a:rPr sz="2363" spc="-28" baseline="-18518" dirty="0">
                <a:latin typeface="Calibri"/>
                <a:cs typeface="Calibri"/>
              </a:rPr>
              <a:t>n</a:t>
            </a:r>
            <a:r>
              <a:rPr sz="2400" spc="-19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94799" indent="-256699">
              <a:spcBef>
                <a:spcPts val="570"/>
              </a:spcBef>
              <a:buFont typeface="Arial MT"/>
              <a:buChar char="•"/>
              <a:tabLst>
                <a:tab pos="294799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6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i="1" spc="127" dirty="0">
                <a:latin typeface="Georgia"/>
                <a:cs typeface="Georgia"/>
              </a:rPr>
              <a:t>f</a:t>
            </a:r>
            <a:r>
              <a:rPr sz="2400" spc="127" dirty="0">
                <a:latin typeface="Calibri"/>
                <a:cs typeface="Calibri"/>
              </a:rPr>
              <a:t>(</a:t>
            </a:r>
            <a:r>
              <a:rPr sz="2400" i="1" spc="127" dirty="0">
                <a:latin typeface="Georgia"/>
                <a:cs typeface="Georgia"/>
              </a:rPr>
              <a:t>x</a:t>
            </a:r>
            <a:r>
              <a:rPr sz="2400" spc="127" dirty="0">
                <a:latin typeface="Calibri"/>
                <a:cs typeface="Calibri"/>
              </a:rPr>
              <a:t>)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38" dirty="0">
                <a:latin typeface="Calibri"/>
                <a:cs typeface="Calibri"/>
              </a:rPr>
              <a:t> </a:t>
            </a:r>
            <a:r>
              <a:rPr sz="2400" i="1" spc="-180" dirty="0">
                <a:latin typeface="Georgia"/>
                <a:cs typeface="Georgia"/>
              </a:rPr>
              <a:t>y</a:t>
            </a:r>
            <a:r>
              <a:rPr sz="2400" i="1" spc="-34" dirty="0">
                <a:latin typeface="Georgia"/>
                <a:cs typeface="Georgia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spc="127" dirty="0">
                <a:latin typeface="Georgia"/>
                <a:cs typeface="Georgia"/>
              </a:rPr>
              <a:t>x</a:t>
            </a:r>
            <a:endParaRPr sz="2400" dirty="0">
              <a:latin typeface="Georgia"/>
              <a:cs typeface="Georgia"/>
            </a:endParaRPr>
          </a:p>
          <a:p>
            <a:pPr marL="381000">
              <a:spcBef>
                <a:spcPts val="570"/>
              </a:spcBef>
            </a:pP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98" dirty="0">
                <a:latin typeface="Arial MT"/>
                <a:cs typeface="Arial MT"/>
              </a:rPr>
              <a:t> </a:t>
            </a:r>
            <a:r>
              <a:rPr sz="2100" i="1" spc="-158" dirty="0">
                <a:latin typeface="Georgia"/>
                <a:cs typeface="Georgia"/>
              </a:rPr>
              <a:t>y</a:t>
            </a:r>
            <a:r>
              <a:rPr sz="2100" i="1" spc="-30" dirty="0">
                <a:latin typeface="Georgia"/>
                <a:cs typeface="Georgia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categorical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==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classification</a:t>
            </a:r>
            <a:endParaRPr sz="2100" dirty="0">
              <a:latin typeface="Calibri"/>
              <a:cs typeface="Calibri"/>
            </a:endParaRPr>
          </a:p>
          <a:p>
            <a:pPr marL="1704975">
              <a:spcBef>
                <a:spcPts val="2063"/>
              </a:spcBef>
            </a:pPr>
            <a:r>
              <a:rPr sz="1500" dirty="0">
                <a:latin typeface="Calibri"/>
                <a:cs typeface="Calibri"/>
              </a:rPr>
              <a:t>Breast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Cancer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(Malignant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Benign)</a:t>
            </a:r>
            <a:endParaRPr sz="1500" dirty="0">
              <a:latin typeface="Calibri"/>
              <a:cs typeface="Calibri"/>
            </a:endParaRPr>
          </a:p>
          <a:p>
            <a:pPr>
              <a:spcBef>
                <a:spcPts val="304"/>
              </a:spcBef>
            </a:pPr>
            <a:endParaRPr sz="1500" dirty="0">
              <a:latin typeface="Calibri"/>
              <a:cs typeface="Calibri"/>
            </a:endParaRPr>
          </a:p>
          <a:p>
            <a:pPr marR="4351496" algn="r"/>
            <a:r>
              <a:rPr sz="1500" spc="-8" dirty="0">
                <a:latin typeface="Calibri"/>
                <a:cs typeface="Calibri"/>
              </a:rPr>
              <a:t>1(Malignant)</a:t>
            </a:r>
            <a:endParaRPr sz="1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 dirty="0">
              <a:latin typeface="Calibri"/>
              <a:cs typeface="Calibri"/>
            </a:endParaRPr>
          </a:p>
          <a:p>
            <a:pPr>
              <a:spcBef>
                <a:spcPts val="398"/>
              </a:spcBef>
            </a:pPr>
            <a:endParaRPr sz="1500" dirty="0">
              <a:latin typeface="Calibri"/>
              <a:cs typeface="Calibri"/>
            </a:endParaRPr>
          </a:p>
          <a:p>
            <a:pPr marR="4333399" algn="r"/>
            <a:r>
              <a:rPr sz="1500" spc="-8" dirty="0">
                <a:latin typeface="Calibri"/>
                <a:cs typeface="Calibri"/>
              </a:rPr>
              <a:t>0(Benign)</a:t>
            </a:r>
            <a:endParaRPr sz="15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11401" y="3676650"/>
            <a:ext cx="4089400" cy="1028700"/>
            <a:chOff x="2311400" y="3759200"/>
            <a:chExt cx="4089400" cy="13716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4762500"/>
              <a:ext cx="355600" cy="368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4900" y="4806950"/>
              <a:ext cx="2286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8550" y="4800600"/>
              <a:ext cx="241300" cy="241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2900" y="4762500"/>
              <a:ext cx="355600" cy="368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6399" y="4806950"/>
              <a:ext cx="2286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464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0" y="4762500"/>
              <a:ext cx="355600" cy="3683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900" y="4806950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5900" y="4806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0900" y="4762500"/>
              <a:ext cx="368300" cy="368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2780" y="4806950"/>
              <a:ext cx="2286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430" y="4800600"/>
              <a:ext cx="241300" cy="241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4762500"/>
              <a:ext cx="355600" cy="368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4806950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8150" y="4800600"/>
              <a:ext cx="241300" cy="241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100" y="4762500"/>
              <a:ext cx="355600" cy="368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4806950"/>
              <a:ext cx="228600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94250" y="4800600"/>
              <a:ext cx="241300" cy="2413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800" y="3759200"/>
              <a:ext cx="368300" cy="36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6688" y="3803650"/>
              <a:ext cx="241300" cy="2413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7700" y="3759200"/>
              <a:ext cx="355600" cy="368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4850" y="3803650"/>
              <a:ext cx="241300" cy="241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2500" y="3759200"/>
              <a:ext cx="368300" cy="3683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2290" y="3803650"/>
              <a:ext cx="241300" cy="241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8500" y="3759200"/>
              <a:ext cx="355600" cy="3683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5650" y="3803650"/>
              <a:ext cx="241300" cy="241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6700" y="3759200"/>
              <a:ext cx="355600" cy="3683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33850" y="3803650"/>
              <a:ext cx="241300" cy="24130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1962976" y="5143500"/>
            <a:ext cx="4946015" cy="695325"/>
            <a:chOff x="1962975" y="5715000"/>
            <a:chExt cx="4946015" cy="927100"/>
          </a:xfrm>
        </p:grpSpPr>
        <p:sp>
          <p:nvSpPr>
            <p:cNvPr id="37" name="object 37"/>
            <p:cNvSpPr/>
            <p:nvPr/>
          </p:nvSpPr>
          <p:spPr>
            <a:xfrm>
              <a:off x="1962975" y="6076078"/>
              <a:ext cx="4946015" cy="172085"/>
            </a:xfrm>
            <a:custGeom>
              <a:avLst/>
              <a:gdLst/>
              <a:ahLst/>
              <a:cxnLst/>
              <a:rect l="l" t="t" r="r" b="b"/>
              <a:pathLst>
                <a:path w="4946015" h="172085">
                  <a:moveTo>
                    <a:pt x="4793672" y="0"/>
                  </a:moveTo>
                  <a:lnTo>
                    <a:pt x="4774907" y="17224"/>
                  </a:lnTo>
                  <a:lnTo>
                    <a:pt x="4775382" y="24511"/>
                  </a:lnTo>
                  <a:lnTo>
                    <a:pt x="4778555" y="31089"/>
                  </a:lnTo>
                  <a:lnTo>
                    <a:pt x="4784206" y="36118"/>
                  </a:lnTo>
                  <a:lnTo>
                    <a:pt x="4837640" y="67288"/>
                  </a:lnTo>
                  <a:lnTo>
                    <a:pt x="0" y="67289"/>
                  </a:lnTo>
                  <a:lnTo>
                    <a:pt x="0" y="105389"/>
                  </a:lnTo>
                  <a:lnTo>
                    <a:pt x="4837640" y="105388"/>
                  </a:lnTo>
                  <a:lnTo>
                    <a:pt x="4784206" y="136558"/>
                  </a:lnTo>
                  <a:lnTo>
                    <a:pt x="4778555" y="141587"/>
                  </a:lnTo>
                  <a:lnTo>
                    <a:pt x="4775382" y="148165"/>
                  </a:lnTo>
                  <a:lnTo>
                    <a:pt x="4774907" y="155452"/>
                  </a:lnTo>
                  <a:lnTo>
                    <a:pt x="4777350" y="162612"/>
                  </a:lnTo>
                  <a:lnTo>
                    <a:pt x="4782379" y="168262"/>
                  </a:lnTo>
                  <a:lnTo>
                    <a:pt x="4788956" y="171436"/>
                  </a:lnTo>
                  <a:lnTo>
                    <a:pt x="4796244" y="171911"/>
                  </a:lnTo>
                  <a:lnTo>
                    <a:pt x="4803404" y="169468"/>
                  </a:lnTo>
                  <a:lnTo>
                    <a:pt x="4945912" y="86338"/>
                  </a:lnTo>
                  <a:lnTo>
                    <a:pt x="4798860" y="557"/>
                  </a:lnTo>
                  <a:lnTo>
                    <a:pt x="4793672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98700" y="6019800"/>
              <a:ext cx="368300" cy="3683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0580" y="6060816"/>
              <a:ext cx="228600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4230" y="6054466"/>
              <a:ext cx="241300" cy="2413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70200" y="6019800"/>
              <a:ext cx="368300" cy="3683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2080" y="6060816"/>
              <a:ext cx="228600" cy="2286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9420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79700" y="6019800"/>
              <a:ext cx="368300" cy="3683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1580" y="6060816"/>
              <a:ext cx="228600" cy="228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7515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90900" y="6019800"/>
              <a:ext cx="368300" cy="3683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8463" y="6060816"/>
              <a:ext cx="228600" cy="2286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2112" y="6054466"/>
              <a:ext cx="241300" cy="2413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78300" y="6019800"/>
              <a:ext cx="368300" cy="368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0180" y="6060816"/>
              <a:ext cx="228600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2501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24400" y="6019800"/>
              <a:ext cx="368300" cy="3683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6280" y="6060816"/>
              <a:ext cx="228600" cy="2286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796280" y="60608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7800" y="6032500"/>
              <a:ext cx="368300" cy="3683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16688" y="6067166"/>
              <a:ext cx="241300" cy="2413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27700" y="6032500"/>
              <a:ext cx="355600" cy="3683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84850" y="6067166"/>
              <a:ext cx="241300" cy="2413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32500" y="6032500"/>
              <a:ext cx="368300" cy="3683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2290" y="6067166"/>
              <a:ext cx="241300" cy="2413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08500" y="6032500"/>
              <a:ext cx="355600" cy="3683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5720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599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299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720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76700" y="6032500"/>
              <a:ext cx="355600" cy="3683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1402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8982" y="158790"/>
                  </a:lnTo>
                  <a:lnTo>
                    <a:pt x="33477" y="195122"/>
                  </a:lnTo>
                  <a:lnTo>
                    <a:pt x="69809" y="219617"/>
                  </a:lnTo>
                  <a:lnTo>
                    <a:pt x="114300" y="228599"/>
                  </a:lnTo>
                  <a:lnTo>
                    <a:pt x="158790" y="219617"/>
                  </a:lnTo>
                  <a:lnTo>
                    <a:pt x="195122" y="195122"/>
                  </a:lnTo>
                  <a:lnTo>
                    <a:pt x="219617" y="158790"/>
                  </a:lnTo>
                  <a:lnTo>
                    <a:pt x="228600" y="114299"/>
                  </a:lnTo>
                  <a:lnTo>
                    <a:pt x="219617" y="69809"/>
                  </a:lnTo>
                  <a:lnTo>
                    <a:pt x="195122" y="33477"/>
                  </a:lnTo>
                  <a:lnTo>
                    <a:pt x="158790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140200" y="607351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A7E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95800" y="5715000"/>
              <a:ext cx="152400" cy="9271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572000" y="5753100"/>
              <a:ext cx="0" cy="796290"/>
            </a:xfrm>
            <a:custGeom>
              <a:avLst/>
              <a:gdLst/>
              <a:ahLst/>
              <a:cxnLst/>
              <a:rect l="l" t="t" r="r" b="b"/>
              <a:pathLst>
                <a:path h="796290">
                  <a:moveTo>
                    <a:pt x="0" y="0"/>
                  </a:moveTo>
                  <a:lnTo>
                    <a:pt x="1" y="796091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333565" y="4676953"/>
            <a:ext cx="2608580" cy="61491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99574">
              <a:spcBef>
                <a:spcPts val="75"/>
              </a:spcBef>
            </a:pPr>
            <a:r>
              <a:rPr spc="-15" dirty="0">
                <a:latin typeface="Calibri"/>
                <a:cs typeface="Calibri"/>
              </a:rPr>
              <a:t>Tumor</a:t>
            </a:r>
            <a:r>
              <a:rPr spc="-7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Size</a:t>
            </a:r>
            <a:endParaRPr>
              <a:latin typeface="Calibri"/>
              <a:cs typeface="Calibri"/>
            </a:endParaRPr>
          </a:p>
          <a:p>
            <a:pPr marL="9525">
              <a:spcBef>
                <a:spcPts val="1324"/>
              </a:spcBef>
              <a:tabLst>
                <a:tab pos="982504" algn="l"/>
              </a:tabLst>
            </a:pPr>
            <a:r>
              <a:rPr sz="1575" baseline="3968" dirty="0">
                <a:latin typeface="Calibri"/>
                <a:cs typeface="Calibri"/>
              </a:rPr>
              <a:t>Predict</a:t>
            </a:r>
            <a:r>
              <a:rPr sz="1575" spc="-78" baseline="3968" dirty="0">
                <a:latin typeface="Calibri"/>
                <a:cs typeface="Calibri"/>
              </a:rPr>
              <a:t> </a:t>
            </a:r>
            <a:r>
              <a:rPr sz="1575" spc="-11" baseline="3968" dirty="0">
                <a:latin typeface="Calibri"/>
                <a:cs typeface="Calibri"/>
              </a:rPr>
              <a:t>Benign</a:t>
            </a:r>
            <a:r>
              <a:rPr sz="1575" baseline="3968" dirty="0">
                <a:latin typeface="Calibri"/>
                <a:cs typeface="Calibri"/>
              </a:rPr>
              <a:t>	</a:t>
            </a:r>
            <a:r>
              <a:rPr sz="1050" dirty="0">
                <a:latin typeface="Calibri"/>
                <a:cs typeface="Calibri"/>
              </a:rPr>
              <a:t>Predict</a:t>
            </a:r>
            <a:r>
              <a:rPr sz="1050" spc="-53" dirty="0">
                <a:latin typeface="Calibri"/>
                <a:cs typeface="Calibri"/>
              </a:rPr>
              <a:t> </a:t>
            </a:r>
            <a:r>
              <a:rPr sz="1050" spc="-8" dirty="0">
                <a:latin typeface="Calibri"/>
                <a:cs typeface="Calibri"/>
              </a:rPr>
              <a:t>Malignant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854081" y="5618768"/>
            <a:ext cx="13690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149"/>
              </a:lnSpc>
            </a:pPr>
            <a:r>
              <a:rPr spc="-15" dirty="0">
                <a:latin typeface="Calibri"/>
                <a:cs typeface="Calibri"/>
              </a:rPr>
              <a:t>Tumor</a:t>
            </a:r>
            <a:r>
              <a:rPr spc="-7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Size</a:t>
            </a:r>
            <a:endParaRPr>
              <a:latin typeface="Calibri"/>
              <a:cs typeface="Calibri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4294967295"/>
          </p:nvPr>
        </p:nvSpPr>
        <p:spPr>
          <a:xfrm>
            <a:off x="8400416" y="5696585"/>
            <a:ext cx="244475" cy="188513"/>
          </a:xfrm>
          <a:prstGeom prst="rect">
            <a:avLst/>
          </a:prstGeom>
        </p:spPr>
        <p:txBody>
          <a:bodyPr vert="horz" wrap="square" lIns="0" tIns="3810" rIns="0" bIns="0" rtlCol="0" anchor="ctr">
            <a:spAutoFit/>
          </a:bodyPr>
          <a:lstStyle/>
          <a:p>
            <a:pPr marL="28575">
              <a:spcBef>
                <a:spcPts val="30"/>
              </a:spcBef>
            </a:pPr>
            <a:r>
              <a:rPr spc="-19" dirty="0"/>
              <a:t>29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78739" y="5790763"/>
            <a:ext cx="2395220" cy="164469"/>
          </a:xfrm>
          <a:prstGeom prst="rect">
            <a:avLst/>
          </a:prstGeom>
        </p:spPr>
        <p:txBody>
          <a:bodyPr vert="horz" wrap="square" lIns="0" tIns="2858" rIns="0" bIns="0" rtlCol="0">
            <a:spAutoFit/>
          </a:bodyPr>
          <a:lstStyle/>
          <a:p>
            <a:pPr marL="9525">
              <a:spcBef>
                <a:spcPts val="23"/>
              </a:spcBef>
            </a:pPr>
            <a:r>
              <a:rPr sz="1050" dirty="0">
                <a:latin typeface="Calibri"/>
                <a:cs typeface="Calibri"/>
              </a:rPr>
              <a:t>Based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on</a:t>
            </a:r>
            <a:r>
              <a:rPr sz="1050" spc="-23" dirty="0">
                <a:latin typeface="Calibri"/>
                <a:cs typeface="Calibri"/>
              </a:rPr>
              <a:t> </a:t>
            </a:r>
            <a:r>
              <a:rPr sz="1050" spc="-8" dirty="0">
                <a:latin typeface="Calibri"/>
                <a:cs typeface="Calibri"/>
              </a:rPr>
              <a:t>example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by</a:t>
            </a:r>
            <a:r>
              <a:rPr sz="1050" spc="-19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Andrew</a:t>
            </a:r>
            <a:r>
              <a:rPr sz="1050" spc="-26" dirty="0">
                <a:latin typeface="Calibri"/>
                <a:cs typeface="Calibri"/>
              </a:rPr>
              <a:t> </a:t>
            </a:r>
            <a:r>
              <a:rPr sz="1050" spc="-19" dirty="0">
                <a:latin typeface="Calibri"/>
                <a:cs typeface="Calibri"/>
              </a:rPr>
              <a:t>Ng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6" name="object 2">
            <a:extLst>
              <a:ext uri="{FF2B5EF4-FFF2-40B4-BE49-F238E27FC236}">
                <a16:creationId xmlns:a16="http://schemas.microsoft.com/office/drawing/2014/main" id="{BBA51C45-3B3A-4C03-81C0-C40477AFC5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3339" y="-31365"/>
            <a:ext cx="5535652" cy="1117614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spAutoFit/>
          </a:bodyPr>
          <a:lstStyle/>
          <a:p>
            <a:pPr marL="258604" algn="ctr">
              <a:spcBef>
                <a:spcPts val="75"/>
              </a:spcBef>
            </a:pPr>
            <a:r>
              <a:rPr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z="3600" spc="-1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Learning:</a:t>
            </a:r>
            <a:r>
              <a:rPr sz="3600" spc="-11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871682056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Supervised Algorithms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 (SVM)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1003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with labeled data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evaluate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labeled datasets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data preparation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9824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Unsupervised Learning &amp; Clustering</a:t>
            </a:r>
          </a:p>
        </p:txBody>
      </p:sp>
    </p:spTree>
    <p:extLst>
      <p:ext uri="{BB962C8B-B14F-4D97-AF65-F5344CB8AC3E}">
        <p14:creationId xmlns:p14="http://schemas.microsoft.com/office/powerpoint/2010/main" val="32839705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Unsupervised Learning?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is a type of machine learning in which models are trained using unlabeled dataset and are allowed to act on that data without any supervision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of unsupervised learning is to find the underlying structure of dataset, group that data according to similarities, and represents that dataset in compressed format.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584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Unsupervised learning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7C98B16-3C2E-4C6C-8B2C-1DC661C76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525" y="2485304"/>
            <a:ext cx="7264950" cy="3223600"/>
          </a:xfrm>
        </p:spPr>
      </p:pic>
    </p:spTree>
    <p:extLst>
      <p:ext uri="{BB962C8B-B14F-4D97-AF65-F5344CB8AC3E}">
        <p14:creationId xmlns:p14="http://schemas.microsoft.com/office/powerpoint/2010/main" val="440282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unsupervised learning method is cluster analysis which is used for exploratory data analysis to find hidden patterns or grouping in data.</a:t>
            </a:r>
          </a:p>
        </p:txBody>
      </p:sp>
    </p:spTree>
    <p:extLst>
      <p:ext uri="{BB962C8B-B14F-4D97-AF65-F5344CB8AC3E}">
        <p14:creationId xmlns:p14="http://schemas.microsoft.com/office/powerpoint/2010/main" val="2742601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Unsupervised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442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 of Unsupervised Learning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labeling needed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 hidden patterns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Harder to evaluate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precise results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9722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Clustering?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group of object that are similar to other objects in the cluster and dissimilar to data points in other cluster.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400F2-7C21-4BE3-9D2E-45DB47F70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80" y="3429000"/>
            <a:ext cx="6020640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90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clustering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has been widely used across industries for years: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Biology:- for genetics and species grouping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imaging:- for distinguishing between different kinds of tissues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Markets research:- for differentiating groups of customers based on some attributes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Recommender systems:- giving you better amazon purchase suggestion or Netflix movies matches</a:t>
            </a:r>
          </a:p>
          <a:p>
            <a:pPr lvl="1"/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80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Partition- based Clustering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Relatively efficient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k-means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 trees of clusters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Agglomerative, Divisive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Density- based clustering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 arbitrary shaped clusters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DBSCAN</a:t>
            </a:r>
          </a:p>
        </p:txBody>
      </p:sp>
    </p:spTree>
    <p:extLst>
      <p:ext uri="{BB962C8B-B14F-4D97-AF65-F5344CB8AC3E}">
        <p14:creationId xmlns:p14="http://schemas.microsoft.com/office/powerpoint/2010/main" val="3287594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https://www.slideshare.net/slideshow/supervised-machine-learning-258014214/258014214#4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https://www.slideshare.net/slideshow/unsupervised-learning-clustering-238979833/238979833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 build="p"/>
      <p:bldP spid="4" grpI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5257800" cy="762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458200" cy="5334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Kindly read the book before and after the lecture, if some terms/ words are not covered in the lecture, if appear in exam it might not appear strange or out of course.</a:t>
            </a: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lnSpc>
                <a:spcPct val="120000"/>
              </a:lnSpc>
            </a:pP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236</TotalTime>
  <Words>746</Words>
  <Application>Microsoft Office PowerPoint</Application>
  <PresentationFormat>On-screen Show (4:3)</PresentationFormat>
  <Paragraphs>151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Arial Black</vt:lpstr>
      <vt:lpstr>Arial MT</vt:lpstr>
      <vt:lpstr>Calibri</vt:lpstr>
      <vt:lpstr>Garamond</vt:lpstr>
      <vt:lpstr>Georgia</vt:lpstr>
      <vt:lpstr>Times New Roman</vt:lpstr>
      <vt:lpstr>Wingdings</vt:lpstr>
      <vt:lpstr>SE10 slides</vt:lpstr>
      <vt:lpstr>2_SE10 slides</vt:lpstr>
      <vt:lpstr>5_SE10 slides</vt:lpstr>
      <vt:lpstr>7_SE10 slides</vt:lpstr>
      <vt:lpstr>16_SE10 slides</vt:lpstr>
      <vt:lpstr>Data Mining DS-303</vt:lpstr>
      <vt:lpstr>Content </vt:lpstr>
      <vt:lpstr>Supervised Learning</vt:lpstr>
      <vt:lpstr>What is Supervised Learning?</vt:lpstr>
      <vt:lpstr>How Supervised Learning Works?</vt:lpstr>
      <vt:lpstr>Supervised Learning: Regression</vt:lpstr>
      <vt:lpstr>Supervised Learning: Classification</vt:lpstr>
      <vt:lpstr>Supervised Learning: Classification</vt:lpstr>
      <vt:lpstr>Supervised Learning: Classification</vt:lpstr>
      <vt:lpstr>Common Supervised Algorithms</vt:lpstr>
      <vt:lpstr>Advantages &amp; Disadvantages</vt:lpstr>
      <vt:lpstr>Unsupervised Learning &amp; Clustering</vt:lpstr>
      <vt:lpstr>What is Unsupervised Learning?</vt:lpstr>
      <vt:lpstr>Working of Unsupervised learning </vt:lpstr>
      <vt:lpstr>Unsupervised Learning</vt:lpstr>
      <vt:lpstr>Types of Unsupervised Learning</vt:lpstr>
      <vt:lpstr>Advantages &amp; Disadvantages of Unsupervised Learning</vt:lpstr>
      <vt:lpstr>What is Clustering?</vt:lpstr>
      <vt:lpstr>Use of clustering </vt:lpstr>
      <vt:lpstr>Clustering algorithms </vt:lpstr>
      <vt:lpstr>Reference</vt:lpstr>
      <vt:lpstr>Advice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144</cp:revision>
  <dcterms:created xsi:type="dcterms:W3CDTF">2009-12-29T10:39:00Z</dcterms:created>
  <dcterms:modified xsi:type="dcterms:W3CDTF">2026-03-31T05:32:22Z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