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0" r:id="rId2"/>
    <p:sldMasterId id="2147483672" r:id="rId3"/>
    <p:sldMasterId id="2147483684" r:id="rId4"/>
    <p:sldMasterId id="2147483720" r:id="rId5"/>
  </p:sldMasterIdLst>
  <p:notesMasterIdLst>
    <p:notesMasterId r:id="rId37"/>
  </p:notesMasterIdLst>
  <p:handoutMasterIdLst>
    <p:handoutMasterId r:id="rId38"/>
  </p:handoutMasterIdLst>
  <p:sldIdLst>
    <p:sldId id="329" r:id="rId6"/>
    <p:sldId id="430" r:id="rId7"/>
    <p:sldId id="432" r:id="rId8"/>
    <p:sldId id="448" r:id="rId9"/>
    <p:sldId id="497" r:id="rId10"/>
    <p:sldId id="498" r:id="rId11"/>
    <p:sldId id="518" r:id="rId12"/>
    <p:sldId id="499" r:id="rId13"/>
    <p:sldId id="500" r:id="rId14"/>
    <p:sldId id="501" r:id="rId15"/>
    <p:sldId id="502" r:id="rId16"/>
    <p:sldId id="503" r:id="rId17"/>
    <p:sldId id="504" r:id="rId18"/>
    <p:sldId id="505" r:id="rId19"/>
    <p:sldId id="506" r:id="rId20"/>
    <p:sldId id="507" r:id="rId21"/>
    <p:sldId id="508" r:id="rId22"/>
    <p:sldId id="509" r:id="rId23"/>
    <p:sldId id="510" r:id="rId24"/>
    <p:sldId id="511" r:id="rId25"/>
    <p:sldId id="512" r:id="rId26"/>
    <p:sldId id="513" r:id="rId27"/>
    <p:sldId id="515" r:id="rId28"/>
    <p:sldId id="516" r:id="rId29"/>
    <p:sldId id="514" r:id="rId30"/>
    <p:sldId id="519" r:id="rId31"/>
    <p:sldId id="520" r:id="rId32"/>
    <p:sldId id="517" r:id="rId33"/>
    <p:sldId id="521" r:id="rId34"/>
    <p:sldId id="496" r:id="rId35"/>
    <p:sldId id="427" r:id="rId36"/>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panose="020B0604020202020204" pitchFamily="34" charset="0"/>
        <a:ea typeface="MS PGothic" panose="020B0600070205080204" charset="-128"/>
        <a:cs typeface="MS PGothic" panose="020B0600070205080204" charset="-128"/>
      </a:defRPr>
    </a:lvl1pPr>
    <a:lvl2pPr marL="457200" algn="l" defTabSz="457200" rtl="0" fontAlgn="base">
      <a:spcBef>
        <a:spcPct val="0"/>
      </a:spcBef>
      <a:spcAft>
        <a:spcPct val="0"/>
      </a:spcAft>
      <a:defRPr kern="1200">
        <a:solidFill>
          <a:schemeClr val="tx1"/>
        </a:solidFill>
        <a:latin typeface="Arial" panose="020B0604020202020204" pitchFamily="34" charset="0"/>
        <a:ea typeface="MS PGothic" panose="020B0600070205080204" charset="-128"/>
        <a:cs typeface="MS PGothic" panose="020B0600070205080204" charset="-128"/>
      </a:defRPr>
    </a:lvl2pPr>
    <a:lvl3pPr marL="914400" algn="l" defTabSz="457200" rtl="0" fontAlgn="base">
      <a:spcBef>
        <a:spcPct val="0"/>
      </a:spcBef>
      <a:spcAft>
        <a:spcPct val="0"/>
      </a:spcAft>
      <a:defRPr kern="1200">
        <a:solidFill>
          <a:schemeClr val="tx1"/>
        </a:solidFill>
        <a:latin typeface="Arial" panose="020B0604020202020204" pitchFamily="34" charset="0"/>
        <a:ea typeface="MS PGothic" panose="020B0600070205080204" charset="-128"/>
        <a:cs typeface="MS PGothic" panose="020B0600070205080204" charset="-128"/>
      </a:defRPr>
    </a:lvl3pPr>
    <a:lvl4pPr marL="1371600" algn="l" defTabSz="457200" rtl="0" fontAlgn="base">
      <a:spcBef>
        <a:spcPct val="0"/>
      </a:spcBef>
      <a:spcAft>
        <a:spcPct val="0"/>
      </a:spcAft>
      <a:defRPr kern="1200">
        <a:solidFill>
          <a:schemeClr val="tx1"/>
        </a:solidFill>
        <a:latin typeface="Arial" panose="020B0604020202020204" pitchFamily="34" charset="0"/>
        <a:ea typeface="MS PGothic" panose="020B0600070205080204" charset="-128"/>
        <a:cs typeface="MS PGothic" panose="020B0600070205080204" charset="-128"/>
      </a:defRPr>
    </a:lvl4pPr>
    <a:lvl5pPr marL="1828800" algn="l" defTabSz="457200" rtl="0" fontAlgn="base">
      <a:spcBef>
        <a:spcPct val="0"/>
      </a:spcBef>
      <a:spcAft>
        <a:spcPct val="0"/>
      </a:spcAft>
      <a:defRPr kern="1200">
        <a:solidFill>
          <a:schemeClr val="tx1"/>
        </a:solidFill>
        <a:latin typeface="Arial" panose="020B0604020202020204" pitchFamily="34" charset="0"/>
        <a:ea typeface="MS PGothic" panose="020B0600070205080204" charset="-128"/>
        <a:cs typeface="MS PGothic" panose="020B0600070205080204" charset="-128"/>
      </a:defRPr>
    </a:lvl5pPr>
    <a:lvl6pPr marL="2286000" algn="l" defTabSz="457200" rtl="0" eaLnBrk="1" latinLnBrk="0" hangingPunct="1">
      <a:defRPr kern="1200">
        <a:solidFill>
          <a:schemeClr val="tx1"/>
        </a:solidFill>
        <a:latin typeface="Arial" panose="020B0604020202020204" pitchFamily="34" charset="0"/>
        <a:ea typeface="MS PGothic" panose="020B0600070205080204" charset="-128"/>
        <a:cs typeface="MS PGothic" panose="020B0600070205080204" charset="-128"/>
      </a:defRPr>
    </a:lvl6pPr>
    <a:lvl7pPr marL="2743200" algn="l" defTabSz="457200" rtl="0" eaLnBrk="1" latinLnBrk="0" hangingPunct="1">
      <a:defRPr kern="1200">
        <a:solidFill>
          <a:schemeClr val="tx1"/>
        </a:solidFill>
        <a:latin typeface="Arial" panose="020B0604020202020204" pitchFamily="34" charset="0"/>
        <a:ea typeface="MS PGothic" panose="020B0600070205080204" charset="-128"/>
        <a:cs typeface="MS PGothic" panose="020B0600070205080204" charset="-128"/>
      </a:defRPr>
    </a:lvl7pPr>
    <a:lvl8pPr marL="3200400" algn="l" defTabSz="457200" rtl="0" eaLnBrk="1" latinLnBrk="0" hangingPunct="1">
      <a:defRPr kern="1200">
        <a:solidFill>
          <a:schemeClr val="tx1"/>
        </a:solidFill>
        <a:latin typeface="Arial" panose="020B0604020202020204" pitchFamily="34" charset="0"/>
        <a:ea typeface="MS PGothic" panose="020B0600070205080204" charset="-128"/>
        <a:cs typeface="MS PGothic" panose="020B0600070205080204" charset="-128"/>
      </a:defRPr>
    </a:lvl8pPr>
    <a:lvl9pPr marL="3657600" algn="l" defTabSz="457200" rtl="0" eaLnBrk="1" latinLnBrk="0" hangingPunct="1">
      <a:defRPr kern="1200">
        <a:solidFill>
          <a:schemeClr val="tx1"/>
        </a:solidFill>
        <a:latin typeface="Arial" panose="020B0604020202020204" pitchFamily="34" charset="0"/>
        <a:ea typeface="MS PGothic" panose="020B0600070205080204" charset="-128"/>
        <a:cs typeface="MS PGothic" panose="020B0600070205080204" charset="-128"/>
      </a:defRPr>
    </a:lvl9pPr>
  </p:defaultTextStyle>
  <p:extLst>
    <p:ext uri="{EFAFB233-063F-42B5-8137-9DF3F51BA10A}">
      <p15:sldGuideLst xmlns:p15="http://schemas.microsoft.com/office/powerpoint/2012/main">
        <p15:guide id="1" orient="horz" pos="2160" userDrawn="1">
          <p15:clr>
            <a:srgbClr val="A4A3A4"/>
          </p15:clr>
        </p15:guide>
        <p15:guide id="2" pos="294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6424D"/>
    <a:srgbClr val="5B86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62" autoAdjust="0"/>
    <p:restoredTop sz="94660"/>
  </p:normalViewPr>
  <p:slideViewPr>
    <p:cSldViewPr snapToGrid="0" snapToObjects="1" showGuides="1">
      <p:cViewPr varScale="1">
        <p:scale>
          <a:sx n="64" d="100"/>
          <a:sy n="64" d="100"/>
        </p:scale>
        <p:origin x="696" y="72"/>
      </p:cViewPr>
      <p:guideLst>
        <p:guide orient="horz" pos="2160"/>
        <p:guide pos="2943"/>
      </p:guideLst>
    </p:cSldViewPr>
  </p:slideViewPr>
  <p:notesTextViewPr>
    <p:cViewPr>
      <p:scale>
        <a:sx n="100" d="100"/>
        <a:sy n="100" d="100"/>
      </p:scale>
      <p:origin x="0" y="0"/>
    </p:cViewPr>
  </p:notesTextViewPr>
  <p:sorterViewPr>
    <p:cViewPr>
      <p:scale>
        <a:sx n="200" d="100"/>
        <a:sy n="200" d="100"/>
      </p:scale>
      <p:origin x="0" y="472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B44B6B1-5441-9644-AE1C-BB7EA5DBA264}" type="datetimeFigureOut">
              <a:rPr lang="en-US" smtClean="0"/>
              <a:t>4/10/2026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0300CC7-81E2-B842-8904-673E09748720}"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1878819-472C-A14B-95BF-39C94BA106B2}" type="datetimeFigureOut">
              <a:rPr lang="en-US" smtClean="0"/>
              <a:t>4/10/2026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B4F38C2-4548-F541-8261-4C1D96E7A166}" type="slidenum">
              <a:rPr lang="en-US" smtClean="0"/>
              <a:t>‹#›</a:t>
            </a:fld>
            <a:endParaRPr lang="en-US"/>
          </a:p>
        </p:txBody>
      </p:sp>
    </p:spTree>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What does MCD do?</a:t>
            </a:r>
          </a:p>
          <a:p>
            <a:pPr>
              <a:buFont typeface="Arial" panose="020B0604020202020204" pitchFamily="34" charset="0"/>
              <a:buChar char="•"/>
            </a:pPr>
            <a:r>
              <a:rPr lang="en-US" dirty="0"/>
              <a:t>It selects a subset of data (say </a:t>
            </a:r>
            <a:r>
              <a:rPr lang="en-US" b="1" dirty="0"/>
              <a:t>h points</a:t>
            </a:r>
            <a:r>
              <a:rPr lang="en-US" dirty="0"/>
              <a:t>) </a:t>
            </a:r>
          </a:p>
          <a:p>
            <a:pPr>
              <a:buFont typeface="Arial" panose="020B0604020202020204" pitchFamily="34" charset="0"/>
              <a:buChar char="•"/>
            </a:pPr>
            <a:r>
              <a:rPr lang="en-US" dirty="0"/>
              <a:t>Chooses the subset with the </a:t>
            </a:r>
            <a:r>
              <a:rPr lang="en-US" b="1" dirty="0"/>
              <a:t>smallest spread</a:t>
            </a:r>
            <a:r>
              <a:rPr lang="en-US" dirty="0"/>
              <a:t> (smallest covariance determinant) </a:t>
            </a:r>
          </a:p>
          <a:p>
            <a:pPr>
              <a:buFont typeface="Arial" panose="020B0604020202020204" pitchFamily="34" charset="0"/>
              <a:buChar char="•"/>
            </a:pPr>
            <a:r>
              <a:rPr lang="en-US" dirty="0"/>
              <a:t>Ignores extreme values while estimating center and spread</a:t>
            </a:r>
          </a:p>
          <a:p>
            <a:endParaRPr lang="en-US" dirty="0"/>
          </a:p>
        </p:txBody>
      </p:sp>
      <p:sp>
        <p:nvSpPr>
          <p:cNvPr id="4" name="Slide Number Placeholder 3"/>
          <p:cNvSpPr>
            <a:spLocks noGrp="1"/>
          </p:cNvSpPr>
          <p:nvPr>
            <p:ph type="sldNum" sz="quarter" idx="5"/>
          </p:nvPr>
        </p:nvSpPr>
        <p:spPr/>
        <p:txBody>
          <a:bodyPr/>
          <a:lstStyle/>
          <a:p>
            <a:fld id="{CB4F38C2-4548-F541-8261-4C1D96E7A166}" type="slidenum">
              <a:rPr lang="en-US" smtClean="0"/>
              <a:t>20</a:t>
            </a:fld>
            <a:endParaRPr lang="en-US"/>
          </a:p>
        </p:txBody>
      </p:sp>
    </p:spTree>
    <p:extLst>
      <p:ext uri="{BB962C8B-B14F-4D97-AF65-F5344CB8AC3E}">
        <p14:creationId xmlns:p14="http://schemas.microsoft.com/office/powerpoint/2010/main" val="18208649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Grubbs’ test</a:t>
            </a:r>
            <a:r>
              <a:rPr lang="en-US" dirty="0"/>
              <a:t> is a statistical method used to detect </a:t>
            </a:r>
            <a:r>
              <a:rPr lang="en-US" b="1" dirty="0"/>
              <a:t>outliers in univariate data</a:t>
            </a:r>
            <a:r>
              <a:rPr lang="en-US" dirty="0"/>
              <a:t> (one variable), assuming the data comes from a Normal Distribution.</a:t>
            </a:r>
          </a:p>
        </p:txBody>
      </p:sp>
      <p:sp>
        <p:nvSpPr>
          <p:cNvPr id="4" name="Slide Number Placeholder 3"/>
          <p:cNvSpPr>
            <a:spLocks noGrp="1"/>
          </p:cNvSpPr>
          <p:nvPr>
            <p:ph type="sldNum" sz="quarter" idx="5"/>
          </p:nvPr>
        </p:nvSpPr>
        <p:spPr/>
        <p:txBody>
          <a:bodyPr/>
          <a:lstStyle/>
          <a:p>
            <a:fld id="{CB4F38C2-4548-F541-8261-4C1D96E7A166}" type="slidenum">
              <a:rPr lang="en-US" smtClean="0"/>
              <a:t>24</a:t>
            </a:fld>
            <a:endParaRPr lang="en-US"/>
          </a:p>
        </p:txBody>
      </p:sp>
    </p:spTree>
    <p:extLst>
      <p:ext uri="{BB962C8B-B14F-4D97-AF65-F5344CB8AC3E}">
        <p14:creationId xmlns:p14="http://schemas.microsoft.com/office/powerpoint/2010/main" val="24211893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panose="05000000000000000000" pitchFamily="2" charset="2"/>
              <a:buChar char="²"/>
              <a:defRPr sz="2400">
                <a:solidFill>
                  <a:srgbClr val="46424D"/>
                </a:solidFill>
                <a:latin typeface="Arial" panose="020B0604020202020204"/>
                <a:cs typeface="Arial" panose="020B0604020202020204"/>
              </a:defRPr>
            </a:lvl1pPr>
            <a:lvl2pPr>
              <a:spcBef>
                <a:spcPts val="300"/>
              </a:spcBef>
              <a:spcAft>
                <a:spcPts val="300"/>
              </a:spcAft>
              <a:buFont typeface="Wingdings" panose="05000000000000000000" pitchFamily="2" charset="2"/>
              <a:buChar char="§"/>
              <a:defRPr sz="2000">
                <a:solidFill>
                  <a:srgbClr val="46424D"/>
                </a:solidFill>
                <a:latin typeface="Arial" panose="020B0604020202020204"/>
                <a:cs typeface="Arial" panose="020B0604020202020204"/>
              </a:defRPr>
            </a:lvl2pPr>
            <a:lvl3pPr>
              <a:defRPr sz="1800">
                <a:solidFill>
                  <a:srgbClr val="46424D"/>
                </a:solidFill>
                <a:latin typeface="Arial" panose="020B0604020202020204"/>
                <a:cs typeface="Arial" panose="020B0604020202020204"/>
              </a:defRPr>
            </a:lvl3pPr>
            <a:lvl4pPr>
              <a:defRPr sz="1800">
                <a:solidFill>
                  <a:srgbClr val="46424D"/>
                </a:solidFill>
                <a:latin typeface="Arial" panose="020B0604020202020204"/>
                <a:cs typeface="Arial" panose="020B0604020202020204"/>
              </a:defRPr>
            </a:lvl4pPr>
            <a:lvl5pPr>
              <a:defRPr sz="1800">
                <a:solidFill>
                  <a:srgbClr val="46424D"/>
                </a:solidFill>
                <a:latin typeface="Arial" panose="020B0604020202020204"/>
                <a:cs typeface="Arial" panose="020B0604020202020204"/>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t>‹#›</a:t>
            </a:fld>
            <a:endParaRPr lang="en-GB" dirty="0"/>
          </a:p>
        </p:txBody>
      </p:sp>
    </p:spTree>
  </p:cSld>
  <p:clrMapOvr>
    <a:masterClrMapping/>
  </p:clrMapOvr>
  <p:transition spd="med">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t>‹#›</a:t>
            </a:fld>
            <a:endParaRPr lang="en-GB" dirty="0"/>
          </a:p>
        </p:txBody>
      </p:sp>
    </p:spTree>
  </p:cSld>
  <p:clrMapOvr>
    <a:masterClrMapping/>
  </p:clrMapOvr>
  <p:transition spd="med">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t>‹#›</a:t>
            </a:fld>
            <a:endParaRPr lang="en-GB" dirty="0"/>
          </a:p>
        </p:txBody>
      </p:sp>
    </p:spTree>
  </p:cSld>
  <p:clrMapOvr>
    <a:masterClrMapping/>
  </p:clrMapOvr>
  <p:transition spd="med">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t>‹#›</a:t>
            </a:fld>
            <a:endParaRPr lang="en-GB" dirty="0"/>
          </a:p>
        </p:txBody>
      </p:sp>
    </p:spTree>
  </p:cSld>
  <p:clrMapOvr>
    <a:masterClrMapping/>
  </p:clrMapOvr>
  <p:transition spd="med">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t>‹#›</a:t>
            </a:fld>
            <a:endParaRPr lang="en-GB" dirty="0"/>
          </a:p>
        </p:txBody>
      </p:sp>
    </p:spTree>
  </p:cSld>
  <p:clrMapOvr>
    <a:masterClrMapping/>
  </p:clrMapOvr>
  <p:transition spd="med">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t>‹#›</a:t>
            </a:fld>
            <a:endParaRPr lang="en-GB" dirty="0"/>
          </a:p>
        </p:txBody>
      </p:sp>
    </p:spTree>
  </p:cSld>
  <p:clrMapOvr>
    <a:masterClrMapping/>
  </p:clrMapOvr>
  <p:transition spd="med">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hasCustomPrompt="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t>‹#›</a:t>
            </a:fld>
            <a:endParaRPr lang="en-GB" dirty="0"/>
          </a:p>
        </p:txBody>
      </p:sp>
    </p:spTree>
  </p:cSld>
  <p:clrMapOvr>
    <a:masterClrMapping/>
  </p:clrMapOvr>
  <p:transition spd="med">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t>‹#›</a:t>
            </a:fld>
            <a:endParaRPr lang="en-GB" dirty="0"/>
          </a:p>
        </p:txBody>
      </p:sp>
    </p:spTree>
  </p:cSld>
  <p:clrMapOvr>
    <a:masterClrMapping/>
  </p:clrMapOvr>
  <p:transition spd="med">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t>‹#›</a:t>
            </a:fld>
            <a:endParaRPr lang="en-GB"/>
          </a:p>
        </p:txBody>
      </p:sp>
    </p:spTree>
  </p:cSld>
  <p:clrMapOvr>
    <a:masterClrMapping/>
  </p:clrMapOvr>
  <p:transition spd="med">
    <p:wipe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panose="05000000000000000000" pitchFamily="2" charset="2"/>
              <a:buChar char="²"/>
              <a:defRPr sz="2400">
                <a:solidFill>
                  <a:srgbClr val="46424D"/>
                </a:solidFill>
                <a:latin typeface="Arial" panose="020B0604020202020204"/>
                <a:cs typeface="Arial" panose="020B0604020202020204"/>
              </a:defRPr>
            </a:lvl1pPr>
            <a:lvl2pPr>
              <a:spcBef>
                <a:spcPts val="300"/>
              </a:spcBef>
              <a:spcAft>
                <a:spcPts val="300"/>
              </a:spcAft>
              <a:buFont typeface="Wingdings" panose="05000000000000000000" pitchFamily="2" charset="2"/>
              <a:buChar char="§"/>
              <a:defRPr sz="2000">
                <a:solidFill>
                  <a:srgbClr val="46424D"/>
                </a:solidFill>
                <a:latin typeface="Arial" panose="020B0604020202020204"/>
                <a:cs typeface="Arial" panose="020B0604020202020204"/>
              </a:defRPr>
            </a:lvl2pPr>
            <a:lvl3pPr>
              <a:defRPr sz="1800">
                <a:solidFill>
                  <a:srgbClr val="46424D"/>
                </a:solidFill>
                <a:latin typeface="Arial" panose="020B0604020202020204"/>
                <a:cs typeface="Arial" panose="020B0604020202020204"/>
              </a:defRPr>
            </a:lvl3pPr>
            <a:lvl4pPr>
              <a:defRPr sz="1800">
                <a:solidFill>
                  <a:srgbClr val="46424D"/>
                </a:solidFill>
                <a:latin typeface="Arial" panose="020B0604020202020204"/>
                <a:cs typeface="Arial" panose="020B0604020202020204"/>
              </a:defRPr>
            </a:lvl4pPr>
            <a:lvl5pPr>
              <a:defRPr sz="1800">
                <a:solidFill>
                  <a:srgbClr val="46424D"/>
                </a:solidFill>
                <a:latin typeface="Arial" panose="020B0604020202020204"/>
                <a:cs typeface="Arial" panose="020B0604020202020204"/>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t>‹#›</a:t>
            </a:fld>
            <a:endParaRPr lang="en-GB" dirty="0"/>
          </a:p>
        </p:txBody>
      </p:sp>
    </p:spTree>
  </p:cSld>
  <p:clrMapOvr>
    <a:masterClrMapping/>
  </p:clrMapOvr>
  <p:transition spd="med">
    <p:wipe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t>‹#›</a:t>
            </a:fld>
            <a:endParaRPr lang="en-GB" dirty="0"/>
          </a:p>
        </p:txBody>
      </p:sp>
    </p:spTree>
  </p:cSld>
  <p:clrMapOvr>
    <a:masterClrMapping/>
  </p:clrMapOvr>
  <p:transition spd="med">
    <p:wipe dir="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t>‹#›</a:t>
            </a:fld>
            <a:endParaRPr lang="en-GB" dirty="0"/>
          </a:p>
        </p:txBody>
      </p:sp>
    </p:spTree>
  </p:cSld>
  <p:clrMapOvr>
    <a:masterClrMapping/>
  </p:clrMapOvr>
  <p:transition spd="med">
    <p:wipe dir="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t>‹#›</a:t>
            </a:fld>
            <a:endParaRPr lang="en-GB" dirty="0"/>
          </a:p>
        </p:txBody>
      </p:sp>
    </p:spTree>
  </p:cSld>
  <p:clrMapOvr>
    <a:masterClrMapping/>
  </p:clrMapOvr>
  <p:transition spd="med">
    <p:wipe dir="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t>‹#›</a:t>
            </a:fld>
            <a:endParaRPr lang="en-GB" dirty="0"/>
          </a:p>
        </p:txBody>
      </p:sp>
    </p:spTree>
  </p:cSld>
  <p:clrMapOvr>
    <a:masterClrMapping/>
  </p:clrMapOvr>
  <p:transition spd="med">
    <p:wipe dir="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t>‹#›</a:t>
            </a:fld>
            <a:endParaRPr lang="en-GB" dirty="0"/>
          </a:p>
        </p:txBody>
      </p:sp>
    </p:spTree>
  </p:cSld>
  <p:clrMapOvr>
    <a:masterClrMapping/>
  </p:clrMapOvr>
  <p:transition spd="med">
    <p:wipe dir="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hasCustomPrompt="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t>‹#›</a:t>
            </a:fld>
            <a:endParaRPr lang="en-GB" dirty="0"/>
          </a:p>
        </p:txBody>
      </p:sp>
    </p:spTree>
  </p:cSld>
  <p:clrMapOvr>
    <a:masterClrMapping/>
  </p:clrMapOvr>
  <p:transition spd="med">
    <p:wipe dir="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t>‹#›</a:t>
            </a:fld>
            <a:endParaRPr lang="en-GB" dirty="0"/>
          </a:p>
        </p:txBody>
      </p:sp>
    </p:spTree>
  </p:cSld>
  <p:clrMapOvr>
    <a:masterClrMapping/>
  </p:clrMapOvr>
  <p:transition spd="med">
    <p:wipe dir="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t>‹#›</a:t>
            </a:fld>
            <a:endParaRPr lang="en-GB"/>
          </a:p>
        </p:txBody>
      </p:sp>
    </p:spTree>
  </p:cSld>
  <p:clrMapOvr>
    <a:masterClrMapping/>
  </p:clrMapOvr>
  <p:transition spd="med">
    <p:wipe dir="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panose="05000000000000000000" pitchFamily="2" charset="2"/>
              <a:buChar char="²"/>
              <a:defRPr sz="2400">
                <a:solidFill>
                  <a:srgbClr val="46424D"/>
                </a:solidFill>
                <a:latin typeface="Arial" panose="020B0604020202020204"/>
                <a:cs typeface="Arial" panose="020B0604020202020204"/>
              </a:defRPr>
            </a:lvl1pPr>
            <a:lvl2pPr>
              <a:spcBef>
                <a:spcPts val="300"/>
              </a:spcBef>
              <a:spcAft>
                <a:spcPts val="300"/>
              </a:spcAft>
              <a:buFont typeface="Wingdings" panose="05000000000000000000" pitchFamily="2" charset="2"/>
              <a:buChar char="§"/>
              <a:defRPr sz="2000">
                <a:solidFill>
                  <a:srgbClr val="46424D"/>
                </a:solidFill>
                <a:latin typeface="Arial" panose="020B0604020202020204"/>
                <a:cs typeface="Arial" panose="020B0604020202020204"/>
              </a:defRPr>
            </a:lvl2pPr>
            <a:lvl3pPr>
              <a:defRPr sz="1800">
                <a:solidFill>
                  <a:srgbClr val="46424D"/>
                </a:solidFill>
                <a:latin typeface="Arial" panose="020B0604020202020204"/>
                <a:cs typeface="Arial" panose="020B0604020202020204"/>
              </a:defRPr>
            </a:lvl3pPr>
            <a:lvl4pPr>
              <a:defRPr sz="1800">
                <a:solidFill>
                  <a:srgbClr val="46424D"/>
                </a:solidFill>
                <a:latin typeface="Arial" panose="020B0604020202020204"/>
                <a:cs typeface="Arial" panose="020B0604020202020204"/>
              </a:defRPr>
            </a:lvl4pPr>
            <a:lvl5pPr>
              <a:defRPr sz="1800">
                <a:solidFill>
                  <a:srgbClr val="46424D"/>
                </a:solidFill>
                <a:latin typeface="Arial" panose="020B0604020202020204"/>
                <a:cs typeface="Arial" panose="020B0604020202020204"/>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t>‹#›</a:t>
            </a:fld>
            <a:endParaRPr lang="en-GB" dirty="0"/>
          </a:p>
        </p:txBody>
      </p:sp>
    </p:spTree>
  </p:cSld>
  <p:clrMapOvr>
    <a:masterClrMapping/>
  </p:clrMapOvr>
  <p:transition spd="med">
    <p:wipe dir="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t>‹#›</a:t>
            </a:fld>
            <a:endParaRPr lang="en-GB" dirty="0"/>
          </a:p>
        </p:txBody>
      </p:sp>
    </p:spTree>
  </p:cSld>
  <p:clrMapOvr>
    <a:masterClrMapping/>
  </p:clrMapOvr>
  <p:transition spd="med">
    <p:wipe dir="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t>‹#›</a:t>
            </a:fld>
            <a:endParaRPr lang="en-GB" dirty="0"/>
          </a:p>
        </p:txBody>
      </p:sp>
    </p:spTree>
  </p:cSld>
  <p:clrMapOvr>
    <a:masterClrMapping/>
  </p:clrMapOvr>
  <p:transition spd="med">
    <p:wipe dir="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t>‹#›</a:t>
            </a:fld>
            <a:endParaRPr lang="en-GB" dirty="0"/>
          </a:p>
        </p:txBody>
      </p:sp>
    </p:spTree>
  </p:cSld>
  <p:clrMapOvr>
    <a:masterClrMapping/>
  </p:clrMapOvr>
  <p:transition spd="med">
    <p:wipe dir="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t>‹#›</a:t>
            </a:fld>
            <a:endParaRPr lang="en-GB" dirty="0"/>
          </a:p>
        </p:txBody>
      </p:sp>
    </p:spTree>
  </p:cSld>
  <p:clrMapOvr>
    <a:masterClrMapping/>
  </p:clrMapOvr>
  <p:transition spd="med">
    <p:wipe dir="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t>‹#›</a:t>
            </a:fld>
            <a:endParaRPr lang="en-GB" dirty="0"/>
          </a:p>
        </p:txBody>
      </p:sp>
    </p:spTree>
  </p:cSld>
  <p:clrMapOvr>
    <a:masterClrMapping/>
  </p:clrMapOvr>
  <p:transition spd="med">
    <p:wipe dir="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hasCustomPrompt="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t>‹#›</a:t>
            </a:fld>
            <a:endParaRPr lang="en-GB" dirty="0"/>
          </a:p>
        </p:txBody>
      </p:sp>
    </p:spTree>
  </p:cSld>
  <p:clrMapOvr>
    <a:masterClrMapping/>
  </p:clrMapOvr>
  <p:transition spd="med">
    <p:wipe dir="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t>‹#›</a:t>
            </a:fld>
            <a:endParaRPr lang="en-GB" dirty="0"/>
          </a:p>
        </p:txBody>
      </p:sp>
    </p:spTree>
  </p:cSld>
  <p:clrMapOvr>
    <a:masterClrMapping/>
  </p:clrMapOvr>
  <p:transition spd="med">
    <p:wipe dir="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t>‹#›</a:t>
            </a:fld>
            <a:endParaRPr lang="en-GB"/>
          </a:p>
        </p:txBody>
      </p:sp>
    </p:spTree>
  </p:cSld>
  <p:clrMapOvr>
    <a:masterClrMapping/>
  </p:clrMapOvr>
  <p:transition spd="med">
    <p:wipe dir="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panose="05000000000000000000" pitchFamily="2" charset="2"/>
              <a:buChar char="²"/>
              <a:defRPr sz="2400">
                <a:solidFill>
                  <a:srgbClr val="46424D"/>
                </a:solidFill>
                <a:latin typeface="Arial" panose="020B0604020202020204"/>
                <a:cs typeface="Arial" panose="020B0604020202020204"/>
              </a:defRPr>
            </a:lvl1pPr>
            <a:lvl2pPr>
              <a:spcBef>
                <a:spcPts val="300"/>
              </a:spcBef>
              <a:spcAft>
                <a:spcPts val="300"/>
              </a:spcAft>
              <a:buFont typeface="Wingdings" panose="05000000000000000000" pitchFamily="2" charset="2"/>
              <a:buChar char="§"/>
              <a:defRPr sz="2000">
                <a:solidFill>
                  <a:srgbClr val="46424D"/>
                </a:solidFill>
                <a:latin typeface="Arial" panose="020B0604020202020204"/>
                <a:cs typeface="Arial" panose="020B0604020202020204"/>
              </a:defRPr>
            </a:lvl2pPr>
            <a:lvl3pPr>
              <a:defRPr sz="1800">
                <a:solidFill>
                  <a:srgbClr val="46424D"/>
                </a:solidFill>
                <a:latin typeface="Arial" panose="020B0604020202020204"/>
                <a:cs typeface="Arial" panose="020B0604020202020204"/>
              </a:defRPr>
            </a:lvl3pPr>
            <a:lvl4pPr>
              <a:defRPr sz="1800">
                <a:solidFill>
                  <a:srgbClr val="46424D"/>
                </a:solidFill>
                <a:latin typeface="Arial" panose="020B0604020202020204"/>
                <a:cs typeface="Arial" panose="020B0604020202020204"/>
              </a:defRPr>
            </a:lvl4pPr>
            <a:lvl5pPr>
              <a:defRPr sz="1800">
                <a:solidFill>
                  <a:srgbClr val="46424D"/>
                </a:solidFill>
                <a:latin typeface="Arial" panose="020B0604020202020204"/>
                <a:cs typeface="Arial" panose="020B0604020202020204"/>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t>‹#›</a:t>
            </a:fld>
            <a:endParaRPr lang="en-GB" dirty="0"/>
          </a:p>
        </p:txBody>
      </p:sp>
    </p:spTree>
  </p:cSld>
  <p:clrMapOvr>
    <a:masterClrMapping/>
  </p:clrMapOvr>
  <p:transition spd="med">
    <p:wipe dir="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t>‹#›</a:t>
            </a:fld>
            <a:endParaRPr lang="en-GB" dirty="0"/>
          </a:p>
        </p:txBody>
      </p:sp>
    </p:spTree>
  </p:cSld>
  <p:clrMapOvr>
    <a:masterClrMapping/>
  </p:clrMapOvr>
  <p:transition spd="med">
    <p:wipe dir="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t>‹#›</a:t>
            </a:fld>
            <a:endParaRPr lang="en-GB" dirty="0"/>
          </a:p>
        </p:txBody>
      </p:sp>
    </p:spTree>
  </p:cSld>
  <p:clrMapOvr>
    <a:masterClrMapping/>
  </p:clrMapOvr>
  <p:transition spd="med">
    <p:wipe dir="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t>‹#›</a:t>
            </a:fld>
            <a:endParaRPr lang="en-GB" dirty="0"/>
          </a:p>
        </p:txBody>
      </p:sp>
    </p:spTree>
  </p:cSld>
  <p:clrMapOvr>
    <a:masterClrMapping/>
  </p:clrMapOvr>
  <p:transition spd="med">
    <p:wipe dir="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t>‹#›</a:t>
            </a:fld>
            <a:endParaRPr lang="en-GB" dirty="0"/>
          </a:p>
        </p:txBody>
      </p:sp>
    </p:spTree>
  </p:cSld>
  <p:clrMapOvr>
    <a:masterClrMapping/>
  </p:clrMapOvr>
  <p:transition spd="med">
    <p:wipe dir="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t>‹#›</a:t>
            </a:fld>
            <a:endParaRPr lang="en-GB" dirty="0"/>
          </a:p>
        </p:txBody>
      </p:sp>
    </p:spTree>
  </p:cSld>
  <p:clrMapOvr>
    <a:masterClrMapping/>
  </p:clrMapOvr>
  <p:transition spd="med">
    <p:wipe dir="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hasCustomPrompt="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t>‹#›</a:t>
            </a:fld>
            <a:endParaRPr lang="en-GB" dirty="0"/>
          </a:p>
        </p:txBody>
      </p:sp>
    </p:spTree>
  </p:cSld>
  <p:clrMapOvr>
    <a:masterClrMapping/>
  </p:clrMapOvr>
  <p:transition spd="med">
    <p:wipe dir="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t>‹#›</a:t>
            </a:fld>
            <a:endParaRPr lang="en-GB" dirty="0"/>
          </a:p>
        </p:txBody>
      </p:sp>
    </p:spTree>
  </p:cSld>
  <p:clrMapOvr>
    <a:masterClrMapping/>
  </p:clrMapOvr>
  <p:transition spd="med">
    <p:wipe dir="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t>‹#›</a:t>
            </a:fld>
            <a:endParaRPr lang="en-GB"/>
          </a:p>
        </p:txBody>
      </p:sp>
    </p:spTree>
  </p:cSld>
  <p:clrMapOvr>
    <a:masterClrMapping/>
  </p:clrMapOvr>
  <p:transition spd="med">
    <p:wipe dir="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panose="05000000000000000000" pitchFamily="2" charset="2"/>
              <a:buChar char="²"/>
              <a:defRPr sz="2400">
                <a:solidFill>
                  <a:srgbClr val="46424D"/>
                </a:solidFill>
                <a:latin typeface="Arial" panose="020B0604020202020204"/>
                <a:cs typeface="Arial" panose="020B0604020202020204"/>
              </a:defRPr>
            </a:lvl1pPr>
            <a:lvl2pPr>
              <a:spcBef>
                <a:spcPts val="300"/>
              </a:spcBef>
              <a:spcAft>
                <a:spcPts val="300"/>
              </a:spcAft>
              <a:buFont typeface="Wingdings" panose="05000000000000000000" pitchFamily="2" charset="2"/>
              <a:buChar char="§"/>
              <a:defRPr sz="2000">
                <a:solidFill>
                  <a:srgbClr val="46424D"/>
                </a:solidFill>
                <a:latin typeface="Arial" panose="020B0604020202020204"/>
                <a:cs typeface="Arial" panose="020B0604020202020204"/>
              </a:defRPr>
            </a:lvl2pPr>
            <a:lvl3pPr>
              <a:defRPr sz="1800">
                <a:solidFill>
                  <a:srgbClr val="46424D"/>
                </a:solidFill>
                <a:latin typeface="Arial" panose="020B0604020202020204"/>
                <a:cs typeface="Arial" panose="020B0604020202020204"/>
              </a:defRPr>
            </a:lvl3pPr>
            <a:lvl4pPr>
              <a:defRPr sz="1800">
                <a:solidFill>
                  <a:srgbClr val="46424D"/>
                </a:solidFill>
                <a:latin typeface="Arial" panose="020B0604020202020204"/>
                <a:cs typeface="Arial" panose="020B0604020202020204"/>
              </a:defRPr>
            </a:lvl4pPr>
            <a:lvl5pPr>
              <a:defRPr sz="1800">
                <a:solidFill>
                  <a:srgbClr val="46424D"/>
                </a:solidFill>
                <a:latin typeface="Arial" panose="020B0604020202020204"/>
                <a:cs typeface="Arial" panose="020B0604020202020204"/>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t>‹#›</a:t>
            </a:fld>
            <a:endParaRPr lang="en-GB" dirty="0"/>
          </a:p>
        </p:txBody>
      </p:sp>
    </p:spTree>
  </p:cSld>
  <p:clrMapOvr>
    <a:masterClrMapping/>
  </p:clrMapOvr>
  <p:transition spd="med">
    <p:wipe dir="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t>‹#›</a:t>
            </a:fld>
            <a:endParaRPr lang="en-GB" dirty="0"/>
          </a:p>
        </p:txBody>
      </p:sp>
    </p:spTree>
  </p:cSld>
  <p:clrMapOvr>
    <a:masterClrMapping/>
  </p:clrMapOvr>
  <p:transition spd="med">
    <p:wipe dir="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t>‹#›</a:t>
            </a:fld>
            <a:endParaRPr lang="en-GB" dirty="0"/>
          </a:p>
        </p:txBody>
      </p:sp>
    </p:spTree>
  </p:cSld>
  <p:clrMapOvr>
    <a:masterClrMapping/>
  </p:clrMapOvr>
  <p:transition spd="med">
    <p:wipe dir="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t>‹#›</a:t>
            </a:fld>
            <a:endParaRPr lang="en-GB" dirty="0"/>
          </a:p>
        </p:txBody>
      </p:sp>
    </p:spTree>
  </p:cSld>
  <p:clrMapOvr>
    <a:masterClrMapping/>
  </p:clrMapOvr>
  <p:transition spd="med">
    <p:wipe dir="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t>‹#›</a:t>
            </a:fld>
            <a:endParaRPr lang="en-GB" dirty="0"/>
          </a:p>
        </p:txBody>
      </p:sp>
    </p:spTree>
  </p:cSld>
  <p:clrMapOvr>
    <a:masterClrMapping/>
  </p:clrMapOvr>
  <p:transition spd="med">
    <p:wipe dir="r"/>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t>‹#›</a:t>
            </a:fld>
            <a:endParaRPr lang="en-GB" dirty="0"/>
          </a:p>
        </p:txBody>
      </p:sp>
    </p:spTree>
  </p:cSld>
  <p:clrMapOvr>
    <a:masterClrMapping/>
  </p:clrMapOvr>
  <p:transition spd="med">
    <p:wipe dir="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hasCustomPrompt="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t>‹#›</a:t>
            </a:fld>
            <a:endParaRPr lang="en-GB" dirty="0"/>
          </a:p>
        </p:txBody>
      </p:sp>
    </p:spTree>
  </p:cSld>
  <p:clrMapOvr>
    <a:masterClrMapping/>
  </p:clrMapOvr>
  <p:transition spd="med">
    <p:wipe dir="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t>‹#›</a:t>
            </a:fld>
            <a:endParaRPr lang="en-GB" dirty="0"/>
          </a:p>
        </p:txBody>
      </p:sp>
    </p:spTree>
  </p:cSld>
  <p:clrMapOvr>
    <a:masterClrMapping/>
  </p:clrMapOvr>
  <p:transition spd="med">
    <p:wipe dir="r"/>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t>‹#›</a:t>
            </a:fld>
            <a:endParaRPr lang="en-GB"/>
          </a:p>
        </p:txBody>
      </p:sp>
    </p:spTree>
  </p:cSld>
  <p:clrMapOvr>
    <a:masterClrMapping/>
  </p:clrMapOvr>
  <p:transition spd="med">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18" Type="http://schemas.openxmlformats.org/officeDocument/2006/relationships/image" Target="../media/image6.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image" Target="../media/image5.svg"/><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sv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18" Type="http://schemas.openxmlformats.org/officeDocument/2006/relationships/image" Target="../media/image6.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17" Type="http://schemas.openxmlformats.org/officeDocument/2006/relationships/image" Target="../media/image5.svg"/><Relationship Id="rId2" Type="http://schemas.openxmlformats.org/officeDocument/2006/relationships/slideLayout" Target="../slideLayouts/slideLayout13.xml"/><Relationship Id="rId16" Type="http://schemas.openxmlformats.org/officeDocument/2006/relationships/image" Target="../media/image4.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3.sv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png"/><Relationship Id="rId18" Type="http://schemas.openxmlformats.org/officeDocument/2006/relationships/image" Target="../media/image6.pn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17" Type="http://schemas.openxmlformats.org/officeDocument/2006/relationships/image" Target="../media/image5.svg"/><Relationship Id="rId2" Type="http://schemas.openxmlformats.org/officeDocument/2006/relationships/slideLayout" Target="../slideLayouts/slideLayout24.xml"/><Relationship Id="rId16" Type="http://schemas.openxmlformats.org/officeDocument/2006/relationships/image" Target="../media/image4.png"/><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image" Target="../media/image3.svg"/><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image" Target="../media/image2.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image" Target="../media/image1.png"/><Relationship Id="rId18" Type="http://schemas.openxmlformats.org/officeDocument/2006/relationships/image" Target="../media/image6.png"/><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17" Type="http://schemas.openxmlformats.org/officeDocument/2006/relationships/image" Target="../media/image5.svg"/><Relationship Id="rId2" Type="http://schemas.openxmlformats.org/officeDocument/2006/relationships/slideLayout" Target="../slideLayouts/slideLayout35.xml"/><Relationship Id="rId16" Type="http://schemas.openxmlformats.org/officeDocument/2006/relationships/image" Target="../media/image4.png"/><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5" Type="http://schemas.openxmlformats.org/officeDocument/2006/relationships/image" Target="../media/image3.svg"/><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image" Target="../media/image2.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image" Target="../media/image1.png"/><Relationship Id="rId18" Type="http://schemas.openxmlformats.org/officeDocument/2006/relationships/image" Target="../media/image6.png"/><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17" Type="http://schemas.openxmlformats.org/officeDocument/2006/relationships/image" Target="../media/image8.svg"/><Relationship Id="rId2" Type="http://schemas.openxmlformats.org/officeDocument/2006/relationships/slideLayout" Target="../slideLayouts/slideLayout46.xml"/><Relationship Id="rId16" Type="http://schemas.openxmlformats.org/officeDocument/2006/relationships/image" Target="../media/image4.png"/><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5" Type="http://schemas.openxmlformats.org/officeDocument/2006/relationships/image" Target="../media/image7.svg"/><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ln>
        </p:spPr>
        <p:txBody>
          <a:bodyPr vert="horz" wrap="square" lIns="91440" tIns="45720" rIns="91440" bIns="45720" numCol="1" anchor="ctr" anchorCtr="0" compatLnSpc="1"/>
          <a:lstStyle/>
          <a:p>
            <a:pPr lvl="0"/>
            <a:r>
              <a:rPr lang="en-GB"/>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GB"/>
              <a:t>30/10/2014</a:t>
            </a:r>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grpSp>
        <p:nvGrpSpPr>
          <p:cNvPr id="15" name="Group 14"/>
          <p:cNvGrpSpPr/>
          <p:nvPr userDrawn="1"/>
        </p:nvGrpSpPr>
        <p:grpSpPr>
          <a:xfrm>
            <a:off x="0" y="0"/>
            <a:ext cx="9144000" cy="1115736"/>
            <a:chOff x="0" y="0"/>
            <a:chExt cx="12962429" cy="1115736"/>
          </a:xfrm>
        </p:grpSpPr>
        <p:sp>
          <p:nvSpPr>
            <p:cNvPr id="16" name="Rectangle 15"/>
            <p:cNvSpPr/>
            <p:nvPr/>
          </p:nvSpPr>
          <p:spPr>
            <a:xfrm>
              <a:off x="0" y="0"/>
              <a:ext cx="12962429"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7" name="Picture 16"/>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8" name="TextBox 17"/>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9" name="Graphic 11"/>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906056" y="403986"/>
              <a:ext cx="261610" cy="261610"/>
            </a:xfrm>
            <a:prstGeom prst="rect">
              <a:avLst/>
            </a:prstGeom>
          </p:spPr>
        </p:pic>
        <p:sp>
          <p:nvSpPr>
            <p:cNvPr id="20" name="TextBox 19"/>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1" name="Graphic 13"/>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0591033" y="741997"/>
              <a:ext cx="171450" cy="171450"/>
            </a:xfrm>
            <a:prstGeom prst="rect">
              <a:avLst/>
            </a:prstGeom>
          </p:spPr>
        </p:pic>
        <p:pic>
          <p:nvPicPr>
            <p:cNvPr id="22" name="Picture 21"/>
            <p:cNvPicPr>
              <a:picLocks noChangeAspect="1"/>
            </p:cNvPicPr>
            <p:nvPr/>
          </p:nvPicPr>
          <p:blipFill>
            <a:blip r:embed="rId1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panose="020B0604020202020204"/>
          <a:ea typeface="MS PGothic" panose="020B0600070205080204" charset="-128"/>
          <a:cs typeface="Arial" panose="020B0604020202020204"/>
        </a:defRPr>
      </a:lvl1pPr>
      <a:lvl2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2pPr>
      <a:lvl3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3pPr>
      <a:lvl4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4pPr>
      <a:lvl5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5pPr>
      <a:lvl6pPr marL="4572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6pPr>
      <a:lvl7pPr marL="9144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7pPr>
      <a:lvl8pPr marL="13716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8pPr>
      <a:lvl9pPr marL="18288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charset="-128"/>
          <a:cs typeface="MS PGothic" panose="020B0600070205080204" charset="-128"/>
        </a:defRPr>
      </a:lvl1pPr>
      <a:lvl2pPr marL="742950" indent="-285750" algn="l" defTabSz="457200" rtl="0" eaLnBrk="1" fontAlgn="base" hangingPunct="1">
        <a:spcBef>
          <a:spcPct val="20000"/>
        </a:spcBef>
        <a:spcAft>
          <a:spcPct val="0"/>
        </a:spcAft>
        <a:buFont typeface="Arial" panose="020B0604020202020204" pitchFamily="34" charset="0"/>
        <a:defRPr sz="2800" kern="1200">
          <a:solidFill>
            <a:schemeClr val="tx1"/>
          </a:solidFill>
          <a:latin typeface="+mn-lt"/>
          <a:ea typeface="MS PGothic" panose="020B0600070205080204" charset="-128"/>
          <a:cs typeface="+mn-cs"/>
        </a:defRPr>
      </a:lvl2pPr>
      <a:lvl3pPr marL="1143000" indent="-228600" algn="l" defTabSz="457200"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charset="-128"/>
          <a:cs typeface="+mn-cs"/>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ln>
        </p:spPr>
        <p:txBody>
          <a:bodyPr vert="horz" wrap="square" lIns="91440" tIns="45720" rIns="91440" bIns="45720" numCol="1" anchor="ctr" anchorCtr="0" compatLnSpc="1"/>
          <a:lstStyle/>
          <a:p>
            <a:pPr lvl="0"/>
            <a:r>
              <a:rPr lang="en-GB"/>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GB"/>
              <a:t>30/10/2014</a:t>
            </a:r>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grpSp>
        <p:nvGrpSpPr>
          <p:cNvPr id="15" name="Group 14"/>
          <p:cNvGrpSpPr/>
          <p:nvPr userDrawn="1"/>
        </p:nvGrpSpPr>
        <p:grpSpPr>
          <a:xfrm>
            <a:off x="0" y="0"/>
            <a:ext cx="9144000" cy="1115736"/>
            <a:chOff x="0" y="0"/>
            <a:chExt cx="12962429" cy="1115736"/>
          </a:xfrm>
        </p:grpSpPr>
        <p:sp>
          <p:nvSpPr>
            <p:cNvPr id="16" name="Rectangle 15"/>
            <p:cNvSpPr/>
            <p:nvPr/>
          </p:nvSpPr>
          <p:spPr>
            <a:xfrm>
              <a:off x="0" y="0"/>
              <a:ext cx="12962429"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7" name="Picture 16"/>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8" name="TextBox 17"/>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9" name="Graphic 11"/>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906056" y="403986"/>
              <a:ext cx="261610" cy="261610"/>
            </a:xfrm>
            <a:prstGeom prst="rect">
              <a:avLst/>
            </a:prstGeom>
          </p:spPr>
        </p:pic>
        <p:sp>
          <p:nvSpPr>
            <p:cNvPr id="20" name="TextBox 19"/>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1" name="Graphic 13"/>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0591033" y="741997"/>
              <a:ext cx="171450" cy="171450"/>
            </a:xfrm>
            <a:prstGeom prst="rect">
              <a:avLst/>
            </a:prstGeom>
          </p:spPr>
        </p:pic>
        <p:pic>
          <p:nvPicPr>
            <p:cNvPr id="22" name="Picture 21"/>
            <p:cNvPicPr>
              <a:picLocks noChangeAspect="1"/>
            </p:cNvPicPr>
            <p:nvPr/>
          </p:nvPicPr>
          <p:blipFill>
            <a:blip r:embed="rId1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panose="020B0604020202020204"/>
          <a:ea typeface="MS PGothic" panose="020B0600070205080204" charset="-128"/>
          <a:cs typeface="Arial" panose="020B0604020202020204"/>
        </a:defRPr>
      </a:lvl1pPr>
      <a:lvl2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2pPr>
      <a:lvl3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3pPr>
      <a:lvl4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4pPr>
      <a:lvl5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5pPr>
      <a:lvl6pPr marL="4572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6pPr>
      <a:lvl7pPr marL="9144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7pPr>
      <a:lvl8pPr marL="13716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8pPr>
      <a:lvl9pPr marL="18288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charset="-128"/>
          <a:cs typeface="MS PGothic" panose="020B0600070205080204" charset="-128"/>
        </a:defRPr>
      </a:lvl1pPr>
      <a:lvl2pPr marL="742950" indent="-285750" algn="l" defTabSz="457200" rtl="0" eaLnBrk="1" fontAlgn="base" hangingPunct="1">
        <a:spcBef>
          <a:spcPct val="20000"/>
        </a:spcBef>
        <a:spcAft>
          <a:spcPct val="0"/>
        </a:spcAft>
        <a:buFont typeface="Arial" panose="020B0604020202020204" pitchFamily="34" charset="0"/>
        <a:defRPr sz="2800" kern="1200">
          <a:solidFill>
            <a:schemeClr val="tx1"/>
          </a:solidFill>
          <a:latin typeface="+mn-lt"/>
          <a:ea typeface="MS PGothic" panose="020B0600070205080204" charset="-128"/>
          <a:cs typeface="+mn-cs"/>
        </a:defRPr>
      </a:lvl2pPr>
      <a:lvl3pPr marL="1143000" indent="-228600" algn="l" defTabSz="457200"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charset="-128"/>
          <a:cs typeface="+mn-cs"/>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ln>
        </p:spPr>
        <p:txBody>
          <a:bodyPr vert="horz" wrap="square" lIns="91440" tIns="45720" rIns="91440" bIns="45720" numCol="1" anchor="ctr" anchorCtr="0" compatLnSpc="1"/>
          <a:lstStyle/>
          <a:p>
            <a:pPr lvl="0"/>
            <a:r>
              <a:rPr lang="en-GB"/>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GB"/>
              <a:t>30/10/2014</a:t>
            </a:r>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grpSp>
        <p:nvGrpSpPr>
          <p:cNvPr id="15" name="Group 14"/>
          <p:cNvGrpSpPr/>
          <p:nvPr userDrawn="1"/>
        </p:nvGrpSpPr>
        <p:grpSpPr>
          <a:xfrm>
            <a:off x="0" y="0"/>
            <a:ext cx="9144000" cy="1115736"/>
            <a:chOff x="0" y="0"/>
            <a:chExt cx="12962429" cy="1115736"/>
          </a:xfrm>
        </p:grpSpPr>
        <p:sp>
          <p:nvSpPr>
            <p:cNvPr id="16" name="Rectangle 15"/>
            <p:cNvSpPr/>
            <p:nvPr/>
          </p:nvSpPr>
          <p:spPr>
            <a:xfrm>
              <a:off x="0" y="0"/>
              <a:ext cx="12962429"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7" name="Picture 16"/>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8" name="TextBox 17"/>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9" name="Graphic 11"/>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906056" y="403986"/>
              <a:ext cx="261610" cy="261610"/>
            </a:xfrm>
            <a:prstGeom prst="rect">
              <a:avLst/>
            </a:prstGeom>
          </p:spPr>
        </p:pic>
        <p:sp>
          <p:nvSpPr>
            <p:cNvPr id="20" name="TextBox 19"/>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1" name="Graphic 13"/>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0591033" y="741997"/>
              <a:ext cx="171450" cy="171450"/>
            </a:xfrm>
            <a:prstGeom prst="rect">
              <a:avLst/>
            </a:prstGeom>
          </p:spPr>
        </p:pic>
        <p:pic>
          <p:nvPicPr>
            <p:cNvPr id="22" name="Picture 21"/>
            <p:cNvPicPr>
              <a:picLocks noChangeAspect="1"/>
            </p:cNvPicPr>
            <p:nvPr/>
          </p:nvPicPr>
          <p:blipFill>
            <a:blip r:embed="rId1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panose="020B0604020202020204"/>
          <a:ea typeface="MS PGothic" panose="020B0600070205080204" charset="-128"/>
          <a:cs typeface="Arial" panose="020B0604020202020204"/>
        </a:defRPr>
      </a:lvl1pPr>
      <a:lvl2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2pPr>
      <a:lvl3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3pPr>
      <a:lvl4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4pPr>
      <a:lvl5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5pPr>
      <a:lvl6pPr marL="4572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6pPr>
      <a:lvl7pPr marL="9144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7pPr>
      <a:lvl8pPr marL="13716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8pPr>
      <a:lvl9pPr marL="18288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charset="-128"/>
          <a:cs typeface="MS PGothic" panose="020B0600070205080204" charset="-128"/>
        </a:defRPr>
      </a:lvl1pPr>
      <a:lvl2pPr marL="742950" indent="-285750" algn="l" defTabSz="457200" rtl="0" eaLnBrk="1" fontAlgn="base" hangingPunct="1">
        <a:spcBef>
          <a:spcPct val="20000"/>
        </a:spcBef>
        <a:spcAft>
          <a:spcPct val="0"/>
        </a:spcAft>
        <a:buFont typeface="Arial" panose="020B0604020202020204" pitchFamily="34" charset="0"/>
        <a:defRPr sz="2800" kern="1200">
          <a:solidFill>
            <a:schemeClr val="tx1"/>
          </a:solidFill>
          <a:latin typeface="+mn-lt"/>
          <a:ea typeface="MS PGothic" panose="020B0600070205080204" charset="-128"/>
          <a:cs typeface="+mn-cs"/>
        </a:defRPr>
      </a:lvl2pPr>
      <a:lvl3pPr marL="1143000" indent="-228600" algn="l" defTabSz="457200"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charset="-128"/>
          <a:cs typeface="+mn-cs"/>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ln>
        </p:spPr>
        <p:txBody>
          <a:bodyPr vert="horz" wrap="square" lIns="91440" tIns="45720" rIns="91440" bIns="45720" numCol="1" anchor="ctr" anchorCtr="0" compatLnSpc="1"/>
          <a:lstStyle/>
          <a:p>
            <a:pPr lvl="0"/>
            <a:r>
              <a:rPr lang="en-GB"/>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GB"/>
              <a:t>30/10/2014</a:t>
            </a:r>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grpSp>
        <p:nvGrpSpPr>
          <p:cNvPr id="15" name="Group 14"/>
          <p:cNvGrpSpPr/>
          <p:nvPr userDrawn="1"/>
        </p:nvGrpSpPr>
        <p:grpSpPr>
          <a:xfrm>
            <a:off x="0" y="0"/>
            <a:ext cx="9144000" cy="1115736"/>
            <a:chOff x="0" y="0"/>
            <a:chExt cx="12962429" cy="1115736"/>
          </a:xfrm>
        </p:grpSpPr>
        <p:sp>
          <p:nvSpPr>
            <p:cNvPr id="16" name="Rectangle 15"/>
            <p:cNvSpPr/>
            <p:nvPr/>
          </p:nvSpPr>
          <p:spPr>
            <a:xfrm>
              <a:off x="0" y="0"/>
              <a:ext cx="12962429"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7" name="Picture 16"/>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8" name="TextBox 17"/>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9" name="Graphic 11"/>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906056" y="403986"/>
              <a:ext cx="261610" cy="261610"/>
            </a:xfrm>
            <a:prstGeom prst="rect">
              <a:avLst/>
            </a:prstGeom>
          </p:spPr>
        </p:pic>
        <p:sp>
          <p:nvSpPr>
            <p:cNvPr id="20" name="TextBox 19"/>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1" name="Graphic 13"/>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0591033" y="741997"/>
              <a:ext cx="171450" cy="171450"/>
            </a:xfrm>
            <a:prstGeom prst="rect">
              <a:avLst/>
            </a:prstGeom>
          </p:spPr>
        </p:pic>
        <p:pic>
          <p:nvPicPr>
            <p:cNvPr id="22" name="Picture 21"/>
            <p:cNvPicPr>
              <a:picLocks noChangeAspect="1"/>
            </p:cNvPicPr>
            <p:nvPr/>
          </p:nvPicPr>
          <p:blipFill>
            <a:blip r:embed="rId1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panose="020B0604020202020204"/>
          <a:ea typeface="MS PGothic" panose="020B0600070205080204" charset="-128"/>
          <a:cs typeface="Arial" panose="020B0604020202020204"/>
        </a:defRPr>
      </a:lvl1pPr>
      <a:lvl2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2pPr>
      <a:lvl3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3pPr>
      <a:lvl4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4pPr>
      <a:lvl5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5pPr>
      <a:lvl6pPr marL="4572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6pPr>
      <a:lvl7pPr marL="9144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7pPr>
      <a:lvl8pPr marL="13716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8pPr>
      <a:lvl9pPr marL="18288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charset="-128"/>
          <a:cs typeface="MS PGothic" panose="020B0600070205080204" charset="-128"/>
        </a:defRPr>
      </a:lvl1pPr>
      <a:lvl2pPr marL="742950" indent="-285750" algn="l" defTabSz="457200" rtl="0" eaLnBrk="1" fontAlgn="base" hangingPunct="1">
        <a:spcBef>
          <a:spcPct val="20000"/>
        </a:spcBef>
        <a:spcAft>
          <a:spcPct val="0"/>
        </a:spcAft>
        <a:buFont typeface="Arial" panose="020B0604020202020204" pitchFamily="34" charset="0"/>
        <a:defRPr sz="2800" kern="1200">
          <a:solidFill>
            <a:schemeClr val="tx1"/>
          </a:solidFill>
          <a:latin typeface="+mn-lt"/>
          <a:ea typeface="MS PGothic" panose="020B0600070205080204" charset="-128"/>
          <a:cs typeface="+mn-cs"/>
        </a:defRPr>
      </a:lvl2pPr>
      <a:lvl3pPr marL="1143000" indent="-228600" algn="l" defTabSz="457200"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charset="-128"/>
          <a:cs typeface="+mn-cs"/>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ln>
        </p:spPr>
        <p:txBody>
          <a:bodyPr vert="horz" wrap="square" lIns="91440" tIns="45720" rIns="91440" bIns="45720" numCol="1" anchor="ctr" anchorCtr="0" compatLnSpc="1"/>
          <a:lstStyle/>
          <a:p>
            <a:pPr lvl="0"/>
            <a:r>
              <a:rPr lang="en-GB"/>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GB"/>
              <a:t>30/10/2014</a:t>
            </a:r>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grpSp>
        <p:nvGrpSpPr>
          <p:cNvPr id="15" name="Group 14"/>
          <p:cNvGrpSpPr/>
          <p:nvPr userDrawn="1"/>
        </p:nvGrpSpPr>
        <p:grpSpPr>
          <a:xfrm>
            <a:off x="0" y="0"/>
            <a:ext cx="9144000" cy="1115736"/>
            <a:chOff x="0" y="0"/>
            <a:chExt cx="12962429" cy="1115736"/>
          </a:xfrm>
        </p:grpSpPr>
        <p:sp>
          <p:nvSpPr>
            <p:cNvPr id="16" name="Rectangle 15"/>
            <p:cNvSpPr/>
            <p:nvPr/>
          </p:nvSpPr>
          <p:spPr>
            <a:xfrm>
              <a:off x="0" y="0"/>
              <a:ext cx="12962429"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7" name="Picture 16"/>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8" name="TextBox 17"/>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9" name="Graphic 11"/>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906056" y="403986"/>
              <a:ext cx="261610" cy="261610"/>
            </a:xfrm>
            <a:prstGeom prst="rect">
              <a:avLst/>
            </a:prstGeom>
          </p:spPr>
        </p:pic>
        <p:sp>
          <p:nvSpPr>
            <p:cNvPr id="20" name="TextBox 19"/>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1" name="Graphic 13"/>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0591033" y="741997"/>
              <a:ext cx="171450" cy="171450"/>
            </a:xfrm>
            <a:prstGeom prst="rect">
              <a:avLst/>
            </a:prstGeom>
          </p:spPr>
        </p:pic>
        <p:pic>
          <p:nvPicPr>
            <p:cNvPr id="22" name="Picture 21"/>
            <p:cNvPicPr>
              <a:picLocks noChangeAspect="1"/>
            </p:cNvPicPr>
            <p:nvPr/>
          </p:nvPicPr>
          <p:blipFill>
            <a:blip r:embed="rId1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panose="020B0604020202020204"/>
          <a:ea typeface="MS PGothic" panose="020B0600070205080204" charset="-128"/>
          <a:cs typeface="Arial" panose="020B0604020202020204"/>
        </a:defRPr>
      </a:lvl1pPr>
      <a:lvl2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2pPr>
      <a:lvl3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3pPr>
      <a:lvl4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4pPr>
      <a:lvl5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5pPr>
      <a:lvl6pPr marL="4572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6pPr>
      <a:lvl7pPr marL="9144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7pPr>
      <a:lvl8pPr marL="13716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8pPr>
      <a:lvl9pPr marL="18288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charset="-128"/>
          <a:cs typeface="MS PGothic" panose="020B0600070205080204" charset="-128"/>
        </a:defRPr>
      </a:lvl1pPr>
      <a:lvl2pPr marL="742950" indent="-285750" algn="l" defTabSz="457200" rtl="0" eaLnBrk="1" fontAlgn="base" hangingPunct="1">
        <a:spcBef>
          <a:spcPct val="20000"/>
        </a:spcBef>
        <a:spcAft>
          <a:spcPct val="0"/>
        </a:spcAft>
        <a:buFont typeface="Arial" panose="020B0604020202020204" pitchFamily="34" charset="0"/>
        <a:defRPr sz="2800" kern="1200">
          <a:solidFill>
            <a:schemeClr val="tx1"/>
          </a:solidFill>
          <a:latin typeface="+mn-lt"/>
          <a:ea typeface="MS PGothic" panose="020B0600070205080204" charset="-128"/>
          <a:cs typeface="+mn-cs"/>
        </a:defRPr>
      </a:lvl2pPr>
      <a:lvl3pPr marL="1143000" indent="-228600" algn="l" defTabSz="457200"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charset="-128"/>
          <a:cs typeface="+mn-cs"/>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5.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5.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5.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5.xml"/></Relationships>
</file>

<file path=ppt/slides/_rels/slide30.xml.rels><?xml version="1.0" encoding="UTF-8" standalone="yes"?>
<Relationships xmlns="http://schemas.openxmlformats.org/package/2006/relationships"><Relationship Id="rId3" Type="http://schemas.openxmlformats.org/officeDocument/2006/relationships/hyperlink" Target="https://www.slideshare.net/slideshow/anomaly-detection-2747825/2747825" TargetMode="External"/><Relationship Id="rId2" Type="http://schemas.openxmlformats.org/officeDocument/2006/relationships/hyperlink" Target="https://www.slideshare.net/slideshow/outlier-analysis-and-anomaly-detection/88445161" TargetMode="External"/><Relationship Id="rId1" Type="http://schemas.openxmlformats.org/officeDocument/2006/relationships/slideLayout" Target="../slideLayouts/slideLayout46.xml"/><Relationship Id="rId4" Type="http://schemas.openxmlformats.org/officeDocument/2006/relationships/hyperlink" Target="https://www.slideshare.net/slideshow/data-mining-outlier-analysis/5005820"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858000"/>
          </a:xfrm>
          <a:prstGeom prst="rect">
            <a:avLst/>
          </a:prstGeom>
          <a:solidFill>
            <a:srgbClr val="D32A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p:cNvSpPr>
            <a:spLocks noGrp="1"/>
          </p:cNvSpPr>
          <p:nvPr>
            <p:ph type="ctrTitle"/>
          </p:nvPr>
        </p:nvSpPr>
        <p:spPr>
          <a:xfrm>
            <a:off x="727889" y="1229265"/>
            <a:ext cx="7688222" cy="1153160"/>
          </a:xfrm>
        </p:spPr>
        <p:txBody>
          <a:bodyPr>
            <a:noAutofit/>
          </a:bodyPr>
          <a:lstStyle/>
          <a:p>
            <a:pPr algn="ctr"/>
            <a:r>
              <a:rPr lang="en-US" sz="4000" dirty="0">
                <a:solidFill>
                  <a:schemeClr val="bg1"/>
                </a:solidFill>
                <a:latin typeface="Times New Roman" panose="02020603050405020304" pitchFamily="18" charset="0"/>
                <a:cs typeface="Times New Roman" panose="02020603050405020304" pitchFamily="18" charset="0"/>
              </a:rPr>
              <a:t>Data Mining</a:t>
            </a:r>
            <a:br>
              <a:rPr lang="en-US" sz="4000" dirty="0">
                <a:solidFill>
                  <a:schemeClr val="bg1"/>
                </a:solidFill>
                <a:latin typeface="Times New Roman" panose="02020603050405020304" pitchFamily="18" charset="0"/>
                <a:cs typeface="Times New Roman" panose="02020603050405020304" pitchFamily="18" charset="0"/>
              </a:rPr>
            </a:br>
            <a:r>
              <a:rPr lang="en-US" sz="4000" dirty="0">
                <a:solidFill>
                  <a:schemeClr val="bg1"/>
                </a:solidFill>
                <a:latin typeface="Times New Roman" panose="02020603050405020304" pitchFamily="18" charset="0"/>
                <a:cs typeface="Times New Roman" panose="02020603050405020304" pitchFamily="18" charset="0"/>
              </a:rPr>
              <a:t>DS-303</a:t>
            </a:r>
          </a:p>
        </p:txBody>
      </p:sp>
      <p:sp>
        <p:nvSpPr>
          <p:cNvPr id="3" name="Subtitle 2"/>
          <p:cNvSpPr>
            <a:spLocks noGrp="1"/>
          </p:cNvSpPr>
          <p:nvPr>
            <p:ph type="subTitle" idx="1"/>
          </p:nvPr>
        </p:nvSpPr>
        <p:spPr>
          <a:xfrm>
            <a:off x="1391233" y="3082889"/>
            <a:ext cx="6716268" cy="3181229"/>
          </a:xfrm>
        </p:spPr>
        <p:txBody>
          <a:bodyPr>
            <a:noAutofit/>
          </a:bodyPr>
          <a:lstStyle/>
          <a:p>
            <a:r>
              <a:rPr lang="en-US" sz="2800" b="1" dirty="0">
                <a:solidFill>
                  <a:schemeClr val="bg1"/>
                </a:solidFill>
                <a:latin typeface="Times New Roman" panose="02020603050405020304" pitchFamily="18" charset="0"/>
                <a:cs typeface="Times New Roman" panose="02020603050405020304" pitchFamily="18" charset="0"/>
              </a:rPr>
              <a:t>Lecture 4</a:t>
            </a:r>
            <a:endParaRPr lang="en-GB" sz="2800" b="1" dirty="0">
              <a:solidFill>
                <a:schemeClr val="bg1"/>
              </a:solidFill>
              <a:latin typeface="Times New Roman" panose="02020603050405020304" pitchFamily="18" charset="0"/>
              <a:cs typeface="Times New Roman" panose="02020603050405020304" pitchFamily="18" charset="0"/>
            </a:endParaRPr>
          </a:p>
          <a:p>
            <a:endParaRPr lang="en-GB" sz="2800" b="1" dirty="0">
              <a:solidFill>
                <a:schemeClr val="bg1"/>
              </a:solidFill>
              <a:latin typeface="Times New Roman" panose="02020603050405020304" pitchFamily="18" charset="0"/>
              <a:cs typeface="Times New Roman" panose="02020603050405020304" pitchFamily="18" charset="0"/>
            </a:endParaRPr>
          </a:p>
          <a:p>
            <a:endParaRPr lang="en-GB" sz="2800" b="1" dirty="0">
              <a:solidFill>
                <a:schemeClr val="bg1"/>
              </a:solidFill>
              <a:latin typeface="Garamond" panose="02020404030301010803" pitchFamily="18" charset="0"/>
            </a:endParaRPr>
          </a:p>
          <a:p>
            <a:pPr algn="r"/>
            <a:r>
              <a:rPr lang="en-GB" sz="2400" b="1">
                <a:solidFill>
                  <a:schemeClr val="bg1"/>
                </a:solidFill>
                <a:latin typeface="Garamond" panose="02020404030301010803" pitchFamily="18" charset="0"/>
              </a:rPr>
              <a:t>Muhammad Arham</a:t>
            </a:r>
            <a:endParaRPr lang="en-GB" sz="2400" b="1" dirty="0">
              <a:solidFill>
                <a:schemeClr val="bg1"/>
              </a:solidFill>
              <a:latin typeface="Garamond" panose="02020404030301010803" pitchFamily="18" charset="0"/>
            </a:endParaRPr>
          </a:p>
          <a:p>
            <a:pPr algn="r"/>
            <a:r>
              <a:rPr lang="en-GB" sz="2400" b="1" dirty="0">
                <a:solidFill>
                  <a:schemeClr val="bg1"/>
                </a:solidFill>
                <a:latin typeface="Garamond" panose="02020404030301010803" pitchFamily="18" charset="0"/>
              </a:rPr>
              <a:t>Lecturer</a:t>
            </a:r>
          </a:p>
          <a:p>
            <a:pPr algn="r"/>
            <a:r>
              <a:rPr lang="en-GB" sz="2400" b="1" dirty="0">
                <a:solidFill>
                  <a:schemeClr val="bg1"/>
                </a:solidFill>
                <a:latin typeface="Garamond" panose="02020404030301010803" pitchFamily="18" charset="0"/>
              </a:rPr>
              <a:t>The University of Faisalabad</a:t>
            </a:r>
          </a:p>
        </p:txBody>
      </p:sp>
      <p:pic>
        <p:nvPicPr>
          <p:cNvPr id="10" name="Graphic 9"/>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92728" y="0"/>
            <a:ext cx="2708768" cy="361169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split orient="vert" dir="in"/>
      </p:transition>
    </mc:Choice>
    <mc:Fallback xmlns="">
      <p:transition spd="slow">
        <p:split orient="vert" dir="in"/>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2000"/>
                                        <p:tgtEl>
                                          <p:spTgt spid="2"/>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box(in)">
                                      <p:cBhvr>
                                        <p:cTn id="10" dur="20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4" presetClass="entr" presetSubtype="16"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box(in)">
                                      <p:cBhvr>
                                        <p:cTn id="15" dur="200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4" presetClass="entr" presetSubtype="16" fill="hold" grpId="0"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box(in)">
                                      <p:cBhvr>
                                        <p:cTn id="20" dur="2000"/>
                                        <p:tgtEl>
                                          <p:spTgt spid="3">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4" presetClass="entr" presetSubtype="16"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box(in)">
                                      <p:cBhvr>
                                        <p:cTn id="25" dur="2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build="p"/>
      <p:bldP spid="3" grpId="1"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altLang="en-US" sz="3200" dirty="0">
                <a:solidFill>
                  <a:schemeClr val="tx1"/>
                </a:solidFill>
                <a:latin typeface="Times New Roman" panose="02020603050405020304" pitchFamily="18" charset="0"/>
                <a:cs typeface="Times New Roman" panose="02020603050405020304" pitchFamily="18" charset="0"/>
              </a:rPr>
              <a:t>Outlier &amp; Anomaly Detection</a:t>
            </a:r>
          </a:p>
        </p:txBody>
      </p:sp>
      <p:sp>
        <p:nvSpPr>
          <p:cNvPr id="6" name="Slide Number Placeholder 5"/>
          <p:cNvSpPr>
            <a:spLocks noGrp="1"/>
          </p:cNvSpPr>
          <p:nvPr>
            <p:ph type="sldNum" sz="quarter" idx="12"/>
          </p:nvPr>
        </p:nvSpPr>
        <p:spPr/>
        <p:txBody>
          <a:bodyPr/>
          <a:lstStyle/>
          <a:p>
            <a:fld id="{1D5CD492-2BC6-F348-9965-EC1D86DF57A8}" type="slidenum">
              <a:rPr lang="en-US" smtClean="0"/>
              <a:t>2</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Content </a:t>
            </a:r>
          </a:p>
        </p:txBody>
      </p:sp>
    </p:spTree>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0"/>
                                        <p:tgtEl>
                                          <p:spTgt spid="6"/>
                                        </p:tgtEl>
                                      </p:cBhvr>
                                    </p:animEffect>
                                    <p:anim calcmode="lin" valueType="num">
                                      <p:cBhvr>
                                        <p:cTn id="8" dur="2000" fill="hold"/>
                                        <p:tgtEl>
                                          <p:spTgt spid="6"/>
                                        </p:tgtEl>
                                        <p:attrNameLst>
                                          <p:attrName>ppt_w</p:attrName>
                                        </p:attrNameLst>
                                      </p:cBhvr>
                                      <p:tavLst>
                                        <p:tav tm="0" fmla="#ppt_w*sin(2.5*pi*$)">
                                          <p:val>
                                            <p:fltVal val="0"/>
                                          </p:val>
                                        </p:tav>
                                        <p:tav tm="100000">
                                          <p:val>
                                            <p:fltVal val="1"/>
                                          </p:val>
                                        </p:tav>
                                      </p:tavLst>
                                    </p:anim>
                                    <p:anim calcmode="lin" valueType="num">
                                      <p:cBhvr>
                                        <p:cTn id="9" dur="2000" fill="hold"/>
                                        <p:tgtEl>
                                          <p:spTgt spid="6"/>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p:cTn id="14" dur="500" fill="hold"/>
                                        <p:tgtEl>
                                          <p:spTgt spid="8"/>
                                        </p:tgtEl>
                                        <p:attrNameLst>
                                          <p:attrName>ppt_w</p:attrName>
                                        </p:attrNameLst>
                                      </p:cBhvr>
                                      <p:tavLst>
                                        <p:tav tm="0">
                                          <p:val>
                                            <p:fltVal val="0"/>
                                          </p:val>
                                        </p:tav>
                                        <p:tav tm="100000">
                                          <p:val>
                                            <p:strVal val="#ppt_w"/>
                                          </p:val>
                                        </p:tav>
                                      </p:tavLst>
                                    </p:anim>
                                    <p:anim calcmode="lin" valueType="num">
                                      <p:cBhvr>
                                        <p:cTn id="15" dur="500" fill="hold"/>
                                        <p:tgtEl>
                                          <p:spTgt spid="8"/>
                                        </p:tgtEl>
                                        <p:attrNameLst>
                                          <p:attrName>ppt_h</p:attrName>
                                        </p:attrNameLst>
                                      </p:cBhvr>
                                      <p:tavLst>
                                        <p:tav tm="0">
                                          <p:val>
                                            <p:fltVal val="0"/>
                                          </p:val>
                                        </p:tav>
                                        <p:tav tm="100000">
                                          <p:val>
                                            <p:strVal val="#ppt_h"/>
                                          </p:val>
                                        </p:tav>
                                      </p:tavLst>
                                    </p:anim>
                                    <p:animEffect transition="in" filter="fade">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43" presetClass="entr" presetSubtype="0" fill="hold" nodeType="clickEffect">
                                  <p:stCondLst>
                                    <p:cond delay="0"/>
                                  </p:stCondLst>
                                  <p:childTnLst>
                                    <p:set>
                                      <p:cBhvr>
                                        <p:cTn id="20" dur="1" fill="hold">
                                          <p:stCondLst>
                                            <p:cond delay="0"/>
                                          </p:stCondLst>
                                        </p:cTn>
                                        <p:tgtEl>
                                          <p:spTgt spid="3">
                                            <p:txEl>
                                              <p:pRg st="0" end="0"/>
                                            </p:txEl>
                                          </p:spTgt>
                                        </p:tgtEl>
                                        <p:attrNameLst>
                                          <p:attrName>style.visibility</p:attrName>
                                        </p:attrNameLst>
                                      </p:cBhvr>
                                      <p:to>
                                        <p:strVal val="visible"/>
                                      </p:to>
                                    </p:set>
                                    <p:animEffect transition="in" filter="fade">
                                      <p:cBhvr>
                                        <p:cTn id="21" dur="100"/>
                                        <p:tgtEl>
                                          <p:spTgt spid="3">
                                            <p:txEl>
                                              <p:pRg st="0" end="0"/>
                                            </p:txEl>
                                          </p:spTgt>
                                        </p:tgtEl>
                                      </p:cBhvr>
                                    </p:animEffect>
                                    <p:anim calcmode="lin" valueType="num">
                                      <p:cBhvr>
                                        <p:cTn id="22" dur="4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23" dur="400" fill="hold"/>
                                        <p:tgtEl>
                                          <p:spTgt spid="3">
                                            <p:txEl>
                                              <p:pRg st="0" end="0"/>
                                            </p:txEl>
                                          </p:spTgt>
                                        </p:tgtEl>
                                        <p:attrNameLst>
                                          <p:attrName>ppt_y</p:attrName>
                                        </p:attrNameLst>
                                      </p:cBhvr>
                                      <p:tavLst>
                                        <p:tav tm="0">
                                          <p:val>
                                            <p:strVal val="#ppt_y+0.31"/>
                                          </p:val>
                                        </p:tav>
                                        <p:tav tm="100000">
                                          <p:val>
                                            <p:strVal val="#ppt_y+0.31"/>
                                          </p:val>
                                        </p:tav>
                                      </p:tavLst>
                                    </p:anim>
                                    <p:anim calcmode="lin" valueType="num">
                                      <p:cBhvr>
                                        <p:cTn id="24" dur="600" decel="50000" fill="hold">
                                          <p:stCondLst>
                                            <p:cond delay="400"/>
                                          </p:stCondLst>
                                        </p:cTn>
                                        <p:tgtEl>
                                          <p:spTgt spid="3">
                                            <p:txEl>
                                              <p:pRg st="0" end="0"/>
                                            </p:txEl>
                                          </p:spTgt>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25" dur="600" decel="50000" fill="hold">
                                          <p:stCondLst>
                                            <p:cond delay="400"/>
                                          </p:stCondLst>
                                        </p:cTn>
                                        <p:tgtEl>
                                          <p:spTgt spid="3">
                                            <p:txEl>
                                              <p:pRg st="0" end="0"/>
                                            </p:txEl>
                                          </p:spTgt>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P spid="6" grpId="0"/>
      <p:bldP spid="6" grpId="1"/>
      <p:bldP spid="8" grpId="0"/>
      <p:bldP spid="8" grpId="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3</a:t>
            </a:fld>
            <a:endParaRPr lang="en-US"/>
          </a:p>
        </p:txBody>
      </p:sp>
      <p:sp>
        <p:nvSpPr>
          <p:cNvPr id="8" name="Title 1"/>
          <p:cNvSpPr>
            <a:spLocks noGrp="1"/>
          </p:cNvSpPr>
          <p:nvPr>
            <p:ph type="title"/>
          </p:nvPr>
        </p:nvSpPr>
        <p:spPr>
          <a:xfrm>
            <a:off x="453390" y="3024505"/>
            <a:ext cx="8437880" cy="1143000"/>
          </a:xfrm>
        </p:spPr>
        <p:txBody>
          <a:bodyPr/>
          <a:lstStyle/>
          <a:p>
            <a:pPr algn="ctr"/>
            <a:r>
              <a:rPr lang="en-US" altLang="en-US" sz="4800" dirty="0">
                <a:solidFill>
                  <a:srgbClr val="C00000"/>
                </a:solidFill>
                <a:latin typeface="Times New Roman" panose="02020603050405020304" pitchFamily="18" charset="0"/>
                <a:cs typeface="Times New Roman" panose="02020603050405020304" pitchFamily="18" charset="0"/>
                <a:sym typeface="+mn-ea"/>
              </a:rPr>
              <a:t>Outlier</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checkerboard(across)">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8" grpId="0"/>
      <p:bldP spid="8" grpId="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4</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What is an Outlier?</a:t>
            </a:r>
          </a:p>
        </p:txBody>
      </p:sp>
      <p:sp>
        <p:nvSpPr>
          <p:cNvPr id="4" name="Content Placeholder 3"/>
          <p:cNvSpPr>
            <a:spLocks noGrp="1"/>
          </p:cNvSpPr>
          <p:nvPr>
            <p:ph idx="1"/>
          </p:nvPr>
        </p:nvSpPr>
        <p:spPr/>
        <p:txBody>
          <a:bodyPr/>
          <a:lstStyle/>
          <a:p>
            <a:r>
              <a:rPr lang="en-US" altLang="en-US" sz="2400" dirty="0">
                <a:solidFill>
                  <a:schemeClr val="tx1"/>
                </a:solidFill>
                <a:latin typeface="Times New Roman" panose="02020603050405020304" pitchFamily="18" charset="0"/>
                <a:cs typeface="Times New Roman" panose="02020603050405020304" pitchFamily="18" charset="0"/>
              </a:rPr>
              <a:t>Very often, there exist data objects that do not comply with the general behavior or model of the data. Such data objects, which are grossly different from or inconsistent with the remaining set of data, are called </a:t>
            </a:r>
            <a:r>
              <a:rPr lang="en-US" altLang="en-US" sz="2400" b="1" dirty="0">
                <a:solidFill>
                  <a:schemeClr val="tx1"/>
                </a:solidFill>
                <a:latin typeface="Times New Roman" panose="02020603050405020304" pitchFamily="18" charset="0"/>
                <a:cs typeface="Times New Roman" panose="02020603050405020304" pitchFamily="18" charset="0"/>
              </a:rPr>
              <a:t>Outliers</a:t>
            </a:r>
            <a:r>
              <a:rPr lang="en-US" altLang="en-US" sz="2400" dirty="0">
                <a:solidFill>
                  <a:schemeClr val="tx1"/>
                </a:solidFill>
                <a:latin typeface="Times New Roman" panose="02020603050405020304" pitchFamily="18" charset="0"/>
                <a:cs typeface="Times New Roman" panose="02020603050405020304" pitchFamily="18" charset="0"/>
              </a:rPr>
              <a:t>.</a:t>
            </a:r>
          </a:p>
          <a:p>
            <a:endParaRPr lang="en-US" altLang="en-US" sz="2400" dirty="0">
              <a:solidFill>
                <a:schemeClr val="tx1"/>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E090BE2E-0C22-4D63-88A3-E9209378DC99}"/>
              </a:ext>
            </a:extLst>
          </p:cNvPr>
          <p:cNvPicPr>
            <a:picLocks noChangeAspect="1"/>
          </p:cNvPicPr>
          <p:nvPr/>
        </p:nvPicPr>
        <p:blipFill>
          <a:blip r:embed="rId2"/>
          <a:stretch>
            <a:fillRect/>
          </a:stretch>
        </p:blipFill>
        <p:spPr>
          <a:xfrm>
            <a:off x="2904191" y="3780884"/>
            <a:ext cx="3175366" cy="1476915"/>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5</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What is Outlier Analysis?</a:t>
            </a:r>
          </a:p>
        </p:txBody>
      </p:sp>
      <p:sp>
        <p:nvSpPr>
          <p:cNvPr id="4" name="Content Placeholder 3"/>
          <p:cNvSpPr>
            <a:spLocks noGrp="1"/>
          </p:cNvSpPr>
          <p:nvPr>
            <p:ph idx="1"/>
          </p:nvPr>
        </p:nvSpPr>
        <p:spPr/>
        <p:txBody>
          <a:bodyPr/>
          <a:lstStyle/>
          <a:p>
            <a:r>
              <a:rPr lang="en-US" altLang="en-US" sz="2400" dirty="0">
                <a:solidFill>
                  <a:schemeClr val="tx1"/>
                </a:solidFill>
                <a:latin typeface="Times New Roman" panose="02020603050405020304" pitchFamily="18" charset="0"/>
                <a:cs typeface="Times New Roman" panose="02020603050405020304" pitchFamily="18" charset="0"/>
              </a:rPr>
              <a:t>The outliers may be of particular interest, such as in the case of fraud detection, where outliers may indicate fraudulent activity. Thus, outlier detection and analysis is an interesting data mining task, referred to as </a:t>
            </a:r>
            <a:r>
              <a:rPr lang="en-US" altLang="en-US" sz="2400" b="1" dirty="0">
                <a:solidFill>
                  <a:schemeClr val="tx1"/>
                </a:solidFill>
                <a:latin typeface="Times New Roman" panose="02020603050405020304" pitchFamily="18" charset="0"/>
                <a:cs typeface="Times New Roman" panose="02020603050405020304" pitchFamily="18" charset="0"/>
              </a:rPr>
              <a:t>Outlier mining or outlier analysis</a:t>
            </a:r>
            <a:r>
              <a:rPr lang="en-US" altLang="en-US" sz="2400" dirty="0">
                <a:solidFill>
                  <a:schemeClr val="tx1"/>
                </a:solidFill>
                <a:latin typeface="Times New Roman" panose="02020603050405020304" pitchFamily="18" charset="0"/>
                <a:cs typeface="Times New Roman" panose="02020603050405020304" pitchFamily="18" charset="0"/>
              </a:rPr>
              <a:t>.</a:t>
            </a:r>
          </a:p>
          <a:p>
            <a:endParaRPr lang="en-US" altLang="en-US"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5627477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6</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Statistical Distribution-Based Outlier Detection</a:t>
            </a:r>
          </a:p>
        </p:txBody>
      </p:sp>
      <p:sp>
        <p:nvSpPr>
          <p:cNvPr id="4" name="Content Placeholder 3"/>
          <p:cNvSpPr>
            <a:spLocks noGrp="1"/>
          </p:cNvSpPr>
          <p:nvPr>
            <p:ph idx="1"/>
          </p:nvPr>
        </p:nvSpPr>
        <p:spPr/>
        <p:txBody>
          <a:bodyPr/>
          <a:lstStyle/>
          <a:p>
            <a:r>
              <a:rPr lang="en-US" altLang="en-US" sz="2400" dirty="0">
                <a:solidFill>
                  <a:schemeClr val="tx1"/>
                </a:solidFill>
                <a:latin typeface="Times New Roman" panose="02020603050405020304" pitchFamily="18" charset="0"/>
                <a:cs typeface="Times New Roman" panose="02020603050405020304" pitchFamily="18" charset="0"/>
              </a:rPr>
              <a:t>Two basic types of procedures for detecting outliers:</a:t>
            </a:r>
          </a:p>
          <a:p>
            <a:pPr lvl="1"/>
            <a:r>
              <a:rPr lang="en-US" altLang="en-US" dirty="0">
                <a:solidFill>
                  <a:schemeClr val="tx1"/>
                </a:solidFill>
                <a:latin typeface="Times New Roman" panose="02020603050405020304" pitchFamily="18" charset="0"/>
                <a:cs typeface="Times New Roman" panose="02020603050405020304" pitchFamily="18" charset="0"/>
              </a:rPr>
              <a:t>Block Procedures: In this case, either all of the suspect objects are treated as outliers or all of them are accepted as consistent.</a:t>
            </a:r>
          </a:p>
          <a:p>
            <a:pPr lvl="1"/>
            <a:r>
              <a:rPr lang="en-US" altLang="en-US" dirty="0">
                <a:solidFill>
                  <a:schemeClr val="tx1"/>
                </a:solidFill>
                <a:latin typeface="Times New Roman" panose="02020603050405020304" pitchFamily="18" charset="0"/>
                <a:cs typeface="Times New Roman" panose="02020603050405020304" pitchFamily="18" charset="0"/>
              </a:rPr>
              <a:t>Consecutive (or Sequential) Procedures: An example of such a procedure is the inside out procedure.</a:t>
            </a:r>
          </a:p>
          <a:p>
            <a:endParaRPr lang="en-US" altLang="en-US"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6718815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7</a:t>
            </a:fld>
            <a:endParaRPr lang="en-US"/>
          </a:p>
        </p:txBody>
      </p:sp>
      <p:sp>
        <p:nvSpPr>
          <p:cNvPr id="8" name="Title 1"/>
          <p:cNvSpPr>
            <a:spLocks noGrp="1"/>
          </p:cNvSpPr>
          <p:nvPr>
            <p:ph type="title"/>
          </p:nvPr>
        </p:nvSpPr>
        <p:spPr>
          <a:xfrm>
            <a:off x="453390" y="3024505"/>
            <a:ext cx="8437880" cy="1143000"/>
          </a:xfrm>
        </p:spPr>
        <p:txBody>
          <a:bodyPr/>
          <a:lstStyle/>
          <a:p>
            <a:pPr algn="ctr"/>
            <a:r>
              <a:rPr lang="en-US" altLang="en-US" sz="4800" dirty="0">
                <a:solidFill>
                  <a:srgbClr val="C00000"/>
                </a:solidFill>
                <a:latin typeface="Times New Roman" panose="02020603050405020304" pitchFamily="18" charset="0"/>
                <a:cs typeface="Times New Roman" panose="02020603050405020304" pitchFamily="18" charset="0"/>
                <a:sym typeface="+mn-ea"/>
              </a:rPr>
              <a:t>Anomaly</a:t>
            </a:r>
          </a:p>
        </p:txBody>
      </p:sp>
    </p:spTree>
    <p:extLst>
      <p:ext uri="{BB962C8B-B14F-4D97-AF65-F5344CB8AC3E}">
        <p14:creationId xmlns:p14="http://schemas.microsoft.com/office/powerpoint/2010/main" val="99854231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checkerboard(across)">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8" grpId="0"/>
      <p:bldP spid="8"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8</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What is Anomaly</a:t>
            </a:r>
          </a:p>
        </p:txBody>
      </p:sp>
      <p:sp>
        <p:nvSpPr>
          <p:cNvPr id="4" name="Content Placeholder 3"/>
          <p:cNvSpPr>
            <a:spLocks noGrp="1"/>
          </p:cNvSpPr>
          <p:nvPr>
            <p:ph idx="1"/>
          </p:nvPr>
        </p:nvSpPr>
        <p:spPr/>
        <p:txBody>
          <a:bodyPr/>
          <a:lstStyle/>
          <a:p>
            <a:r>
              <a:rPr lang="en-US" altLang="en-US" sz="2400" dirty="0">
                <a:solidFill>
                  <a:schemeClr val="tx1"/>
                </a:solidFill>
                <a:latin typeface="Times New Roman" panose="02020603050405020304" pitchFamily="18" charset="0"/>
                <a:cs typeface="Times New Roman" panose="02020603050405020304" pitchFamily="18" charset="0"/>
              </a:rPr>
              <a:t>Something that deviates from what is standard, normal, or expected.</a:t>
            </a:r>
          </a:p>
          <a:p>
            <a:endParaRPr lang="en-US" altLang="en-US" sz="2400" dirty="0">
              <a:solidFill>
                <a:schemeClr val="tx1"/>
              </a:solidFill>
              <a:latin typeface="Times New Roman" panose="02020603050405020304" pitchFamily="18" charset="0"/>
              <a:cs typeface="Times New Roman" panose="02020603050405020304" pitchFamily="18" charset="0"/>
            </a:endParaRPr>
          </a:p>
          <a:p>
            <a:endParaRPr lang="en-US" altLang="en-US" sz="2400" dirty="0">
              <a:solidFill>
                <a:schemeClr val="tx1"/>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8DFCA180-C616-43DB-AC2D-5B30CBB72D5F}"/>
              </a:ext>
            </a:extLst>
          </p:cNvPr>
          <p:cNvPicPr>
            <a:picLocks noChangeAspect="1"/>
          </p:cNvPicPr>
          <p:nvPr/>
        </p:nvPicPr>
        <p:blipFill>
          <a:blip r:embed="rId2"/>
          <a:stretch>
            <a:fillRect/>
          </a:stretch>
        </p:blipFill>
        <p:spPr>
          <a:xfrm>
            <a:off x="2590801" y="2669661"/>
            <a:ext cx="3620005" cy="3686689"/>
          </a:xfrm>
          <a:prstGeom prst="rect">
            <a:avLst/>
          </a:prstGeom>
        </p:spPr>
      </p:pic>
    </p:spTree>
    <p:extLst>
      <p:ext uri="{BB962C8B-B14F-4D97-AF65-F5344CB8AC3E}">
        <p14:creationId xmlns:p14="http://schemas.microsoft.com/office/powerpoint/2010/main" val="388089296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9</a:t>
            </a:fld>
            <a:endParaRPr lang="en-US"/>
          </a:p>
        </p:txBody>
      </p:sp>
      <p:sp>
        <p:nvSpPr>
          <p:cNvPr id="8" name="Title 1"/>
          <p:cNvSpPr>
            <a:spLocks noGrp="1"/>
          </p:cNvSpPr>
          <p:nvPr>
            <p:ph type="title"/>
          </p:nvPr>
        </p:nvSpPr>
        <p:spPr>
          <a:xfrm>
            <a:off x="1553226" y="0"/>
            <a:ext cx="5461349" cy="1143000"/>
          </a:xfrm>
        </p:spPr>
        <p:txBody>
          <a:bodyPr/>
          <a:lstStyle/>
          <a:p>
            <a:pPr algn="ctr"/>
            <a:endParaRPr lang="en-US" sz="3600" dirty="0">
              <a:solidFill>
                <a:schemeClr val="bg1"/>
              </a:solidFill>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p:txBody>
          <a:bodyPr/>
          <a:lstStyle/>
          <a:p>
            <a:endParaRPr lang="en-US" altLang="en-US" sz="2400" dirty="0">
              <a:solidFill>
                <a:schemeClr val="tx1"/>
              </a:solidFill>
              <a:latin typeface="Times New Roman" panose="02020603050405020304" pitchFamily="18" charset="0"/>
              <a:cs typeface="Times New Roman" panose="02020603050405020304" pitchFamily="18" charset="0"/>
            </a:endParaRPr>
          </a:p>
          <a:p>
            <a:endParaRPr lang="en-US" altLang="en-US" sz="2400" dirty="0">
              <a:solidFill>
                <a:schemeClr val="tx1"/>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2B075443-C826-47A6-8A0C-1BC4F6C826EA}"/>
              </a:ext>
            </a:extLst>
          </p:cNvPr>
          <p:cNvPicPr>
            <a:picLocks noChangeAspect="1"/>
          </p:cNvPicPr>
          <p:nvPr/>
        </p:nvPicPr>
        <p:blipFill>
          <a:blip r:embed="rId2"/>
          <a:stretch>
            <a:fillRect/>
          </a:stretch>
        </p:blipFill>
        <p:spPr>
          <a:xfrm>
            <a:off x="1053811" y="2012024"/>
            <a:ext cx="6646760" cy="3620679"/>
          </a:xfrm>
          <a:prstGeom prst="rect">
            <a:avLst/>
          </a:prstGeom>
        </p:spPr>
      </p:pic>
    </p:spTree>
    <p:extLst>
      <p:ext uri="{BB962C8B-B14F-4D97-AF65-F5344CB8AC3E}">
        <p14:creationId xmlns:p14="http://schemas.microsoft.com/office/powerpoint/2010/main" val="244047912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10</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What is Anomaly Detection?</a:t>
            </a:r>
          </a:p>
        </p:txBody>
      </p:sp>
      <p:sp>
        <p:nvSpPr>
          <p:cNvPr id="4" name="Content Placeholder 3"/>
          <p:cNvSpPr>
            <a:spLocks noGrp="1"/>
          </p:cNvSpPr>
          <p:nvPr>
            <p:ph idx="1"/>
          </p:nvPr>
        </p:nvSpPr>
        <p:spPr/>
        <p:txBody>
          <a:bodyPr/>
          <a:lstStyle/>
          <a:p>
            <a:r>
              <a:rPr lang="en-US" altLang="en-US" sz="2400" dirty="0">
                <a:solidFill>
                  <a:schemeClr val="tx1"/>
                </a:solidFill>
                <a:latin typeface="Times New Roman" panose="02020603050405020304" pitchFamily="18" charset="0"/>
                <a:cs typeface="Times New Roman" panose="02020603050405020304" pitchFamily="18" charset="0"/>
              </a:rPr>
              <a:t>It is the process of finding patterns in data, that do not conform to a prior expected behavior.</a:t>
            </a:r>
          </a:p>
          <a:p>
            <a:r>
              <a:rPr lang="en-US" altLang="en-US" dirty="0">
                <a:solidFill>
                  <a:schemeClr val="tx1"/>
                </a:solidFill>
                <a:latin typeface="Times New Roman" panose="02020603050405020304" pitchFamily="18" charset="0"/>
                <a:cs typeface="Times New Roman" panose="02020603050405020304" pitchFamily="18" charset="0"/>
              </a:rPr>
              <a:t>Anomaly detection is an important tool for detecting fraud, network intrusion, and other rare events that may have great significance but are hard to find.</a:t>
            </a:r>
            <a:endParaRPr lang="en-US" altLang="en-US" sz="2400" dirty="0">
              <a:solidFill>
                <a:schemeClr val="tx1"/>
              </a:solidFill>
              <a:latin typeface="Times New Roman" panose="02020603050405020304" pitchFamily="18" charset="0"/>
              <a:cs typeface="Times New Roman" panose="02020603050405020304" pitchFamily="18" charset="0"/>
            </a:endParaRPr>
          </a:p>
          <a:p>
            <a:endParaRPr lang="en-US" altLang="en-US"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3551352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11</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Types of Anomalies </a:t>
            </a:r>
          </a:p>
        </p:txBody>
      </p:sp>
      <p:sp>
        <p:nvSpPr>
          <p:cNvPr id="4" name="Content Placeholder 3"/>
          <p:cNvSpPr>
            <a:spLocks noGrp="1"/>
          </p:cNvSpPr>
          <p:nvPr>
            <p:ph idx="1"/>
          </p:nvPr>
        </p:nvSpPr>
        <p:spPr/>
        <p:txBody>
          <a:bodyPr/>
          <a:lstStyle/>
          <a:p>
            <a:r>
              <a:rPr lang="en-US" altLang="en-US" sz="2400" dirty="0">
                <a:solidFill>
                  <a:schemeClr val="tx1"/>
                </a:solidFill>
                <a:latin typeface="Times New Roman" panose="02020603050405020304" pitchFamily="18" charset="0"/>
                <a:cs typeface="Times New Roman" panose="02020603050405020304" pitchFamily="18" charset="0"/>
              </a:rPr>
              <a:t>Point Anomaly</a:t>
            </a:r>
          </a:p>
          <a:p>
            <a:pPr lvl="1"/>
            <a:r>
              <a:rPr lang="en-US" altLang="en-US" dirty="0">
                <a:solidFill>
                  <a:schemeClr val="tx1"/>
                </a:solidFill>
                <a:latin typeface="Times New Roman" panose="02020603050405020304" pitchFamily="18" charset="0"/>
                <a:cs typeface="Times New Roman" panose="02020603050405020304" pitchFamily="18" charset="0"/>
              </a:rPr>
              <a:t>In an instance is anomalous compared with the rest of instances, the Anomaly is considered as point anomaly.</a:t>
            </a:r>
          </a:p>
          <a:p>
            <a:r>
              <a:rPr lang="en-US" altLang="en-US" dirty="0">
                <a:solidFill>
                  <a:schemeClr val="tx1"/>
                </a:solidFill>
                <a:latin typeface="Times New Roman" panose="02020603050405020304" pitchFamily="18" charset="0"/>
                <a:cs typeface="Times New Roman" panose="02020603050405020304" pitchFamily="18" charset="0"/>
              </a:rPr>
              <a:t>Contextual Anomaly</a:t>
            </a:r>
          </a:p>
          <a:p>
            <a:pPr lvl="1"/>
            <a:r>
              <a:rPr lang="en-US" altLang="en-US" dirty="0">
                <a:solidFill>
                  <a:schemeClr val="tx1"/>
                </a:solidFill>
                <a:latin typeface="Times New Roman" panose="02020603050405020304" pitchFamily="18" charset="0"/>
                <a:cs typeface="Times New Roman" panose="02020603050405020304" pitchFamily="18" charset="0"/>
              </a:rPr>
              <a:t>It is specific-context based anomaly. Observation that is unusual in a certain context as a whole.</a:t>
            </a:r>
          </a:p>
          <a:p>
            <a:r>
              <a:rPr lang="en-US" altLang="en-US" sz="2400" dirty="0">
                <a:solidFill>
                  <a:schemeClr val="tx1"/>
                </a:solidFill>
                <a:latin typeface="Times New Roman" panose="02020603050405020304" pitchFamily="18" charset="0"/>
                <a:cs typeface="Times New Roman" panose="02020603050405020304" pitchFamily="18" charset="0"/>
              </a:rPr>
              <a:t>Collective Anomaly</a:t>
            </a:r>
          </a:p>
          <a:p>
            <a:pPr lvl="1"/>
            <a:r>
              <a:rPr lang="en-US" altLang="en-US" dirty="0">
                <a:solidFill>
                  <a:schemeClr val="tx1"/>
                </a:solidFill>
                <a:latin typeface="Times New Roman" panose="02020603050405020304" pitchFamily="18" charset="0"/>
                <a:cs typeface="Times New Roman" panose="02020603050405020304" pitchFamily="18" charset="0"/>
              </a:rPr>
              <a:t>If a collection of related data instances is anomalous with respect to the entire data set. </a:t>
            </a:r>
          </a:p>
          <a:p>
            <a:endParaRPr lang="en-US" altLang="en-US"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0071091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12</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Point Anomaly</a:t>
            </a:r>
          </a:p>
        </p:txBody>
      </p:sp>
      <p:sp>
        <p:nvSpPr>
          <p:cNvPr id="4" name="Content Placeholder 3"/>
          <p:cNvSpPr>
            <a:spLocks noGrp="1"/>
          </p:cNvSpPr>
          <p:nvPr>
            <p:ph idx="1"/>
          </p:nvPr>
        </p:nvSpPr>
        <p:spPr/>
        <p:txBody>
          <a:bodyPr/>
          <a:lstStyle/>
          <a:p>
            <a:r>
              <a:rPr lang="en-US" altLang="en-US" sz="2400" dirty="0">
                <a:solidFill>
                  <a:schemeClr val="tx1"/>
                </a:solidFill>
                <a:latin typeface="Times New Roman" panose="02020603050405020304" pitchFamily="18" charset="0"/>
                <a:cs typeface="Times New Roman" panose="02020603050405020304" pitchFamily="18" charset="0"/>
              </a:rPr>
              <a:t>Business use case: Detecting credit card fraud based on “Amount Spent”.</a:t>
            </a:r>
          </a:p>
          <a:p>
            <a:endParaRPr lang="en-US" altLang="en-US" sz="2400" dirty="0">
              <a:solidFill>
                <a:schemeClr val="tx1"/>
              </a:solidFill>
              <a:latin typeface="Times New Roman" panose="02020603050405020304" pitchFamily="18" charset="0"/>
              <a:cs typeface="Times New Roman" panose="02020603050405020304" pitchFamily="18" charset="0"/>
            </a:endParaRPr>
          </a:p>
          <a:p>
            <a:endParaRPr lang="en-US" altLang="en-US" sz="2400" dirty="0">
              <a:solidFill>
                <a:schemeClr val="tx1"/>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FD073B00-FFE2-46D8-B604-8F1747702614}"/>
              </a:ext>
            </a:extLst>
          </p:cNvPr>
          <p:cNvPicPr>
            <a:picLocks noChangeAspect="1"/>
          </p:cNvPicPr>
          <p:nvPr/>
        </p:nvPicPr>
        <p:blipFill>
          <a:blip r:embed="rId2"/>
          <a:stretch>
            <a:fillRect/>
          </a:stretch>
        </p:blipFill>
        <p:spPr>
          <a:xfrm>
            <a:off x="2254914" y="2877004"/>
            <a:ext cx="3719166" cy="2552800"/>
          </a:xfrm>
          <a:prstGeom prst="rect">
            <a:avLst/>
          </a:prstGeom>
        </p:spPr>
      </p:pic>
    </p:spTree>
    <p:extLst>
      <p:ext uri="{BB962C8B-B14F-4D97-AF65-F5344CB8AC3E}">
        <p14:creationId xmlns:p14="http://schemas.microsoft.com/office/powerpoint/2010/main" val="133311931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13</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Contextual Anomaly</a:t>
            </a:r>
          </a:p>
        </p:txBody>
      </p:sp>
      <p:sp>
        <p:nvSpPr>
          <p:cNvPr id="4" name="Content Placeholder 3"/>
          <p:cNvSpPr>
            <a:spLocks noGrp="1"/>
          </p:cNvSpPr>
          <p:nvPr>
            <p:ph idx="1"/>
          </p:nvPr>
        </p:nvSpPr>
        <p:spPr/>
        <p:txBody>
          <a:bodyPr/>
          <a:lstStyle/>
          <a:p>
            <a:r>
              <a:rPr lang="en-US" altLang="en-US" sz="2400" dirty="0">
                <a:solidFill>
                  <a:schemeClr val="tx1"/>
                </a:solidFill>
                <a:latin typeface="Times New Roman" panose="02020603050405020304" pitchFamily="18" charset="0"/>
                <a:cs typeface="Times New Roman" panose="02020603050405020304" pitchFamily="18" charset="0"/>
              </a:rPr>
              <a:t>Business use case: Spending $100 on food everyday during the holiday season is normal, but may be odd </a:t>
            </a:r>
            <a:r>
              <a:rPr lang="en-US" altLang="en-US" dirty="0">
                <a:solidFill>
                  <a:schemeClr val="tx1"/>
                </a:solidFill>
                <a:latin typeface="Times New Roman" panose="02020603050405020304" pitchFamily="18" charset="0"/>
                <a:cs typeface="Times New Roman" panose="02020603050405020304" pitchFamily="18" charset="0"/>
              </a:rPr>
              <a:t>otherwise.</a:t>
            </a:r>
          </a:p>
          <a:p>
            <a:endParaRPr lang="en-US" altLang="en-US" sz="2400" dirty="0">
              <a:solidFill>
                <a:schemeClr val="tx1"/>
              </a:solidFill>
              <a:latin typeface="Times New Roman" panose="02020603050405020304" pitchFamily="18" charset="0"/>
              <a:cs typeface="Times New Roman" panose="02020603050405020304" pitchFamily="18" charset="0"/>
            </a:endParaRPr>
          </a:p>
          <a:p>
            <a:endParaRPr lang="en-US" altLang="en-US" sz="2400" dirty="0">
              <a:solidFill>
                <a:schemeClr val="tx1"/>
              </a:solidFill>
              <a:latin typeface="Times New Roman" panose="02020603050405020304" pitchFamily="18" charset="0"/>
              <a:cs typeface="Times New Roman" panose="02020603050405020304" pitchFamily="18" charset="0"/>
            </a:endParaRPr>
          </a:p>
          <a:p>
            <a:endParaRPr lang="en-US" altLang="en-US" sz="2400" dirty="0">
              <a:solidFill>
                <a:schemeClr val="tx1"/>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973BB95E-19E1-4B86-8744-FEDC712CF829}"/>
              </a:ext>
            </a:extLst>
          </p:cNvPr>
          <p:cNvPicPr>
            <a:picLocks noChangeAspect="1"/>
          </p:cNvPicPr>
          <p:nvPr/>
        </p:nvPicPr>
        <p:blipFill>
          <a:blip r:embed="rId2"/>
          <a:stretch>
            <a:fillRect/>
          </a:stretch>
        </p:blipFill>
        <p:spPr>
          <a:xfrm>
            <a:off x="2640608" y="2762682"/>
            <a:ext cx="4118736" cy="2495118"/>
          </a:xfrm>
          <a:prstGeom prst="rect">
            <a:avLst/>
          </a:prstGeom>
        </p:spPr>
      </p:pic>
    </p:spTree>
    <p:extLst>
      <p:ext uri="{BB962C8B-B14F-4D97-AF65-F5344CB8AC3E}">
        <p14:creationId xmlns:p14="http://schemas.microsoft.com/office/powerpoint/2010/main" val="220305761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14</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Collective Anomaly</a:t>
            </a:r>
          </a:p>
        </p:txBody>
      </p:sp>
      <p:sp>
        <p:nvSpPr>
          <p:cNvPr id="4" name="Content Placeholder 3"/>
          <p:cNvSpPr>
            <a:spLocks noGrp="1"/>
          </p:cNvSpPr>
          <p:nvPr>
            <p:ph idx="1"/>
          </p:nvPr>
        </p:nvSpPr>
        <p:spPr/>
        <p:txBody>
          <a:bodyPr/>
          <a:lstStyle/>
          <a:p>
            <a:r>
              <a:rPr lang="en-US" altLang="en-US" sz="2400" dirty="0">
                <a:solidFill>
                  <a:schemeClr val="tx1"/>
                </a:solidFill>
                <a:latin typeface="Times New Roman" panose="02020603050405020304" pitchFamily="18" charset="0"/>
                <a:cs typeface="Times New Roman" panose="02020603050405020304" pitchFamily="18" charset="0"/>
              </a:rPr>
              <a:t>Business use case: Someone is trying to copy data form a remote machine to a local host unexpectedly, an anomaly that would be flagged as a potential cyber attack.</a:t>
            </a:r>
          </a:p>
          <a:p>
            <a:r>
              <a:rPr lang="en-US" altLang="en-US" dirty="0">
                <a:solidFill>
                  <a:schemeClr val="tx1"/>
                </a:solidFill>
                <a:latin typeface="Times New Roman" panose="02020603050405020304" pitchFamily="18" charset="0"/>
                <a:cs typeface="Times New Roman" panose="02020603050405020304" pitchFamily="18" charset="0"/>
              </a:rPr>
              <a:t>Multiple buy stock transactions and then a sequence of sell transactions around an earnings release date may be anomalous and may indicate insider trading.</a:t>
            </a:r>
          </a:p>
          <a:p>
            <a:r>
              <a:rPr lang="en-US" altLang="en-US" sz="2400" dirty="0">
                <a:solidFill>
                  <a:schemeClr val="tx1"/>
                </a:solidFill>
                <a:latin typeface="Times New Roman" panose="02020603050405020304" pitchFamily="18" charset="0"/>
                <a:cs typeface="Times New Roman" panose="02020603050405020304" pitchFamily="18" charset="0"/>
              </a:rPr>
              <a:t>Multiple HTTP request from</a:t>
            </a:r>
            <a:r>
              <a:rPr lang="en-US" altLang="en-US" dirty="0">
                <a:solidFill>
                  <a:schemeClr val="tx1"/>
                </a:solidFill>
                <a:latin typeface="Times New Roman" panose="02020603050405020304" pitchFamily="18" charset="0"/>
                <a:cs typeface="Times New Roman" panose="02020603050405020304" pitchFamily="18" charset="0"/>
              </a:rPr>
              <a:t> an IP address may indicate a probable web attack.</a:t>
            </a:r>
          </a:p>
          <a:p>
            <a:endParaRPr lang="en-US" altLang="en-US" sz="2400" dirty="0">
              <a:solidFill>
                <a:schemeClr val="tx1"/>
              </a:solidFill>
              <a:latin typeface="Times New Roman" panose="02020603050405020304" pitchFamily="18" charset="0"/>
              <a:cs typeface="Times New Roman" panose="02020603050405020304" pitchFamily="18" charset="0"/>
            </a:endParaRPr>
          </a:p>
          <a:p>
            <a:endParaRPr lang="en-US" altLang="en-US" sz="2400" dirty="0">
              <a:solidFill>
                <a:schemeClr val="tx1"/>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E86839DA-11BB-4BE8-BDF3-D159A8F27112}"/>
              </a:ext>
            </a:extLst>
          </p:cNvPr>
          <p:cNvPicPr>
            <a:picLocks noChangeAspect="1"/>
          </p:cNvPicPr>
          <p:nvPr/>
        </p:nvPicPr>
        <p:blipFill>
          <a:blip r:embed="rId2"/>
          <a:stretch>
            <a:fillRect/>
          </a:stretch>
        </p:blipFill>
        <p:spPr>
          <a:xfrm>
            <a:off x="3766546" y="4622557"/>
            <a:ext cx="3393701" cy="1960805"/>
          </a:xfrm>
          <a:prstGeom prst="rect">
            <a:avLst/>
          </a:prstGeom>
        </p:spPr>
      </p:pic>
    </p:spTree>
    <p:extLst>
      <p:ext uri="{BB962C8B-B14F-4D97-AF65-F5344CB8AC3E}">
        <p14:creationId xmlns:p14="http://schemas.microsoft.com/office/powerpoint/2010/main" val="184610055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15</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Applications of Anomaly Detection</a:t>
            </a:r>
          </a:p>
        </p:txBody>
      </p:sp>
      <p:sp>
        <p:nvSpPr>
          <p:cNvPr id="4" name="Content Placeholder 3"/>
          <p:cNvSpPr>
            <a:spLocks noGrp="1"/>
          </p:cNvSpPr>
          <p:nvPr>
            <p:ph idx="1"/>
          </p:nvPr>
        </p:nvSpPr>
        <p:spPr/>
        <p:txBody>
          <a:bodyPr/>
          <a:lstStyle/>
          <a:p>
            <a:r>
              <a:rPr lang="en-US" altLang="en-US" dirty="0">
                <a:solidFill>
                  <a:schemeClr val="tx1"/>
                </a:solidFill>
                <a:latin typeface="Times New Roman" panose="02020603050405020304" pitchFamily="18" charset="0"/>
                <a:cs typeface="Times New Roman" panose="02020603050405020304" pitchFamily="18" charset="0"/>
              </a:rPr>
              <a:t>Fraud Detection</a:t>
            </a:r>
          </a:p>
          <a:p>
            <a:r>
              <a:rPr lang="en-US" altLang="en-US" sz="2400" dirty="0">
                <a:solidFill>
                  <a:schemeClr val="tx1"/>
                </a:solidFill>
                <a:latin typeface="Times New Roman" panose="02020603050405020304" pitchFamily="18" charset="0"/>
                <a:cs typeface="Times New Roman" panose="02020603050405020304" pitchFamily="18" charset="0"/>
              </a:rPr>
              <a:t>Fault Detection </a:t>
            </a:r>
          </a:p>
          <a:p>
            <a:r>
              <a:rPr lang="en-US" altLang="en-US" dirty="0">
                <a:solidFill>
                  <a:schemeClr val="tx1"/>
                </a:solidFill>
                <a:latin typeface="Times New Roman" panose="02020603050405020304" pitchFamily="18" charset="0"/>
                <a:cs typeface="Times New Roman" panose="02020603050405020304" pitchFamily="18" charset="0"/>
              </a:rPr>
              <a:t>System Health Monitoring</a:t>
            </a:r>
          </a:p>
          <a:p>
            <a:r>
              <a:rPr lang="en-US" altLang="en-US" dirty="0">
                <a:solidFill>
                  <a:schemeClr val="tx1"/>
                </a:solidFill>
                <a:latin typeface="Times New Roman" panose="02020603050405020304" pitchFamily="18" charset="0"/>
                <a:cs typeface="Times New Roman" panose="02020603050405020304" pitchFamily="18" charset="0"/>
              </a:rPr>
              <a:t>Network Intrusion detection </a:t>
            </a:r>
          </a:p>
          <a:p>
            <a:endParaRPr lang="en-US" altLang="en-US" sz="2400" dirty="0">
              <a:solidFill>
                <a:schemeClr val="tx1"/>
              </a:solidFill>
              <a:latin typeface="Times New Roman" panose="02020603050405020304" pitchFamily="18" charset="0"/>
              <a:cs typeface="Times New Roman" panose="02020603050405020304" pitchFamily="18" charset="0"/>
            </a:endParaRPr>
          </a:p>
          <a:p>
            <a:endParaRPr lang="en-US" altLang="en-US"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8780959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16</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Methodologies to Anomaly Detection</a:t>
            </a:r>
          </a:p>
        </p:txBody>
      </p:sp>
      <p:sp>
        <p:nvSpPr>
          <p:cNvPr id="4" name="Content Placeholder 3"/>
          <p:cNvSpPr>
            <a:spLocks noGrp="1"/>
          </p:cNvSpPr>
          <p:nvPr>
            <p:ph idx="1"/>
          </p:nvPr>
        </p:nvSpPr>
        <p:spPr/>
        <p:txBody>
          <a:bodyPr/>
          <a:lstStyle/>
          <a:p>
            <a:r>
              <a:rPr lang="en-US" altLang="en-US" sz="2400" dirty="0">
                <a:solidFill>
                  <a:schemeClr val="tx1"/>
                </a:solidFill>
                <a:latin typeface="Times New Roman" panose="02020603050405020304" pitchFamily="18" charset="0"/>
                <a:cs typeface="Times New Roman" panose="02020603050405020304" pitchFamily="18" charset="0"/>
              </a:rPr>
              <a:t>Graphical Approach</a:t>
            </a:r>
          </a:p>
          <a:p>
            <a:r>
              <a:rPr lang="en-US" altLang="en-US" dirty="0">
                <a:solidFill>
                  <a:schemeClr val="tx1"/>
                </a:solidFill>
                <a:latin typeface="Times New Roman" panose="02020603050405020304" pitchFamily="18" charset="0"/>
                <a:cs typeface="Times New Roman" panose="02020603050405020304" pitchFamily="18" charset="0"/>
              </a:rPr>
              <a:t>Statistical Approach </a:t>
            </a:r>
          </a:p>
          <a:p>
            <a:r>
              <a:rPr lang="en-US" altLang="en-US" sz="2400" dirty="0">
                <a:solidFill>
                  <a:schemeClr val="tx1"/>
                </a:solidFill>
                <a:latin typeface="Times New Roman" panose="02020603050405020304" pitchFamily="18" charset="0"/>
                <a:cs typeface="Times New Roman" panose="02020603050405020304" pitchFamily="18" charset="0"/>
              </a:rPr>
              <a:t>Machin</a:t>
            </a:r>
            <a:r>
              <a:rPr lang="en-US" altLang="en-US" dirty="0">
                <a:solidFill>
                  <a:schemeClr val="tx1"/>
                </a:solidFill>
                <a:latin typeface="Times New Roman" panose="02020603050405020304" pitchFamily="18" charset="0"/>
                <a:cs typeface="Times New Roman" panose="02020603050405020304" pitchFamily="18" charset="0"/>
              </a:rPr>
              <a:t>e Learning Approach</a:t>
            </a:r>
            <a:endParaRPr lang="en-US" altLang="en-US" sz="2400" dirty="0">
              <a:solidFill>
                <a:schemeClr val="tx1"/>
              </a:solidFill>
              <a:latin typeface="Times New Roman" panose="02020603050405020304" pitchFamily="18" charset="0"/>
              <a:cs typeface="Times New Roman" panose="02020603050405020304" pitchFamily="18" charset="0"/>
            </a:endParaRPr>
          </a:p>
          <a:p>
            <a:endParaRPr lang="en-US" altLang="en-US"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187922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17</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Graphical Approach </a:t>
            </a:r>
          </a:p>
        </p:txBody>
      </p:sp>
      <p:sp>
        <p:nvSpPr>
          <p:cNvPr id="4" name="Content Placeholder 3"/>
          <p:cNvSpPr>
            <a:spLocks noGrp="1"/>
          </p:cNvSpPr>
          <p:nvPr>
            <p:ph idx="1"/>
          </p:nvPr>
        </p:nvSpPr>
        <p:spPr/>
        <p:txBody>
          <a:bodyPr/>
          <a:lstStyle/>
          <a:p>
            <a:r>
              <a:rPr lang="en-US" altLang="en-US" sz="2400" dirty="0">
                <a:solidFill>
                  <a:schemeClr val="tx1"/>
                </a:solidFill>
                <a:latin typeface="Times New Roman" panose="02020603050405020304" pitchFamily="18" charset="0"/>
                <a:cs typeface="Times New Roman" panose="02020603050405020304" pitchFamily="18" charset="0"/>
              </a:rPr>
              <a:t>Graphical Method utilize extreme value analysis, by which outliers correspond to the statistical tails of probability distributions.</a:t>
            </a:r>
          </a:p>
          <a:p>
            <a:r>
              <a:rPr lang="en-US" altLang="en-US" dirty="0">
                <a:solidFill>
                  <a:schemeClr val="tx1"/>
                </a:solidFill>
                <a:latin typeface="Times New Roman" panose="02020603050405020304" pitchFamily="18" charset="0"/>
                <a:cs typeface="Times New Roman" panose="02020603050405020304" pitchFamily="18" charset="0"/>
              </a:rPr>
              <a:t>Statistical tails are most commonly used for one dimensional distributions, although the same concept can be applied to multidimensional case.</a:t>
            </a:r>
          </a:p>
          <a:p>
            <a:r>
              <a:rPr lang="en-US" altLang="en-US" sz="2400" dirty="0">
                <a:solidFill>
                  <a:schemeClr val="tx1"/>
                </a:solidFill>
                <a:latin typeface="Times New Roman" panose="02020603050405020304" pitchFamily="18" charset="0"/>
                <a:cs typeface="Times New Roman" panose="02020603050405020304" pitchFamily="18" charset="0"/>
              </a:rPr>
              <a:t>It is important to understand that all extreme va</a:t>
            </a:r>
            <a:r>
              <a:rPr lang="en-US" altLang="en-US" dirty="0">
                <a:solidFill>
                  <a:schemeClr val="tx1"/>
                </a:solidFill>
                <a:latin typeface="Times New Roman" panose="02020603050405020304" pitchFamily="18" charset="0"/>
                <a:cs typeface="Times New Roman" panose="02020603050405020304" pitchFamily="18" charset="0"/>
              </a:rPr>
              <a:t>lues are outliers but the reverse may not be true.</a:t>
            </a:r>
          </a:p>
          <a:p>
            <a:r>
              <a:rPr lang="en-US" altLang="en-US" sz="2400" dirty="0">
                <a:solidFill>
                  <a:schemeClr val="tx1"/>
                </a:solidFill>
                <a:latin typeface="Times New Roman" panose="02020603050405020304" pitchFamily="18" charset="0"/>
                <a:cs typeface="Times New Roman" panose="02020603050405020304" pitchFamily="18" charset="0"/>
              </a:rPr>
              <a:t>For instance in one dimensional data</a:t>
            </a:r>
            <a:r>
              <a:rPr lang="en-US" altLang="en-US" dirty="0">
                <a:solidFill>
                  <a:schemeClr val="tx1"/>
                </a:solidFill>
                <a:latin typeface="Times New Roman" panose="02020603050405020304" pitchFamily="18" charset="0"/>
                <a:cs typeface="Times New Roman" panose="02020603050405020304" pitchFamily="18" charset="0"/>
              </a:rPr>
              <a:t>set of {1,3,3,3,50,97,97,97,100}, observation 50 equals to mean and isn’t considered as an extreme value, but since this observation is the most isolated point, it should be considered as an outlier.</a:t>
            </a:r>
            <a:endParaRPr lang="en-US" altLang="en-US" sz="2400" dirty="0">
              <a:solidFill>
                <a:schemeClr val="tx1"/>
              </a:solidFill>
              <a:latin typeface="Times New Roman" panose="02020603050405020304" pitchFamily="18" charset="0"/>
              <a:cs typeface="Times New Roman" panose="02020603050405020304" pitchFamily="18" charset="0"/>
            </a:endParaRPr>
          </a:p>
          <a:p>
            <a:endParaRPr lang="en-US" altLang="en-US"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6700494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18</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Box Plot</a:t>
            </a:r>
          </a:p>
        </p:txBody>
      </p:sp>
      <p:sp>
        <p:nvSpPr>
          <p:cNvPr id="4" name="Content Placeholder 3"/>
          <p:cNvSpPr>
            <a:spLocks noGrp="1"/>
          </p:cNvSpPr>
          <p:nvPr>
            <p:ph idx="1"/>
          </p:nvPr>
        </p:nvSpPr>
        <p:spPr/>
        <p:txBody>
          <a:bodyPr/>
          <a:lstStyle/>
          <a:p>
            <a:r>
              <a:rPr lang="en-US" altLang="en-US" sz="2400" dirty="0">
                <a:solidFill>
                  <a:schemeClr val="tx1"/>
                </a:solidFill>
                <a:latin typeface="Times New Roman" panose="02020603050405020304" pitchFamily="18" charset="0"/>
                <a:cs typeface="Times New Roman" panose="02020603050405020304" pitchFamily="18" charset="0"/>
              </a:rPr>
              <a:t>A standardized way of displaying the variation of data based on the five number summary, which includes minimum, first quartile, median, third quartile, and maximum</a:t>
            </a:r>
          </a:p>
          <a:p>
            <a:r>
              <a:rPr lang="en-US" altLang="en-US" sz="2400" dirty="0">
                <a:solidFill>
                  <a:schemeClr val="tx1"/>
                </a:solidFill>
                <a:latin typeface="Times New Roman" panose="02020603050405020304" pitchFamily="18" charset="0"/>
                <a:cs typeface="Times New Roman" panose="02020603050405020304" pitchFamily="18" charset="0"/>
              </a:rPr>
              <a:t>This plot does not make any assumptions of the underlying statistical distribution</a:t>
            </a:r>
          </a:p>
          <a:p>
            <a:r>
              <a:rPr lang="en-US" altLang="en-US" sz="2400" dirty="0">
                <a:solidFill>
                  <a:schemeClr val="tx1"/>
                </a:solidFill>
                <a:latin typeface="Times New Roman" panose="02020603050405020304" pitchFamily="18" charset="0"/>
                <a:cs typeface="Times New Roman" panose="02020603050405020304" pitchFamily="18" charset="0"/>
              </a:rPr>
              <a:t>Any data not included between the minimum and maximum are considered as an outlier</a:t>
            </a:r>
          </a:p>
          <a:p>
            <a:r>
              <a:rPr lang="en-US" altLang="en-US" sz="2400" dirty="0">
                <a:solidFill>
                  <a:schemeClr val="tx1"/>
                </a:solidFill>
                <a:latin typeface="Times New Roman" panose="02020603050405020304" pitchFamily="18" charset="0"/>
                <a:cs typeface="Times New Roman" panose="02020603050405020304" pitchFamily="18" charset="0"/>
              </a:rPr>
              <a:t>Min ────[ Q1 | Median | Q3 ]──── Max</a:t>
            </a:r>
          </a:p>
          <a:p>
            <a:endParaRPr lang="en-US" altLang="en-US"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7384892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19</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Scatter Plot</a:t>
            </a:r>
          </a:p>
        </p:txBody>
      </p:sp>
      <p:sp>
        <p:nvSpPr>
          <p:cNvPr id="4" name="Content Placeholder 3"/>
          <p:cNvSpPr>
            <a:spLocks noGrp="1"/>
          </p:cNvSpPr>
          <p:nvPr>
            <p:ph idx="1"/>
          </p:nvPr>
        </p:nvSpPr>
        <p:spPr/>
        <p:txBody>
          <a:bodyPr/>
          <a:lstStyle/>
          <a:p>
            <a:r>
              <a:rPr lang="en-US" altLang="en-US" sz="2400" dirty="0">
                <a:solidFill>
                  <a:schemeClr val="tx1"/>
                </a:solidFill>
                <a:latin typeface="Times New Roman" panose="02020603050405020304" pitchFamily="18" charset="0"/>
                <a:cs typeface="Times New Roman" panose="02020603050405020304" pitchFamily="18" charset="0"/>
              </a:rPr>
              <a:t>A mathematical diagram, which uses Cartesian coordinates for plotting ordered pairs to show the correlation between typically two random variables. </a:t>
            </a:r>
            <a:r>
              <a:rPr lang="en-US" altLang="en-US" sz="2400" i="1" dirty="0">
                <a:solidFill>
                  <a:schemeClr val="tx1"/>
                </a:solidFill>
                <a:latin typeface="Times New Roman" panose="02020603050405020304" pitchFamily="18" charset="0"/>
                <a:cs typeface="Times New Roman" panose="02020603050405020304" pitchFamily="18" charset="0"/>
              </a:rPr>
              <a:t>Example: Height vs weight</a:t>
            </a:r>
          </a:p>
          <a:p>
            <a:r>
              <a:rPr lang="en-US" altLang="en-US" sz="2400" dirty="0">
                <a:solidFill>
                  <a:schemeClr val="tx1"/>
                </a:solidFill>
                <a:latin typeface="Times New Roman" panose="02020603050405020304" pitchFamily="18" charset="0"/>
                <a:cs typeface="Times New Roman" panose="02020603050405020304" pitchFamily="18" charset="0"/>
              </a:rPr>
              <a:t>An outlier is defined as a data point that doesn't seem to fit with the rest of the data points.</a:t>
            </a:r>
          </a:p>
          <a:p>
            <a:r>
              <a:rPr lang="en-US" altLang="en-US" sz="2400" dirty="0">
                <a:solidFill>
                  <a:schemeClr val="tx1"/>
                </a:solidFill>
                <a:latin typeface="Times New Roman" panose="02020603050405020304" pitchFamily="18" charset="0"/>
                <a:cs typeface="Times New Roman" panose="02020603050405020304" pitchFamily="18" charset="0"/>
              </a:rPr>
              <a:t>In scatterplots, outliers of either intersection or union sets of two variables can be shown. Means </a:t>
            </a:r>
            <a:r>
              <a:rPr lang="en-US" dirty="0">
                <a:solidFill>
                  <a:schemeClr val="tx1"/>
                </a:solidFill>
                <a:latin typeface="Times New Roman" panose="02020603050405020304" pitchFamily="18" charset="0"/>
                <a:cs typeface="Times New Roman" panose="02020603050405020304" pitchFamily="18" charset="0"/>
              </a:rPr>
              <a:t>A point that is </a:t>
            </a:r>
            <a:r>
              <a:rPr lang="en-US" b="1" dirty="0">
                <a:solidFill>
                  <a:schemeClr val="tx1"/>
                </a:solidFill>
                <a:latin typeface="Times New Roman" panose="02020603050405020304" pitchFamily="18" charset="0"/>
                <a:cs typeface="Times New Roman" panose="02020603050405020304" pitchFamily="18" charset="0"/>
              </a:rPr>
              <a:t>far away from the general pattern or trend</a:t>
            </a:r>
            <a:endParaRPr lang="en-US" altLang="en-US" sz="2400" dirty="0">
              <a:solidFill>
                <a:schemeClr val="tx1"/>
              </a:solidFill>
              <a:latin typeface="Times New Roman" panose="02020603050405020304" pitchFamily="18" charset="0"/>
              <a:cs typeface="Times New Roman" panose="02020603050405020304" pitchFamily="18" charset="0"/>
            </a:endParaRPr>
          </a:p>
          <a:p>
            <a:endParaRPr lang="en-US" altLang="en-US"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9942831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20</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Symbol Plot</a:t>
            </a:r>
          </a:p>
        </p:txBody>
      </p:sp>
      <p:sp>
        <p:nvSpPr>
          <p:cNvPr id="4" name="Content Placeholder 3"/>
          <p:cNvSpPr>
            <a:spLocks noGrp="1"/>
          </p:cNvSpPr>
          <p:nvPr>
            <p:ph idx="1"/>
          </p:nvPr>
        </p:nvSpPr>
        <p:spPr/>
        <p:txBody>
          <a:bodyPr/>
          <a:lstStyle/>
          <a:p>
            <a:r>
              <a:rPr lang="en-US" altLang="en-US" sz="2400" dirty="0">
                <a:solidFill>
                  <a:schemeClr val="tx1"/>
                </a:solidFill>
                <a:latin typeface="Times New Roman" panose="02020603050405020304" pitchFamily="18" charset="0"/>
                <a:cs typeface="Times New Roman" panose="02020603050405020304" pitchFamily="18" charset="0"/>
              </a:rPr>
              <a:t>This plot plots two dimensional data, using robust </a:t>
            </a:r>
            <a:r>
              <a:rPr lang="en-US" altLang="en-US" sz="2400" dirty="0" err="1">
                <a:solidFill>
                  <a:schemeClr val="tx1"/>
                </a:solidFill>
                <a:latin typeface="Times New Roman" panose="02020603050405020304" pitchFamily="18" charset="0"/>
                <a:cs typeface="Times New Roman" panose="02020603050405020304" pitchFamily="18" charset="0"/>
              </a:rPr>
              <a:t>Mahalanobis</a:t>
            </a:r>
            <a:r>
              <a:rPr lang="en-US" altLang="en-US" sz="2400" dirty="0">
                <a:solidFill>
                  <a:schemeClr val="tx1"/>
                </a:solidFill>
                <a:latin typeface="Times New Roman" panose="02020603050405020304" pitchFamily="18" charset="0"/>
                <a:cs typeface="Times New Roman" panose="02020603050405020304" pitchFamily="18" charset="0"/>
              </a:rPr>
              <a:t> distances (</a:t>
            </a:r>
            <a:r>
              <a:rPr lang="en-US" altLang="en-US" sz="2400" dirty="0" err="1">
                <a:solidFill>
                  <a:schemeClr val="tx1"/>
                </a:solidFill>
                <a:latin typeface="Times New Roman" panose="02020603050405020304" pitchFamily="18" charset="0"/>
                <a:cs typeface="Times New Roman" panose="02020603050405020304" pitchFamily="18" charset="0"/>
              </a:rPr>
              <a:t>Mahalanobis</a:t>
            </a:r>
            <a:r>
              <a:rPr lang="en-US" altLang="en-US" sz="2400" dirty="0">
                <a:solidFill>
                  <a:schemeClr val="tx1"/>
                </a:solidFill>
                <a:latin typeface="Times New Roman" panose="02020603050405020304" pitchFamily="18" charset="0"/>
                <a:cs typeface="Times New Roman" panose="02020603050405020304" pitchFamily="18" charset="0"/>
              </a:rPr>
              <a:t> distance measures the distance between a data point and a distribution (or another point) in multivariate space) based on the minimum covariance determinant(MCD) estimator with adjustment.</a:t>
            </a:r>
          </a:p>
          <a:p>
            <a:r>
              <a:rPr lang="en-US" altLang="en-US" sz="2400" dirty="0">
                <a:solidFill>
                  <a:schemeClr val="tx1"/>
                </a:solidFill>
                <a:latin typeface="Times New Roman" panose="02020603050405020304" pitchFamily="18" charset="0"/>
                <a:cs typeface="Times New Roman" panose="02020603050405020304" pitchFamily="18" charset="0"/>
              </a:rPr>
              <a:t>Minimum Covariance Determinant (MCD) estimator looks for the subset of h data points whose covariance matrix has the smallest determinant.</a:t>
            </a:r>
          </a:p>
          <a:p>
            <a:r>
              <a:rPr lang="en-US" altLang="en-US" sz="2400" dirty="0">
                <a:solidFill>
                  <a:schemeClr val="tx1"/>
                </a:solidFill>
                <a:latin typeface="Times New Roman" panose="02020603050405020304" pitchFamily="18" charset="0"/>
                <a:cs typeface="Times New Roman" panose="02020603050405020304" pitchFamily="18" charset="0"/>
              </a:rPr>
              <a:t>Four drawn ellipsoids in the plot show the </a:t>
            </a:r>
            <a:r>
              <a:rPr lang="en-US" altLang="en-US" sz="2400" dirty="0" err="1">
                <a:solidFill>
                  <a:schemeClr val="tx1"/>
                </a:solidFill>
                <a:latin typeface="Times New Roman" panose="02020603050405020304" pitchFamily="18" charset="0"/>
                <a:cs typeface="Times New Roman" panose="02020603050405020304" pitchFamily="18" charset="0"/>
              </a:rPr>
              <a:t>Mahalanobis</a:t>
            </a:r>
            <a:r>
              <a:rPr lang="en-US" altLang="en-US" sz="2400" dirty="0">
                <a:solidFill>
                  <a:schemeClr val="tx1"/>
                </a:solidFill>
                <a:latin typeface="Times New Roman" panose="02020603050405020304" pitchFamily="18" charset="0"/>
                <a:cs typeface="Times New Roman" panose="02020603050405020304" pitchFamily="18" charset="0"/>
              </a:rPr>
              <a:t> distances correspond to 25%, 50%, 75% and adjusted quantiles of the chi- square distribution (The Chi-Square Distribution is a probability distribution used widely in statistics, especially for: Testing hypotheses, Measuring variability).</a:t>
            </a:r>
          </a:p>
          <a:p>
            <a:endParaRPr lang="en-US" altLang="en-US"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6398099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21</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Statistical Approach </a:t>
            </a:r>
          </a:p>
        </p:txBody>
      </p:sp>
      <p:sp>
        <p:nvSpPr>
          <p:cNvPr id="4" name="Content Placeholder 3"/>
          <p:cNvSpPr>
            <a:spLocks noGrp="1"/>
          </p:cNvSpPr>
          <p:nvPr>
            <p:ph idx="1"/>
          </p:nvPr>
        </p:nvSpPr>
        <p:spPr/>
        <p:txBody>
          <a:bodyPr/>
          <a:lstStyle/>
          <a:p>
            <a:r>
              <a:rPr lang="en-US" altLang="en-US" sz="2400" dirty="0">
                <a:solidFill>
                  <a:schemeClr val="tx1"/>
                </a:solidFill>
                <a:latin typeface="Times New Roman" panose="02020603050405020304" pitchFamily="18" charset="0"/>
                <a:cs typeface="Times New Roman" panose="02020603050405020304" pitchFamily="18" charset="0"/>
              </a:rPr>
              <a:t>Hypothesis test (Chi-Square Test, Grubb’s test)</a:t>
            </a:r>
          </a:p>
          <a:p>
            <a:r>
              <a:rPr lang="en-US" altLang="en-US" dirty="0">
                <a:solidFill>
                  <a:schemeClr val="tx1"/>
                </a:solidFill>
                <a:latin typeface="Times New Roman" panose="02020603050405020304" pitchFamily="18" charset="0"/>
                <a:cs typeface="Times New Roman" panose="02020603050405020304" pitchFamily="18" charset="0"/>
              </a:rPr>
              <a:t>Score</a:t>
            </a:r>
            <a:endParaRPr lang="en-US" altLang="en-US" sz="2400" dirty="0">
              <a:solidFill>
                <a:schemeClr val="tx1"/>
              </a:solidFill>
              <a:latin typeface="Times New Roman" panose="02020603050405020304" pitchFamily="18" charset="0"/>
              <a:cs typeface="Times New Roman" panose="02020603050405020304" pitchFamily="18" charset="0"/>
            </a:endParaRPr>
          </a:p>
          <a:p>
            <a:endParaRPr lang="en-US" altLang="en-US"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5108447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22</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Hypothesis Testing</a:t>
            </a:r>
          </a:p>
        </p:txBody>
      </p:sp>
      <p:sp>
        <p:nvSpPr>
          <p:cNvPr id="4" name="Content Placeholder 3"/>
          <p:cNvSpPr>
            <a:spLocks noGrp="1"/>
          </p:cNvSpPr>
          <p:nvPr>
            <p:ph idx="1"/>
          </p:nvPr>
        </p:nvSpPr>
        <p:spPr/>
        <p:txBody>
          <a:bodyPr/>
          <a:lstStyle/>
          <a:p>
            <a:r>
              <a:rPr lang="en-US" altLang="en-US" sz="2400" dirty="0">
                <a:solidFill>
                  <a:schemeClr val="tx1"/>
                </a:solidFill>
                <a:latin typeface="Times New Roman" panose="02020603050405020304" pitchFamily="18" charset="0"/>
                <a:cs typeface="Times New Roman" panose="02020603050405020304" pitchFamily="18" charset="0"/>
              </a:rPr>
              <a:t>This method draws conclusions about a sample point by testing whether it comes from the same distribution as the training data.</a:t>
            </a:r>
          </a:p>
          <a:p>
            <a:r>
              <a:rPr lang="en-US" altLang="en-US" sz="2400" dirty="0">
                <a:solidFill>
                  <a:schemeClr val="tx1"/>
                </a:solidFill>
                <a:latin typeface="Times New Roman" panose="02020603050405020304" pitchFamily="18" charset="0"/>
                <a:cs typeface="Times New Roman" panose="02020603050405020304" pitchFamily="18" charset="0"/>
              </a:rPr>
              <a:t>Statistical tests, such as the t-test and the ANOVA table, can be used on multiple subsets of the data</a:t>
            </a:r>
          </a:p>
          <a:p>
            <a:r>
              <a:rPr lang="en-US" altLang="en-US" sz="2400" dirty="0">
                <a:solidFill>
                  <a:schemeClr val="tx1"/>
                </a:solidFill>
                <a:latin typeface="Times New Roman" panose="02020603050405020304" pitchFamily="18" charset="0"/>
                <a:cs typeface="Times New Roman" panose="02020603050405020304" pitchFamily="18" charset="0"/>
              </a:rPr>
              <a:t>Here, the level of significance, </a:t>
            </a:r>
            <a:r>
              <a:rPr lang="en-US" altLang="en-US" sz="2400" dirty="0" err="1">
                <a:solidFill>
                  <a:schemeClr val="tx1"/>
                </a:solidFill>
                <a:latin typeface="Times New Roman" panose="02020603050405020304" pitchFamily="18" charset="0"/>
                <a:cs typeface="Times New Roman" panose="02020603050405020304" pitchFamily="18" charset="0"/>
              </a:rPr>
              <a:t>i.e</a:t>
            </a:r>
            <a:r>
              <a:rPr lang="en-US" altLang="en-US" sz="2400" dirty="0">
                <a:solidFill>
                  <a:schemeClr val="tx1"/>
                </a:solidFill>
                <a:latin typeface="Times New Roman" panose="02020603050405020304" pitchFamily="18" charset="0"/>
                <a:cs typeface="Times New Roman" panose="02020603050405020304" pitchFamily="18" charset="0"/>
              </a:rPr>
              <a:t>, the probability of incorrectly rejecting the true null hypothesis, needs to be chosen</a:t>
            </a:r>
          </a:p>
          <a:p>
            <a:r>
              <a:rPr lang="en-US" altLang="en-US" sz="2400" dirty="0">
                <a:solidFill>
                  <a:schemeClr val="tx1"/>
                </a:solidFill>
                <a:latin typeface="Times New Roman" panose="02020603050405020304" pitchFamily="18" charset="0"/>
                <a:cs typeface="Times New Roman" panose="02020603050405020304" pitchFamily="18" charset="0"/>
              </a:rPr>
              <a:t>To apply this method in R, "outliers" package, which utilizes statistical tests, is used</a:t>
            </a:r>
          </a:p>
          <a:p>
            <a:endParaRPr lang="en-US" altLang="en-US"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345329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23</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Chi-Square Test</a:t>
            </a:r>
          </a:p>
        </p:txBody>
      </p:sp>
      <p:sp>
        <p:nvSpPr>
          <p:cNvPr id="4" name="Content Placeholder 3"/>
          <p:cNvSpPr>
            <a:spLocks noGrp="1"/>
          </p:cNvSpPr>
          <p:nvPr>
            <p:ph idx="1"/>
          </p:nvPr>
        </p:nvSpPr>
        <p:spPr/>
        <p:txBody>
          <a:bodyPr/>
          <a:lstStyle/>
          <a:p>
            <a:r>
              <a:rPr lang="en-US" altLang="en-US" sz="2400" dirty="0">
                <a:solidFill>
                  <a:schemeClr val="tx1"/>
                </a:solidFill>
                <a:latin typeface="Times New Roman" panose="02020603050405020304" pitchFamily="18" charset="0"/>
                <a:cs typeface="Times New Roman" panose="02020603050405020304" pitchFamily="18" charset="0"/>
              </a:rPr>
              <a:t>Chi-square test performs a simple test for detecting outliers of univariate data(</a:t>
            </a:r>
            <a:r>
              <a:rPr lang="en-US" altLang="en-US" sz="2400" i="1" dirty="0">
                <a:solidFill>
                  <a:schemeClr val="tx1"/>
                </a:solidFill>
                <a:latin typeface="Times New Roman" panose="02020603050405020304" pitchFamily="18" charset="0"/>
                <a:cs typeface="Times New Roman" panose="02020603050405020304" pitchFamily="18" charset="0"/>
              </a:rPr>
              <a:t>one variable</a:t>
            </a:r>
            <a:r>
              <a:rPr lang="en-US" altLang="en-US" sz="2400" dirty="0">
                <a:solidFill>
                  <a:schemeClr val="tx1"/>
                </a:solidFill>
                <a:latin typeface="Times New Roman" panose="02020603050405020304" pitchFamily="18" charset="0"/>
                <a:cs typeface="Times New Roman" panose="02020603050405020304" pitchFamily="18" charset="0"/>
              </a:rPr>
              <a:t>) based on Chi-square distribution of squared difference between data and sample mean</a:t>
            </a:r>
          </a:p>
          <a:p>
            <a:r>
              <a:rPr lang="en-US" altLang="en-US" sz="2400" dirty="0">
                <a:solidFill>
                  <a:schemeClr val="tx1"/>
                </a:solidFill>
                <a:latin typeface="Times New Roman" panose="02020603050405020304" pitchFamily="18" charset="0"/>
                <a:cs typeface="Times New Roman" panose="02020603050405020304" pitchFamily="18" charset="0"/>
              </a:rPr>
              <a:t>In this test, sample variance (calculated from a sample to approximate it) counts as the estimator of the population variance (actual spread of all data (usually unknown))</a:t>
            </a:r>
          </a:p>
          <a:p>
            <a:r>
              <a:rPr lang="en-US" altLang="en-US" sz="2400" dirty="0">
                <a:solidFill>
                  <a:schemeClr val="tx1"/>
                </a:solidFill>
                <a:latin typeface="Times New Roman" panose="02020603050405020304" pitchFamily="18" charset="0"/>
                <a:cs typeface="Times New Roman" panose="02020603050405020304" pitchFamily="18" charset="0"/>
              </a:rPr>
              <a:t>Chi-square test helps us identify the lowest and highest values, since outliers can exist in both tails of the data.</a:t>
            </a:r>
          </a:p>
          <a:p>
            <a:endParaRPr lang="en-US" altLang="en-US"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0439468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24</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Grubbs' test </a:t>
            </a:r>
          </a:p>
        </p:txBody>
      </p:sp>
      <p:sp>
        <p:nvSpPr>
          <p:cNvPr id="4" name="Content Placeholder 3"/>
          <p:cNvSpPr>
            <a:spLocks noGrp="1"/>
          </p:cNvSpPr>
          <p:nvPr>
            <p:ph idx="1"/>
          </p:nvPr>
        </p:nvSpPr>
        <p:spPr/>
        <p:txBody>
          <a:bodyPr/>
          <a:lstStyle/>
          <a:p>
            <a:pPr marL="0" indent="0">
              <a:buNone/>
            </a:pPr>
            <a:r>
              <a:rPr lang="en-US" altLang="en-US" sz="2400" dirty="0">
                <a:solidFill>
                  <a:schemeClr val="tx1"/>
                </a:solidFill>
                <a:latin typeface="Times New Roman" panose="02020603050405020304" pitchFamily="18" charset="0"/>
                <a:cs typeface="Times New Roman" panose="02020603050405020304" pitchFamily="18" charset="0"/>
              </a:rPr>
              <a:t>The Grubbs' test statistic is defined as:</a:t>
            </a:r>
          </a:p>
          <a:p>
            <a:r>
              <a:rPr lang="en-US" altLang="en-US" sz="2400" dirty="0">
                <a:solidFill>
                  <a:schemeClr val="tx1"/>
                </a:solidFill>
                <a:latin typeface="Times New Roman" panose="02020603050405020304" pitchFamily="18" charset="0"/>
                <a:cs typeface="Times New Roman" panose="02020603050405020304" pitchFamily="18" charset="0"/>
              </a:rPr>
              <a:t>Test for outliers for univariate data sets assumed to come from a normally distributed population</a:t>
            </a:r>
          </a:p>
          <a:p>
            <a:r>
              <a:rPr lang="en-US" altLang="en-US" sz="2400" dirty="0">
                <a:solidFill>
                  <a:schemeClr val="tx1"/>
                </a:solidFill>
                <a:latin typeface="Times New Roman" panose="02020603050405020304" pitchFamily="18" charset="0"/>
                <a:cs typeface="Times New Roman" panose="02020603050405020304" pitchFamily="18" charset="0"/>
              </a:rPr>
              <a:t>Grubbs' test detects one outlier at a time. This outlier is expunged from the dataset and the test is iterated until no outliers are detected </a:t>
            </a:r>
          </a:p>
          <a:p>
            <a:r>
              <a:rPr lang="en-US" altLang="en-US" sz="2400" dirty="0">
                <a:solidFill>
                  <a:schemeClr val="tx1"/>
                </a:solidFill>
                <a:latin typeface="Times New Roman" panose="02020603050405020304" pitchFamily="18" charset="0"/>
                <a:cs typeface="Times New Roman" panose="02020603050405020304" pitchFamily="18" charset="0"/>
              </a:rPr>
              <a:t>This test is defined for the following hypotheses: HO: There are no outliers in the data set H1: There is exactly one outlier in the data set;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H₀ (Null Hypothesis):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No outliers exist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H₁ (Alternative Hypothesis):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There is exactly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one outlier</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endParaRPr lang="en-US" altLang="en-US" sz="2400" dirty="0">
              <a:solidFill>
                <a:schemeClr val="tx1"/>
              </a:solidFill>
              <a:latin typeface="Times New Roman" panose="02020603050405020304" pitchFamily="18" charset="0"/>
              <a:cs typeface="Times New Roman" panose="02020603050405020304" pitchFamily="18" charset="0"/>
            </a:endParaRPr>
          </a:p>
          <a:p>
            <a:endParaRPr lang="en-US" altLang="en-US"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7040912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25</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Scores</a:t>
            </a:r>
          </a:p>
        </p:txBody>
      </p:sp>
      <p:sp>
        <p:nvSpPr>
          <p:cNvPr id="4" name="Content Placeholder 3"/>
          <p:cNvSpPr>
            <a:spLocks noGrp="1"/>
          </p:cNvSpPr>
          <p:nvPr>
            <p:ph idx="1"/>
          </p:nvPr>
        </p:nvSpPr>
        <p:spPr/>
        <p:txBody>
          <a:bodyPr/>
          <a:lstStyle/>
          <a:p>
            <a:r>
              <a:rPr lang="en-US" altLang="en-US" sz="2400" dirty="0">
                <a:solidFill>
                  <a:schemeClr val="tx1"/>
                </a:solidFill>
                <a:latin typeface="Times New Roman" panose="02020603050405020304" pitchFamily="18" charset="0"/>
                <a:cs typeface="Times New Roman" panose="02020603050405020304" pitchFamily="18" charset="0"/>
              </a:rPr>
              <a:t>Scores quantifies the tendency of a data point being an outlier by assigning it a score or probability</a:t>
            </a:r>
          </a:p>
          <a:p>
            <a:r>
              <a:rPr lang="en-US" altLang="en-US" sz="2400" dirty="0">
                <a:solidFill>
                  <a:schemeClr val="tx1"/>
                </a:solidFill>
                <a:latin typeface="Times New Roman" panose="02020603050405020304" pitchFamily="18" charset="0"/>
                <a:cs typeface="Times New Roman" panose="02020603050405020304" pitchFamily="18" charset="0"/>
              </a:rPr>
              <a:t>The most commonly used scores are:</a:t>
            </a:r>
          </a:p>
          <a:p>
            <a:pPr lvl="1"/>
            <a:r>
              <a:rPr lang="en-US" altLang="en-US" dirty="0">
                <a:solidFill>
                  <a:schemeClr val="tx1"/>
                </a:solidFill>
                <a:latin typeface="Times New Roman" panose="02020603050405020304" pitchFamily="18" charset="0"/>
                <a:cs typeface="Times New Roman" panose="02020603050405020304" pitchFamily="18" charset="0"/>
              </a:rPr>
              <a:t>Normal score: x </a:t>
            </a:r>
            <a:r>
              <a:rPr lang="en-US" altLang="en-US" dirty="0" err="1">
                <a:solidFill>
                  <a:schemeClr val="tx1"/>
                </a:solidFill>
                <a:latin typeface="Times New Roman" panose="02020603050405020304" pitchFamily="18" charset="0"/>
                <a:cs typeface="Times New Roman" panose="02020603050405020304" pitchFamily="18" charset="0"/>
              </a:rPr>
              <a:t>i</a:t>
            </a:r>
            <a:r>
              <a:rPr lang="en-US" altLang="en-US" dirty="0">
                <a:solidFill>
                  <a:schemeClr val="tx1"/>
                </a:solidFill>
                <a:latin typeface="Times New Roman" panose="02020603050405020304" pitchFamily="18" charset="0"/>
                <a:cs typeface="Times New Roman" panose="02020603050405020304" pitchFamily="18" charset="0"/>
              </a:rPr>
              <a:t>-Mean standard deviation</a:t>
            </a:r>
          </a:p>
          <a:p>
            <a:pPr lvl="1"/>
            <a:r>
              <a:rPr lang="en-US" altLang="en-US" dirty="0">
                <a:solidFill>
                  <a:schemeClr val="tx1"/>
                </a:solidFill>
                <a:latin typeface="Times New Roman" panose="02020603050405020304" pitchFamily="18" charset="0"/>
                <a:cs typeface="Times New Roman" panose="02020603050405020304" pitchFamily="18" charset="0"/>
              </a:rPr>
              <a:t>T-student score: (z-sqrt n-2) sqrt(z-1-t2) </a:t>
            </a:r>
          </a:p>
          <a:p>
            <a:pPr lvl="1"/>
            <a:r>
              <a:rPr lang="en-US" altLang="en-US" dirty="0">
                <a:solidFill>
                  <a:schemeClr val="tx1"/>
                </a:solidFill>
                <a:latin typeface="Times New Roman" panose="02020603050405020304" pitchFamily="18" charset="0"/>
                <a:cs typeface="Times New Roman" panose="02020603050405020304" pitchFamily="18" charset="0"/>
              </a:rPr>
              <a:t>Chi-square score: x </a:t>
            </a:r>
            <a:r>
              <a:rPr lang="en-US" altLang="en-US" dirty="0" err="1">
                <a:solidFill>
                  <a:schemeClr val="tx1"/>
                </a:solidFill>
                <a:latin typeface="Times New Roman" panose="02020603050405020304" pitchFamily="18" charset="0"/>
                <a:cs typeface="Times New Roman" panose="02020603050405020304" pitchFamily="18" charset="0"/>
              </a:rPr>
              <a:t>i</a:t>
            </a:r>
            <a:r>
              <a:rPr lang="en-US" altLang="en-US" dirty="0">
                <a:solidFill>
                  <a:schemeClr val="tx1"/>
                </a:solidFill>
                <a:latin typeface="Times New Roman" panose="02020603050405020304" pitchFamily="18" charset="0"/>
                <a:cs typeface="Times New Roman" panose="02020603050405020304" pitchFamily="18" charset="0"/>
              </a:rPr>
              <a:t>-Mean </a:t>
            </a:r>
            <a:r>
              <a:rPr lang="en-US" altLang="en-US" dirty="0" err="1">
                <a:solidFill>
                  <a:schemeClr val="tx1"/>
                </a:solidFill>
                <a:latin typeface="Times New Roman" panose="02020603050405020304" pitchFamily="18" charset="0"/>
                <a:cs typeface="Times New Roman" panose="02020603050405020304" pitchFamily="18" charset="0"/>
              </a:rPr>
              <a:t>sd</a:t>
            </a:r>
            <a:r>
              <a:rPr lang="en-US" altLang="en-US" dirty="0">
                <a:solidFill>
                  <a:schemeClr val="tx1"/>
                </a:solidFill>
                <a:latin typeface="Times New Roman" panose="02020603050405020304" pitchFamily="18" charset="0"/>
                <a:cs typeface="Times New Roman" panose="02020603050405020304" pitchFamily="18" charset="0"/>
              </a:rPr>
              <a:t> 2</a:t>
            </a:r>
          </a:p>
          <a:p>
            <a:pPr lvl="1"/>
            <a:r>
              <a:rPr lang="en-US" altLang="en-US" dirty="0">
                <a:solidFill>
                  <a:schemeClr val="tx1"/>
                </a:solidFill>
                <a:latin typeface="Times New Roman" panose="02020603050405020304" pitchFamily="18" charset="0"/>
                <a:cs typeface="Times New Roman" panose="02020603050405020304" pitchFamily="18" charset="0"/>
              </a:rPr>
              <a:t>IQR score: Q3-Q1</a:t>
            </a:r>
          </a:p>
          <a:p>
            <a:r>
              <a:rPr lang="en-US" altLang="en-US" sz="2400" dirty="0">
                <a:solidFill>
                  <a:schemeClr val="tx1"/>
                </a:solidFill>
                <a:latin typeface="Times New Roman" panose="02020603050405020304" pitchFamily="18" charset="0"/>
                <a:cs typeface="Times New Roman" panose="02020603050405020304" pitchFamily="18" charset="0"/>
              </a:rPr>
              <a:t>By using "score" function in R, p-values can be returned instead of scores.</a:t>
            </a:r>
          </a:p>
          <a:p>
            <a:endParaRPr lang="en-US" altLang="en-US"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0884771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26</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Machine Learning Approach</a:t>
            </a:r>
          </a:p>
        </p:txBody>
      </p:sp>
      <p:sp>
        <p:nvSpPr>
          <p:cNvPr id="4" name="Content Placeholder 3"/>
          <p:cNvSpPr>
            <a:spLocks noGrp="1"/>
          </p:cNvSpPr>
          <p:nvPr>
            <p:ph idx="1"/>
          </p:nvPr>
        </p:nvSpPr>
        <p:spPr/>
        <p:txBody>
          <a:bodyPr/>
          <a:lstStyle/>
          <a:p>
            <a:r>
              <a:rPr lang="en-US" altLang="en-US" sz="2400" dirty="0">
                <a:solidFill>
                  <a:schemeClr val="tx1"/>
                </a:solidFill>
                <a:latin typeface="Times New Roman" panose="02020603050405020304" pitchFamily="18" charset="0"/>
                <a:cs typeface="Times New Roman" panose="02020603050405020304" pitchFamily="18" charset="0"/>
              </a:rPr>
              <a:t>Linear Regression</a:t>
            </a:r>
          </a:p>
          <a:p>
            <a:r>
              <a:rPr lang="en-US" altLang="en-US" dirty="0">
                <a:solidFill>
                  <a:schemeClr val="tx1"/>
                </a:solidFill>
                <a:latin typeface="Times New Roman" panose="02020603050405020304" pitchFamily="18" charset="0"/>
                <a:cs typeface="Times New Roman" panose="02020603050405020304" pitchFamily="18" charset="0"/>
              </a:rPr>
              <a:t>Piecewise/Segmented Regression</a:t>
            </a:r>
          </a:p>
          <a:p>
            <a:r>
              <a:rPr lang="en-US" altLang="en-US" sz="2400" dirty="0">
                <a:solidFill>
                  <a:schemeClr val="tx1"/>
                </a:solidFill>
                <a:latin typeface="Times New Roman" panose="02020603050405020304" pitchFamily="18" charset="0"/>
                <a:cs typeface="Times New Roman" panose="02020603050405020304" pitchFamily="18" charset="0"/>
              </a:rPr>
              <a:t>Clustering-Based Approaches </a:t>
            </a:r>
          </a:p>
          <a:p>
            <a:endParaRPr lang="en-US" altLang="en-US"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1831425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27</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Linear Regression</a:t>
            </a:r>
          </a:p>
        </p:txBody>
      </p:sp>
      <p:sp>
        <p:nvSpPr>
          <p:cNvPr id="4" name="Content Placeholder 3"/>
          <p:cNvSpPr>
            <a:spLocks noGrp="1"/>
          </p:cNvSpPr>
          <p:nvPr>
            <p:ph idx="1"/>
          </p:nvPr>
        </p:nvSpPr>
        <p:spPr/>
        <p:txBody>
          <a:bodyPr/>
          <a:lstStyle/>
          <a:p>
            <a:r>
              <a:rPr lang="en-US" altLang="en-US" sz="2400" dirty="0">
                <a:solidFill>
                  <a:schemeClr val="tx1"/>
                </a:solidFill>
                <a:latin typeface="Times New Roman" panose="02020603050405020304" pitchFamily="18" charset="0"/>
                <a:cs typeface="Times New Roman" panose="02020603050405020304" pitchFamily="18" charset="0"/>
              </a:rPr>
              <a:t>Linear regression investigates the linear relationships between variables and predict one variable based on one or more other variables and it can be formulated as:</a:t>
            </a:r>
          </a:p>
          <a:p>
            <a:pPr marL="0" indent="0">
              <a:buNone/>
            </a:pPr>
            <a:r>
              <a:rPr lang="en-US" altLang="en-US" sz="2400" dirty="0">
                <a:solidFill>
                  <a:schemeClr val="tx1"/>
                </a:solidFill>
                <a:latin typeface="Times New Roman" panose="02020603050405020304" pitchFamily="18" charset="0"/>
                <a:cs typeface="Times New Roman" panose="02020603050405020304" pitchFamily="18" charset="0"/>
              </a:rPr>
              <a:t>						Y =B0+ </a:t>
            </a:r>
            <a:r>
              <a:rPr lang="en-US" altLang="en-US" sz="2400" dirty="0" err="1">
                <a:solidFill>
                  <a:schemeClr val="tx1"/>
                </a:solidFill>
                <a:latin typeface="Times New Roman" panose="02020603050405020304" pitchFamily="18" charset="0"/>
                <a:cs typeface="Times New Roman" panose="02020603050405020304" pitchFamily="18" charset="0"/>
              </a:rPr>
              <a:t>i</a:t>
            </a:r>
            <a:r>
              <a:rPr lang="en-US" altLang="en-US" sz="2400" dirty="0">
                <a:solidFill>
                  <a:schemeClr val="tx1"/>
                </a:solidFill>
                <a:latin typeface="Times New Roman" panose="02020603050405020304" pitchFamily="18" charset="0"/>
                <a:cs typeface="Times New Roman" panose="02020603050405020304" pitchFamily="18" charset="0"/>
              </a:rPr>
              <a:t>=1p Bi Xi</a:t>
            </a:r>
          </a:p>
          <a:p>
            <a:r>
              <a:rPr lang="en-US" altLang="en-US" sz="2400" dirty="0">
                <a:solidFill>
                  <a:schemeClr val="tx1"/>
                </a:solidFill>
                <a:latin typeface="Times New Roman" panose="02020603050405020304" pitchFamily="18" charset="0"/>
                <a:cs typeface="Times New Roman" panose="02020603050405020304" pitchFamily="18" charset="0"/>
              </a:rPr>
              <a:t>where Y and Xi are random variables, ẞ</a:t>
            </a:r>
            <a:r>
              <a:rPr lang="en-US" altLang="en-US" sz="2400" dirty="0" err="1">
                <a:solidFill>
                  <a:schemeClr val="tx1"/>
                </a:solidFill>
                <a:latin typeface="Times New Roman" panose="02020603050405020304" pitchFamily="18" charset="0"/>
                <a:cs typeface="Times New Roman" panose="02020603050405020304" pitchFamily="18" charset="0"/>
              </a:rPr>
              <a:t>i</a:t>
            </a:r>
            <a:r>
              <a:rPr lang="en-US" altLang="en-US" sz="2400" dirty="0">
                <a:solidFill>
                  <a:schemeClr val="tx1"/>
                </a:solidFill>
                <a:latin typeface="Times New Roman" panose="02020603050405020304" pitchFamily="18" charset="0"/>
                <a:cs typeface="Times New Roman" panose="02020603050405020304" pitchFamily="18" charset="0"/>
              </a:rPr>
              <a:t> is regression coefficient and ẞ0 is a constant</a:t>
            </a:r>
          </a:p>
          <a:p>
            <a:r>
              <a:rPr lang="en-US" altLang="en-US" sz="2400" dirty="0">
                <a:solidFill>
                  <a:schemeClr val="tx1"/>
                </a:solidFill>
                <a:latin typeface="Times New Roman" panose="02020603050405020304" pitchFamily="18" charset="0"/>
                <a:cs typeface="Times New Roman" panose="02020603050405020304" pitchFamily="18" charset="0"/>
              </a:rPr>
              <a:t>In this model, ordinary least squares estimator is usually used to minimize the difference between the dependent variable and independent variables.</a:t>
            </a:r>
          </a:p>
          <a:p>
            <a:endParaRPr lang="en-US" altLang="en-US"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390897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28</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Piecewise/segmented regression</a:t>
            </a:r>
          </a:p>
        </p:txBody>
      </p:sp>
      <p:sp>
        <p:nvSpPr>
          <p:cNvPr id="4" name="Content Placeholder 3"/>
          <p:cNvSpPr>
            <a:spLocks noGrp="1"/>
          </p:cNvSpPr>
          <p:nvPr>
            <p:ph idx="1"/>
          </p:nvPr>
        </p:nvSpPr>
        <p:spPr/>
        <p:txBody>
          <a:bodyPr/>
          <a:lstStyle/>
          <a:p>
            <a:r>
              <a:rPr lang="en-US" altLang="en-US" sz="2400" dirty="0">
                <a:solidFill>
                  <a:schemeClr val="tx1"/>
                </a:solidFill>
                <a:latin typeface="Times New Roman" panose="02020603050405020304" pitchFamily="18" charset="0"/>
                <a:cs typeface="Times New Roman" panose="02020603050405020304" pitchFamily="18" charset="0"/>
              </a:rPr>
              <a:t>A method in regression analysis, in which the independent variable is partitioned into intervals to allow multiple linear models to be fitted to data for different ranges</a:t>
            </a:r>
          </a:p>
          <a:p>
            <a:r>
              <a:rPr lang="en-US" altLang="en-US" sz="2400" dirty="0">
                <a:solidFill>
                  <a:schemeClr val="tx1"/>
                </a:solidFill>
                <a:latin typeface="Times New Roman" panose="02020603050405020304" pitchFamily="18" charset="0"/>
                <a:cs typeface="Times New Roman" panose="02020603050405020304" pitchFamily="18" charset="0"/>
              </a:rPr>
              <a:t>This model can be applied when there are 'breakpoints' and clearly two different linear relationships in the data with a sudden, sharp change in directionality. Below is a simple segmented regression for data with two breakpoints:</a:t>
            </a:r>
          </a:p>
          <a:p>
            <a:pPr marL="0" indent="0">
              <a:buNone/>
            </a:pPr>
            <a:r>
              <a:rPr lang="en-US" altLang="en-US" sz="2400" dirty="0">
                <a:solidFill>
                  <a:schemeClr val="tx1"/>
                </a:solidFill>
                <a:latin typeface="Times New Roman" panose="02020603050405020304" pitchFamily="18" charset="0"/>
                <a:cs typeface="Times New Roman" panose="02020603050405020304" pitchFamily="18" charset="0"/>
              </a:rPr>
              <a:t>			Y = CO + 1 X </a:t>
            </a:r>
            <a:r>
              <a:rPr lang="en-US" altLang="en-US" sz="2400" dirty="0" err="1">
                <a:solidFill>
                  <a:schemeClr val="tx1"/>
                </a:solidFill>
                <a:latin typeface="Times New Roman" panose="02020603050405020304" pitchFamily="18" charset="0"/>
                <a:cs typeface="Times New Roman" panose="02020603050405020304" pitchFamily="18" charset="0"/>
              </a:rPr>
              <a:t>X</a:t>
            </a:r>
            <a:r>
              <a:rPr lang="en-US" altLang="en-US" sz="2400" dirty="0">
                <a:solidFill>
                  <a:schemeClr val="tx1"/>
                </a:solidFill>
                <a:latin typeface="Times New Roman" panose="02020603050405020304" pitchFamily="18" charset="0"/>
                <a:cs typeface="Times New Roman" panose="02020603050405020304" pitchFamily="18" charset="0"/>
              </a:rPr>
              <a:t> &lt; X1 Y = C1+ q2 X </a:t>
            </a:r>
            <a:r>
              <a:rPr lang="en-US" altLang="en-US" sz="2400" dirty="0" err="1">
                <a:solidFill>
                  <a:schemeClr val="tx1"/>
                </a:solidFill>
                <a:latin typeface="Times New Roman" panose="02020603050405020304" pitchFamily="18" charset="0"/>
                <a:cs typeface="Times New Roman" panose="02020603050405020304" pitchFamily="18" charset="0"/>
              </a:rPr>
              <a:t>X</a:t>
            </a:r>
            <a:r>
              <a:rPr lang="en-US" altLang="en-US" sz="2400" dirty="0">
                <a:solidFill>
                  <a:schemeClr val="tx1"/>
                </a:solidFill>
                <a:latin typeface="Times New Roman" panose="02020603050405020304" pitchFamily="18" charset="0"/>
                <a:cs typeface="Times New Roman" panose="02020603050405020304" pitchFamily="18" charset="0"/>
              </a:rPr>
              <a:t> &gt; X1</a:t>
            </a:r>
          </a:p>
          <a:p>
            <a:pPr marL="0" indent="0">
              <a:buNone/>
            </a:pPr>
            <a:r>
              <a:rPr lang="en-US" altLang="en-US" sz="2400" dirty="0">
                <a:solidFill>
                  <a:schemeClr val="tx1"/>
                </a:solidFill>
                <a:latin typeface="Times New Roman" panose="02020603050405020304" pitchFamily="18" charset="0"/>
                <a:cs typeface="Times New Roman" panose="02020603050405020304" pitchFamily="18" charset="0"/>
              </a:rPr>
              <a:t>	where Y is a predicted value, X is an independent variable, 	CO and C1 are constant values, p1 and p2 are regression 	coefficients, and X1 and X2 are breakpoints.</a:t>
            </a:r>
          </a:p>
          <a:p>
            <a:endParaRPr lang="en-US" altLang="en-US"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700109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29</a:t>
            </a:fld>
            <a:endParaRPr lang="en-US"/>
          </a:p>
        </p:txBody>
      </p:sp>
      <p:sp>
        <p:nvSpPr>
          <p:cNvPr id="8" name="Title 1"/>
          <p:cNvSpPr>
            <a:spLocks noGrp="1"/>
          </p:cNvSpPr>
          <p:nvPr>
            <p:ph type="title"/>
          </p:nvPr>
        </p:nvSpPr>
        <p:spPr>
          <a:xfrm>
            <a:off x="1553226" y="0"/>
            <a:ext cx="5461349" cy="1143000"/>
          </a:xfrm>
        </p:spPr>
        <p:txBody>
          <a:bodyPr/>
          <a:lstStyle/>
          <a:p>
            <a:pPr algn="ctr"/>
            <a:endParaRPr lang="en-US" sz="3600" dirty="0">
              <a:solidFill>
                <a:schemeClr val="bg1"/>
              </a:solidFill>
              <a:latin typeface="Times New Roman" panose="02020603050405020304" pitchFamily="18" charset="0"/>
              <a:cs typeface="Times New Roman" panose="02020603050405020304" pitchFamily="18" charset="0"/>
            </a:endParaRPr>
          </a:p>
        </p:txBody>
      </p:sp>
      <p:pic>
        <p:nvPicPr>
          <p:cNvPr id="3" name="Content Placeholder 2">
            <a:extLst>
              <a:ext uri="{FF2B5EF4-FFF2-40B4-BE49-F238E27FC236}">
                <a16:creationId xmlns:a16="http://schemas.microsoft.com/office/drawing/2014/main" id="{2C9645EC-2BAC-45B9-A1AA-E76B28304B5C}"/>
              </a:ext>
            </a:extLst>
          </p:cNvPr>
          <p:cNvPicPr>
            <a:picLocks noGrp="1" noChangeAspect="1"/>
          </p:cNvPicPr>
          <p:nvPr>
            <p:ph idx="1"/>
          </p:nvPr>
        </p:nvPicPr>
        <p:blipFill>
          <a:blip r:embed="rId2"/>
          <a:stretch>
            <a:fillRect/>
          </a:stretch>
        </p:blipFill>
        <p:spPr>
          <a:xfrm>
            <a:off x="510622" y="1658112"/>
            <a:ext cx="8176178" cy="4600702"/>
          </a:xfrm>
          <a:prstGeom prst="rect">
            <a:avLst/>
          </a:prstGeom>
        </p:spPr>
      </p:pic>
    </p:spTree>
    <p:extLst>
      <p:ext uri="{BB962C8B-B14F-4D97-AF65-F5344CB8AC3E}">
        <p14:creationId xmlns:p14="http://schemas.microsoft.com/office/powerpoint/2010/main" val="307017355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30</a:t>
            </a:fld>
            <a:endParaRPr lang="en-US"/>
          </a:p>
        </p:txBody>
      </p:sp>
      <p:sp>
        <p:nvSpPr>
          <p:cNvPr id="8" name="Title 1"/>
          <p:cNvSpPr>
            <a:spLocks noGrp="1"/>
          </p:cNvSpPr>
          <p:nvPr>
            <p:ph type="title"/>
          </p:nvPr>
        </p:nvSpPr>
        <p:spPr>
          <a:xfrm>
            <a:off x="1553226" y="0"/>
            <a:ext cx="5461349" cy="1143000"/>
          </a:xfrm>
        </p:spPr>
        <p:txBody>
          <a:bodyPr/>
          <a:lstStyle/>
          <a:p>
            <a:pPr algn="ctr"/>
            <a:r>
              <a:rPr lang="en-US" altLang="en-US" sz="3600" dirty="0">
                <a:solidFill>
                  <a:schemeClr val="bg1"/>
                </a:solidFill>
                <a:latin typeface="Times New Roman" panose="02020603050405020304" pitchFamily="18" charset="0"/>
                <a:cs typeface="Times New Roman" panose="02020603050405020304" pitchFamily="18" charset="0"/>
              </a:rPr>
              <a:t>Reference</a:t>
            </a:r>
          </a:p>
        </p:txBody>
      </p:sp>
      <p:sp>
        <p:nvSpPr>
          <p:cNvPr id="4" name="Content Placeholder 3"/>
          <p:cNvSpPr>
            <a:spLocks noGrp="1"/>
          </p:cNvSpPr>
          <p:nvPr>
            <p:ph idx="1"/>
          </p:nvPr>
        </p:nvSpPr>
        <p:spPr/>
        <p:txBody>
          <a:bodyPr/>
          <a:lstStyle/>
          <a:p>
            <a:r>
              <a:rPr lang="en-US" altLang="en-US" dirty="0">
                <a:latin typeface="Times New Roman" panose="02020603050405020304" pitchFamily="18" charset="0"/>
                <a:cs typeface="Times New Roman" panose="02020603050405020304" pitchFamily="18" charset="0"/>
                <a:hlinkClick r:id="rId2"/>
              </a:rPr>
              <a:t>https://www.slideshare.net/slideshow/outlier-analysis-and-anomaly-detection/88445161</a:t>
            </a:r>
            <a:endParaRPr lang="en-US" altLang="en-US"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hlinkClick r:id="rId3"/>
              </a:rPr>
              <a:t>https://www.slideshare.net/slideshow/anomaly-detection-2747825/2747825</a:t>
            </a:r>
            <a:endParaRPr lang="en-US" altLang="en-US"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hlinkClick r:id="rId4"/>
              </a:rPr>
              <a:t>https://www.slideshare.net/slideshow/data-mining-outlier-analysis/5005820</a:t>
            </a:r>
            <a:endParaRPr lang="en-US" altLang="en-US" dirty="0">
              <a:latin typeface="Times New Roman" panose="02020603050405020304" pitchFamily="18" charset="0"/>
              <a:cs typeface="Times New Roman" panose="02020603050405020304" pitchFamily="18" charset="0"/>
            </a:endParaRPr>
          </a:p>
          <a:p>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fltVal val="0"/>
                                          </p:val>
                                        </p:tav>
                                        <p:tav tm="100000">
                                          <p:val>
                                            <p:strVal val="#ppt_w"/>
                                          </p:val>
                                        </p:tav>
                                      </p:tavLst>
                                    </p:anim>
                                    <p:anim calcmode="lin" valueType="num">
                                      <p:cBhvr>
                                        <p:cTn id="8" dur="1000" fill="hold"/>
                                        <p:tgtEl>
                                          <p:spTgt spid="8"/>
                                        </p:tgtEl>
                                        <p:attrNameLst>
                                          <p:attrName>ppt_h</p:attrName>
                                        </p:attrNameLst>
                                      </p:cBhvr>
                                      <p:tavLst>
                                        <p:tav tm="0">
                                          <p:val>
                                            <p:fltVal val="0"/>
                                          </p:val>
                                        </p:tav>
                                        <p:tav tm="100000">
                                          <p:val>
                                            <p:strVal val="#ppt_h"/>
                                          </p:val>
                                        </p:tav>
                                      </p:tavLst>
                                    </p:anim>
                                    <p:anim calcmode="lin" valueType="num">
                                      <p:cBhvr>
                                        <p:cTn id="9" dur="1000" fill="hold"/>
                                        <p:tgtEl>
                                          <p:spTgt spid="8"/>
                                        </p:tgtEl>
                                        <p:attrNameLst>
                                          <p:attrName>style.rotation</p:attrName>
                                        </p:attrNameLst>
                                      </p:cBhvr>
                                      <p:tavLst>
                                        <p:tav tm="0">
                                          <p:val>
                                            <p:fltVal val="90"/>
                                          </p:val>
                                        </p:tav>
                                        <p:tav tm="100000">
                                          <p:val>
                                            <p:fltVal val="0"/>
                                          </p:val>
                                        </p:tav>
                                      </p:tavLst>
                                    </p:anim>
                                    <p:animEffect transition="in" filter="fade">
                                      <p:cBhvr>
                                        <p:cTn id="10" dur="10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37" presetClass="entr" presetSubtype="0"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animEffect transition="in" filter="fade">
                                      <p:cBhvr>
                                        <p:cTn id="15" dur="1000"/>
                                        <p:tgtEl>
                                          <p:spTgt spid="4">
                                            <p:txEl>
                                              <p:pRg st="0" end="0"/>
                                            </p:txEl>
                                          </p:spTgt>
                                        </p:tgtEl>
                                      </p:cBhvr>
                                    </p:animEffect>
                                    <p:anim calcmode="lin" valueType="num">
                                      <p:cBhvr>
                                        <p:cTn id="16"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7" dur="900" decel="100000" fill="hold"/>
                                        <p:tgtEl>
                                          <p:spTgt spid="4">
                                            <p:txEl>
                                              <p:pRg st="0" end="0"/>
                                            </p:txEl>
                                          </p:spTgt>
                                        </p:tgtEl>
                                        <p:attrNameLst>
                                          <p:attrName>ppt_y</p:attrName>
                                        </p:attrNameLst>
                                      </p:cBhvr>
                                      <p:tavLst>
                                        <p:tav tm="0">
                                          <p:val>
                                            <p:strVal val="#ppt_y+1"/>
                                          </p:val>
                                        </p:tav>
                                        <p:tav tm="100000">
                                          <p:val>
                                            <p:strVal val="#ppt_y-.03"/>
                                          </p:val>
                                        </p:tav>
                                      </p:tavLst>
                                    </p:anim>
                                    <p:anim calcmode="lin" valueType="num">
                                      <p:cBhvr>
                                        <p:cTn id="18" dur="100" accel="100000" fill="hold">
                                          <p:stCondLst>
                                            <p:cond delay="900"/>
                                          </p:stCondLst>
                                        </p:cTn>
                                        <p:tgtEl>
                                          <p:spTgt spid="4">
                                            <p:txEl>
                                              <p:pRg st="0" end="0"/>
                                            </p:txEl>
                                          </p:spTgt>
                                        </p:tgtEl>
                                        <p:attrNameLst>
                                          <p:attrName>ppt_y</p:attrName>
                                        </p:attrNameLst>
                                      </p:cBhvr>
                                      <p:tavLst>
                                        <p:tav tm="0">
                                          <p:val>
                                            <p:strVal val="#ppt_y-.03"/>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7" presetClass="entr" presetSubtype="0" fill="hold" grpId="0" nodeType="clickEffect">
                                  <p:stCondLst>
                                    <p:cond delay="0"/>
                                  </p:stCondLst>
                                  <p:childTnLst>
                                    <p:set>
                                      <p:cBhvr>
                                        <p:cTn id="22" dur="1" fill="hold">
                                          <p:stCondLst>
                                            <p:cond delay="0"/>
                                          </p:stCondLst>
                                        </p:cTn>
                                        <p:tgtEl>
                                          <p:spTgt spid="4">
                                            <p:txEl>
                                              <p:pRg st="1" end="1"/>
                                            </p:txEl>
                                          </p:spTgt>
                                        </p:tgtEl>
                                        <p:attrNameLst>
                                          <p:attrName>style.visibility</p:attrName>
                                        </p:attrNameLst>
                                      </p:cBhvr>
                                      <p:to>
                                        <p:strVal val="visible"/>
                                      </p:to>
                                    </p:set>
                                    <p:animEffect transition="in" filter="fade">
                                      <p:cBhvr>
                                        <p:cTn id="23" dur="1000"/>
                                        <p:tgtEl>
                                          <p:spTgt spid="4">
                                            <p:txEl>
                                              <p:pRg st="1" end="1"/>
                                            </p:txEl>
                                          </p:spTgt>
                                        </p:tgtEl>
                                      </p:cBhvr>
                                    </p:animEffect>
                                    <p:anim calcmode="lin" valueType="num">
                                      <p:cBhvr>
                                        <p:cTn id="24"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25" dur="900" decel="100000" fill="hold"/>
                                        <p:tgtEl>
                                          <p:spTgt spid="4">
                                            <p:txEl>
                                              <p:pRg st="1" end="1"/>
                                            </p:txEl>
                                          </p:spTgt>
                                        </p:tgtEl>
                                        <p:attrNameLst>
                                          <p:attrName>ppt_y</p:attrName>
                                        </p:attrNameLst>
                                      </p:cBhvr>
                                      <p:tavLst>
                                        <p:tav tm="0">
                                          <p:val>
                                            <p:strVal val="#ppt_y+1"/>
                                          </p:val>
                                        </p:tav>
                                        <p:tav tm="100000">
                                          <p:val>
                                            <p:strVal val="#ppt_y-.03"/>
                                          </p:val>
                                        </p:tav>
                                      </p:tavLst>
                                    </p:anim>
                                    <p:anim calcmode="lin" valueType="num">
                                      <p:cBhvr>
                                        <p:cTn id="26" dur="100" accel="100000" fill="hold">
                                          <p:stCondLst>
                                            <p:cond delay="900"/>
                                          </p:stCondLst>
                                        </p:cTn>
                                        <p:tgtEl>
                                          <p:spTgt spid="4">
                                            <p:txEl>
                                              <p:pRg st="1" end="1"/>
                                            </p:txEl>
                                          </p:spTgt>
                                        </p:tgtEl>
                                        <p:attrNameLst>
                                          <p:attrName>ppt_y</p:attrName>
                                        </p:attrNameLst>
                                      </p:cBhvr>
                                      <p:tavLst>
                                        <p:tav tm="0">
                                          <p:val>
                                            <p:strVal val="#ppt_y-.03"/>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37" presetClass="entr" presetSubtype="0" fill="hold" grpId="0" nodeType="clickEffect">
                                  <p:stCondLst>
                                    <p:cond delay="0"/>
                                  </p:stCondLst>
                                  <p:childTnLst>
                                    <p:set>
                                      <p:cBhvr>
                                        <p:cTn id="30" dur="1" fill="hold">
                                          <p:stCondLst>
                                            <p:cond delay="0"/>
                                          </p:stCondLst>
                                        </p:cTn>
                                        <p:tgtEl>
                                          <p:spTgt spid="4">
                                            <p:txEl>
                                              <p:pRg st="2" end="2"/>
                                            </p:txEl>
                                          </p:spTgt>
                                        </p:tgtEl>
                                        <p:attrNameLst>
                                          <p:attrName>style.visibility</p:attrName>
                                        </p:attrNameLst>
                                      </p:cBhvr>
                                      <p:to>
                                        <p:strVal val="visible"/>
                                      </p:to>
                                    </p:set>
                                    <p:animEffect transition="in" filter="fade">
                                      <p:cBhvr>
                                        <p:cTn id="31" dur="1000"/>
                                        <p:tgtEl>
                                          <p:spTgt spid="4">
                                            <p:txEl>
                                              <p:pRg st="2" end="2"/>
                                            </p:txEl>
                                          </p:spTgt>
                                        </p:tgtEl>
                                      </p:cBhvr>
                                    </p:animEffect>
                                    <p:anim calcmode="lin" valueType="num">
                                      <p:cBhvr>
                                        <p:cTn id="3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33" dur="900" decel="100000" fill="hold"/>
                                        <p:tgtEl>
                                          <p:spTgt spid="4">
                                            <p:txEl>
                                              <p:pRg st="2" end="2"/>
                                            </p:txEl>
                                          </p:spTgt>
                                        </p:tgtEl>
                                        <p:attrNameLst>
                                          <p:attrName>ppt_y</p:attrName>
                                        </p:attrNameLst>
                                      </p:cBhvr>
                                      <p:tavLst>
                                        <p:tav tm="0">
                                          <p:val>
                                            <p:strVal val="#ppt_y+1"/>
                                          </p:val>
                                        </p:tav>
                                        <p:tav tm="100000">
                                          <p:val>
                                            <p:strVal val="#ppt_y-.03"/>
                                          </p:val>
                                        </p:tav>
                                      </p:tavLst>
                                    </p:anim>
                                    <p:anim calcmode="lin" valueType="num">
                                      <p:cBhvr>
                                        <p:cTn id="34" dur="100" accel="100000" fill="hold">
                                          <p:stCondLst>
                                            <p:cond delay="900"/>
                                          </p:stCondLst>
                                        </p:cTn>
                                        <p:tgtEl>
                                          <p:spTgt spid="4">
                                            <p:txEl>
                                              <p:pRg st="2" end="2"/>
                                            </p:txEl>
                                          </p:spTgt>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P spid="4" grpId="0" build="p"/>
      <p:bldP spid="4" grpId="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381000"/>
            <a:ext cx="5257800" cy="762000"/>
          </a:xfrm>
        </p:spPr>
        <p:txBody>
          <a:bodyPr>
            <a:noAutofit/>
          </a:bodyPr>
          <a:lstStyle/>
          <a:p>
            <a:pPr algn="ctr"/>
            <a:r>
              <a:rPr lang="en-US" sz="4400" b="1" dirty="0">
                <a:solidFill>
                  <a:schemeClr val="bg1"/>
                </a:solidFill>
                <a:latin typeface="Times New Roman" panose="02020603050405020304" pitchFamily="18" charset="0"/>
                <a:cs typeface="Times New Roman" panose="02020603050405020304" pitchFamily="18" charset="0"/>
                <a:sym typeface="+mn-ea"/>
              </a:rPr>
              <a:t>Advice</a:t>
            </a:r>
          </a:p>
        </p:txBody>
      </p:sp>
      <p:sp>
        <p:nvSpPr>
          <p:cNvPr id="3" name="Content Placeholder 2"/>
          <p:cNvSpPr>
            <a:spLocks noGrp="1"/>
          </p:cNvSpPr>
          <p:nvPr>
            <p:ph sz="quarter" idx="1"/>
          </p:nvPr>
        </p:nvSpPr>
        <p:spPr>
          <a:xfrm>
            <a:off x="381000" y="1219200"/>
            <a:ext cx="8458200" cy="5334000"/>
          </a:xfrm>
        </p:spPr>
        <p:txBody>
          <a:bodyPr>
            <a:normAutofit/>
          </a:bodyPr>
          <a:lstStyle/>
          <a:p>
            <a:pPr marL="0" indent="0" algn="ctr">
              <a:lnSpc>
                <a:spcPct val="120000"/>
              </a:lnSpc>
              <a:buNone/>
            </a:pPr>
            <a:endParaRPr lang="en-US" sz="2800" b="1" dirty="0">
              <a:solidFill>
                <a:srgbClr val="C00000"/>
              </a:solidFill>
              <a:latin typeface="Arial Black" panose="020B0A04020102020204" charset="0"/>
              <a:cs typeface="Arial Black" panose="020B0A04020102020204" charset="0"/>
              <a:sym typeface="+mn-ea"/>
            </a:endParaRPr>
          </a:p>
          <a:p>
            <a:pPr marL="0" indent="0" algn="ctr">
              <a:lnSpc>
                <a:spcPct val="120000"/>
              </a:lnSpc>
              <a:buNone/>
            </a:pPr>
            <a:endParaRPr lang="en-US" sz="2800" b="1" dirty="0">
              <a:solidFill>
                <a:srgbClr val="C00000"/>
              </a:solidFill>
              <a:latin typeface="Arial Black" panose="020B0A04020102020204" charset="0"/>
              <a:cs typeface="Arial Black" panose="020B0A04020102020204" charset="0"/>
              <a:sym typeface="+mn-ea"/>
            </a:endParaRPr>
          </a:p>
          <a:p>
            <a:pPr marL="0" indent="0" algn="ctr">
              <a:lnSpc>
                <a:spcPct val="120000"/>
              </a:lnSpc>
              <a:buNone/>
            </a:pPr>
            <a:r>
              <a:rPr lang="en-US" sz="2800" b="1" dirty="0">
                <a:solidFill>
                  <a:srgbClr val="C00000"/>
                </a:solidFill>
                <a:latin typeface="Arial Black" panose="020B0A04020102020204" charset="0"/>
                <a:cs typeface="Arial Black" panose="020B0A04020102020204" charset="0"/>
                <a:sym typeface="+mn-ea"/>
              </a:rPr>
              <a:t>Kindly read the book before and after the lecture, if some terms/ words are not covered in the lecture, if appear in exam it might not appear strange or out of course.</a:t>
            </a:r>
            <a:endParaRPr lang="en-US" sz="2800" b="1" dirty="0">
              <a:solidFill>
                <a:srgbClr val="C00000"/>
              </a:solidFill>
              <a:latin typeface="Arial Black" panose="020B0A04020102020204" charset="0"/>
              <a:cs typeface="Arial Black" panose="020B0A04020102020204" charset="0"/>
            </a:endParaRPr>
          </a:p>
          <a:p>
            <a:pPr algn="ctr">
              <a:lnSpc>
                <a:spcPct val="120000"/>
              </a:lnSpc>
            </a:pPr>
            <a:endParaRPr lang="en-US" sz="2800" dirty="0">
              <a:latin typeface="Arial Black" panose="020B0A04020102020204" charset="0"/>
              <a:cs typeface="Arial Black" panose="020B0A04020102020204" charset="0"/>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grpId="0" nodeType="clickEffect">
                                  <p:stCondLst>
                                    <p:cond delay="0"/>
                                  </p:stCondLst>
                                  <p:childTnLst>
                                    <p:animScale>
                                      <p:cBhvr>
                                        <p:cTn id="6" dur="2000" fill="hold"/>
                                        <p:tgtEl>
                                          <p:spTgt spid="2"/>
                                        </p:tgtEl>
                                      </p:cBhvr>
                                      <p:by x="150000" y="150000"/>
                                    </p:animScale>
                                  </p:childTnLst>
                                </p:cTn>
                              </p:par>
                            </p:childTnLst>
                          </p:cTn>
                        </p:par>
                      </p:childTnLst>
                    </p:cTn>
                  </p:par>
                  <p:par>
                    <p:cTn id="7" fill="hold">
                      <p:stCondLst>
                        <p:cond delay="indefinite"/>
                      </p:stCondLst>
                      <p:childTnLst>
                        <p:par>
                          <p:cTn id="8" fill="hold">
                            <p:stCondLst>
                              <p:cond delay="0"/>
                            </p:stCondLst>
                            <p:childTnLst>
                              <p:par>
                                <p:cTn id="9" presetID="17" presetClass="entr" presetSubtype="1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p:cTn id="11"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12" dur="500" fill="hold"/>
                                        <p:tgtEl>
                                          <p:spTgt spid="3">
                                            <p:txEl>
                                              <p:pRg st="2" end="2"/>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theme/theme1.xml><?xml version="1.0" encoding="utf-8"?>
<a:theme xmlns:a="http://schemas.openxmlformats.org/drawingml/2006/main" name="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5_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7_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6_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SE10 slides.thmx</Template>
  <TotalTime>256</TotalTime>
  <Words>1576</Words>
  <Application>Microsoft Office PowerPoint</Application>
  <PresentationFormat>On-screen Show (4:3)</PresentationFormat>
  <Paragraphs>152</Paragraphs>
  <Slides>31</Slides>
  <Notes>2</Notes>
  <HiddenSlides>0</HiddenSlides>
  <MMClips>0</MMClips>
  <ScaleCrop>false</ScaleCrop>
  <HeadingPairs>
    <vt:vector size="6" baseType="variant">
      <vt:variant>
        <vt:lpstr>Fonts Used</vt:lpstr>
      </vt:variant>
      <vt:variant>
        <vt:i4>6</vt:i4>
      </vt:variant>
      <vt:variant>
        <vt:lpstr>Theme</vt:lpstr>
      </vt:variant>
      <vt:variant>
        <vt:i4>5</vt:i4>
      </vt:variant>
      <vt:variant>
        <vt:lpstr>Slide Titles</vt:lpstr>
      </vt:variant>
      <vt:variant>
        <vt:i4>31</vt:i4>
      </vt:variant>
    </vt:vector>
  </HeadingPairs>
  <TitlesOfParts>
    <vt:vector size="42" baseType="lpstr">
      <vt:lpstr>Arial</vt:lpstr>
      <vt:lpstr>Arial Black</vt:lpstr>
      <vt:lpstr>Calibri</vt:lpstr>
      <vt:lpstr>Garamond</vt:lpstr>
      <vt:lpstr>Times New Roman</vt:lpstr>
      <vt:lpstr>Wingdings</vt:lpstr>
      <vt:lpstr>SE10 slides</vt:lpstr>
      <vt:lpstr>2_SE10 slides</vt:lpstr>
      <vt:lpstr>5_SE10 slides</vt:lpstr>
      <vt:lpstr>7_SE10 slides</vt:lpstr>
      <vt:lpstr>16_SE10 slides</vt:lpstr>
      <vt:lpstr>Data Mining DS-303</vt:lpstr>
      <vt:lpstr>Content </vt:lpstr>
      <vt:lpstr>Outlier</vt:lpstr>
      <vt:lpstr>What is an Outlier?</vt:lpstr>
      <vt:lpstr>What is Outlier Analysis?</vt:lpstr>
      <vt:lpstr>Statistical Distribution-Based Outlier Detection</vt:lpstr>
      <vt:lpstr>Anomaly</vt:lpstr>
      <vt:lpstr>What is Anomaly</vt:lpstr>
      <vt:lpstr>PowerPoint Presentation</vt:lpstr>
      <vt:lpstr>What is Anomaly Detection?</vt:lpstr>
      <vt:lpstr>Types of Anomalies </vt:lpstr>
      <vt:lpstr>Point Anomaly</vt:lpstr>
      <vt:lpstr>Contextual Anomaly</vt:lpstr>
      <vt:lpstr>Collective Anomaly</vt:lpstr>
      <vt:lpstr>Applications of Anomaly Detection</vt:lpstr>
      <vt:lpstr>Methodologies to Anomaly Detection</vt:lpstr>
      <vt:lpstr>Graphical Approach </vt:lpstr>
      <vt:lpstr>Box Plot</vt:lpstr>
      <vt:lpstr>Scatter Plot</vt:lpstr>
      <vt:lpstr>Symbol Plot</vt:lpstr>
      <vt:lpstr>Statistical Approach </vt:lpstr>
      <vt:lpstr>Hypothesis Testing</vt:lpstr>
      <vt:lpstr>Chi-Square Test</vt:lpstr>
      <vt:lpstr>Grubbs' test </vt:lpstr>
      <vt:lpstr>Scores</vt:lpstr>
      <vt:lpstr>Machine Learning Approach</vt:lpstr>
      <vt:lpstr>Linear Regression</vt:lpstr>
      <vt:lpstr>Piecewise/segmented regression</vt:lpstr>
      <vt:lpstr>PowerPoint Presentation</vt:lpstr>
      <vt:lpstr>Reference</vt:lpstr>
      <vt:lpstr>Advice</vt:lpstr>
    </vt:vector>
  </TitlesOfParts>
  <Company>St Andrews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 Chapter 1</dc:title>
  <dc:creator>Ian Sommerville</dc:creator>
  <cp:lastModifiedBy>Muhammad Arham</cp:lastModifiedBy>
  <cp:revision>132</cp:revision>
  <dcterms:created xsi:type="dcterms:W3CDTF">2009-12-29T10:39:00Z</dcterms:created>
  <dcterms:modified xsi:type="dcterms:W3CDTF">2026-04-10T08:21:21Z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D1306A2FD05A48D7B302624F1CBE0347</vt:lpwstr>
  </property>
  <property fmtid="{D5CDD505-2E9C-101B-9397-08002B2CF9AE}" pid="3" name="KSOProductBuildVer">
    <vt:lpwstr>1033-12.2.0.23155</vt:lpwstr>
  </property>
</Properties>
</file>