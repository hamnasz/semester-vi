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Lst>
  <p:notesMasterIdLst>
    <p:notesMasterId r:id="rId48"/>
  </p:notesMasterIdLst>
  <p:handoutMasterIdLst>
    <p:handoutMasterId r:id="rId49"/>
  </p:handoutMasterIdLst>
  <p:sldIdLst>
    <p:sldId id="329" r:id="rId5"/>
    <p:sldId id="430" r:id="rId6"/>
    <p:sldId id="432" r:id="rId7"/>
    <p:sldId id="448" r:id="rId8"/>
    <p:sldId id="449" r:id="rId9"/>
    <p:sldId id="450" r:id="rId10"/>
    <p:sldId id="451" r:id="rId11"/>
    <p:sldId id="452"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 id="472" r:id="rId32"/>
    <p:sldId id="473" r:id="rId33"/>
    <p:sldId id="474" r:id="rId34"/>
    <p:sldId id="475" r:id="rId35"/>
    <p:sldId id="476" r:id="rId36"/>
    <p:sldId id="477" r:id="rId37"/>
    <p:sldId id="478" r:id="rId38"/>
    <p:sldId id="479" r:id="rId39"/>
    <p:sldId id="480" r:id="rId40"/>
    <p:sldId id="496" r:id="rId41"/>
    <p:sldId id="481" r:id="rId42"/>
    <p:sldId id="482" r:id="rId43"/>
    <p:sldId id="483" r:id="rId44"/>
    <p:sldId id="484" r:id="rId45"/>
    <p:sldId id="485" r:id="rId46"/>
    <p:sldId id="427" r:id="rId47"/>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Arial" panose="020B0604020202020204" pitchFamily="3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60"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60"/>
  </p:normalViewPr>
  <p:slideViewPr>
    <p:cSldViewPr snapToGrid="0" snapToObjects="1" showGuides="1">
      <p:cViewPr varScale="1">
        <p:scale>
          <a:sx n="64" d="100"/>
          <a:sy n="64" d="100"/>
        </p:scale>
        <p:origin x="1560" y="96"/>
      </p:cViewPr>
      <p:guideLst>
        <p:guide orient="horz" pos="2160"/>
        <p:guide pos="2943"/>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t>4/21/2026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t>4/21/2026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panose="05000000000000000000" pitchFamily="2" charset="2"/>
              <a:buChar char="²"/>
              <a:defRPr sz="2400">
                <a:solidFill>
                  <a:srgbClr val="46424D"/>
                </a:solidFill>
                <a:latin typeface="Arial" panose="020B0604020202020204"/>
                <a:cs typeface="Arial" panose="020B0604020202020204"/>
              </a:defRPr>
            </a:lvl1pPr>
            <a:lvl2pPr>
              <a:spcBef>
                <a:spcPts val="300"/>
              </a:spcBef>
              <a:spcAft>
                <a:spcPts val="300"/>
              </a:spcAft>
              <a:buFont typeface="Wingdings" panose="05000000000000000000" pitchFamily="2" charset="2"/>
              <a:buChar char="§"/>
              <a:defRPr sz="2000">
                <a:solidFill>
                  <a:srgbClr val="46424D"/>
                </a:solidFill>
                <a:latin typeface="Arial" panose="020B0604020202020204"/>
                <a:cs typeface="Arial" panose="020B0604020202020204"/>
              </a:defRPr>
            </a:lvl2pPr>
            <a:lvl3pPr>
              <a:defRPr sz="1800">
                <a:solidFill>
                  <a:srgbClr val="46424D"/>
                </a:solidFill>
                <a:latin typeface="Arial" panose="020B0604020202020204"/>
                <a:cs typeface="Arial" panose="020B0604020202020204"/>
              </a:defRPr>
            </a:lvl3pPr>
            <a:lvl4pPr>
              <a:defRPr sz="1800">
                <a:solidFill>
                  <a:srgbClr val="46424D"/>
                </a:solidFill>
                <a:latin typeface="Arial" panose="020B0604020202020204"/>
                <a:cs typeface="Arial" panose="020B0604020202020204"/>
              </a:defRPr>
            </a:lvl4pPr>
            <a:lvl5pPr>
              <a:defRPr sz="1800">
                <a:solidFill>
                  <a:srgbClr val="46424D"/>
                </a:solidFill>
                <a:latin typeface="Arial" panose="020B0604020202020204"/>
                <a:cs typeface="Arial" panose="020B0604020202020204"/>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t>‹#›</a:t>
            </a:fld>
            <a:endParaRPr lang="en-GB" dirty="0"/>
          </a:p>
        </p:txBody>
      </p:sp>
    </p:spTree>
  </p:cSld>
  <p:clrMapOvr>
    <a:masterClrMapping/>
  </p:clrMapOvr>
  <p:transition spd="med">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t>‹#›</a:t>
            </a:fld>
            <a:endParaRPr lang="en-GB" dirty="0"/>
          </a:p>
        </p:txBody>
      </p:sp>
    </p:spTree>
  </p:cSld>
  <p:clrMapOvr>
    <a:masterClrMapping/>
  </p:clrMapOvr>
  <p:transition spd="med">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t>‹#›</a:t>
            </a:fld>
            <a:endParaRPr lang="en-GB" dirty="0"/>
          </a:p>
        </p:txBody>
      </p:sp>
    </p:spTree>
  </p:cSld>
  <p:clrMapOvr>
    <a:masterClrMapping/>
  </p:clrMapOvr>
  <p:transition spd="med">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t>‹#›</a:t>
            </a:fld>
            <a:endParaRPr lang="en-GB" dirty="0"/>
          </a:p>
        </p:txBody>
      </p:sp>
    </p:spTree>
  </p:cSld>
  <p:clrMapOvr>
    <a:masterClrMapping/>
  </p:clrMapOvr>
  <p:transition spd="med">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t>‹#›</a:t>
            </a:fld>
            <a:endParaRPr lang="en-GB" dirty="0"/>
          </a:p>
        </p:txBody>
      </p:sp>
    </p:spTree>
  </p:cSld>
  <p:clrMapOvr>
    <a:masterClrMapping/>
  </p:clrMapOvr>
  <p:transition spd="med">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t>‹#›</a:t>
            </a:fld>
            <a:endParaRPr lang="en-GB" dirty="0"/>
          </a:p>
        </p:txBody>
      </p:sp>
    </p:spTree>
  </p:cSld>
  <p:clrMapOvr>
    <a:masterClrMapping/>
  </p:clrMapOvr>
  <p:transition spd="med">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hasCustomPrompt="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t>‹#›</a:t>
            </a:fld>
            <a:endParaRPr lang="en-GB" dirty="0"/>
          </a:p>
        </p:txBody>
      </p:sp>
    </p:spTree>
  </p:cSld>
  <p:clrMapOvr>
    <a:masterClrMapping/>
  </p:clrMapOvr>
  <p:transition spd="med">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t>‹#›</a:t>
            </a:fld>
            <a:endParaRPr lang="en-GB" dirty="0"/>
          </a:p>
        </p:txBody>
      </p:sp>
    </p:spTree>
  </p:cSld>
  <p:clrMapOvr>
    <a:masterClrMapping/>
  </p:clrMapOvr>
  <p:transition spd="med">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5.svg"/><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17" Type="http://schemas.openxmlformats.org/officeDocument/2006/relationships/image" Target="../media/image5.sv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sv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svg"/><Relationship Id="rId2" Type="http://schemas.openxmlformats.org/officeDocument/2006/relationships/slideLayout" Target="../slideLayouts/slideLayout35.xml"/><Relationship Id="rId16" Type="http://schemas.openxmlformats.org/officeDocument/2006/relationships/image" Target="../media/image4.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sv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ln>
        </p:spPr>
        <p:txBody>
          <a:bodyPr vert="horz" wrap="square" lIns="91440" tIns="45720" rIns="91440" bIns="45720" numCol="1" anchor="ctr" anchorCtr="0" compatLnSpc="1"/>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15" name="Group 14"/>
          <p:cNvGrpSpPr/>
          <p:nvPr userDrawn="1"/>
        </p:nvGrpSpPr>
        <p:grpSpPr>
          <a:xfrm>
            <a:off x="0" y="0"/>
            <a:ext cx="9144000" cy="1115736"/>
            <a:chOff x="0" y="0"/>
            <a:chExt cx="12962429" cy="1115736"/>
          </a:xfrm>
        </p:grpSpPr>
        <p:sp>
          <p:nvSpPr>
            <p:cNvPr id="16" name="Rectangle 15"/>
            <p:cNvSpPr/>
            <p:nvPr/>
          </p:nvSpPr>
          <p:spPr>
            <a:xfrm>
              <a:off x="0" y="0"/>
              <a:ext cx="12962429"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7" name="Picture 16"/>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8" name="TextBox 1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9" name="Graphic 11"/>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20" name="TextBox 1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1" name="Graphic 13"/>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22" name="Picture 21"/>
            <p:cNvPicPr>
              <a:picLocks noChangeAspect="1"/>
            </p:cNvPicPr>
            <p:nvPr/>
          </p:nvPicPr>
          <p:blipFill>
            <a:blip r:embed="rId18"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panose="020B0604020202020204"/>
          <a:ea typeface="MS PGothic" panose="020B0600070205080204" charset="-128"/>
          <a:cs typeface="Arial" panose="020B0604020202020204"/>
        </a:defRPr>
      </a:lvl1pPr>
      <a:lvl2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2pPr>
      <a:lvl3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3pPr>
      <a:lvl4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4pPr>
      <a:lvl5pPr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5pPr>
      <a:lvl6pPr marL="4572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6pPr>
      <a:lvl7pPr marL="9144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7pPr>
      <a:lvl8pPr marL="13716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8pPr>
      <a:lvl9pPr marL="1828800" algn="ctr" defTabSz="457200" rtl="0" eaLnBrk="1" fontAlgn="base" hangingPunct="1">
        <a:spcBef>
          <a:spcPct val="0"/>
        </a:spcBef>
        <a:spcAft>
          <a:spcPct val="0"/>
        </a:spcAft>
        <a:defRPr sz="2400">
          <a:solidFill>
            <a:schemeClr val="tx1"/>
          </a:solidFill>
          <a:latin typeface="Calibri" panose="020F0502020204030204" charset="0"/>
          <a:ea typeface="MS PGothic" panose="020B0600070205080204" charset="-128"/>
          <a:cs typeface="MS PGothic" panose="020B060007020508020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charset="-128"/>
          <a:cs typeface="MS PGothic" panose="020B0600070205080204" charset="-128"/>
        </a:defRPr>
      </a:lvl1pPr>
      <a:lvl2pPr marL="742950" indent="-285750" algn="l" defTabSz="457200" rtl="0" eaLnBrk="1" fontAlgn="base" hangingPunct="1">
        <a:spcBef>
          <a:spcPct val="20000"/>
        </a:spcBef>
        <a:spcAft>
          <a:spcPct val="0"/>
        </a:spcAft>
        <a:buFont typeface="Arial" panose="020B0604020202020204" pitchFamily="34" charset="0"/>
        <a:defRPr sz="2800" kern="1200">
          <a:solidFill>
            <a:schemeClr val="tx1"/>
          </a:solidFill>
          <a:latin typeface="+mn-lt"/>
          <a:ea typeface="MS PGothic" panose="020B0600070205080204" charset="-128"/>
          <a:cs typeface="+mn-cs"/>
        </a:defRPr>
      </a:lvl2pPr>
      <a:lvl3pPr marL="1143000" indent="-228600" algn="l" defTabSz="457200"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charset="-128"/>
          <a:cs typeface="+mn-cs"/>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7889" y="1229265"/>
            <a:ext cx="7688222" cy="1153160"/>
          </a:xfrm>
        </p:spPr>
        <p:txBody>
          <a:bodyPr>
            <a:noAutofit/>
          </a:bodyPr>
          <a:lstStyle/>
          <a:p>
            <a:pPr algn="ctr"/>
            <a:r>
              <a:rPr lang="en-US" sz="4000" dirty="0">
                <a:solidFill>
                  <a:schemeClr val="bg1"/>
                </a:solidFill>
                <a:latin typeface="Times New Roman" panose="02020603050405020304" pitchFamily="18" charset="0"/>
                <a:cs typeface="Times New Roman" panose="02020603050405020304" pitchFamily="18" charset="0"/>
              </a:rPr>
              <a:t>Data Mining</a:t>
            </a:r>
            <a:br>
              <a:rPr lang="en-US" sz="4000" dirty="0">
                <a:solidFill>
                  <a:schemeClr val="bg1"/>
                </a:solidFill>
                <a:latin typeface="Times New Roman" panose="02020603050405020304" pitchFamily="18" charset="0"/>
                <a:cs typeface="Times New Roman" panose="02020603050405020304" pitchFamily="18" charset="0"/>
              </a:rPr>
            </a:br>
            <a:r>
              <a:rPr lang="en-US" sz="4000" dirty="0">
                <a:solidFill>
                  <a:schemeClr val="bg1"/>
                </a:solidFill>
                <a:latin typeface="Times New Roman" panose="02020603050405020304" pitchFamily="18" charset="0"/>
                <a:cs typeface="Times New Roman" panose="02020603050405020304" pitchFamily="18" charset="0"/>
              </a:rPr>
              <a:t>DS-303</a:t>
            </a:r>
          </a:p>
        </p:txBody>
      </p:sp>
      <p:sp>
        <p:nvSpPr>
          <p:cNvPr id="3" name="Subtitle 2"/>
          <p:cNvSpPr>
            <a:spLocks noGrp="1"/>
          </p:cNvSpPr>
          <p:nvPr>
            <p:ph type="subTitle" idx="1"/>
          </p:nvPr>
        </p:nvSpPr>
        <p:spPr>
          <a:xfrm>
            <a:off x="1391233" y="3082889"/>
            <a:ext cx="6716268" cy="3181229"/>
          </a:xfrm>
        </p:spPr>
        <p:txBody>
          <a:bodyPr>
            <a:noAutofit/>
          </a:bodyPr>
          <a:lstStyle/>
          <a:p>
            <a:r>
              <a:rPr lang="en-US" sz="2800" b="1" dirty="0">
                <a:solidFill>
                  <a:schemeClr val="bg1"/>
                </a:solidFill>
                <a:latin typeface="Times New Roman" panose="02020603050405020304" pitchFamily="18" charset="0"/>
                <a:cs typeface="Times New Roman" panose="02020603050405020304" pitchFamily="18" charset="0"/>
              </a:rPr>
              <a:t>Lecture 5</a:t>
            </a:r>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Times New Roman" panose="02020603050405020304" pitchFamily="18" charset="0"/>
              <a:cs typeface="Times New Roman" panose="02020603050405020304" pitchFamily="18" charset="0"/>
            </a:endParaRPr>
          </a:p>
          <a:p>
            <a:endParaRPr lang="en-GB" sz="2800" b="1" dirty="0">
              <a:solidFill>
                <a:schemeClr val="bg1"/>
              </a:solidFill>
              <a:latin typeface="Garamond" panose="02020404030301010803" pitchFamily="18" charset="0"/>
            </a:endParaRPr>
          </a:p>
          <a:p>
            <a:pPr algn="r"/>
            <a:r>
              <a:rPr lang="en-GB" sz="2400" b="1">
                <a:solidFill>
                  <a:schemeClr val="bg1"/>
                </a:solidFill>
                <a:latin typeface="Garamond" panose="02020404030301010803" pitchFamily="18" charset="0"/>
              </a:rPr>
              <a:t>Muhammad Arham</a:t>
            </a:r>
            <a:endParaRPr lang="en-GB" sz="2400" b="1" dirty="0">
              <a:solidFill>
                <a:schemeClr val="bg1"/>
              </a:solidFill>
              <a:latin typeface="Garamond" panose="02020404030301010803" pitchFamily="18" charset="0"/>
            </a:endParaRPr>
          </a:p>
          <a:p>
            <a:pPr algn="r"/>
            <a:r>
              <a:rPr lang="en-GB" sz="2400" b="1" dirty="0">
                <a:solidFill>
                  <a:schemeClr val="bg1"/>
                </a:solidFill>
                <a:latin typeface="Garamond" panose="02020404030301010803" pitchFamily="18" charset="0"/>
              </a:rPr>
              <a:t>Lecturer</a:t>
            </a:r>
          </a:p>
          <a:p>
            <a:pPr algn="r"/>
            <a:r>
              <a:rPr lang="en-GB" sz="2400" b="1" dirty="0">
                <a:solidFill>
                  <a:schemeClr val="bg1"/>
                </a:solidFill>
                <a:latin typeface="Garamond" panose="02020404030301010803" pitchFamily="18" charset="0"/>
              </a:rPr>
              <a:t>The University of Faisalabad</a:t>
            </a:r>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2728" y="0"/>
            <a:ext cx="2708768" cy="36116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ox(in)">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2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ox(in)">
                                      <p:cBhvr>
                                        <p:cTn id="25"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en-US" sz="3200" dirty="0">
                <a:solidFill>
                  <a:schemeClr val="tx1"/>
                </a:solidFill>
                <a:latin typeface="Times New Roman" panose="02020603050405020304" pitchFamily="18" charset="0"/>
                <a:cs typeface="Times New Roman" panose="02020603050405020304" pitchFamily="18" charset="0"/>
              </a:rPr>
              <a:t>Web &amp; Social Network Mining</a:t>
            </a:r>
          </a:p>
        </p:txBody>
      </p:sp>
      <p:sp>
        <p:nvSpPr>
          <p:cNvPr id="6" name="Slide Number Placeholder 5"/>
          <p:cNvSpPr>
            <a:spLocks noGrp="1"/>
          </p:cNvSpPr>
          <p:nvPr>
            <p:ph type="sldNum" sz="quarter" idx="12"/>
          </p:nvPr>
        </p:nvSpPr>
        <p:spPr/>
        <p:txBody>
          <a:bodyPr/>
          <a:lstStyle/>
          <a:p>
            <a:fld id="{1D5CD492-2BC6-F348-9965-EC1D86DF57A8}" type="slidenum">
              <a:rPr lang="en-US" smtClean="0"/>
              <a:t>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Content </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3"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
                                        <p:tgtEl>
                                          <p:spTgt spid="3">
                                            <p:txEl>
                                              <p:pRg st="0" end="0"/>
                                            </p:txEl>
                                          </p:spTgt>
                                        </p:tgtEl>
                                      </p:cBhvr>
                                    </p:animEffect>
                                    <p:anim calcmode="lin" valueType="num">
                                      <p:cBhvr>
                                        <p:cTn id="22"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6" grpId="0"/>
      <p:bldP spid="6" grpId="1"/>
      <p:bldP spid="8" grpId="0"/>
      <p:bldP spid="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Web Mining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Web Mining?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Web Mining is the use of the data mining techniques to automatically discover and extract information from web.</a:t>
            </a:r>
          </a:p>
          <a:p>
            <a:r>
              <a:rPr lang="en-US" altLang="en-US" dirty="0">
                <a:solidFill>
                  <a:schemeClr val="tx1"/>
                </a:solidFill>
                <a:latin typeface="Times New Roman" panose="02020603050405020304" pitchFamily="18" charset="0"/>
                <a:cs typeface="Times New Roman" panose="02020603050405020304" pitchFamily="18" charset="0"/>
              </a:rPr>
              <a:t>Web mining can find interesting and potentially useful knowledge from web data.</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Data Mining?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Data mining or knowledge discovery from data is the process of analyzing data from different perspectives and summarizing it into useful information </a:t>
            </a:r>
          </a:p>
          <a:p>
            <a:r>
              <a:rPr lang="en-US" altLang="en-US" sz="2400" dirty="0">
                <a:solidFill>
                  <a:schemeClr val="tx1"/>
                </a:solidFill>
                <a:latin typeface="Times New Roman" panose="02020603050405020304" pitchFamily="18" charset="0"/>
                <a:cs typeface="Times New Roman" panose="02020603050405020304" pitchFamily="18" charset="0"/>
              </a:rPr>
              <a:t>Knowledge discovery in database</a:t>
            </a:r>
          </a:p>
          <a:p>
            <a:r>
              <a:rPr lang="en-US" altLang="en-US" dirty="0">
                <a:solidFill>
                  <a:schemeClr val="tx1"/>
                </a:solidFill>
                <a:latin typeface="Times New Roman" panose="02020603050405020304" pitchFamily="18" charset="0"/>
                <a:cs typeface="Times New Roman" panose="02020603050405020304" pitchFamily="18" charset="0"/>
              </a:rPr>
              <a:t>Raw data	knowledge</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
        <p:nvSpPr>
          <p:cNvPr id="2" name="Arrow: Right 1">
            <a:extLst>
              <a:ext uri="{FF2B5EF4-FFF2-40B4-BE49-F238E27FC236}">
                <a16:creationId xmlns:a16="http://schemas.microsoft.com/office/drawing/2014/main" id="{F896D5BB-A9A0-4E38-A6AC-FF4139E45BBF}"/>
              </a:ext>
            </a:extLst>
          </p:cNvPr>
          <p:cNvSpPr/>
          <p:nvPr/>
        </p:nvSpPr>
        <p:spPr>
          <a:xfrm>
            <a:off x="2060448" y="3596640"/>
            <a:ext cx="292608" cy="97536"/>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25583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Data Mining Techniques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most popular data mining techniques are </a:t>
            </a:r>
          </a:p>
          <a:p>
            <a:pPr lvl="1"/>
            <a:r>
              <a:rPr lang="en-US" altLang="en-US" dirty="0">
                <a:solidFill>
                  <a:schemeClr val="tx1"/>
                </a:solidFill>
                <a:latin typeface="Times New Roman" panose="02020603050405020304" pitchFamily="18" charset="0"/>
                <a:cs typeface="Times New Roman" panose="02020603050405020304" pitchFamily="18" charset="0"/>
              </a:rPr>
              <a:t>Clustering </a:t>
            </a:r>
          </a:p>
          <a:p>
            <a:pPr lvl="1"/>
            <a:r>
              <a:rPr lang="en-US" altLang="en-US" dirty="0">
                <a:solidFill>
                  <a:schemeClr val="tx1"/>
                </a:solidFill>
                <a:latin typeface="Times New Roman" panose="02020603050405020304" pitchFamily="18" charset="0"/>
                <a:cs typeface="Times New Roman" panose="02020603050405020304" pitchFamily="18" charset="0"/>
              </a:rPr>
              <a:t>Classification</a:t>
            </a:r>
          </a:p>
          <a:p>
            <a:pPr lvl="1"/>
            <a:r>
              <a:rPr lang="en-US" altLang="en-US" dirty="0">
                <a:solidFill>
                  <a:schemeClr val="tx1"/>
                </a:solidFill>
                <a:latin typeface="Times New Roman" panose="02020603050405020304" pitchFamily="18" charset="0"/>
                <a:cs typeface="Times New Roman" panose="02020603050405020304" pitchFamily="18" charset="0"/>
              </a:rPr>
              <a:t>Association Rules </a:t>
            </a:r>
          </a:p>
          <a:p>
            <a:pPr lvl="1"/>
            <a:r>
              <a:rPr lang="en-US" altLang="en-US" dirty="0">
                <a:solidFill>
                  <a:schemeClr val="tx1"/>
                </a:solidFill>
                <a:latin typeface="Times New Roman" panose="02020603050405020304" pitchFamily="18" charset="0"/>
                <a:cs typeface="Times New Roman" panose="02020603050405020304" pitchFamily="18" charset="0"/>
              </a:rPr>
              <a:t>Correlation</a:t>
            </a:r>
          </a:p>
          <a:p>
            <a:pPr lvl="1"/>
            <a:r>
              <a:rPr lang="en-US" altLang="en-US" dirty="0">
                <a:solidFill>
                  <a:schemeClr val="tx1"/>
                </a:solidFill>
                <a:latin typeface="Times New Roman" panose="02020603050405020304" pitchFamily="18" charset="0"/>
                <a:cs typeface="Times New Roman" panose="02020603050405020304" pitchFamily="18" charset="0"/>
              </a:rPr>
              <a:t>Naïve Bayesian </a:t>
            </a:r>
          </a:p>
          <a:p>
            <a:pPr lvl="1"/>
            <a:r>
              <a:rPr lang="en-US" altLang="en-US" dirty="0">
                <a:solidFill>
                  <a:schemeClr val="tx1"/>
                </a:solidFill>
                <a:latin typeface="Times New Roman" panose="02020603050405020304" pitchFamily="18" charset="0"/>
                <a:cs typeface="Times New Roman" panose="02020603050405020304" pitchFamily="18" charset="0"/>
              </a:rPr>
              <a:t>Neural Networks</a:t>
            </a:r>
          </a:p>
          <a:p>
            <a:pPr lvl="1"/>
            <a:r>
              <a:rPr lang="en-US" altLang="en-US" dirty="0">
                <a:solidFill>
                  <a:schemeClr val="tx1"/>
                </a:solidFill>
                <a:latin typeface="Times New Roman" panose="02020603050405020304" pitchFamily="18" charset="0"/>
                <a:cs typeface="Times New Roman" panose="02020603050405020304" pitchFamily="18" charset="0"/>
              </a:rPr>
              <a:t>Outlier detection/ Anomaly detection</a:t>
            </a:r>
          </a:p>
          <a:p>
            <a:pPr lvl="1"/>
            <a:r>
              <a:rPr lang="en-US" altLang="en-US" dirty="0">
                <a:solidFill>
                  <a:schemeClr val="tx1"/>
                </a:solidFill>
                <a:latin typeface="Times New Roman" panose="02020603050405020304" pitchFamily="18" charset="0"/>
                <a:cs typeface="Times New Roman" panose="02020603050405020304" pitchFamily="18" charset="0"/>
              </a:rPr>
              <a:t>Regression</a:t>
            </a:r>
          </a:p>
          <a:p>
            <a:pPr lvl="1"/>
            <a:r>
              <a:rPr lang="en-US" altLang="en-US" dirty="0">
                <a:solidFill>
                  <a:schemeClr val="tx1"/>
                </a:solidFill>
                <a:latin typeface="Times New Roman" panose="02020603050405020304" pitchFamily="18" charset="0"/>
                <a:cs typeface="Times New Roman" panose="02020603050405020304" pitchFamily="18" charset="0"/>
              </a:rPr>
              <a:t>Logistic Regression</a:t>
            </a:r>
          </a:p>
        </p:txBody>
      </p:sp>
    </p:spTree>
    <p:extLst>
      <p:ext uri="{BB962C8B-B14F-4D97-AF65-F5344CB8AC3E}">
        <p14:creationId xmlns:p14="http://schemas.microsoft.com/office/powerpoint/2010/main" val="4034722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What is Web Data?</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Web content- text, image, records, etc.</a:t>
            </a:r>
          </a:p>
          <a:p>
            <a:r>
              <a:rPr lang="en-US" altLang="en-US" dirty="0">
                <a:solidFill>
                  <a:schemeClr val="tx1"/>
                </a:solidFill>
                <a:latin typeface="Times New Roman" panose="02020603050405020304" pitchFamily="18" charset="0"/>
                <a:cs typeface="Times New Roman" panose="02020603050405020304" pitchFamily="18" charset="0"/>
              </a:rPr>
              <a:t>Web structure- hyperlinks, tags etc.</a:t>
            </a:r>
          </a:p>
          <a:p>
            <a:r>
              <a:rPr lang="en-US" altLang="en-US" sz="2400" dirty="0">
                <a:solidFill>
                  <a:schemeClr val="tx1"/>
                </a:solidFill>
                <a:latin typeface="Times New Roman" panose="02020603050405020304" pitchFamily="18" charset="0"/>
                <a:cs typeface="Times New Roman" panose="02020603050405020304" pitchFamily="18" charset="0"/>
              </a:rPr>
              <a:t>Web usage- http log, app server logs, </a:t>
            </a:r>
            <a:r>
              <a:rPr lang="en-US" altLang="en-US" sz="2400" dirty="0" err="1">
                <a:solidFill>
                  <a:schemeClr val="tx1"/>
                </a:solidFill>
                <a:latin typeface="Times New Roman" panose="02020603050405020304" pitchFamily="18" charset="0"/>
                <a:cs typeface="Times New Roman" panose="02020603050405020304" pitchFamily="18" charset="0"/>
              </a:rPr>
              <a:t>etc</a:t>
            </a:r>
            <a:endParaRPr lang="en-US" altLang="en-US" sz="2400" dirty="0">
              <a:solidFill>
                <a:schemeClr val="tx1"/>
              </a:solidFill>
              <a:latin typeface="Times New Roman" panose="02020603050405020304" pitchFamily="18" charset="0"/>
              <a:cs typeface="Times New Roman" panose="02020603050405020304" pitchFamily="18" charset="0"/>
            </a:endParaRPr>
          </a:p>
          <a:p>
            <a:r>
              <a:rPr lang="en-US" altLang="en-US" dirty="0">
                <a:solidFill>
                  <a:schemeClr val="tx1"/>
                </a:solidFill>
                <a:latin typeface="Times New Roman" panose="02020603050405020304" pitchFamily="18" charset="0"/>
                <a:cs typeface="Times New Roman" panose="02020603050405020304" pitchFamily="18" charset="0"/>
              </a:rPr>
              <a:t>Intra-page structure – document level</a:t>
            </a:r>
          </a:p>
          <a:p>
            <a:r>
              <a:rPr lang="en-US" altLang="en-US" dirty="0">
                <a:solidFill>
                  <a:schemeClr val="tx1"/>
                </a:solidFill>
                <a:latin typeface="Times New Roman" panose="02020603050405020304" pitchFamily="18" charset="0"/>
                <a:cs typeface="Times New Roman" panose="02020603050405020304" pitchFamily="18" charset="0"/>
              </a:rPr>
              <a:t>Inter-page structure – hyperlink level</a:t>
            </a:r>
          </a:p>
          <a:p>
            <a:r>
              <a:rPr lang="en-US" altLang="en-US" dirty="0">
                <a:solidFill>
                  <a:schemeClr val="tx1"/>
                </a:solidFill>
                <a:latin typeface="Times New Roman" panose="02020603050405020304" pitchFamily="18" charset="0"/>
                <a:cs typeface="Times New Roman" panose="02020603050405020304" pitchFamily="18" charset="0"/>
              </a:rPr>
              <a:t>Supplemental data</a:t>
            </a:r>
          </a:p>
          <a:p>
            <a:pPr lvl="1"/>
            <a:r>
              <a:rPr lang="en-US" altLang="en-US" dirty="0">
                <a:solidFill>
                  <a:schemeClr val="tx1"/>
                </a:solidFill>
                <a:latin typeface="Times New Roman" panose="02020603050405020304" pitchFamily="18" charset="0"/>
                <a:cs typeface="Times New Roman" panose="02020603050405020304" pitchFamily="18" charset="0"/>
              </a:rPr>
              <a:t>Profiles</a:t>
            </a:r>
          </a:p>
          <a:p>
            <a:pPr lvl="1"/>
            <a:r>
              <a:rPr lang="en-US" altLang="en-US" dirty="0">
                <a:solidFill>
                  <a:schemeClr val="tx1"/>
                </a:solidFill>
                <a:latin typeface="Times New Roman" panose="02020603050405020304" pitchFamily="18" charset="0"/>
                <a:cs typeface="Times New Roman" panose="02020603050405020304" pitchFamily="18" charset="0"/>
              </a:rPr>
              <a:t>Registration information</a:t>
            </a:r>
          </a:p>
          <a:p>
            <a:pPr lvl="1"/>
            <a:r>
              <a:rPr lang="en-US" altLang="en-US" dirty="0">
                <a:solidFill>
                  <a:schemeClr val="tx1"/>
                </a:solidFill>
                <a:latin typeface="Times New Roman" panose="02020603050405020304" pitchFamily="18" charset="0"/>
                <a:cs typeface="Times New Roman" panose="02020603050405020304" pitchFamily="18" charset="0"/>
              </a:rPr>
              <a:t>Cookies </a:t>
            </a:r>
          </a:p>
        </p:txBody>
      </p:sp>
    </p:spTree>
    <p:extLst>
      <p:ext uri="{BB962C8B-B14F-4D97-AF65-F5344CB8AC3E}">
        <p14:creationId xmlns:p14="http://schemas.microsoft.com/office/powerpoint/2010/main" val="512005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Data Mining vs. Web Mining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Data Mining</a:t>
            </a:r>
          </a:p>
          <a:p>
            <a:pPr lvl="1"/>
            <a:r>
              <a:rPr lang="en-US" altLang="en-US" dirty="0">
                <a:solidFill>
                  <a:schemeClr val="tx1"/>
                </a:solidFill>
                <a:latin typeface="Times New Roman" panose="02020603050405020304" pitchFamily="18" charset="0"/>
                <a:cs typeface="Times New Roman" panose="02020603050405020304" pitchFamily="18" charset="0"/>
              </a:rPr>
              <a:t>Data is structured and relational</a:t>
            </a:r>
          </a:p>
          <a:p>
            <a:pPr lvl="1"/>
            <a:r>
              <a:rPr lang="en-US" altLang="en-US" dirty="0">
                <a:solidFill>
                  <a:schemeClr val="tx1"/>
                </a:solidFill>
                <a:latin typeface="Times New Roman" panose="02020603050405020304" pitchFamily="18" charset="0"/>
                <a:cs typeface="Times New Roman" panose="02020603050405020304" pitchFamily="18" charset="0"/>
              </a:rPr>
              <a:t>Well-defined tables, columns, rows, keys, and constraints.</a:t>
            </a:r>
          </a:p>
          <a:p>
            <a:r>
              <a:rPr lang="en-US" altLang="en-US" dirty="0">
                <a:solidFill>
                  <a:schemeClr val="tx1"/>
                </a:solidFill>
                <a:latin typeface="Times New Roman" panose="02020603050405020304" pitchFamily="18" charset="0"/>
                <a:cs typeface="Times New Roman" panose="02020603050405020304" pitchFamily="18" charset="0"/>
              </a:rPr>
              <a:t>Web Mining</a:t>
            </a:r>
          </a:p>
          <a:p>
            <a:pPr lvl="1"/>
            <a:r>
              <a:rPr lang="en-US" altLang="en-US" dirty="0">
                <a:solidFill>
                  <a:schemeClr val="tx1"/>
                </a:solidFill>
                <a:latin typeface="Times New Roman" panose="02020603050405020304" pitchFamily="18" charset="0"/>
                <a:cs typeface="Times New Roman" panose="02020603050405020304" pitchFamily="18" charset="0"/>
              </a:rPr>
              <a:t>Semi-structure (HTML) and unstructured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3DD862-023A-4353-B560-F37539B8CEAD}"/>
              </a:ext>
            </a:extLst>
          </p:cNvPr>
          <p:cNvPicPr>
            <a:picLocks noChangeAspect="1"/>
          </p:cNvPicPr>
          <p:nvPr/>
        </p:nvPicPr>
        <p:blipFill>
          <a:blip r:embed="rId2"/>
          <a:stretch>
            <a:fillRect/>
          </a:stretch>
        </p:blipFill>
        <p:spPr>
          <a:xfrm>
            <a:off x="3541324" y="4249271"/>
            <a:ext cx="3981544" cy="2289641"/>
          </a:xfrm>
          <a:prstGeom prst="rect">
            <a:avLst/>
          </a:prstGeom>
        </p:spPr>
      </p:pic>
    </p:spTree>
    <p:extLst>
      <p:ext uri="{BB962C8B-B14F-4D97-AF65-F5344CB8AC3E}">
        <p14:creationId xmlns:p14="http://schemas.microsoft.com/office/powerpoint/2010/main" val="26667409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Example: Assessing credit; risk</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Situation: Person applies for a loan</a:t>
            </a:r>
          </a:p>
          <a:p>
            <a:r>
              <a:rPr lang="en-US" altLang="en-US" dirty="0">
                <a:solidFill>
                  <a:schemeClr val="tx1"/>
                </a:solidFill>
                <a:latin typeface="Times New Roman" panose="02020603050405020304" pitchFamily="18" charset="0"/>
                <a:cs typeface="Times New Roman" panose="02020603050405020304" pitchFamily="18" charset="0"/>
              </a:rPr>
              <a:t>Task: Should a bank approve the loan?</a:t>
            </a:r>
          </a:p>
          <a:p>
            <a:r>
              <a:rPr lang="en-US" altLang="en-US" sz="2400" dirty="0">
                <a:solidFill>
                  <a:schemeClr val="tx1"/>
                </a:solidFill>
                <a:latin typeface="Times New Roman" panose="02020603050405020304" pitchFamily="18" charset="0"/>
                <a:cs typeface="Times New Roman" panose="02020603050405020304" pitchFamily="18" charset="0"/>
              </a:rPr>
              <a:t>Note: People who have the best credit don’t need the loans, and people with worst credit are not likely to repay.</a:t>
            </a:r>
          </a:p>
          <a:p>
            <a:r>
              <a:rPr lang="en-US" altLang="en-US" dirty="0">
                <a:solidFill>
                  <a:schemeClr val="tx1"/>
                </a:solidFill>
                <a:latin typeface="Times New Roman" panose="02020603050405020304" pitchFamily="18" charset="0"/>
                <a:cs typeface="Times New Roman" panose="02020603050405020304" pitchFamily="18" charset="0"/>
              </a:rPr>
              <a:t>Bank’s best customers are in the middle.</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83441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Example: Insurance Fraud</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Insurance fraud is the filing of a false claim to life, health, automobile, property or other type of insurance benefits.</a:t>
            </a:r>
          </a:p>
          <a:p>
            <a:r>
              <a:rPr lang="en-US" altLang="en-US" dirty="0">
                <a:solidFill>
                  <a:schemeClr val="tx1"/>
                </a:solidFill>
                <a:latin typeface="Times New Roman" panose="02020603050405020304" pitchFamily="18" charset="0"/>
                <a:cs typeface="Times New Roman" panose="02020603050405020304" pitchFamily="18" charset="0"/>
              </a:rPr>
              <a:t>Insurance companies lose millions of dollars each year through fraudulent claims, largely because they do not have a way to easily determine which claims are legitimate and which may be fraudulent.</a:t>
            </a:r>
          </a:p>
          <a:p>
            <a:r>
              <a:rPr lang="en-US" altLang="en-US" sz="2400" dirty="0">
                <a:solidFill>
                  <a:schemeClr val="tx1"/>
                </a:solidFill>
                <a:latin typeface="Times New Roman" panose="02020603050405020304" pitchFamily="18" charset="0"/>
                <a:cs typeface="Times New Roman" panose="02020603050405020304" pitchFamily="18" charset="0"/>
              </a:rPr>
              <a:t>Data mining enables insurance companies to predict which insurance claims are likely to be fraudulent.</a:t>
            </a:r>
          </a:p>
        </p:txBody>
      </p:sp>
    </p:spTree>
    <p:extLst>
      <p:ext uri="{BB962C8B-B14F-4D97-AF65-F5344CB8AC3E}">
        <p14:creationId xmlns:p14="http://schemas.microsoft.com/office/powerpoint/2010/main" val="3951785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Opportunities and Challenges </a:t>
            </a:r>
          </a:p>
        </p:txBody>
      </p:sp>
      <p:sp>
        <p:nvSpPr>
          <p:cNvPr id="4" name="Content Placeholder 3"/>
          <p:cNvSpPr>
            <a:spLocks noGrp="1"/>
          </p:cNvSpPr>
          <p:nvPr>
            <p:ph idx="1"/>
          </p:nvPr>
        </p:nvSpPr>
        <p:spPr>
          <a:xfrm>
            <a:off x="457200" y="1600200"/>
            <a:ext cx="8229600" cy="4693024"/>
          </a:xfrm>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amount of information on the web is </a:t>
            </a:r>
            <a:r>
              <a:rPr lang="en-US" altLang="en-US" sz="2400" dirty="0">
                <a:solidFill>
                  <a:srgbClr val="C00000"/>
                </a:solidFill>
                <a:latin typeface="Times New Roman" panose="02020603050405020304" pitchFamily="18" charset="0"/>
                <a:cs typeface="Times New Roman" panose="02020603050405020304" pitchFamily="18" charset="0"/>
              </a:rPr>
              <a:t>huge.</a:t>
            </a:r>
          </a:p>
          <a:p>
            <a:r>
              <a:rPr lang="en-US" altLang="en-US" sz="2400" dirty="0">
                <a:solidFill>
                  <a:schemeClr val="tx1"/>
                </a:solidFill>
                <a:latin typeface="Times New Roman" panose="02020603050405020304" pitchFamily="18" charset="0"/>
                <a:cs typeface="Times New Roman" panose="02020603050405020304" pitchFamily="18" charset="0"/>
              </a:rPr>
              <a:t>The coverage of web information is </a:t>
            </a:r>
            <a:r>
              <a:rPr lang="en-US" altLang="en-US" sz="2400" dirty="0">
                <a:solidFill>
                  <a:srgbClr val="C00000"/>
                </a:solidFill>
                <a:latin typeface="Times New Roman" panose="02020603050405020304" pitchFamily="18" charset="0"/>
                <a:cs typeface="Times New Roman" panose="02020603050405020304" pitchFamily="18" charset="0"/>
              </a:rPr>
              <a:t>very wide and diverse</a:t>
            </a:r>
            <a:r>
              <a:rPr lang="en-US" altLang="en-US" sz="2400" dirty="0">
                <a:solidFill>
                  <a:schemeClr val="tx1"/>
                </a:solidFill>
                <a:latin typeface="Times New Roman" panose="02020603050405020304" pitchFamily="18" charset="0"/>
                <a:cs typeface="Times New Roman" panose="02020603050405020304" pitchFamily="18" charset="0"/>
              </a:rPr>
              <a:t>. One can find information about almost anything. Information/data of almost all types exist on the web. For example, structured tables, texts, stream data etc.</a:t>
            </a:r>
          </a:p>
          <a:p>
            <a:r>
              <a:rPr lang="en-US" altLang="en-US" dirty="0">
                <a:solidFill>
                  <a:schemeClr val="tx1"/>
                </a:solidFill>
                <a:latin typeface="Times New Roman" panose="02020603050405020304" pitchFamily="18" charset="0"/>
                <a:cs typeface="Times New Roman" panose="02020603050405020304" pitchFamily="18" charset="0"/>
              </a:rPr>
              <a:t>Much of the web information is </a:t>
            </a:r>
            <a:r>
              <a:rPr lang="en-US" altLang="en-US" dirty="0">
                <a:solidFill>
                  <a:srgbClr val="C00000"/>
                </a:solidFill>
                <a:latin typeface="Times New Roman" panose="02020603050405020304" pitchFamily="18" charset="0"/>
                <a:cs typeface="Times New Roman" panose="02020603050405020304" pitchFamily="18" charset="0"/>
              </a:rPr>
              <a:t>semi-structured</a:t>
            </a:r>
            <a:r>
              <a:rPr lang="en-US" altLang="en-US" dirty="0">
                <a:solidFill>
                  <a:schemeClr val="tx1"/>
                </a:solidFill>
                <a:latin typeface="Times New Roman" panose="02020603050405020304" pitchFamily="18" charset="0"/>
                <a:cs typeface="Times New Roman" panose="02020603050405020304" pitchFamily="18" charset="0"/>
              </a:rPr>
              <a:t> due to the nested structure of HTML code.</a:t>
            </a:r>
          </a:p>
          <a:p>
            <a:r>
              <a:rPr lang="en-US" altLang="en-US" sz="2400" dirty="0">
                <a:solidFill>
                  <a:schemeClr val="tx1"/>
                </a:solidFill>
                <a:latin typeface="Times New Roman" panose="02020603050405020304" pitchFamily="18" charset="0"/>
                <a:cs typeface="Times New Roman" panose="02020603050405020304" pitchFamily="18" charset="0"/>
              </a:rPr>
              <a:t>Much of the web information is linked. There are </a:t>
            </a:r>
            <a:r>
              <a:rPr lang="en-US" altLang="en-US" sz="2400" dirty="0">
                <a:solidFill>
                  <a:srgbClr val="C00000"/>
                </a:solidFill>
                <a:latin typeface="Times New Roman" panose="02020603050405020304" pitchFamily="18" charset="0"/>
                <a:cs typeface="Times New Roman" panose="02020603050405020304" pitchFamily="18" charset="0"/>
              </a:rPr>
              <a:t>hyperlinks</a:t>
            </a:r>
            <a:r>
              <a:rPr lang="en-US" altLang="en-US" sz="2400" dirty="0">
                <a:solidFill>
                  <a:schemeClr val="tx1"/>
                </a:solidFill>
                <a:latin typeface="Times New Roman" panose="02020603050405020304" pitchFamily="18" charset="0"/>
                <a:cs typeface="Times New Roman" panose="02020603050405020304" pitchFamily="18" charset="0"/>
              </a:rPr>
              <a:t> among pages within a site</a:t>
            </a:r>
            <a:r>
              <a:rPr lang="en-US" altLang="en-US" dirty="0">
                <a:solidFill>
                  <a:schemeClr val="tx1"/>
                </a:solidFill>
                <a:latin typeface="Times New Roman" panose="02020603050405020304" pitchFamily="18" charset="0"/>
                <a:cs typeface="Times New Roman" panose="02020603050405020304" pitchFamily="18" charset="0"/>
              </a:rPr>
              <a:t>, and across different sites.</a:t>
            </a:r>
          </a:p>
          <a:p>
            <a:r>
              <a:rPr lang="en-US" altLang="en-US" sz="2400" dirty="0">
                <a:solidFill>
                  <a:schemeClr val="tx1"/>
                </a:solidFill>
                <a:latin typeface="Times New Roman" panose="02020603050405020304" pitchFamily="18" charset="0"/>
                <a:cs typeface="Times New Roman" panose="02020603050405020304" pitchFamily="18" charset="0"/>
              </a:rPr>
              <a:t>Much of the web information </a:t>
            </a:r>
            <a:r>
              <a:rPr lang="en-US" altLang="en-US" sz="2400" dirty="0">
                <a:solidFill>
                  <a:srgbClr val="C00000"/>
                </a:solidFill>
                <a:latin typeface="Times New Roman" panose="02020603050405020304" pitchFamily="18" charset="0"/>
                <a:cs typeface="Times New Roman" panose="02020603050405020304" pitchFamily="18" charset="0"/>
              </a:rPr>
              <a:t>is redundant</a:t>
            </a:r>
            <a:r>
              <a:rPr lang="en-US" altLang="en-US" dirty="0">
                <a:solidFill>
                  <a:schemeClr val="tx1"/>
                </a:solidFill>
                <a:latin typeface="Times New Roman" panose="02020603050405020304" pitchFamily="18" charset="0"/>
                <a:cs typeface="Times New Roman" panose="02020603050405020304" pitchFamily="18" charset="0"/>
              </a:rPr>
              <a:t>. The same piece of information or its variants may appear in many pages.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9682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Opportunities and Challenges </a:t>
            </a:r>
          </a:p>
        </p:txBody>
      </p:sp>
      <p:sp>
        <p:nvSpPr>
          <p:cNvPr id="4" name="Content Placeholder 3"/>
          <p:cNvSpPr>
            <a:spLocks noGrp="1"/>
          </p:cNvSpPr>
          <p:nvPr>
            <p:ph idx="1"/>
          </p:nvPr>
        </p:nvSpPr>
        <p:spPr/>
        <p:txBody>
          <a:bodyPr/>
          <a:lstStyle/>
          <a:p>
            <a:r>
              <a:rPr lang="en-US" altLang="en-US" sz="2400" dirty="0">
                <a:solidFill>
                  <a:srgbClr val="C00000"/>
                </a:solidFill>
                <a:latin typeface="Times New Roman" panose="02020603050405020304" pitchFamily="18" charset="0"/>
                <a:cs typeface="Times New Roman" panose="02020603050405020304" pitchFamily="18" charset="0"/>
              </a:rPr>
              <a:t>The web is noisy</a:t>
            </a:r>
            <a:r>
              <a:rPr lang="en-US" altLang="en-US" sz="2400" dirty="0">
                <a:solidFill>
                  <a:schemeClr val="tx1"/>
                </a:solidFill>
                <a:latin typeface="Times New Roman" panose="02020603050405020304" pitchFamily="18" charset="0"/>
                <a:cs typeface="Times New Roman" panose="02020603050405020304" pitchFamily="18" charset="0"/>
              </a:rPr>
              <a:t>. A webpage generally contains a mixture of many kinds of information. For example: main contents, advertisements, navigation panels, copyright notices, etc.</a:t>
            </a:r>
          </a:p>
          <a:p>
            <a:r>
              <a:rPr lang="en-US" altLang="en-US" dirty="0">
                <a:solidFill>
                  <a:srgbClr val="C00000"/>
                </a:solidFill>
                <a:latin typeface="Times New Roman" panose="02020603050405020304" pitchFamily="18" charset="0"/>
                <a:cs typeface="Times New Roman" panose="02020603050405020304" pitchFamily="18" charset="0"/>
              </a:rPr>
              <a:t>The web is dynamic</a:t>
            </a:r>
            <a:r>
              <a:rPr lang="en-US" altLang="en-US" dirty="0">
                <a:solidFill>
                  <a:schemeClr val="tx1"/>
                </a:solidFill>
                <a:latin typeface="Times New Roman" panose="02020603050405020304" pitchFamily="18" charset="0"/>
                <a:cs typeface="Times New Roman" panose="02020603050405020304" pitchFamily="18" charset="0"/>
              </a:rPr>
              <a:t>. New pages are constantly being generated. Keeping up with the changes and monitoring the changes are important issues. </a:t>
            </a:r>
          </a:p>
          <a:p>
            <a:r>
              <a:rPr lang="en-US" altLang="en-US" sz="2400" dirty="0">
                <a:solidFill>
                  <a:schemeClr val="tx1"/>
                </a:solidFill>
                <a:latin typeface="Times New Roman" panose="02020603050405020304" pitchFamily="18" charset="0"/>
                <a:cs typeface="Times New Roman" panose="02020603050405020304" pitchFamily="18" charset="0"/>
              </a:rPr>
              <a:t>Above all, </a:t>
            </a:r>
            <a:r>
              <a:rPr lang="en-US" altLang="en-US" sz="2400" dirty="0">
                <a:solidFill>
                  <a:srgbClr val="C00000"/>
                </a:solidFill>
                <a:latin typeface="Times New Roman" panose="02020603050405020304" pitchFamily="18" charset="0"/>
                <a:cs typeface="Times New Roman" panose="02020603050405020304" pitchFamily="18" charset="0"/>
              </a:rPr>
              <a:t>the web is virtual society</a:t>
            </a:r>
            <a:r>
              <a:rPr lang="en-US" altLang="en-US" sz="2400" dirty="0">
                <a:solidFill>
                  <a:schemeClr val="tx1"/>
                </a:solidFill>
                <a:latin typeface="Times New Roman" panose="02020603050405020304" pitchFamily="18" charset="0"/>
                <a:cs typeface="Times New Roman" panose="02020603050405020304" pitchFamily="18" charset="0"/>
              </a:rPr>
              <a:t>. It is not only about data, information and services, but also about </a:t>
            </a:r>
            <a:r>
              <a:rPr lang="en-US" altLang="en-US" sz="2400" dirty="0">
                <a:solidFill>
                  <a:srgbClr val="C00000"/>
                </a:solidFill>
                <a:latin typeface="Times New Roman" panose="02020603050405020304" pitchFamily="18" charset="0"/>
                <a:cs typeface="Times New Roman" panose="02020603050405020304" pitchFamily="18" charset="0"/>
              </a:rPr>
              <a:t>interaction</a:t>
            </a:r>
            <a:r>
              <a:rPr lang="en-US" altLang="en-US" sz="2400" dirty="0">
                <a:solidFill>
                  <a:schemeClr val="tx1"/>
                </a:solidFill>
                <a:latin typeface="Times New Roman" panose="02020603050405020304" pitchFamily="18" charset="0"/>
                <a:cs typeface="Times New Roman" panose="02020603050405020304" pitchFamily="18" charset="0"/>
              </a:rPr>
              <a:t> among people, organization and automatic systems and communities. </a:t>
            </a:r>
          </a:p>
        </p:txBody>
      </p:sp>
    </p:spTree>
    <p:extLst>
      <p:ext uri="{BB962C8B-B14F-4D97-AF65-F5344CB8AC3E}">
        <p14:creationId xmlns:p14="http://schemas.microsoft.com/office/powerpoint/2010/main" val="33120277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Application of Web Mining in E-commerce</a:t>
            </a:r>
          </a:p>
        </p:txBody>
      </p:sp>
      <p:sp>
        <p:nvSpPr>
          <p:cNvPr id="4" name="Content Placeholder 3"/>
          <p:cNvSpPr>
            <a:spLocks noGrp="1"/>
          </p:cNvSpPr>
          <p:nvPr>
            <p:ph idx="1"/>
          </p:nvPr>
        </p:nvSpPr>
        <p:spPr/>
        <p:txBody>
          <a:bodyPr/>
          <a:lstStyle/>
          <a:p>
            <a:pPr marL="0" indent="0">
              <a:buNone/>
            </a:pPr>
            <a:r>
              <a:rPr lang="en-US" altLang="en-US" sz="2400" b="1" dirty="0">
                <a:solidFill>
                  <a:srgbClr val="C00000"/>
                </a:solidFill>
                <a:latin typeface="Times New Roman" panose="02020603050405020304" pitchFamily="18" charset="0"/>
                <a:cs typeface="Times New Roman" panose="02020603050405020304" pitchFamily="18" charset="0"/>
              </a:rPr>
              <a:t>Customer analyzing </a:t>
            </a:r>
          </a:p>
          <a:p>
            <a:r>
              <a:rPr lang="en-US" altLang="en-US" dirty="0">
                <a:solidFill>
                  <a:schemeClr val="tx1"/>
                </a:solidFill>
                <a:latin typeface="Times New Roman" panose="02020603050405020304" pitchFamily="18" charset="0"/>
                <a:cs typeface="Times New Roman" panose="02020603050405020304" pitchFamily="18" charset="0"/>
              </a:rPr>
              <a:t>Mined data help acquire new, retain existing customers, improvement of merchant services and profit by predicting customer online purchase behavior </a:t>
            </a:r>
          </a:p>
          <a:p>
            <a:pPr lvl="1"/>
            <a:r>
              <a:rPr lang="en-US" altLang="en-US" dirty="0">
                <a:solidFill>
                  <a:schemeClr val="tx1"/>
                </a:solidFill>
                <a:latin typeface="Times New Roman" panose="02020603050405020304" pitchFamily="18" charset="0"/>
                <a:cs typeface="Times New Roman" panose="02020603050405020304" pitchFamily="18" charset="0"/>
              </a:rPr>
              <a:t>What do the customer do?</a:t>
            </a:r>
          </a:p>
          <a:p>
            <a:pPr lvl="1"/>
            <a:r>
              <a:rPr lang="en-US" altLang="en-US" dirty="0">
                <a:solidFill>
                  <a:schemeClr val="tx1"/>
                </a:solidFill>
                <a:latin typeface="Times New Roman" panose="02020603050405020304" pitchFamily="18" charset="0"/>
                <a:cs typeface="Times New Roman" panose="02020603050405020304" pitchFamily="18" charset="0"/>
              </a:rPr>
              <a:t>What do the customer want?</a:t>
            </a:r>
          </a:p>
          <a:p>
            <a:pPr lvl="1"/>
            <a:r>
              <a:rPr lang="en-US" altLang="en-US" dirty="0">
                <a:solidFill>
                  <a:schemeClr val="tx1"/>
                </a:solidFill>
                <a:latin typeface="Times New Roman" panose="02020603050405020304" pitchFamily="18" charset="0"/>
                <a:cs typeface="Times New Roman" panose="02020603050405020304" pitchFamily="18" charset="0"/>
              </a:rPr>
              <a:t>How effectively use the web data to market products and to service the customer?</a:t>
            </a:r>
          </a:p>
          <a:p>
            <a:pPr lvl="1"/>
            <a:r>
              <a:rPr lang="en-US" altLang="en-US" dirty="0">
                <a:solidFill>
                  <a:schemeClr val="tx1"/>
                </a:solidFill>
                <a:latin typeface="Times New Roman" panose="02020603050405020304" pitchFamily="18" charset="0"/>
                <a:cs typeface="Times New Roman" panose="02020603050405020304" pitchFamily="18" charset="0"/>
              </a:rPr>
              <a:t>Whether customers are purposefully or just browsing?</a:t>
            </a:r>
          </a:p>
          <a:p>
            <a:pPr lvl="1"/>
            <a:r>
              <a:rPr lang="en-US" altLang="en-US" dirty="0">
                <a:solidFill>
                  <a:schemeClr val="tx1"/>
                </a:solidFill>
                <a:latin typeface="Times New Roman" panose="02020603050405020304" pitchFamily="18" charset="0"/>
                <a:cs typeface="Times New Roman" panose="02020603050405020304" pitchFamily="18" charset="0"/>
              </a:rPr>
              <a:t>Buying something they are familiar with or something they know little about?</a:t>
            </a:r>
          </a:p>
          <a:p>
            <a:pPr lvl="1"/>
            <a:r>
              <a:rPr lang="en-US" altLang="en-US" dirty="0">
                <a:solidFill>
                  <a:schemeClr val="tx1"/>
                </a:solidFill>
                <a:latin typeface="Times New Roman" panose="02020603050405020304" pitchFamily="18" charset="0"/>
                <a:cs typeface="Times New Roman" panose="02020603050405020304" pitchFamily="18" charset="0"/>
              </a:rPr>
              <a:t>Are they shopping from home, from work or from a hotel?</a:t>
            </a:r>
          </a:p>
        </p:txBody>
      </p:sp>
    </p:spTree>
    <p:extLst>
      <p:ext uri="{BB962C8B-B14F-4D97-AF65-F5344CB8AC3E}">
        <p14:creationId xmlns:p14="http://schemas.microsoft.com/office/powerpoint/2010/main" val="8686746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Application of Web Mining in E-commerce</a:t>
            </a:r>
          </a:p>
        </p:txBody>
      </p:sp>
      <p:sp>
        <p:nvSpPr>
          <p:cNvPr id="4" name="Content Placeholder 3"/>
          <p:cNvSpPr>
            <a:spLocks noGrp="1"/>
          </p:cNvSpPr>
          <p:nvPr>
            <p:ph idx="1"/>
          </p:nvPr>
        </p:nvSpPr>
        <p:spPr/>
        <p:txBody>
          <a:bodyPr/>
          <a:lstStyle/>
          <a:p>
            <a:pPr marL="0" indent="0">
              <a:buNone/>
            </a:pPr>
            <a:r>
              <a:rPr lang="en-US" altLang="en-US" sz="2400" b="1" dirty="0">
                <a:solidFill>
                  <a:srgbClr val="C00000"/>
                </a:solidFill>
                <a:latin typeface="Times New Roman" panose="02020603050405020304" pitchFamily="18" charset="0"/>
                <a:cs typeface="Times New Roman" panose="02020603050405020304" pitchFamily="18" charset="0"/>
              </a:rPr>
              <a:t>Web Personalization</a:t>
            </a:r>
          </a:p>
          <a:p>
            <a:r>
              <a:rPr lang="en-US" altLang="en-US" dirty="0">
                <a:solidFill>
                  <a:schemeClr val="tx1"/>
                </a:solidFill>
                <a:latin typeface="Times New Roman" panose="02020603050405020304" pitchFamily="18" charset="0"/>
                <a:cs typeface="Times New Roman" panose="02020603050405020304" pitchFamily="18" charset="0"/>
              </a:rPr>
              <a:t>According to the information from user behavior, a website can be designed and re-structured to make it more advance and user-friendly. In addition, the image and product value of the company is very important in satisfying customer need based on website quality.</a:t>
            </a:r>
          </a:p>
          <a:p>
            <a:r>
              <a:rPr lang="en-US" altLang="en-US" sz="2400" dirty="0">
                <a:solidFill>
                  <a:schemeClr val="tx1"/>
                </a:solidFill>
                <a:latin typeface="Times New Roman" panose="02020603050405020304" pitchFamily="18" charset="0"/>
                <a:cs typeface="Times New Roman" panose="02020603050405020304" pitchFamily="18" charset="0"/>
              </a:rPr>
              <a:t>Personalizing a website involves tailoring content based on the characteristics of each individual user’s online behaviors.</a:t>
            </a:r>
          </a:p>
          <a:p>
            <a:r>
              <a:rPr lang="en-US" altLang="en-US" dirty="0">
                <a:solidFill>
                  <a:schemeClr val="tx1"/>
                </a:solidFill>
                <a:latin typeface="Times New Roman" panose="02020603050405020304" pitchFamily="18" charset="0"/>
                <a:cs typeface="Times New Roman" panose="02020603050405020304" pitchFamily="18" charset="0"/>
              </a:rPr>
              <a:t>Personalized content is often determined by user behaviors such as pages views, buttons clicks and forms submitted.</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6447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Application of Web Mining in E-commerce</a:t>
            </a:r>
          </a:p>
        </p:txBody>
      </p:sp>
      <p:sp>
        <p:nvSpPr>
          <p:cNvPr id="4" name="Content Placeholder 3"/>
          <p:cNvSpPr>
            <a:spLocks noGrp="1"/>
          </p:cNvSpPr>
          <p:nvPr>
            <p:ph idx="1"/>
          </p:nvPr>
        </p:nvSpPr>
        <p:spPr/>
        <p:txBody>
          <a:bodyPr/>
          <a:lstStyle/>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Product Search &amp; Recommendation</a:t>
            </a:r>
          </a:p>
          <a:p>
            <a:r>
              <a:rPr lang="en-US" altLang="en-US" sz="2400" dirty="0">
                <a:solidFill>
                  <a:schemeClr val="tx1"/>
                </a:solidFill>
                <a:latin typeface="Times New Roman" panose="02020603050405020304" pitchFamily="18" charset="0"/>
                <a:cs typeface="Times New Roman" panose="02020603050405020304" pitchFamily="18" charset="0"/>
              </a:rPr>
              <a:t>When the user searched for a product how we find the best results for the users?</a:t>
            </a:r>
          </a:p>
          <a:p>
            <a:pPr marL="457200" lvl="1" indent="0">
              <a:buNone/>
            </a:pPr>
            <a:r>
              <a:rPr lang="en-US" altLang="en-US" dirty="0">
                <a:solidFill>
                  <a:schemeClr val="tx1"/>
                </a:solidFill>
                <a:latin typeface="Times New Roman" panose="02020603050405020304" pitchFamily="18" charset="0"/>
                <a:cs typeface="Times New Roman" panose="02020603050405020304" pitchFamily="18" charset="0"/>
              </a:rPr>
              <a:t>Typically, a user query of a few keywords can match many products</a:t>
            </a:r>
          </a:p>
          <a:p>
            <a:pPr lvl="1"/>
            <a:r>
              <a:rPr lang="en-US" altLang="en-US" dirty="0">
                <a:solidFill>
                  <a:schemeClr val="tx1"/>
                </a:solidFill>
                <a:latin typeface="Times New Roman" panose="02020603050405020304" pitchFamily="18" charset="0"/>
                <a:cs typeface="Times New Roman" panose="02020603050405020304" pitchFamily="18" charset="0"/>
              </a:rPr>
              <a:t>Through large-scale data analysis of query logs, we can create graphs between queries and products, and between different products.</a:t>
            </a:r>
          </a:p>
          <a:p>
            <a:pPr lvl="1"/>
            <a:r>
              <a:rPr lang="en-US" altLang="en-US" dirty="0">
                <a:solidFill>
                  <a:schemeClr val="tx1"/>
                </a:solidFill>
                <a:latin typeface="Times New Roman" panose="02020603050405020304" pitchFamily="18" charset="0"/>
                <a:cs typeface="Times New Roman" panose="02020603050405020304" pitchFamily="18" charset="0"/>
              </a:rPr>
              <a:t>For example, the user who searches for “Verizon cell phones” might click on the </a:t>
            </a:r>
            <a:r>
              <a:rPr lang="en-US" altLang="en-US" dirty="0" err="1">
                <a:solidFill>
                  <a:schemeClr val="tx1"/>
                </a:solidFill>
                <a:latin typeface="Times New Roman" panose="02020603050405020304" pitchFamily="18" charset="0"/>
                <a:cs typeface="Times New Roman" panose="02020603050405020304" pitchFamily="18" charset="0"/>
              </a:rPr>
              <a:t>Sumsung</a:t>
            </a:r>
            <a:r>
              <a:rPr lang="en-US" altLang="en-US" dirty="0">
                <a:solidFill>
                  <a:schemeClr val="tx1"/>
                </a:solidFill>
                <a:latin typeface="Times New Roman" panose="02020603050405020304" pitchFamily="18" charset="0"/>
                <a:cs typeface="Times New Roman" panose="02020603050405020304" pitchFamily="18" charset="0"/>
              </a:rPr>
              <a:t> SCJ U940 </a:t>
            </a:r>
            <a:r>
              <a:rPr lang="en-US" altLang="en-US" dirty="0" err="1">
                <a:solidFill>
                  <a:schemeClr val="tx1"/>
                </a:solidFill>
                <a:latin typeface="Times New Roman" panose="02020603050405020304" pitchFamily="18" charset="0"/>
                <a:cs typeface="Times New Roman" panose="02020603050405020304" pitchFamily="18" charset="0"/>
              </a:rPr>
              <a:t>Glyde</a:t>
            </a:r>
            <a:r>
              <a:rPr lang="en-US" altLang="en-US" dirty="0">
                <a:solidFill>
                  <a:schemeClr val="tx1"/>
                </a:solidFill>
                <a:latin typeface="Times New Roman" panose="02020603050405020304" pitchFamily="18" charset="0"/>
                <a:cs typeface="Times New Roman" panose="02020603050405020304" pitchFamily="18" charset="0"/>
              </a:rPr>
              <a:t> product and the </a:t>
            </a:r>
            <a:r>
              <a:rPr lang="en-US" altLang="en-US" dirty="0" err="1">
                <a:solidFill>
                  <a:schemeClr val="tx1"/>
                </a:solidFill>
                <a:latin typeface="Times New Roman" panose="02020603050405020304" pitchFamily="18" charset="0"/>
                <a:cs typeface="Times New Roman" panose="02020603050405020304" pitchFamily="18" charset="0"/>
              </a:rPr>
              <a:t>the</a:t>
            </a:r>
            <a:r>
              <a:rPr lang="en-US" altLang="en-US" dirty="0">
                <a:solidFill>
                  <a:schemeClr val="tx1"/>
                </a:solidFill>
                <a:latin typeface="Times New Roman" panose="02020603050405020304" pitchFamily="18" charset="0"/>
                <a:cs typeface="Times New Roman" panose="02020603050405020304" pitchFamily="18" charset="0"/>
              </a:rPr>
              <a:t> LG VX10000 Voyager. We now know the query is related to those two products, and thee two products have a relationship to each other since a user views (and perhaps considered buying) both.</a:t>
            </a:r>
          </a:p>
        </p:txBody>
      </p:sp>
    </p:spTree>
    <p:extLst>
      <p:ext uri="{BB962C8B-B14F-4D97-AF65-F5344CB8AC3E}">
        <p14:creationId xmlns:p14="http://schemas.microsoft.com/office/powerpoint/2010/main" val="7044903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Categories of Web Mining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Web mining is divide into three categories</a:t>
            </a:r>
          </a:p>
          <a:p>
            <a:pPr marL="457200" indent="-457200">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Web content mining</a:t>
            </a:r>
          </a:p>
          <a:p>
            <a:pPr marL="457200" indent="-457200">
              <a:buFont typeface="+mj-lt"/>
              <a:buAutoNum type="arabicPeriod"/>
            </a:pPr>
            <a:r>
              <a:rPr lang="en-US" altLang="en-US" sz="2400" dirty="0">
                <a:solidFill>
                  <a:schemeClr val="tx1"/>
                </a:solidFill>
                <a:latin typeface="Times New Roman" panose="02020603050405020304" pitchFamily="18" charset="0"/>
                <a:cs typeface="Times New Roman" panose="02020603050405020304" pitchFamily="18" charset="0"/>
              </a:rPr>
              <a:t>Web usage mining </a:t>
            </a:r>
          </a:p>
          <a:p>
            <a:pPr marL="457200" indent="-457200">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Web structure mining</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8434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Web Content Mining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To gather, categorize, organize and provide the best possible information available on the web to the user requesting the information.</a:t>
            </a:r>
          </a:p>
          <a:p>
            <a:r>
              <a:rPr lang="en-US" altLang="en-US" dirty="0">
                <a:solidFill>
                  <a:schemeClr val="tx1"/>
                </a:solidFill>
                <a:latin typeface="Times New Roman" panose="02020603050405020304" pitchFamily="18" charset="0"/>
                <a:cs typeface="Times New Roman" panose="02020603050405020304" pitchFamily="18" charset="0"/>
              </a:rPr>
              <a:t>The data may be unstructured or structured (data from a database) or semi-structured (html)</a:t>
            </a:r>
          </a:p>
          <a:p>
            <a:r>
              <a:rPr lang="en-US" altLang="en-US" sz="2400" dirty="0">
                <a:solidFill>
                  <a:schemeClr val="tx1"/>
                </a:solidFill>
                <a:latin typeface="Times New Roman" panose="02020603050405020304" pitchFamily="18" charset="0"/>
                <a:cs typeface="Times New Roman" panose="02020603050405020304" pitchFamily="18" charset="0"/>
              </a:rPr>
              <a:t>Content mining is the scanning and mining of text, picture, video, audio and graphs of a web page to determined the relevance of the content to the </a:t>
            </a:r>
            <a:r>
              <a:rPr lang="en-US" altLang="en-US" sz="2400" dirty="0">
                <a:solidFill>
                  <a:srgbClr val="C00000"/>
                </a:solidFill>
                <a:latin typeface="Times New Roman" panose="02020603050405020304" pitchFamily="18" charset="0"/>
                <a:cs typeface="Times New Roman" panose="02020603050405020304" pitchFamily="18" charset="0"/>
              </a:rPr>
              <a:t>search query.</a:t>
            </a:r>
          </a:p>
          <a:p>
            <a:r>
              <a:rPr lang="en-US" altLang="en-US" dirty="0">
                <a:solidFill>
                  <a:schemeClr val="tx1"/>
                </a:solidFill>
                <a:latin typeface="Times New Roman" panose="02020603050405020304" pitchFamily="18" charset="0"/>
                <a:cs typeface="Times New Roman" panose="02020603050405020304" pitchFamily="18" charset="0"/>
              </a:rPr>
              <a:t>Content mining provides the results list to </a:t>
            </a:r>
            <a:r>
              <a:rPr lang="en-US" altLang="en-US" dirty="0">
                <a:solidFill>
                  <a:srgbClr val="C00000"/>
                </a:solidFill>
                <a:latin typeface="Times New Roman" panose="02020603050405020304" pitchFamily="18" charset="0"/>
                <a:cs typeface="Times New Roman" panose="02020603050405020304" pitchFamily="18" charset="0"/>
              </a:rPr>
              <a:t>search engines </a:t>
            </a:r>
            <a:r>
              <a:rPr lang="en-US" altLang="en-US" dirty="0">
                <a:solidFill>
                  <a:schemeClr val="tx1"/>
                </a:solidFill>
                <a:latin typeface="Times New Roman" panose="02020603050405020304" pitchFamily="18" charset="0"/>
                <a:cs typeface="Times New Roman" panose="02020603050405020304" pitchFamily="18" charset="0"/>
              </a:rPr>
              <a:t>in order of highest relevance to the keywords in the query.</a:t>
            </a:r>
          </a:p>
          <a:p>
            <a:r>
              <a:rPr lang="en-US" altLang="en-US" sz="2400" dirty="0">
                <a:solidFill>
                  <a:schemeClr val="tx1"/>
                </a:solidFill>
                <a:latin typeface="Times New Roman" panose="02020603050405020304" pitchFamily="18" charset="0"/>
                <a:cs typeface="Times New Roman" panose="02020603050405020304" pitchFamily="18" charset="0"/>
              </a:rPr>
              <a:t>Web content mining is related to </a:t>
            </a:r>
            <a:r>
              <a:rPr lang="en-US" altLang="en-US" sz="2400" dirty="0">
                <a:solidFill>
                  <a:srgbClr val="C00000"/>
                </a:solidFill>
                <a:latin typeface="Times New Roman" panose="02020603050405020304" pitchFamily="18" charset="0"/>
                <a:cs typeface="Times New Roman" panose="02020603050405020304" pitchFamily="18" charset="0"/>
              </a:rPr>
              <a:t>data mining </a:t>
            </a:r>
            <a:r>
              <a:rPr lang="en-US" altLang="en-US" sz="2400" dirty="0">
                <a:solidFill>
                  <a:schemeClr val="tx1"/>
                </a:solidFill>
                <a:latin typeface="Times New Roman" panose="02020603050405020304" pitchFamily="18" charset="0"/>
                <a:cs typeface="Times New Roman" panose="02020603050405020304" pitchFamily="18" charset="0"/>
              </a:rPr>
              <a:t>and </a:t>
            </a:r>
            <a:r>
              <a:rPr lang="en-US" altLang="en-US" sz="2400" dirty="0">
                <a:solidFill>
                  <a:srgbClr val="C00000"/>
                </a:solidFill>
                <a:latin typeface="Times New Roman" panose="02020603050405020304" pitchFamily="18" charset="0"/>
                <a:cs typeface="Times New Roman" panose="02020603050405020304" pitchFamily="18" charset="0"/>
              </a:rPr>
              <a:t>text mining</a:t>
            </a:r>
            <a:r>
              <a:rPr lang="en-US" altLang="en-US" sz="24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460095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Text Mining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Text mining is the analysis of data contained in natural language text.</a:t>
            </a:r>
          </a:p>
          <a:p>
            <a:r>
              <a:rPr lang="en-US" altLang="en-US" dirty="0">
                <a:solidFill>
                  <a:schemeClr val="tx1"/>
                </a:solidFill>
                <a:latin typeface="Times New Roman" panose="02020603050405020304" pitchFamily="18" charset="0"/>
                <a:cs typeface="Times New Roman" panose="02020603050405020304" pitchFamily="18" charset="0"/>
              </a:rPr>
              <a:t>Text mining attempts to drive meaning from the words and sentences in order to classify documents, route messages appropriately, as well as create summaries of content</a:t>
            </a:r>
          </a:p>
          <a:p>
            <a:r>
              <a:rPr lang="en-US" altLang="en-US" sz="2400" dirty="0">
                <a:solidFill>
                  <a:schemeClr val="tx1"/>
                </a:solidFill>
                <a:latin typeface="Times New Roman" panose="02020603050405020304" pitchFamily="18" charset="0"/>
                <a:cs typeface="Times New Roman" panose="02020603050405020304" pitchFamily="18" charset="0"/>
              </a:rPr>
              <a:t>Unstructured Data Exa</a:t>
            </a:r>
            <a:r>
              <a:rPr lang="en-US" altLang="en-US" dirty="0">
                <a:solidFill>
                  <a:schemeClr val="tx1"/>
                </a:solidFill>
                <a:latin typeface="Times New Roman" panose="02020603050405020304" pitchFamily="18" charset="0"/>
                <a:cs typeface="Times New Roman" panose="02020603050405020304" pitchFamily="18" charset="0"/>
              </a:rPr>
              <a:t>mples: Email, Insurance Claim, Web Pages, Technical Documents, Contract</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7095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19</a:t>
            </a:fld>
            <a:endParaRPr lang="en-US"/>
          </a:p>
        </p:txBody>
      </p:sp>
      <p:sp>
        <p:nvSpPr>
          <p:cNvPr id="8" name="Title 1"/>
          <p:cNvSpPr>
            <a:spLocks noGrp="1"/>
          </p:cNvSpPr>
          <p:nvPr>
            <p:ph type="title"/>
          </p:nvPr>
        </p:nvSpPr>
        <p:spPr>
          <a:xfrm>
            <a:off x="1553226" y="0"/>
            <a:ext cx="5461349" cy="1143000"/>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Data Mining Techniques Using In Web Content Mining</a:t>
            </a:r>
          </a:p>
        </p:txBody>
      </p:sp>
      <p:sp>
        <p:nvSpPr>
          <p:cNvPr id="4" name="Content Placeholder 3"/>
          <p:cNvSpPr>
            <a:spLocks noGrp="1"/>
          </p:cNvSpPr>
          <p:nvPr>
            <p:ph idx="1"/>
          </p:nvPr>
        </p:nvSpPr>
        <p:spPr>
          <a:xfrm>
            <a:off x="304800" y="1426464"/>
            <a:ext cx="8595360" cy="4699699"/>
          </a:xfrm>
        </p:spPr>
        <p:txBody>
          <a:bodyPr/>
          <a:lstStyle/>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The more basic and popular data mining techniques in web content mining are:</a:t>
            </a:r>
          </a:p>
          <a:p>
            <a:r>
              <a:rPr lang="en-US" altLang="en-US" sz="2000" b="1" dirty="0">
                <a:solidFill>
                  <a:srgbClr val="C00000"/>
                </a:solidFill>
                <a:latin typeface="Times New Roman" panose="02020603050405020304" pitchFamily="18" charset="0"/>
                <a:cs typeface="Times New Roman" panose="02020603050405020304" pitchFamily="18" charset="0"/>
              </a:rPr>
              <a:t>Classification: </a:t>
            </a:r>
            <a:r>
              <a:rPr lang="en-US" altLang="en-US" sz="2000" dirty="0">
                <a:solidFill>
                  <a:schemeClr val="tx1"/>
                </a:solidFill>
                <a:latin typeface="Times New Roman" panose="02020603050405020304" pitchFamily="18" charset="0"/>
                <a:cs typeface="Times New Roman" panose="02020603050405020304" pitchFamily="18" charset="0"/>
              </a:rPr>
              <a:t>Placing the documents into predefined set of groups such as science articles, political articles etc.</a:t>
            </a:r>
          </a:p>
          <a:p>
            <a:r>
              <a:rPr lang="en-US" altLang="en-US" sz="2000" b="1" dirty="0">
                <a:solidFill>
                  <a:srgbClr val="C00000"/>
                </a:solidFill>
                <a:latin typeface="Times New Roman" panose="02020603050405020304" pitchFamily="18" charset="0"/>
                <a:cs typeface="Times New Roman" panose="02020603050405020304" pitchFamily="18" charset="0"/>
              </a:rPr>
              <a:t>Clustering: </a:t>
            </a:r>
            <a:r>
              <a:rPr lang="en-US" altLang="en-US" sz="2000" dirty="0">
                <a:solidFill>
                  <a:schemeClr val="tx1"/>
                </a:solidFill>
                <a:latin typeface="Times New Roman" panose="02020603050405020304" pitchFamily="18" charset="0"/>
                <a:cs typeface="Times New Roman" panose="02020603050405020304" pitchFamily="18" charset="0"/>
              </a:rPr>
              <a:t>Clustering is a technique used to group similar documents (is not done based on predefined). As a result useful documents will not be omitted from the search results. Clustering helps the user to easily select the topic of interest.</a:t>
            </a:r>
          </a:p>
          <a:p>
            <a:r>
              <a:rPr lang="en-US" altLang="en-US" sz="2000" b="1" dirty="0">
                <a:solidFill>
                  <a:srgbClr val="C00000"/>
                </a:solidFill>
                <a:latin typeface="Times New Roman" panose="02020603050405020304" pitchFamily="18" charset="0"/>
                <a:cs typeface="Times New Roman" panose="02020603050405020304" pitchFamily="18" charset="0"/>
              </a:rPr>
              <a:t>Summarization: </a:t>
            </a:r>
            <a:r>
              <a:rPr lang="en-US" altLang="en-US" sz="2000" dirty="0">
                <a:solidFill>
                  <a:schemeClr val="tx1"/>
                </a:solidFill>
                <a:latin typeface="Times New Roman" panose="02020603050405020304" pitchFamily="18" charset="0"/>
                <a:cs typeface="Times New Roman" panose="02020603050405020304" pitchFamily="18" charset="0"/>
              </a:rPr>
              <a:t>It is used to reduce the length of the document by maintaining the main points. An example for text summarization is Microsoft Word’s AutoSummarize </a:t>
            </a:r>
          </a:p>
          <a:p>
            <a:r>
              <a:rPr lang="en-US" altLang="en-US" sz="2000" b="1" dirty="0">
                <a:solidFill>
                  <a:srgbClr val="C00000"/>
                </a:solidFill>
                <a:latin typeface="Times New Roman" panose="02020603050405020304" pitchFamily="18" charset="0"/>
                <a:cs typeface="Times New Roman" panose="02020603050405020304" pitchFamily="18" charset="0"/>
              </a:rPr>
              <a:t>Visualization: </a:t>
            </a:r>
            <a:r>
              <a:rPr lang="en-US" altLang="en-US" sz="2000" dirty="0">
                <a:solidFill>
                  <a:schemeClr val="tx1"/>
                </a:solidFill>
                <a:latin typeface="Times New Roman" panose="02020603050405020304" pitchFamily="18" charset="0"/>
                <a:cs typeface="Times New Roman" panose="02020603050405020304" pitchFamily="18" charset="0"/>
              </a:rPr>
              <a:t>Utilization feature extraction and key term indexing to build a graphical representation. Through visualization, document having similarity are found out is useful to find out related topic from a very large amount of documents. Example: Word cloud, Scatter plot, Streamgraph, Tree map, Heat map, Gantt Chart, etc.</a:t>
            </a:r>
          </a:p>
          <a:p>
            <a:endParaRPr lang="en-US"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55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Web Usages Mining</a:t>
            </a:r>
          </a:p>
        </p:txBody>
      </p:sp>
      <p:sp>
        <p:nvSpPr>
          <p:cNvPr id="4" name="Content Placeholder 3"/>
          <p:cNvSpPr>
            <a:spLocks noGrp="1"/>
          </p:cNvSpPr>
          <p:nvPr>
            <p:ph idx="1"/>
          </p:nvPr>
        </p:nvSpPr>
        <p:spPr>
          <a:xfrm>
            <a:off x="219456" y="1487424"/>
            <a:ext cx="8839200" cy="4638739"/>
          </a:xfrm>
        </p:spPr>
        <p:txBody>
          <a:bodyPr/>
          <a:lstStyle/>
          <a:p>
            <a:pPr marL="0" indent="0">
              <a:buNone/>
            </a:pPr>
            <a:r>
              <a:rPr lang="en-US" altLang="en-US" sz="2000" dirty="0">
                <a:solidFill>
                  <a:schemeClr val="tx1"/>
                </a:solidFill>
                <a:latin typeface="Times New Roman" panose="02020603050405020304" pitchFamily="18" charset="0"/>
                <a:cs typeface="Times New Roman" panose="02020603050405020304" pitchFamily="18" charset="0"/>
              </a:rPr>
              <a:t>Web Usage Mining </a:t>
            </a:r>
          </a:p>
          <a:p>
            <a:pPr lvl="1"/>
            <a:r>
              <a:rPr lang="en-US" altLang="en-US" sz="1800" dirty="0">
                <a:solidFill>
                  <a:schemeClr val="tx1"/>
                </a:solidFill>
                <a:latin typeface="Times New Roman" panose="02020603050405020304" pitchFamily="18" charset="0"/>
                <a:cs typeface="Times New Roman" panose="02020603050405020304" pitchFamily="18" charset="0"/>
              </a:rPr>
              <a:t>Is used to understand the </a:t>
            </a:r>
            <a:r>
              <a:rPr lang="en-US" altLang="en-US" sz="1800" dirty="0">
                <a:solidFill>
                  <a:srgbClr val="C00000"/>
                </a:solidFill>
                <a:latin typeface="Times New Roman" panose="02020603050405020304" pitchFamily="18" charset="0"/>
                <a:cs typeface="Times New Roman" panose="02020603050405020304" pitchFamily="18" charset="0"/>
              </a:rPr>
              <a:t>customer behavior </a:t>
            </a:r>
          </a:p>
          <a:p>
            <a:pPr lvl="1"/>
            <a:r>
              <a:rPr lang="en-US" altLang="en-US" sz="1800" dirty="0">
                <a:solidFill>
                  <a:schemeClr val="tx1"/>
                </a:solidFill>
                <a:latin typeface="Times New Roman" panose="02020603050405020304" pitchFamily="18" charset="0"/>
                <a:cs typeface="Times New Roman" panose="02020603050405020304" pitchFamily="18" charset="0"/>
              </a:rPr>
              <a:t>Focuses on the discovering of potential knowledge from </a:t>
            </a:r>
            <a:r>
              <a:rPr lang="en-US" altLang="en-US" sz="1800" dirty="0">
                <a:solidFill>
                  <a:srgbClr val="C00000"/>
                </a:solidFill>
                <a:latin typeface="Times New Roman" panose="02020603050405020304" pitchFamily="18" charset="0"/>
                <a:cs typeface="Times New Roman" panose="02020603050405020304" pitchFamily="18" charset="0"/>
              </a:rPr>
              <a:t>browsing patterns </a:t>
            </a:r>
            <a:r>
              <a:rPr lang="en-US" altLang="en-US" sz="1800" dirty="0">
                <a:solidFill>
                  <a:schemeClr val="tx1"/>
                </a:solidFill>
                <a:latin typeface="Times New Roman" panose="02020603050405020304" pitchFamily="18" charset="0"/>
                <a:cs typeface="Times New Roman" panose="02020603050405020304" pitchFamily="18" charset="0"/>
              </a:rPr>
              <a:t>of the users.</a:t>
            </a:r>
          </a:p>
          <a:p>
            <a:pPr lvl="1"/>
            <a:r>
              <a:rPr lang="en-US" altLang="en-US" sz="1800" dirty="0">
                <a:solidFill>
                  <a:schemeClr val="tx1"/>
                </a:solidFill>
                <a:latin typeface="Times New Roman" panose="02020603050405020304" pitchFamily="18" charset="0"/>
                <a:cs typeface="Times New Roman" panose="02020603050405020304" pitchFamily="18" charset="0"/>
              </a:rPr>
              <a:t>Can discover the knowledge in the hidden browsing patterns and analyses the </a:t>
            </a:r>
            <a:r>
              <a:rPr lang="en-US" altLang="en-US" sz="1800" dirty="0">
                <a:solidFill>
                  <a:srgbClr val="C00000"/>
                </a:solidFill>
                <a:latin typeface="Times New Roman" panose="02020603050405020304" pitchFamily="18" charset="0"/>
                <a:cs typeface="Times New Roman" panose="02020603050405020304" pitchFamily="18" charset="0"/>
              </a:rPr>
              <a:t>visiting characteristics</a:t>
            </a:r>
            <a:r>
              <a:rPr lang="en-US" altLang="en-US" sz="1800" dirty="0">
                <a:solidFill>
                  <a:schemeClr val="tx1"/>
                </a:solidFill>
                <a:latin typeface="Times New Roman" panose="02020603050405020304" pitchFamily="18" charset="0"/>
                <a:cs typeface="Times New Roman" panose="02020603050405020304" pitchFamily="18" charset="0"/>
              </a:rPr>
              <a:t> of the users.</a:t>
            </a:r>
          </a:p>
          <a:p>
            <a:r>
              <a:rPr lang="en-US" altLang="en-US" sz="2000" dirty="0">
                <a:solidFill>
                  <a:schemeClr val="tx1"/>
                </a:solidFill>
                <a:latin typeface="Times New Roman" panose="02020603050405020304" pitchFamily="18" charset="0"/>
                <a:cs typeface="Times New Roman" panose="02020603050405020304" pitchFamily="18" charset="0"/>
              </a:rPr>
              <a:t>The primary data source used in web usage mining is the server </a:t>
            </a:r>
            <a:r>
              <a:rPr lang="en-US" altLang="en-US" sz="2000" dirty="0">
                <a:solidFill>
                  <a:srgbClr val="C00000"/>
                </a:solidFill>
                <a:latin typeface="Times New Roman" panose="02020603050405020304" pitchFamily="18" charset="0"/>
                <a:cs typeface="Times New Roman" panose="02020603050405020304" pitchFamily="18" charset="0"/>
              </a:rPr>
              <a:t>log-files</a:t>
            </a:r>
            <a:r>
              <a:rPr lang="en-US" altLang="en-US" sz="2000" dirty="0">
                <a:solidFill>
                  <a:schemeClr val="tx1"/>
                </a:solidFill>
                <a:latin typeface="Times New Roman" panose="02020603050405020304" pitchFamily="18" charset="0"/>
                <a:cs typeface="Times New Roman" panose="02020603050405020304" pitchFamily="18" charset="0"/>
              </a:rPr>
              <a:t> (web-logs).</a:t>
            </a:r>
          </a:p>
          <a:p>
            <a:r>
              <a:rPr lang="en-US" altLang="en-US" sz="2000" dirty="0">
                <a:solidFill>
                  <a:schemeClr val="tx1"/>
                </a:solidFill>
                <a:latin typeface="Times New Roman" panose="02020603050405020304" pitchFamily="18" charset="0"/>
                <a:cs typeface="Times New Roman" panose="02020603050405020304" pitchFamily="18" charset="0"/>
              </a:rPr>
              <a:t>Browsing web pages by the user leaves a lot of information in the log-file.</a:t>
            </a:r>
          </a:p>
          <a:p>
            <a:r>
              <a:rPr lang="en-US" altLang="en-US" sz="2000" dirty="0">
                <a:solidFill>
                  <a:srgbClr val="C00000"/>
                </a:solidFill>
                <a:latin typeface="Times New Roman" panose="02020603050405020304" pitchFamily="18" charset="0"/>
                <a:cs typeface="Times New Roman" panose="02020603050405020304" pitchFamily="18" charset="0"/>
              </a:rPr>
              <a:t>Analyzing log-files </a:t>
            </a:r>
            <a:r>
              <a:rPr lang="en-US" altLang="en-US" sz="2000" dirty="0">
                <a:solidFill>
                  <a:schemeClr val="tx1"/>
                </a:solidFill>
                <a:latin typeface="Times New Roman" panose="02020603050405020304" pitchFamily="18" charset="0"/>
                <a:cs typeface="Times New Roman" panose="02020603050405020304" pitchFamily="18" charset="0"/>
              </a:rPr>
              <a:t>information drives us to understand the behavior of the user </a:t>
            </a:r>
          </a:p>
          <a:p>
            <a:r>
              <a:rPr lang="en-US" altLang="en-US" sz="2000" dirty="0">
                <a:solidFill>
                  <a:schemeClr val="tx1"/>
                </a:solidFill>
                <a:latin typeface="Times New Roman" panose="02020603050405020304" pitchFamily="18" charset="0"/>
                <a:cs typeface="Times New Roman" panose="02020603050405020304" pitchFamily="18" charset="0"/>
              </a:rPr>
              <a:t>Techniques use for discovering the potential knowledge from the browsing patterns are:</a:t>
            </a:r>
          </a:p>
          <a:p>
            <a:pPr lvl="1"/>
            <a:r>
              <a:rPr lang="en-US" altLang="en-US" sz="1600" dirty="0">
                <a:solidFill>
                  <a:srgbClr val="C00000"/>
                </a:solidFill>
                <a:latin typeface="Times New Roman" panose="02020603050405020304" pitchFamily="18" charset="0"/>
                <a:cs typeface="Times New Roman" panose="02020603050405020304" pitchFamily="18" charset="0"/>
              </a:rPr>
              <a:t>Clustering</a:t>
            </a:r>
          </a:p>
          <a:p>
            <a:pPr lvl="1"/>
            <a:r>
              <a:rPr lang="en-US" altLang="en-US" sz="1600" dirty="0">
                <a:solidFill>
                  <a:srgbClr val="C00000"/>
                </a:solidFill>
                <a:latin typeface="Times New Roman" panose="02020603050405020304" pitchFamily="18" charset="0"/>
                <a:cs typeface="Times New Roman" panose="02020603050405020304" pitchFamily="18" charset="0"/>
              </a:rPr>
              <a:t>Classification</a:t>
            </a:r>
          </a:p>
          <a:p>
            <a:pPr lvl="1"/>
            <a:r>
              <a:rPr lang="en-US" altLang="en-US" sz="1600" dirty="0">
                <a:solidFill>
                  <a:srgbClr val="C00000"/>
                </a:solidFill>
                <a:latin typeface="Times New Roman" panose="02020603050405020304" pitchFamily="18" charset="0"/>
                <a:cs typeface="Times New Roman" panose="02020603050405020304" pitchFamily="18" charset="0"/>
              </a:rPr>
              <a:t>Association rule</a:t>
            </a:r>
          </a:p>
        </p:txBody>
      </p:sp>
    </p:spTree>
    <p:extLst>
      <p:ext uri="{BB962C8B-B14F-4D97-AF65-F5344CB8AC3E}">
        <p14:creationId xmlns:p14="http://schemas.microsoft.com/office/powerpoint/2010/main" val="1449226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The Phase of Web Usage Mining</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Web usage mining is a complete process that includes various stages of data mining cycle, including Data Preprocessing, Pattern Discovery and Pattern Analysis.</a:t>
            </a:r>
          </a:p>
          <a:p>
            <a:r>
              <a:rPr lang="en-US" altLang="en-US" dirty="0">
                <a:solidFill>
                  <a:schemeClr val="tx1"/>
                </a:solidFill>
                <a:latin typeface="Times New Roman" panose="02020603050405020304" pitchFamily="18" charset="0"/>
                <a:cs typeface="Times New Roman" panose="02020603050405020304" pitchFamily="18" charset="0"/>
              </a:rPr>
              <a:t>Initially, at the data preprocessing stage web log is preprocessed to clean, integrate and transform into a common log.</a:t>
            </a:r>
          </a:p>
          <a:p>
            <a:r>
              <a:rPr lang="en-US" altLang="en-US" sz="2400" dirty="0">
                <a:solidFill>
                  <a:schemeClr val="tx1"/>
                </a:solidFill>
                <a:latin typeface="Times New Roman" panose="02020603050405020304" pitchFamily="18" charset="0"/>
                <a:cs typeface="Times New Roman" panose="02020603050405020304" pitchFamily="18" charset="0"/>
              </a:rPr>
              <a:t>In the pattern discovery: Data mining techniques are applied to discover the interesting characteristics in the hidden patterns.</a:t>
            </a:r>
          </a:p>
          <a:p>
            <a:r>
              <a:rPr lang="en-US" altLang="en-US" dirty="0">
                <a:solidFill>
                  <a:schemeClr val="tx1"/>
                </a:solidFill>
                <a:latin typeface="Times New Roman" panose="02020603050405020304" pitchFamily="18" charset="0"/>
                <a:cs typeface="Times New Roman" panose="02020603050405020304" pitchFamily="18" charset="0"/>
              </a:rPr>
              <a:t>Pattern analysis is the final stage of web usage mining which can validate interested patterns from the output of pattern discovery that an be used to predict user behavior.</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062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Classification </a:t>
            </a:r>
          </a:p>
        </p:txBody>
      </p:sp>
      <p:sp>
        <p:nvSpPr>
          <p:cNvPr id="4" name="Content Placeholder 3"/>
          <p:cNvSpPr>
            <a:spLocks noGrp="1"/>
          </p:cNvSpPr>
          <p:nvPr>
            <p:ph idx="1"/>
          </p:nvPr>
        </p:nvSpPr>
        <p:spPr/>
        <p:txBody>
          <a:bodyPr/>
          <a:lstStyle/>
          <a:p>
            <a:r>
              <a:rPr lang="en-US" altLang="en-US" sz="2000" dirty="0">
                <a:solidFill>
                  <a:schemeClr val="tx1"/>
                </a:solidFill>
                <a:latin typeface="Times New Roman" panose="02020603050405020304" pitchFamily="18" charset="0"/>
                <a:cs typeface="Times New Roman" panose="02020603050405020304" pitchFamily="18" charset="0"/>
              </a:rPr>
              <a:t>Classification is the most familiar and most popular data mining techniques for web usage mining.</a:t>
            </a:r>
          </a:p>
          <a:p>
            <a:r>
              <a:rPr lang="en-US" altLang="en-US" sz="2000" dirty="0">
                <a:solidFill>
                  <a:schemeClr val="tx1"/>
                </a:solidFill>
                <a:latin typeface="Times New Roman" panose="02020603050405020304" pitchFamily="18" charset="0"/>
                <a:cs typeface="Times New Roman" panose="02020603050405020304" pitchFamily="18" charset="0"/>
              </a:rPr>
              <a:t>Data classification is the process of organizing data into categories for its most effective and efficient use.</a:t>
            </a:r>
          </a:p>
          <a:p>
            <a:r>
              <a:rPr lang="en-US" altLang="en-US" sz="2000" dirty="0">
                <a:solidFill>
                  <a:schemeClr val="tx1"/>
                </a:solidFill>
                <a:latin typeface="Times New Roman" panose="02020603050405020304" pitchFamily="18" charset="0"/>
                <a:cs typeface="Times New Roman" panose="02020603050405020304" pitchFamily="18" charset="0"/>
              </a:rPr>
              <a:t>Classification technique uses to segment and classify observations</a:t>
            </a:r>
          </a:p>
          <a:p>
            <a:r>
              <a:rPr lang="en-US" altLang="en-US" sz="2000" dirty="0">
                <a:solidFill>
                  <a:schemeClr val="tx1"/>
                </a:solidFill>
                <a:latin typeface="Times New Roman" panose="02020603050405020304" pitchFamily="18" charset="0"/>
                <a:cs typeface="Times New Roman" panose="02020603050405020304" pitchFamily="18" charset="0"/>
              </a:rPr>
              <a:t>Example:</a:t>
            </a:r>
          </a:p>
          <a:p>
            <a:r>
              <a:rPr lang="en-US" altLang="en-US" sz="2000" dirty="0">
                <a:solidFill>
                  <a:schemeClr val="tx1"/>
                </a:solidFill>
                <a:latin typeface="Times New Roman" panose="02020603050405020304" pitchFamily="18" charset="0"/>
                <a:cs typeface="Times New Roman" panose="02020603050405020304" pitchFamily="18" charset="0"/>
              </a:rPr>
              <a:t>People with age less than 40 and salary more then 40000 trade on line (Demographic segmentation).</a:t>
            </a:r>
          </a:p>
          <a:p>
            <a:r>
              <a:rPr lang="en-US" altLang="en-US" sz="2000" dirty="0">
                <a:solidFill>
                  <a:schemeClr val="tx1"/>
                </a:solidFill>
                <a:latin typeface="Times New Roman" panose="02020603050405020304" pitchFamily="18" charset="0"/>
                <a:cs typeface="Times New Roman" panose="02020603050405020304" pitchFamily="18" charset="0"/>
              </a:rPr>
              <a:t>Blackberry was launched for users who were business people, </a:t>
            </a:r>
            <a:r>
              <a:rPr lang="en-US" altLang="en-US" sz="2000" dirty="0" err="1">
                <a:solidFill>
                  <a:schemeClr val="tx1"/>
                </a:solidFill>
                <a:latin typeface="Times New Roman" panose="02020603050405020304" pitchFamily="18" charset="0"/>
                <a:cs typeface="Times New Roman" panose="02020603050405020304" pitchFamily="18" charset="0"/>
              </a:rPr>
              <a:t>sumsung</a:t>
            </a:r>
            <a:r>
              <a:rPr lang="en-US" altLang="en-US" sz="2000" dirty="0">
                <a:solidFill>
                  <a:schemeClr val="tx1"/>
                </a:solidFill>
                <a:latin typeface="Times New Roman" panose="02020603050405020304" pitchFamily="18" charset="0"/>
                <a:cs typeface="Times New Roman" panose="02020603050405020304" pitchFamily="18" charset="0"/>
              </a:rPr>
              <a:t> was launched for users who like android and like various applications for free price and apple was launched for the premium customers who want to be a part of a unique and popular niche (behavioral segmentation)</a:t>
            </a:r>
          </a:p>
        </p:txBody>
      </p:sp>
    </p:spTree>
    <p:extLst>
      <p:ext uri="{BB962C8B-B14F-4D97-AF65-F5344CB8AC3E}">
        <p14:creationId xmlns:p14="http://schemas.microsoft.com/office/powerpoint/2010/main" val="1659492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Classification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Classification consist of assigning a class label to a set of unclassified cases.</a:t>
            </a:r>
          </a:p>
          <a:p>
            <a:r>
              <a:rPr lang="en-US" altLang="en-US" dirty="0">
                <a:solidFill>
                  <a:schemeClr val="tx1"/>
                </a:solidFill>
                <a:latin typeface="Times New Roman" panose="02020603050405020304" pitchFamily="18" charset="0"/>
                <a:cs typeface="Times New Roman" panose="02020603050405020304" pitchFamily="18" charset="0"/>
              </a:rPr>
              <a:t>The goal of classification is to build a model that can be used to predict the class of records whose class label is not know.</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F2838EF-CF99-41EC-B2FA-F0E34A2A9AD4}"/>
              </a:ext>
            </a:extLst>
          </p:cNvPr>
          <p:cNvPicPr>
            <a:picLocks noChangeAspect="1"/>
          </p:cNvPicPr>
          <p:nvPr/>
        </p:nvPicPr>
        <p:blipFill>
          <a:blip r:embed="rId2"/>
          <a:stretch>
            <a:fillRect/>
          </a:stretch>
        </p:blipFill>
        <p:spPr>
          <a:xfrm>
            <a:off x="770994" y="3712304"/>
            <a:ext cx="7602011" cy="2286319"/>
          </a:xfrm>
          <a:prstGeom prst="rect">
            <a:avLst/>
          </a:prstGeom>
        </p:spPr>
      </p:pic>
    </p:spTree>
    <p:extLst>
      <p:ext uri="{BB962C8B-B14F-4D97-AF65-F5344CB8AC3E}">
        <p14:creationId xmlns:p14="http://schemas.microsoft.com/office/powerpoint/2010/main" val="42937655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Classification Algorithm</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The most popular classification algorithm are:</a:t>
            </a:r>
          </a:p>
          <a:p>
            <a:r>
              <a:rPr lang="en-US" altLang="en-US" sz="2400" dirty="0">
                <a:solidFill>
                  <a:schemeClr val="tx1"/>
                </a:solidFill>
                <a:latin typeface="Times New Roman" panose="02020603050405020304" pitchFamily="18" charset="0"/>
                <a:cs typeface="Times New Roman" panose="02020603050405020304" pitchFamily="18" charset="0"/>
              </a:rPr>
              <a:t>Decision trees</a:t>
            </a:r>
          </a:p>
          <a:p>
            <a:r>
              <a:rPr lang="en-US" altLang="en-US" dirty="0">
                <a:solidFill>
                  <a:schemeClr val="tx1"/>
                </a:solidFill>
                <a:latin typeface="Times New Roman" panose="02020603050405020304" pitchFamily="18" charset="0"/>
                <a:cs typeface="Times New Roman" panose="02020603050405020304" pitchFamily="18" charset="0"/>
              </a:rPr>
              <a:t>Logistic regression</a:t>
            </a:r>
          </a:p>
          <a:p>
            <a:r>
              <a:rPr lang="en-US" altLang="en-US" sz="2400" dirty="0">
                <a:solidFill>
                  <a:schemeClr val="tx1"/>
                </a:solidFill>
                <a:latin typeface="Times New Roman" panose="02020603050405020304" pitchFamily="18" charset="0"/>
                <a:cs typeface="Times New Roman" panose="02020603050405020304" pitchFamily="18" charset="0"/>
              </a:rPr>
              <a:t>Neural networks</a:t>
            </a:r>
          </a:p>
          <a:p>
            <a:r>
              <a:rPr lang="en-US" altLang="en-US" dirty="0">
                <a:solidFill>
                  <a:schemeClr val="tx1"/>
                </a:solidFill>
                <a:latin typeface="Times New Roman" panose="02020603050405020304" pitchFamily="18" charset="0"/>
                <a:cs typeface="Times New Roman" panose="02020603050405020304" pitchFamily="18" charset="0"/>
              </a:rPr>
              <a:t>K-nearest neighbors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1889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Decision Trees</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A decision tree is a graph that uses a branching method to illustrate every possible outcome of a decision</a:t>
            </a:r>
          </a:p>
          <a:p>
            <a:r>
              <a:rPr lang="en-US" altLang="en-US" dirty="0">
                <a:solidFill>
                  <a:schemeClr val="tx1"/>
                </a:solidFill>
                <a:latin typeface="Times New Roman" panose="02020603050405020304" pitchFamily="18" charset="0"/>
                <a:cs typeface="Times New Roman" panose="02020603050405020304" pitchFamily="18" charset="0"/>
              </a:rPr>
              <a:t>Example </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B704F89-9862-4717-813D-D2947C1B29FC}"/>
              </a:ext>
            </a:extLst>
          </p:cNvPr>
          <p:cNvPicPr>
            <a:picLocks noChangeAspect="1"/>
          </p:cNvPicPr>
          <p:nvPr/>
        </p:nvPicPr>
        <p:blipFill>
          <a:blip r:embed="rId2"/>
          <a:stretch>
            <a:fillRect/>
          </a:stretch>
        </p:blipFill>
        <p:spPr>
          <a:xfrm>
            <a:off x="880547" y="3513665"/>
            <a:ext cx="7382905" cy="2591162"/>
          </a:xfrm>
          <a:prstGeom prst="rect">
            <a:avLst/>
          </a:prstGeom>
        </p:spPr>
      </p:pic>
    </p:spTree>
    <p:extLst>
      <p:ext uri="{BB962C8B-B14F-4D97-AF65-F5344CB8AC3E}">
        <p14:creationId xmlns:p14="http://schemas.microsoft.com/office/powerpoint/2010/main" val="28587028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Decision Trees</a:t>
            </a:r>
          </a:p>
        </p:txBody>
      </p:sp>
      <p:pic>
        <p:nvPicPr>
          <p:cNvPr id="3" name="Content Placeholder 2">
            <a:extLst>
              <a:ext uri="{FF2B5EF4-FFF2-40B4-BE49-F238E27FC236}">
                <a16:creationId xmlns:a16="http://schemas.microsoft.com/office/drawing/2014/main" id="{2CF56648-B467-4F03-B911-31CF3CD55C09}"/>
              </a:ext>
            </a:extLst>
          </p:cNvPr>
          <p:cNvPicPr>
            <a:picLocks noGrp="1" noChangeAspect="1"/>
          </p:cNvPicPr>
          <p:nvPr>
            <p:ph idx="1"/>
          </p:nvPr>
        </p:nvPicPr>
        <p:blipFill>
          <a:blip r:embed="rId2"/>
          <a:stretch>
            <a:fillRect/>
          </a:stretch>
        </p:blipFill>
        <p:spPr>
          <a:xfrm>
            <a:off x="609047" y="2219889"/>
            <a:ext cx="7925906" cy="3286584"/>
          </a:xfrm>
        </p:spPr>
      </p:pic>
    </p:spTree>
    <p:extLst>
      <p:ext uri="{BB962C8B-B14F-4D97-AF65-F5344CB8AC3E}">
        <p14:creationId xmlns:p14="http://schemas.microsoft.com/office/powerpoint/2010/main" val="1651468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27</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Decision Tree using Orange Data Mining</a:t>
            </a:r>
          </a:p>
        </p:txBody>
      </p:sp>
      <p:sp>
        <p:nvSpPr>
          <p:cNvPr id="4" name="Content Placeholder 3"/>
          <p:cNvSpPr>
            <a:spLocks noGrp="1"/>
          </p:cNvSpPr>
          <p:nvPr>
            <p:ph idx="1"/>
          </p:nvPr>
        </p:nvSpPr>
        <p:spPr/>
        <p:txBody>
          <a:bodyPr/>
          <a:lstStyle/>
          <a:p>
            <a:r>
              <a:rPr lang="en-US" altLang="en-US" sz="2400" dirty="0" err="1">
                <a:solidFill>
                  <a:schemeClr val="tx1"/>
                </a:solidFill>
                <a:latin typeface="Times New Roman" panose="02020603050405020304" pitchFamily="18" charset="0"/>
                <a:cs typeface="Times New Roman" panose="02020603050405020304" pitchFamily="18" charset="0"/>
              </a:rPr>
              <a:t>Analysing</a:t>
            </a:r>
            <a:r>
              <a:rPr lang="en-US" altLang="en-US" sz="2400" dirty="0">
                <a:solidFill>
                  <a:schemeClr val="tx1"/>
                </a:solidFill>
                <a:latin typeface="Times New Roman" panose="02020603050405020304" pitchFamily="18" charset="0"/>
                <a:cs typeface="Times New Roman" panose="02020603050405020304" pitchFamily="18" charset="0"/>
              </a:rPr>
              <a:t> data in Orange using Decision tree.</a:t>
            </a:r>
          </a:p>
          <a:p>
            <a:r>
              <a:rPr lang="en-US" altLang="en-US" sz="2400" dirty="0">
                <a:solidFill>
                  <a:schemeClr val="tx1"/>
                </a:solidFill>
                <a:latin typeface="Times New Roman" panose="02020603050405020304" pitchFamily="18" charset="0"/>
                <a:cs typeface="Times New Roman" panose="02020603050405020304" pitchFamily="18" charset="0"/>
              </a:rPr>
              <a:t>Select file: Decision tree from Dataset Folder (On </a:t>
            </a:r>
            <a:r>
              <a:rPr lang="en-US" altLang="en-US" sz="2400" dirty="0" err="1">
                <a:solidFill>
                  <a:schemeClr val="tx1"/>
                </a:solidFill>
                <a:latin typeface="Times New Roman" panose="02020603050405020304" pitchFamily="18" charset="0"/>
                <a:cs typeface="Times New Roman" panose="02020603050405020304" pitchFamily="18" charset="0"/>
              </a:rPr>
              <a:t>Fronter</a:t>
            </a:r>
            <a:r>
              <a:rPr lang="en-US" altLang="en-US" sz="2400" dirty="0">
                <a:solidFill>
                  <a:schemeClr val="tx1"/>
                </a:solidFill>
                <a:latin typeface="Times New Roman" panose="02020603050405020304" pitchFamily="18" charset="0"/>
                <a:cs typeface="Times New Roman" panose="02020603050405020304" pitchFamily="18" charset="0"/>
              </a:rPr>
              <a:t>)</a:t>
            </a:r>
          </a:p>
          <a:p>
            <a:r>
              <a:rPr lang="en-US" altLang="en-US" sz="2400" dirty="0">
                <a:solidFill>
                  <a:schemeClr val="tx1"/>
                </a:solidFill>
                <a:latin typeface="Times New Roman" panose="02020603050405020304" pitchFamily="18" charset="0"/>
                <a:cs typeface="Times New Roman" panose="02020603050405020304" pitchFamily="18" charset="0"/>
              </a:rPr>
              <a:t>Exercise:</a:t>
            </a:r>
          </a:p>
          <a:p>
            <a:r>
              <a:rPr lang="en-US" altLang="en-US" sz="2400" dirty="0">
                <a:solidFill>
                  <a:schemeClr val="tx1"/>
                </a:solidFill>
                <a:latin typeface="Times New Roman" panose="02020603050405020304" pitchFamily="18" charset="0"/>
                <a:cs typeface="Times New Roman" panose="02020603050405020304" pitchFamily="18" charset="0"/>
              </a:rPr>
              <a:t>Explain the output of the Decision tree</a:t>
            </a:r>
          </a:p>
        </p:txBody>
      </p:sp>
    </p:spTree>
    <p:extLst>
      <p:ext uri="{BB962C8B-B14F-4D97-AF65-F5344CB8AC3E}">
        <p14:creationId xmlns:p14="http://schemas.microsoft.com/office/powerpoint/2010/main" val="2015483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Clustering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Clustering is the process of dividing a dataset into groups such that the members of each group are as </a:t>
            </a:r>
            <a:r>
              <a:rPr lang="en-US" altLang="en-US" sz="2400" dirty="0">
                <a:solidFill>
                  <a:srgbClr val="C00000"/>
                </a:solidFill>
                <a:latin typeface="Times New Roman" panose="02020603050405020304" pitchFamily="18" charset="0"/>
                <a:cs typeface="Times New Roman" panose="02020603050405020304" pitchFamily="18" charset="0"/>
              </a:rPr>
              <a:t>similar</a:t>
            </a:r>
            <a:r>
              <a:rPr lang="en-US" altLang="en-US" sz="2400" dirty="0">
                <a:solidFill>
                  <a:schemeClr val="tx1"/>
                </a:solidFill>
                <a:latin typeface="Times New Roman" panose="02020603050405020304" pitchFamily="18" charset="0"/>
                <a:cs typeface="Times New Roman" panose="02020603050405020304" pitchFamily="18" charset="0"/>
              </a:rPr>
              <a:t> as possible to one another and different group are as </a:t>
            </a:r>
            <a:r>
              <a:rPr lang="en-US" altLang="en-US" sz="2400" dirty="0">
                <a:solidFill>
                  <a:srgbClr val="C00000"/>
                </a:solidFill>
                <a:latin typeface="Times New Roman" panose="02020603050405020304" pitchFamily="18" charset="0"/>
                <a:cs typeface="Times New Roman" panose="02020603050405020304" pitchFamily="18" charset="0"/>
              </a:rPr>
              <a:t>dissimilar</a:t>
            </a:r>
            <a:r>
              <a:rPr lang="en-US" altLang="en-US" sz="2400" dirty="0">
                <a:solidFill>
                  <a:schemeClr val="tx1"/>
                </a:solidFill>
                <a:latin typeface="Times New Roman" panose="02020603050405020304" pitchFamily="18" charset="0"/>
                <a:cs typeface="Times New Roman" panose="02020603050405020304" pitchFamily="18" charset="0"/>
              </a:rPr>
              <a:t> as possible from one another.</a:t>
            </a:r>
          </a:p>
          <a:p>
            <a:r>
              <a:rPr lang="en-US" altLang="en-US" dirty="0">
                <a:solidFill>
                  <a:schemeClr val="tx1"/>
                </a:solidFill>
                <a:latin typeface="Times New Roman" panose="02020603050405020304" pitchFamily="18" charset="0"/>
                <a:cs typeface="Times New Roman" panose="02020603050405020304" pitchFamily="18" charset="0"/>
              </a:rPr>
              <a:t>The most popular distance-based clustering algorithm is ‘</a:t>
            </a:r>
            <a:r>
              <a:rPr lang="en-US" altLang="en-US" dirty="0">
                <a:solidFill>
                  <a:srgbClr val="C00000"/>
                </a:solidFill>
                <a:latin typeface="Times New Roman" panose="02020603050405020304" pitchFamily="18" charset="0"/>
                <a:cs typeface="Times New Roman" panose="02020603050405020304" pitchFamily="18" charset="0"/>
              </a:rPr>
              <a:t>k-means</a:t>
            </a:r>
            <a:r>
              <a:rPr lang="en-US" altLang="en-US" dirty="0">
                <a:solidFill>
                  <a:schemeClr val="tx1"/>
                </a:solidFill>
                <a:latin typeface="Times New Roman" panose="02020603050405020304" pitchFamily="18" charset="0"/>
                <a:cs typeface="Times New Roman" panose="02020603050405020304" pitchFamily="18" charset="0"/>
              </a:rPr>
              <a:t>’.</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5A3184A-29F9-42F2-A4B4-46FCEC534629}"/>
              </a:ext>
            </a:extLst>
          </p:cNvPr>
          <p:cNvPicPr>
            <a:picLocks noChangeAspect="1"/>
          </p:cNvPicPr>
          <p:nvPr/>
        </p:nvPicPr>
        <p:blipFill>
          <a:blip r:embed="rId2"/>
          <a:stretch>
            <a:fillRect/>
          </a:stretch>
        </p:blipFill>
        <p:spPr>
          <a:xfrm>
            <a:off x="1428311" y="4347292"/>
            <a:ext cx="6287377" cy="1552792"/>
          </a:xfrm>
          <a:prstGeom prst="rect">
            <a:avLst/>
          </a:prstGeom>
        </p:spPr>
      </p:pic>
    </p:spTree>
    <p:extLst>
      <p:ext uri="{BB962C8B-B14F-4D97-AF65-F5344CB8AC3E}">
        <p14:creationId xmlns:p14="http://schemas.microsoft.com/office/powerpoint/2010/main" val="42477853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29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K-Means for Clustering</a:t>
            </a:r>
          </a:p>
        </p:txBody>
      </p:sp>
      <p:pic>
        <p:nvPicPr>
          <p:cNvPr id="3" name="Content Placeholder 2">
            <a:extLst>
              <a:ext uri="{FF2B5EF4-FFF2-40B4-BE49-F238E27FC236}">
                <a16:creationId xmlns:a16="http://schemas.microsoft.com/office/drawing/2014/main" id="{1AB20139-3F96-4B9D-8A5C-8E63F27AAF59}"/>
              </a:ext>
            </a:extLst>
          </p:cNvPr>
          <p:cNvPicPr>
            <a:picLocks noGrp="1" noChangeAspect="1"/>
          </p:cNvPicPr>
          <p:nvPr>
            <p:ph idx="1"/>
          </p:nvPr>
        </p:nvPicPr>
        <p:blipFill>
          <a:blip r:embed="rId2"/>
          <a:stretch>
            <a:fillRect/>
          </a:stretch>
        </p:blipFill>
        <p:spPr>
          <a:xfrm>
            <a:off x="1071074" y="2586653"/>
            <a:ext cx="7001852" cy="2553056"/>
          </a:xfrm>
        </p:spPr>
      </p:pic>
    </p:spTree>
    <p:extLst>
      <p:ext uri="{BB962C8B-B14F-4D97-AF65-F5344CB8AC3E}">
        <p14:creationId xmlns:p14="http://schemas.microsoft.com/office/powerpoint/2010/main" val="3681850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Clustering Using Orange</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Select file: Clustering from dataset folder (On </a:t>
            </a:r>
            <a:r>
              <a:rPr lang="en-US" altLang="en-US" sz="2400" dirty="0" err="1">
                <a:solidFill>
                  <a:schemeClr val="tx1"/>
                </a:solidFill>
                <a:latin typeface="Times New Roman" panose="02020603050405020304" pitchFamily="18" charset="0"/>
                <a:cs typeface="Times New Roman" panose="02020603050405020304" pitchFamily="18" charset="0"/>
              </a:rPr>
              <a:t>Fronter</a:t>
            </a:r>
            <a:r>
              <a:rPr lang="en-US" altLang="en-US" sz="2400" dirty="0">
                <a:solidFill>
                  <a:schemeClr val="tx1"/>
                </a:solidFill>
                <a:latin typeface="Times New Roman" panose="02020603050405020304" pitchFamily="18" charset="0"/>
                <a:cs typeface="Times New Roman" panose="02020603050405020304" pitchFamily="18" charset="0"/>
              </a:rPr>
              <a:t>)</a:t>
            </a:r>
          </a:p>
          <a:p>
            <a:r>
              <a:rPr lang="en-US" altLang="en-US" dirty="0">
                <a:solidFill>
                  <a:schemeClr val="tx1"/>
                </a:solidFill>
                <a:latin typeface="Times New Roman" panose="02020603050405020304" pitchFamily="18" charset="0"/>
                <a:cs typeface="Times New Roman" panose="02020603050405020304" pitchFamily="18" charset="0"/>
              </a:rPr>
              <a:t>Select K-Means from Unsupervised Widget set.</a:t>
            </a:r>
          </a:p>
          <a:p>
            <a:r>
              <a:rPr lang="en-US" altLang="en-US" sz="2400" dirty="0">
                <a:solidFill>
                  <a:schemeClr val="tx1"/>
                </a:solidFill>
                <a:latin typeface="Times New Roman" panose="02020603050405020304" pitchFamily="18" charset="0"/>
                <a:cs typeface="Times New Roman" panose="02020603050405020304" pitchFamily="18" charset="0"/>
              </a:rPr>
              <a:t>Select MDC (Multidimensional Scaling)</a:t>
            </a:r>
          </a:p>
          <a:p>
            <a:pPr marL="0" indent="0">
              <a:buNone/>
            </a:pPr>
            <a:r>
              <a:rPr lang="en-US" altLang="en-US" dirty="0">
                <a:solidFill>
                  <a:schemeClr val="tx1"/>
                </a:solidFill>
                <a:latin typeface="Times New Roman" panose="02020603050405020304" pitchFamily="18" charset="0"/>
                <a:cs typeface="Times New Roman" panose="02020603050405020304" pitchFamily="18" charset="0"/>
              </a:rPr>
              <a:t>Unsupervised Widget set  </a:t>
            </a:r>
          </a:p>
          <a:p>
            <a:r>
              <a:rPr lang="en-US" altLang="en-US" dirty="0">
                <a:solidFill>
                  <a:schemeClr val="tx1"/>
                </a:solidFill>
                <a:latin typeface="Times New Roman" panose="02020603050405020304" pitchFamily="18" charset="0"/>
                <a:cs typeface="Times New Roman" panose="02020603050405020304" pitchFamily="18" charset="0"/>
              </a:rPr>
              <a:t>Explain the output of the clustering </a:t>
            </a:r>
          </a:p>
          <a:p>
            <a:r>
              <a:rPr lang="en-US" altLang="en-US" dirty="0">
                <a:solidFill>
                  <a:schemeClr val="tx1"/>
                </a:solidFill>
                <a:latin typeface="Times New Roman" panose="02020603050405020304" pitchFamily="18" charset="0"/>
                <a:cs typeface="Times New Roman" panose="02020603050405020304" pitchFamily="18" charset="0"/>
              </a:rPr>
              <a:t>To create a segmentation based only on buying behavior </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457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Association Rule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Association rule finds interesting associations and correlation relationships among large sets of data items.</a:t>
            </a:r>
          </a:p>
          <a:p>
            <a:r>
              <a:rPr lang="en-US" altLang="en-US" sz="2400" dirty="0">
                <a:solidFill>
                  <a:schemeClr val="tx1"/>
                </a:solidFill>
                <a:latin typeface="Times New Roman" panose="02020603050405020304" pitchFamily="18" charset="0"/>
                <a:cs typeface="Times New Roman" panose="02020603050405020304" pitchFamily="18" charset="0"/>
              </a:rPr>
              <a:t>Association rules show attribute value conditions that occur frequently together in a given data set.</a:t>
            </a:r>
          </a:p>
          <a:p>
            <a:r>
              <a:rPr lang="en-US" altLang="en-US" sz="2400" dirty="0">
                <a:solidFill>
                  <a:schemeClr val="tx1"/>
                </a:solidFill>
                <a:latin typeface="Times New Roman" panose="02020603050405020304" pitchFamily="18" charset="0"/>
                <a:cs typeface="Times New Roman" panose="02020603050405020304" pitchFamily="18" charset="0"/>
              </a:rPr>
              <a:t>A typical example of association rule mining is Market Basket Analysis. </a:t>
            </a:r>
          </a:p>
          <a:p>
            <a:r>
              <a:rPr lang="en-US" altLang="en-US" sz="2400" dirty="0">
                <a:solidFill>
                  <a:schemeClr val="tx1"/>
                </a:solidFill>
                <a:latin typeface="Times New Roman" panose="02020603050405020304" pitchFamily="18" charset="0"/>
                <a:cs typeface="Times New Roman" panose="02020603050405020304" pitchFamily="18" charset="0"/>
              </a:rPr>
              <a:t>What items are frequently bought together by customers?</a:t>
            </a:r>
          </a:p>
          <a:p>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CBD62FE-D19D-44EC-A0AA-3A82486900A7}"/>
              </a:ext>
            </a:extLst>
          </p:cNvPr>
          <p:cNvPicPr>
            <a:picLocks noChangeAspect="1"/>
          </p:cNvPicPr>
          <p:nvPr/>
        </p:nvPicPr>
        <p:blipFill>
          <a:blip r:embed="rId2"/>
          <a:stretch>
            <a:fillRect/>
          </a:stretch>
        </p:blipFill>
        <p:spPr>
          <a:xfrm>
            <a:off x="3365087" y="4987683"/>
            <a:ext cx="4096322" cy="1733792"/>
          </a:xfrm>
          <a:prstGeom prst="rect">
            <a:avLst/>
          </a:prstGeom>
        </p:spPr>
      </p:pic>
    </p:spTree>
    <p:extLst>
      <p:ext uri="{BB962C8B-B14F-4D97-AF65-F5344CB8AC3E}">
        <p14:creationId xmlns:p14="http://schemas.microsoft.com/office/powerpoint/2010/main" val="32594576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Example of Market Basket Analysis </a:t>
            </a:r>
          </a:p>
        </p:txBody>
      </p:sp>
      <p:pic>
        <p:nvPicPr>
          <p:cNvPr id="3" name="Content Placeholder 2">
            <a:extLst>
              <a:ext uri="{FF2B5EF4-FFF2-40B4-BE49-F238E27FC236}">
                <a16:creationId xmlns:a16="http://schemas.microsoft.com/office/drawing/2014/main" id="{846AA9CA-E184-412C-B428-87CE6E761BE0}"/>
              </a:ext>
            </a:extLst>
          </p:cNvPr>
          <p:cNvPicPr>
            <a:picLocks noGrp="1" noChangeAspect="1"/>
          </p:cNvPicPr>
          <p:nvPr>
            <p:ph idx="1"/>
          </p:nvPr>
        </p:nvPicPr>
        <p:blipFill>
          <a:blip r:embed="rId2"/>
          <a:stretch>
            <a:fillRect/>
          </a:stretch>
        </p:blipFill>
        <p:spPr>
          <a:xfrm>
            <a:off x="585231" y="2205600"/>
            <a:ext cx="7973538" cy="3315163"/>
          </a:xfrm>
        </p:spPr>
      </p:pic>
    </p:spTree>
    <p:extLst>
      <p:ext uri="{BB962C8B-B14F-4D97-AF65-F5344CB8AC3E}">
        <p14:creationId xmlns:p14="http://schemas.microsoft.com/office/powerpoint/2010/main" val="19290637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33</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Web Structure Mining </a:t>
            </a:r>
          </a:p>
        </p:txBody>
      </p:sp>
      <p:sp>
        <p:nvSpPr>
          <p:cNvPr id="4" name="Content Placeholder 3"/>
          <p:cNvSpPr>
            <a:spLocks noGrp="1"/>
          </p:cNvSpPr>
          <p:nvPr>
            <p:ph idx="1"/>
          </p:nvPr>
        </p:nvSpPr>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The structure of a Web consists of Web pages as nodes, and hyperlinks as edges connecting between two related pages</a:t>
            </a:r>
          </a:p>
          <a:p>
            <a:r>
              <a:rPr lang="en-US" altLang="en-US" dirty="0">
                <a:solidFill>
                  <a:schemeClr val="tx1"/>
                </a:solidFill>
                <a:latin typeface="Times New Roman" panose="02020603050405020304" pitchFamily="18" charset="0"/>
                <a:cs typeface="Times New Roman" panose="02020603050405020304" pitchFamily="18" charset="0"/>
              </a:rPr>
              <a:t>Web structure mining is to study the relationship between the reference pages to find useful patterns, and improve search quality by analyzing the links between pages.</a:t>
            </a:r>
          </a:p>
          <a:p>
            <a:r>
              <a:rPr lang="en-US" altLang="en-US" sz="2400" dirty="0">
                <a:solidFill>
                  <a:schemeClr val="tx1"/>
                </a:solidFill>
                <a:latin typeface="Times New Roman" panose="02020603050405020304" pitchFamily="18" charset="0"/>
                <a:cs typeface="Times New Roman" panose="02020603050405020304" pitchFamily="18" charset="0"/>
              </a:rPr>
              <a:t>The research at the hyperlink level is also called hyperlink analysis.</a:t>
            </a:r>
          </a:p>
          <a:p>
            <a:r>
              <a:rPr lang="en-US" altLang="en-US" dirty="0">
                <a:solidFill>
                  <a:schemeClr val="tx1"/>
                </a:solidFill>
                <a:latin typeface="Times New Roman" panose="02020603050405020304" pitchFamily="18" charset="0"/>
                <a:cs typeface="Times New Roman" panose="02020603050405020304" pitchFamily="18" charset="0"/>
              </a:rPr>
              <a:t>Web structure mining focuses on </a:t>
            </a:r>
          </a:p>
          <a:p>
            <a:pPr lvl="1"/>
            <a:r>
              <a:rPr lang="en-US" altLang="en-US" dirty="0">
                <a:solidFill>
                  <a:schemeClr val="tx1"/>
                </a:solidFill>
                <a:latin typeface="Times New Roman" panose="02020603050405020304" pitchFamily="18" charset="0"/>
                <a:cs typeface="Times New Roman" panose="02020603050405020304" pitchFamily="18" charset="0"/>
              </a:rPr>
              <a:t>Reducing irrelevant search results</a:t>
            </a:r>
          </a:p>
          <a:p>
            <a:pPr lvl="1"/>
            <a:r>
              <a:rPr lang="en-US" altLang="en-US" dirty="0">
                <a:solidFill>
                  <a:schemeClr val="tx1"/>
                </a:solidFill>
                <a:latin typeface="Times New Roman" panose="02020603050405020304" pitchFamily="18" charset="0"/>
                <a:cs typeface="Times New Roman" panose="02020603050405020304" pitchFamily="18" charset="0"/>
              </a:rPr>
              <a:t>Help indexing information on the web</a:t>
            </a:r>
          </a:p>
        </p:txBody>
      </p:sp>
      <p:pic>
        <p:nvPicPr>
          <p:cNvPr id="3" name="Picture 2">
            <a:extLst>
              <a:ext uri="{FF2B5EF4-FFF2-40B4-BE49-F238E27FC236}">
                <a16:creationId xmlns:a16="http://schemas.microsoft.com/office/drawing/2014/main" id="{1B60FEF9-5011-4055-AD50-ABBE63063C5C}"/>
              </a:ext>
            </a:extLst>
          </p:cNvPr>
          <p:cNvPicPr>
            <a:picLocks noChangeAspect="1"/>
          </p:cNvPicPr>
          <p:nvPr/>
        </p:nvPicPr>
        <p:blipFill>
          <a:blip r:embed="rId2"/>
          <a:stretch>
            <a:fillRect/>
          </a:stretch>
        </p:blipFill>
        <p:spPr>
          <a:xfrm>
            <a:off x="5446202" y="4659909"/>
            <a:ext cx="2762636" cy="1638529"/>
          </a:xfrm>
          <a:prstGeom prst="rect">
            <a:avLst/>
          </a:prstGeom>
        </p:spPr>
      </p:pic>
    </p:spTree>
    <p:extLst>
      <p:ext uri="{BB962C8B-B14F-4D97-AF65-F5344CB8AC3E}">
        <p14:creationId xmlns:p14="http://schemas.microsoft.com/office/powerpoint/2010/main" val="264678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34</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Web Structure Terminology</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Web-Graph: A directed graph that represent the web.</a:t>
            </a:r>
          </a:p>
          <a:p>
            <a:r>
              <a:rPr lang="en-US" altLang="en-US" dirty="0">
                <a:solidFill>
                  <a:schemeClr val="tx1"/>
                </a:solidFill>
                <a:latin typeface="Times New Roman" panose="02020603050405020304" pitchFamily="18" charset="0"/>
                <a:cs typeface="Times New Roman" panose="02020603050405020304" pitchFamily="18" charset="0"/>
              </a:rPr>
              <a:t>Node: Each Web page is a node of the Web-graph.</a:t>
            </a:r>
          </a:p>
          <a:p>
            <a:r>
              <a:rPr lang="en-US" altLang="en-US" dirty="0">
                <a:solidFill>
                  <a:schemeClr val="tx1"/>
                </a:solidFill>
                <a:latin typeface="Times New Roman" panose="02020603050405020304" pitchFamily="18" charset="0"/>
                <a:cs typeface="Times New Roman" panose="02020603050405020304" pitchFamily="18" charset="0"/>
              </a:rPr>
              <a:t>Link: Each hyperlink on the Web is a directed edge of the Web-graph. </a:t>
            </a:r>
          </a:p>
          <a:p>
            <a:r>
              <a:rPr lang="en-US" altLang="en-US" dirty="0">
                <a:solidFill>
                  <a:schemeClr val="tx1"/>
                </a:solidFill>
                <a:latin typeface="Times New Roman" panose="02020603050405020304" pitchFamily="18" charset="0"/>
                <a:cs typeface="Times New Roman" panose="02020603050405020304" pitchFamily="18" charset="0"/>
              </a:rPr>
              <a:t>In-degree: The in-degree of a node, p is the number of distinct links that point to p.</a:t>
            </a:r>
          </a:p>
          <a:p>
            <a:r>
              <a:rPr lang="en-US" altLang="en-US" dirty="0">
                <a:solidFill>
                  <a:schemeClr val="tx1"/>
                </a:solidFill>
                <a:latin typeface="Times New Roman" panose="02020603050405020304" pitchFamily="18" charset="0"/>
                <a:cs typeface="Times New Roman" panose="02020603050405020304" pitchFamily="18" charset="0"/>
              </a:rPr>
              <a:t>Out-degree: The out-degree of a node, p is the number of distinct links originating at p that point to other nodes.</a:t>
            </a:r>
          </a:p>
        </p:txBody>
      </p:sp>
    </p:spTree>
    <p:extLst>
      <p:ext uri="{BB962C8B-B14F-4D97-AF65-F5344CB8AC3E}">
        <p14:creationId xmlns:p14="http://schemas.microsoft.com/office/powerpoint/2010/main" val="2571157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35</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Web Structure Terminology</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Directed Path: A sequence of links, starting from p that can be followed to reach q.</a:t>
            </a:r>
          </a:p>
          <a:p>
            <a:r>
              <a:rPr lang="en-US" altLang="en-US" dirty="0">
                <a:solidFill>
                  <a:schemeClr val="tx1"/>
                </a:solidFill>
                <a:latin typeface="Times New Roman" panose="02020603050405020304" pitchFamily="18" charset="0"/>
                <a:cs typeface="Times New Roman" panose="02020603050405020304" pitchFamily="18" charset="0"/>
              </a:rPr>
              <a:t>Shortest Path: Of all the paths between nodes p and q, which has the shortest length, i.e. number of links on it.</a:t>
            </a:r>
          </a:p>
          <a:p>
            <a:r>
              <a:rPr lang="en-US" altLang="en-US" dirty="0">
                <a:solidFill>
                  <a:schemeClr val="tx1"/>
                </a:solidFill>
                <a:latin typeface="Times New Roman" panose="02020603050405020304" pitchFamily="18" charset="0"/>
                <a:cs typeface="Times New Roman" panose="02020603050405020304" pitchFamily="18" charset="0"/>
              </a:rPr>
              <a:t>Diameter: The maximum of all the shortest paths between a pair of nodes p and q, for all pairs of nodes p and q in the Web-graph (the length of the longest shortest path)</a:t>
            </a:r>
          </a:p>
          <a:p>
            <a:endParaRPr lang="en-US" altLang="en-US"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8D3A179-01EF-42BD-8978-B37E8E02C092}"/>
              </a:ext>
            </a:extLst>
          </p:cNvPr>
          <p:cNvPicPr>
            <a:picLocks noChangeAspect="1"/>
          </p:cNvPicPr>
          <p:nvPr/>
        </p:nvPicPr>
        <p:blipFill>
          <a:blip r:embed="rId2"/>
          <a:stretch>
            <a:fillRect/>
          </a:stretch>
        </p:blipFill>
        <p:spPr>
          <a:xfrm>
            <a:off x="2051357" y="4659942"/>
            <a:ext cx="4963218" cy="1857634"/>
          </a:xfrm>
          <a:prstGeom prst="rect">
            <a:avLst/>
          </a:prstGeom>
        </p:spPr>
      </p:pic>
    </p:spTree>
    <p:extLst>
      <p:ext uri="{BB962C8B-B14F-4D97-AF65-F5344CB8AC3E}">
        <p14:creationId xmlns:p14="http://schemas.microsoft.com/office/powerpoint/2010/main" val="40890720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36</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Hubs and Authorities </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Hubs and authorities are ‘fans’ and ‘centers’ of a web graph</a:t>
            </a:r>
          </a:p>
          <a:p>
            <a:r>
              <a:rPr lang="en-US" altLang="en-US" dirty="0">
                <a:solidFill>
                  <a:schemeClr val="tx1"/>
                </a:solidFill>
                <a:latin typeface="Times New Roman" panose="02020603050405020304" pitchFamily="18" charset="0"/>
                <a:cs typeface="Times New Roman" panose="02020603050405020304" pitchFamily="18" charset="0"/>
              </a:rPr>
              <a:t>A good hub page is one that points to many good authority pages </a:t>
            </a:r>
          </a:p>
          <a:p>
            <a:r>
              <a:rPr lang="en-US" altLang="en-US" dirty="0">
                <a:solidFill>
                  <a:schemeClr val="tx1"/>
                </a:solidFill>
                <a:latin typeface="Times New Roman" panose="02020603050405020304" pitchFamily="18" charset="0"/>
                <a:cs typeface="Times New Roman" panose="02020603050405020304" pitchFamily="18" charset="0"/>
              </a:rPr>
              <a:t>A good authority page is one that is pointed to by many good hub pages </a:t>
            </a:r>
          </a:p>
        </p:txBody>
      </p:sp>
      <p:pic>
        <p:nvPicPr>
          <p:cNvPr id="3" name="Picture 2">
            <a:extLst>
              <a:ext uri="{FF2B5EF4-FFF2-40B4-BE49-F238E27FC236}">
                <a16:creationId xmlns:a16="http://schemas.microsoft.com/office/drawing/2014/main" id="{6DC96ABF-5F5B-4D18-BD88-0B15253475A5}"/>
              </a:ext>
            </a:extLst>
          </p:cNvPr>
          <p:cNvPicPr>
            <a:picLocks noChangeAspect="1"/>
          </p:cNvPicPr>
          <p:nvPr/>
        </p:nvPicPr>
        <p:blipFill>
          <a:blip r:embed="rId2"/>
          <a:stretch>
            <a:fillRect/>
          </a:stretch>
        </p:blipFill>
        <p:spPr>
          <a:xfrm>
            <a:off x="4728256" y="3632860"/>
            <a:ext cx="2286319" cy="2372056"/>
          </a:xfrm>
          <a:prstGeom prst="rect">
            <a:avLst/>
          </a:prstGeom>
        </p:spPr>
      </p:pic>
    </p:spTree>
    <p:extLst>
      <p:ext uri="{BB962C8B-B14F-4D97-AF65-F5344CB8AC3E}">
        <p14:creationId xmlns:p14="http://schemas.microsoft.com/office/powerpoint/2010/main" val="1986174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37</a:t>
            </a:fld>
            <a:endParaRPr lang="en-US"/>
          </a:p>
        </p:txBody>
      </p:sp>
      <p:sp>
        <p:nvSpPr>
          <p:cNvPr id="8" name="Title 1"/>
          <p:cNvSpPr>
            <a:spLocks noGrp="1"/>
          </p:cNvSpPr>
          <p:nvPr>
            <p:ph type="title"/>
          </p:nvPr>
        </p:nvSpPr>
        <p:spPr>
          <a:xfrm>
            <a:off x="453390" y="3024505"/>
            <a:ext cx="8437880" cy="1143000"/>
          </a:xfrm>
        </p:spPr>
        <p:txBody>
          <a:bodyPr/>
          <a:lstStyle/>
          <a:p>
            <a:pPr algn="ctr"/>
            <a:r>
              <a:rPr lang="en-US" altLang="en-US" sz="4800" dirty="0">
                <a:solidFill>
                  <a:srgbClr val="C00000"/>
                </a:solidFill>
                <a:latin typeface="Times New Roman" panose="02020603050405020304" pitchFamily="18" charset="0"/>
                <a:cs typeface="Times New Roman" panose="02020603050405020304" pitchFamily="18" charset="0"/>
                <a:sym typeface="+mn-ea"/>
              </a:rPr>
              <a:t>Social Network Mining</a:t>
            </a:r>
          </a:p>
        </p:txBody>
      </p:sp>
    </p:spTree>
    <p:extLst>
      <p:ext uri="{BB962C8B-B14F-4D97-AF65-F5344CB8AC3E}">
        <p14:creationId xmlns:p14="http://schemas.microsoft.com/office/powerpoint/2010/main" val="41986556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heckerboard(across)">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38</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Social Media Mining </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Social media mining is the process of representing, analyzing, and extracting actionable patterns and trends from raw social media data.</a:t>
            </a:r>
          </a:p>
          <a:p>
            <a:r>
              <a:rPr lang="en-US" altLang="en-US" dirty="0">
                <a:solidFill>
                  <a:schemeClr val="tx1"/>
                </a:solidFill>
                <a:latin typeface="Times New Roman" panose="02020603050405020304" pitchFamily="18" charset="0"/>
                <a:cs typeface="Times New Roman" panose="02020603050405020304" pitchFamily="18" charset="0"/>
              </a:rPr>
              <a:t>Social media mining uses a range of basic concepts from computer science, data mining, machine learning, and statistics.</a:t>
            </a:r>
          </a:p>
          <a:p>
            <a:r>
              <a:rPr lang="en-US" altLang="en-US" dirty="0">
                <a:solidFill>
                  <a:schemeClr val="tx1"/>
                </a:solidFill>
                <a:latin typeface="Times New Roman" panose="02020603050405020304" pitchFamily="18" charset="0"/>
                <a:cs typeface="Times New Roman" panose="02020603050405020304" pitchFamily="18" charset="0"/>
              </a:rPr>
              <a:t>Social media mining is based on theory from social network analysis(SNA)</a:t>
            </a:r>
          </a:p>
          <a:p>
            <a:r>
              <a:rPr lang="en-US" altLang="en-US" dirty="0">
                <a:solidFill>
                  <a:schemeClr val="tx1"/>
                </a:solidFill>
                <a:latin typeface="Times New Roman" panose="02020603050405020304" pitchFamily="18" charset="0"/>
                <a:cs typeface="Times New Roman" panose="02020603050405020304" pitchFamily="18" charset="0"/>
              </a:rPr>
              <a:t>Data mining techniques in social media mining are:</a:t>
            </a:r>
          </a:p>
          <a:p>
            <a:pPr lvl="1"/>
            <a:r>
              <a:rPr lang="en-US" altLang="en-US" dirty="0">
                <a:solidFill>
                  <a:schemeClr val="tx1"/>
                </a:solidFill>
                <a:latin typeface="Times New Roman" panose="02020603050405020304" pitchFamily="18" charset="0"/>
                <a:cs typeface="Times New Roman" panose="02020603050405020304" pitchFamily="18" charset="0"/>
              </a:rPr>
              <a:t>Graph mining </a:t>
            </a:r>
          </a:p>
          <a:p>
            <a:pPr lvl="1"/>
            <a:r>
              <a:rPr lang="en-US" altLang="en-US" dirty="0">
                <a:solidFill>
                  <a:schemeClr val="tx1"/>
                </a:solidFill>
                <a:latin typeface="Times New Roman" panose="02020603050405020304" pitchFamily="18" charset="0"/>
                <a:cs typeface="Times New Roman" panose="02020603050405020304" pitchFamily="18" charset="0"/>
              </a:rPr>
              <a:t>Text mining</a:t>
            </a:r>
          </a:p>
        </p:txBody>
      </p:sp>
    </p:spTree>
    <p:extLst>
      <p:ext uri="{BB962C8B-B14F-4D97-AF65-F5344CB8AC3E}">
        <p14:creationId xmlns:p14="http://schemas.microsoft.com/office/powerpoint/2010/main" val="8581633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39</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Social Network Analysis</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Social network analysis [SNA] is the mapping and measuring of relationships and flows between people, groups, organizations, computers, and other connected information/knowledge entities.</a:t>
            </a:r>
          </a:p>
          <a:p>
            <a:r>
              <a:rPr lang="en-US" altLang="en-US" dirty="0">
                <a:solidFill>
                  <a:schemeClr val="tx1"/>
                </a:solidFill>
                <a:latin typeface="Times New Roman" panose="02020603050405020304" pitchFamily="18" charset="0"/>
                <a:cs typeface="Times New Roman" panose="02020603050405020304" pitchFamily="18" charset="0"/>
              </a:rPr>
              <a:t>The nodes in the network are the people and groups while the links show relationships or flows between the nodes.</a:t>
            </a:r>
          </a:p>
          <a:p>
            <a:r>
              <a:rPr lang="en-US" altLang="en-US" dirty="0">
                <a:solidFill>
                  <a:schemeClr val="tx1"/>
                </a:solidFill>
                <a:latin typeface="Times New Roman" panose="02020603050405020304" pitchFamily="18" charset="0"/>
                <a:cs typeface="Times New Roman" panose="02020603050405020304" pitchFamily="18" charset="0"/>
              </a:rPr>
              <a:t>SNA provides both a visual and a mathematical analysis of human relationships.</a:t>
            </a:r>
          </a:p>
          <a:p>
            <a:r>
              <a:rPr lang="en-US" altLang="en-US" dirty="0">
                <a:solidFill>
                  <a:schemeClr val="tx1"/>
                </a:solidFill>
                <a:latin typeface="Times New Roman" panose="02020603050405020304" pitchFamily="18" charset="0"/>
                <a:cs typeface="Times New Roman" panose="02020603050405020304" pitchFamily="18" charset="0"/>
              </a:rPr>
              <a:t>Example</a:t>
            </a:r>
          </a:p>
          <a:p>
            <a:pPr lvl="1"/>
            <a:r>
              <a:rPr lang="en-US" altLang="en-US" dirty="0">
                <a:solidFill>
                  <a:schemeClr val="tx1"/>
                </a:solidFill>
                <a:latin typeface="Times New Roman" panose="02020603050405020304" pitchFamily="18" charset="0"/>
                <a:cs typeface="Times New Roman" panose="02020603050405020304" pitchFamily="18" charset="0"/>
              </a:rPr>
              <a:t>Who knows whom and who shares what </a:t>
            </a:r>
          </a:p>
          <a:p>
            <a:pPr marL="457200" lvl="1" indent="0">
              <a:buNone/>
            </a:pPr>
            <a:r>
              <a:rPr lang="en-US" altLang="en-US" dirty="0">
                <a:solidFill>
                  <a:schemeClr val="tx1"/>
                </a:solidFill>
                <a:latin typeface="Times New Roman" panose="02020603050405020304" pitchFamily="18" charset="0"/>
                <a:cs typeface="Times New Roman" panose="02020603050405020304" pitchFamily="18" charset="0"/>
              </a:rPr>
              <a:t>information and knowledge with whom </a:t>
            </a:r>
          </a:p>
          <a:p>
            <a:pPr marL="457200" lvl="1" indent="0">
              <a:buNone/>
            </a:pPr>
            <a:r>
              <a:rPr lang="en-US" altLang="en-US" dirty="0">
                <a:solidFill>
                  <a:schemeClr val="tx1"/>
                </a:solidFill>
                <a:latin typeface="Times New Roman" panose="02020603050405020304" pitchFamily="18" charset="0"/>
                <a:cs typeface="Times New Roman" panose="02020603050405020304" pitchFamily="18" charset="0"/>
              </a:rPr>
              <a:t>through what media.</a:t>
            </a:r>
          </a:p>
        </p:txBody>
      </p:sp>
      <p:pic>
        <p:nvPicPr>
          <p:cNvPr id="3" name="Picture 2">
            <a:extLst>
              <a:ext uri="{FF2B5EF4-FFF2-40B4-BE49-F238E27FC236}">
                <a16:creationId xmlns:a16="http://schemas.microsoft.com/office/drawing/2014/main" id="{8B40B0C0-DD8C-49D6-9AD3-FD0F052A97C8}"/>
              </a:ext>
            </a:extLst>
          </p:cNvPr>
          <p:cNvPicPr>
            <a:picLocks noChangeAspect="1"/>
          </p:cNvPicPr>
          <p:nvPr/>
        </p:nvPicPr>
        <p:blipFill>
          <a:blip r:embed="rId2"/>
          <a:stretch>
            <a:fillRect/>
          </a:stretch>
        </p:blipFill>
        <p:spPr>
          <a:xfrm>
            <a:off x="5642783" y="4527295"/>
            <a:ext cx="2743583" cy="1829055"/>
          </a:xfrm>
          <a:prstGeom prst="rect">
            <a:avLst/>
          </a:prstGeom>
        </p:spPr>
      </p:pic>
    </p:spTree>
    <p:extLst>
      <p:ext uri="{BB962C8B-B14F-4D97-AF65-F5344CB8AC3E}">
        <p14:creationId xmlns:p14="http://schemas.microsoft.com/office/powerpoint/2010/main" val="27057701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40</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Graph Mining </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Extracting useful knowledge (patterns, outliers, etc.) from structured data that can be represented as a graph</a:t>
            </a:r>
          </a:p>
          <a:p>
            <a:r>
              <a:rPr lang="en-US" altLang="en-US" dirty="0">
                <a:solidFill>
                  <a:schemeClr val="tx1"/>
                </a:solidFill>
                <a:latin typeface="Times New Roman" panose="02020603050405020304" pitchFamily="18" charset="0"/>
                <a:cs typeface="Times New Roman" panose="02020603050405020304" pitchFamily="18" charset="0"/>
              </a:rPr>
              <a:t>A graph is a set of nodes and the relationships that connect those nodes</a:t>
            </a:r>
          </a:p>
          <a:p>
            <a:r>
              <a:rPr lang="en-US" altLang="en-US" dirty="0">
                <a:solidFill>
                  <a:schemeClr val="tx1"/>
                </a:solidFill>
                <a:latin typeface="Times New Roman" panose="02020603050405020304" pitchFamily="18" charset="0"/>
                <a:cs typeface="Times New Roman" panose="02020603050405020304" pitchFamily="18" charset="0"/>
              </a:rPr>
              <a:t>Nodes and relationships contain properties to represent data.</a:t>
            </a:r>
          </a:p>
        </p:txBody>
      </p:sp>
    </p:spTree>
    <p:extLst>
      <p:ext uri="{BB962C8B-B14F-4D97-AF65-F5344CB8AC3E}">
        <p14:creationId xmlns:p14="http://schemas.microsoft.com/office/powerpoint/2010/main" val="7001359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41</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a:solidFill>
                  <a:schemeClr val="bg1"/>
                </a:solidFill>
                <a:latin typeface="Times New Roman" panose="02020603050405020304" pitchFamily="18" charset="0"/>
                <a:cs typeface="Times New Roman" panose="02020603050405020304" pitchFamily="18" charset="0"/>
              </a:rPr>
              <a:t>Text Mining </a:t>
            </a: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A social network contains a lot of data in the nodes of various forms. For example, a social network may contain blogs, articles, messages, and etc.</a:t>
            </a:r>
          </a:p>
          <a:p>
            <a:r>
              <a:rPr lang="en-US" altLang="en-US" dirty="0">
                <a:solidFill>
                  <a:schemeClr val="tx1"/>
                </a:solidFill>
                <a:latin typeface="Times New Roman" panose="02020603050405020304" pitchFamily="18" charset="0"/>
                <a:cs typeface="Times New Roman" panose="02020603050405020304" pitchFamily="18" charset="0"/>
              </a:rPr>
              <a:t>Common application for text mining is to aid in the automatic classification of texts. For example, it is possible to "filter" out automatically most undesirable "junk email" based on certain terms or words that are not likely to appear in legitimate messages</a:t>
            </a:r>
          </a:p>
        </p:txBody>
      </p:sp>
    </p:spTree>
    <p:extLst>
      <p:ext uri="{BB962C8B-B14F-4D97-AF65-F5344CB8AC3E}">
        <p14:creationId xmlns:p14="http://schemas.microsoft.com/office/powerpoint/2010/main" val="15843646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D5CD492-2BC6-F348-9965-EC1D86DF57A8}" type="slidenum">
              <a:rPr lang="en-US" smtClean="0"/>
              <a:t>42</a:t>
            </a:fld>
            <a:endParaRPr lang="en-US"/>
          </a:p>
        </p:txBody>
      </p:sp>
      <p:sp>
        <p:nvSpPr>
          <p:cNvPr id="8" name="Title 1"/>
          <p:cNvSpPr>
            <a:spLocks noGrp="1"/>
          </p:cNvSpPr>
          <p:nvPr>
            <p:ph type="title"/>
          </p:nvPr>
        </p:nvSpPr>
        <p:spPr>
          <a:xfrm>
            <a:off x="1553226" y="0"/>
            <a:ext cx="5461349" cy="1143000"/>
          </a:xfrm>
        </p:spPr>
        <p:txBody>
          <a:bodyPr/>
          <a:lstStyle/>
          <a:p>
            <a:pPr algn="ctr"/>
            <a:r>
              <a:rPr lang="en-US" sz="3600" dirty="0" err="1">
                <a:solidFill>
                  <a:schemeClr val="bg1"/>
                </a:solidFill>
                <a:latin typeface="Times New Roman" panose="02020603050405020304" pitchFamily="18" charset="0"/>
                <a:cs typeface="Times New Roman" panose="02020603050405020304" pitchFamily="18" charset="0"/>
              </a:rPr>
              <a:t>Excercise</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p:txBody>
          <a:bodyPr/>
          <a:lstStyle/>
          <a:p>
            <a:r>
              <a:rPr lang="en-US" altLang="en-US" dirty="0">
                <a:solidFill>
                  <a:schemeClr val="tx1"/>
                </a:solidFill>
                <a:latin typeface="Times New Roman" panose="02020603050405020304" pitchFamily="18" charset="0"/>
                <a:cs typeface="Times New Roman" panose="02020603050405020304" pitchFamily="18" charset="0"/>
              </a:rPr>
              <a:t>Compare two competitive products in social media base on the comments on the products (use text mining tool-</a:t>
            </a:r>
            <a:r>
              <a:rPr lang="en-US" altLang="en-US" dirty="0" err="1">
                <a:solidFill>
                  <a:schemeClr val="tx1"/>
                </a:solidFill>
                <a:latin typeface="Times New Roman" panose="02020603050405020304" pitchFamily="18" charset="0"/>
                <a:cs typeface="Times New Roman" panose="02020603050405020304" pitchFamily="18" charset="0"/>
              </a:rPr>
              <a:t>voyant</a:t>
            </a:r>
            <a:r>
              <a:rPr lang="en-US" altLang="en-US" dirty="0">
                <a:solidFill>
                  <a:schemeClr val="tx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9332D2E1-9F07-4A0B-B448-4B40CD74D144}"/>
              </a:ext>
            </a:extLst>
          </p:cNvPr>
          <p:cNvPicPr>
            <a:picLocks noChangeAspect="1"/>
          </p:cNvPicPr>
          <p:nvPr/>
        </p:nvPicPr>
        <p:blipFill>
          <a:blip r:embed="rId2"/>
          <a:stretch>
            <a:fillRect/>
          </a:stretch>
        </p:blipFill>
        <p:spPr>
          <a:xfrm>
            <a:off x="506710" y="3578017"/>
            <a:ext cx="7554379" cy="2067213"/>
          </a:xfrm>
          <a:prstGeom prst="rect">
            <a:avLst/>
          </a:prstGeom>
        </p:spPr>
      </p:pic>
    </p:spTree>
    <p:extLst>
      <p:ext uri="{BB962C8B-B14F-4D97-AF65-F5344CB8AC3E}">
        <p14:creationId xmlns:p14="http://schemas.microsoft.com/office/powerpoint/2010/main" val="31506261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81000"/>
            <a:ext cx="5257800" cy="762000"/>
          </a:xfrm>
        </p:spPr>
        <p:txBody>
          <a:bodyPr>
            <a:noAutofit/>
          </a:bodyPr>
          <a:lstStyle/>
          <a:p>
            <a:pPr algn="ctr"/>
            <a:r>
              <a:rPr lang="en-US" sz="4400" b="1" dirty="0">
                <a:solidFill>
                  <a:schemeClr val="bg1"/>
                </a:solidFill>
                <a:latin typeface="Times New Roman" panose="02020603050405020304" pitchFamily="18" charset="0"/>
                <a:cs typeface="Times New Roman" panose="02020603050405020304" pitchFamily="18" charset="0"/>
                <a:sym typeface="+mn-ea"/>
              </a:rPr>
              <a:t>Advice</a:t>
            </a:r>
          </a:p>
        </p:txBody>
      </p:sp>
      <p:sp>
        <p:nvSpPr>
          <p:cNvPr id="3" name="Content Placeholder 2"/>
          <p:cNvSpPr>
            <a:spLocks noGrp="1"/>
          </p:cNvSpPr>
          <p:nvPr>
            <p:ph sz="quarter" idx="1"/>
          </p:nvPr>
        </p:nvSpPr>
        <p:spPr>
          <a:xfrm>
            <a:off x="381000" y="1219200"/>
            <a:ext cx="8458200" cy="5334000"/>
          </a:xfrm>
        </p:spPr>
        <p:txBody>
          <a:bodyPr>
            <a:normAutofit/>
          </a:bodyPr>
          <a:lstStyle/>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endParaRPr lang="en-US" sz="2800" b="1" dirty="0">
              <a:solidFill>
                <a:srgbClr val="C00000"/>
              </a:solidFill>
              <a:latin typeface="Arial Black" panose="020B0A04020102020204" charset="0"/>
              <a:cs typeface="Arial Black" panose="020B0A04020102020204" charset="0"/>
              <a:sym typeface="+mn-ea"/>
            </a:endParaRPr>
          </a:p>
          <a:p>
            <a:pPr marL="0" indent="0" algn="ctr">
              <a:lnSpc>
                <a:spcPct val="120000"/>
              </a:lnSpc>
              <a:buNone/>
            </a:pPr>
            <a:r>
              <a:rPr lang="en-US" sz="2800" b="1" dirty="0">
                <a:solidFill>
                  <a:srgbClr val="C00000"/>
                </a:solidFill>
                <a:latin typeface="Arial Black" panose="020B0A04020102020204" charset="0"/>
                <a:cs typeface="Arial Black" panose="020B0A04020102020204" charset="0"/>
                <a:sym typeface="+mn-ea"/>
              </a:rPr>
              <a:t>Kindly read the book before and after the lecture, if some terms/ words are not covered in the lecture, if appear in exam it might not appear strange or out of course.</a:t>
            </a:r>
            <a:endParaRPr lang="en-US" sz="2800" b="1" dirty="0">
              <a:solidFill>
                <a:srgbClr val="C00000"/>
              </a:solidFill>
              <a:latin typeface="Arial Black" panose="020B0A04020102020204" charset="0"/>
              <a:cs typeface="Arial Black" panose="020B0A04020102020204" charset="0"/>
            </a:endParaRPr>
          </a:p>
          <a:p>
            <a:pPr algn="ctr">
              <a:lnSpc>
                <a:spcPct val="120000"/>
              </a:lnSpc>
            </a:pPr>
            <a:endParaRPr lang="en-US" sz="2800" dirty="0">
              <a:latin typeface="Arial Black" panose="020B0A04020102020204" charset="0"/>
              <a:cs typeface="Arial Black" panose="020B0A040201020202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p:cTn id="1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SE10 slides.thmx</Template>
  <TotalTime>425</TotalTime>
  <Words>2492</Words>
  <Application>Microsoft Office PowerPoint</Application>
  <PresentationFormat>On-screen Show (4:3)</PresentationFormat>
  <Paragraphs>254</Paragraphs>
  <Slides>43</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43</vt:i4>
      </vt:variant>
    </vt:vector>
  </HeadingPairs>
  <TitlesOfParts>
    <vt:vector size="53" baseType="lpstr">
      <vt:lpstr>Arial</vt:lpstr>
      <vt:lpstr>Arial Black</vt:lpstr>
      <vt:lpstr>Calibri</vt:lpstr>
      <vt:lpstr>Garamond</vt:lpstr>
      <vt:lpstr>Times New Roman</vt:lpstr>
      <vt:lpstr>Wingdings</vt:lpstr>
      <vt:lpstr>SE10 slides</vt:lpstr>
      <vt:lpstr>2_SE10 slides</vt:lpstr>
      <vt:lpstr>5_SE10 slides</vt:lpstr>
      <vt:lpstr>7_SE10 slides</vt:lpstr>
      <vt:lpstr>Data Mining DS-303</vt:lpstr>
      <vt:lpstr>Content </vt:lpstr>
      <vt:lpstr>Web Mining</vt:lpstr>
      <vt:lpstr>What is Web Mining?</vt:lpstr>
      <vt:lpstr>What is Data Mining?</vt:lpstr>
      <vt:lpstr>Data Mining Techniques </vt:lpstr>
      <vt:lpstr>What is Web Data?</vt:lpstr>
      <vt:lpstr>Data Mining vs. Web Mining </vt:lpstr>
      <vt:lpstr>Example: Assessing credit; risk</vt:lpstr>
      <vt:lpstr>Example: Insurance Fraud</vt:lpstr>
      <vt:lpstr>Opportunities and Challenges </vt:lpstr>
      <vt:lpstr>Opportunities and Challenges </vt:lpstr>
      <vt:lpstr>Application of Web Mining in E-commerce</vt:lpstr>
      <vt:lpstr>Application of Web Mining in E-commerce</vt:lpstr>
      <vt:lpstr>Application of Web Mining in E-commerce</vt:lpstr>
      <vt:lpstr>Categories of Web Mining </vt:lpstr>
      <vt:lpstr>Web Content Mining</vt:lpstr>
      <vt:lpstr>Text Mining </vt:lpstr>
      <vt:lpstr>Data Mining Techniques Using In Web Content Mining</vt:lpstr>
      <vt:lpstr>Web Usages Mining</vt:lpstr>
      <vt:lpstr>The Phase of Web Usage Mining</vt:lpstr>
      <vt:lpstr>Classification </vt:lpstr>
      <vt:lpstr>Classification </vt:lpstr>
      <vt:lpstr>Classification Algorithm</vt:lpstr>
      <vt:lpstr>Decision Trees</vt:lpstr>
      <vt:lpstr>Decision Trees</vt:lpstr>
      <vt:lpstr>Decision Tree using Orange Data Mining</vt:lpstr>
      <vt:lpstr>Clustering </vt:lpstr>
      <vt:lpstr>K-Means for Clustering</vt:lpstr>
      <vt:lpstr>Clustering Using Orange</vt:lpstr>
      <vt:lpstr>Association Rule </vt:lpstr>
      <vt:lpstr>Example of Market Basket Analysis </vt:lpstr>
      <vt:lpstr>Web Structure Mining </vt:lpstr>
      <vt:lpstr>Web Structure Terminology</vt:lpstr>
      <vt:lpstr>Web Structure Terminology</vt:lpstr>
      <vt:lpstr>Hubs and Authorities </vt:lpstr>
      <vt:lpstr>Social Network Mining</vt:lpstr>
      <vt:lpstr>Social Media Mining </vt:lpstr>
      <vt:lpstr>Social Network Analysis</vt:lpstr>
      <vt:lpstr>Graph Mining </vt:lpstr>
      <vt:lpstr>Text Mining </vt:lpstr>
      <vt:lpstr>Excercise</vt:lpstr>
      <vt:lpstr>Advice</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Arham</cp:lastModifiedBy>
  <cp:revision>160</cp:revision>
  <dcterms:created xsi:type="dcterms:W3CDTF">2009-12-29T10:39:00Z</dcterms:created>
  <dcterms:modified xsi:type="dcterms:W3CDTF">2026-04-21T03:56:04Z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D1306A2FD05A48D7B302624F1CBE0347</vt:lpwstr>
  </property>
  <property fmtid="{D5CDD505-2E9C-101B-9397-08002B2CF9AE}" pid="3" name="KSOProductBuildVer">
    <vt:lpwstr>1033-12.2.0.23155</vt:lpwstr>
  </property>
</Properties>
</file>