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84" r:id="rId3"/>
    <p:sldMasterId id="2147483696" r:id="rId4"/>
    <p:sldMasterId id="2147483852" r:id="rId5"/>
  </p:sldMasterIdLst>
  <p:notesMasterIdLst>
    <p:notesMasterId r:id="rId39"/>
  </p:notesMasterIdLst>
  <p:handoutMasterIdLst>
    <p:handoutMasterId r:id="rId40"/>
  </p:handoutMasterIdLst>
  <p:sldIdLst>
    <p:sldId id="329" r:id="rId6"/>
    <p:sldId id="430" r:id="rId7"/>
    <p:sldId id="528" r:id="rId8"/>
    <p:sldId id="507" r:id="rId9"/>
    <p:sldId id="552" r:id="rId10"/>
    <p:sldId id="564" r:id="rId11"/>
    <p:sldId id="553" r:id="rId12"/>
    <p:sldId id="554" r:id="rId13"/>
    <p:sldId id="555" r:id="rId14"/>
    <p:sldId id="529" r:id="rId15"/>
    <p:sldId id="530" r:id="rId16"/>
    <p:sldId id="531" r:id="rId17"/>
    <p:sldId id="432" r:id="rId18"/>
    <p:sldId id="532" r:id="rId19"/>
    <p:sldId id="533" r:id="rId20"/>
    <p:sldId id="534" r:id="rId21"/>
    <p:sldId id="535" r:id="rId22"/>
    <p:sldId id="536" r:id="rId23"/>
    <p:sldId id="537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7" r:id="rId34"/>
    <p:sldId id="562" r:id="rId35"/>
    <p:sldId id="563" r:id="rId36"/>
    <p:sldId id="496" r:id="rId37"/>
    <p:sldId id="427" r:id="rId3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672" autoAdjust="0"/>
  </p:normalViewPr>
  <p:slideViewPr>
    <p:cSldViewPr snapToGrid="0" snapToObjects="1" showGuides="1">
      <p:cViewPr varScale="1">
        <p:scale>
          <a:sx n="67" d="100"/>
          <a:sy n="67" d="100"/>
        </p:scale>
        <p:origin x="1698" y="7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758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data-mining-fp-growth/20208045#2" TargetMode="External"/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7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FP-Tree &amp; Frequent Pattern Growth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Frequent Pattern Growth</a:t>
            </a:r>
          </a:p>
        </p:txBody>
      </p:sp>
    </p:spTree>
    <p:extLst>
      <p:ext uri="{BB962C8B-B14F-4D97-AF65-F5344CB8AC3E}">
        <p14:creationId xmlns:p14="http://schemas.microsoft.com/office/powerpoint/2010/main" val="2157698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FP Growth?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 Growth stands for frequent Pattern growth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scalable technique for mining frequent pattern in a database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78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FP-Growth?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FP-Growth (Frequent Pattern Growth) is an algorithm that: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Mines frequent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candidate generation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Compresses database into a structure called FP-Tree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patterns directly from the tree</a:t>
            </a:r>
          </a:p>
          <a:p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08704-6FF2-4539-94AF-CCAEA1A49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889" y="4019550"/>
            <a:ext cx="46736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98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FP-Growth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Here's how it works in simple terms: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Compression: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First FP-Growth compresses the dataset into a smaller structure called the Frequent Pattern Tree (FP-Tree). This tree stores information about item sets (collections of items) and their frequencies without need to generate candidate sets like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does.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 the Tree: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algorithm then examines this tree to identify patterns that appear frequently based on a minimum support threshold. It does this by breaking the tree down into smaller "conditional" trees for each item making the process more efficient.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Generating Patterns: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Once the tree is built and analyzed the algorithm generates the frequent patterns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the rules that describe relationships between items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F245752-AB1D-45F6-BDFB-8D340E82D1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19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FP-Growth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candidate generation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two database scans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divide-and-conquer strategy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large datasets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5155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FP-Tree (Frequent Pattern Tree)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FP-Tree is: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compact tree structure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item frequency and transactions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in prefix form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(null node)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nodes with count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table with node links</a:t>
            </a:r>
          </a:p>
          <a:p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802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of FP-Growth Algorithm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Scan Database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support of each item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infrequent items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Construct FP-Tree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items by descending frequency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transactions into tree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Mine the FP-Tree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conditional pattern base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conditional FP-Tree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extract frequent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70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574800"/>
            <a:ext cx="8229600" cy="4525963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 growth improves apriority to a big extent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item set Mining is possible without candidate generation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“Two Scan” to the database is needed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HOW?</a:t>
            </a:r>
            <a:b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owerPoint ClipArt for Presentations ...">
            <a:extLst>
              <a:ext uri="{FF2B5EF4-FFF2-40B4-BE49-F238E27FC236}">
                <a16:creationId xmlns:a16="http://schemas.microsoft.com/office/drawing/2014/main" id="{41AA8730-E503-4B23-A7DA-EBC2B05B1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43894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570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 Growth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a two step procedure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Build a compact data structure called the FP-tree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Extracts frequent item sets directly from the FP-tree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lets consider the following transaction table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DDBA9-1DD2-4595-B43E-71E5AE05A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41" y="3297621"/>
            <a:ext cx="4288169" cy="34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04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FP-Growth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will build a FP tree of that database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sets are considered in order of their descending value of support count.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601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FP-Tree</a:t>
            </a:r>
          </a:p>
        </p:txBody>
      </p:sp>
    </p:spTree>
    <p:extLst>
      <p:ext uri="{BB962C8B-B14F-4D97-AF65-F5344CB8AC3E}">
        <p14:creationId xmlns:p14="http://schemas.microsoft.com/office/powerpoint/2010/main" val="3213528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CFF429D-9577-4ADD-827B-37F5D4682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535" y="1600200"/>
            <a:ext cx="604092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83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Gallery Item 7">
            <a:extLst>
              <a:ext uri="{FF2B5EF4-FFF2-40B4-BE49-F238E27FC236}">
                <a16:creationId xmlns:a16="http://schemas.microsoft.com/office/drawing/2014/main" id="{C2B6FE32-374A-4B81-A819-169AAAB7D2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395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Gallery Item 8">
            <a:extLst>
              <a:ext uri="{FF2B5EF4-FFF2-40B4-BE49-F238E27FC236}">
                <a16:creationId xmlns:a16="http://schemas.microsoft.com/office/drawing/2014/main" id="{EC63B236-3611-46B5-B778-1A3D306507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000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Gallery Item 9">
            <a:extLst>
              <a:ext uri="{FF2B5EF4-FFF2-40B4-BE49-F238E27FC236}">
                <a16:creationId xmlns:a16="http://schemas.microsoft.com/office/drawing/2014/main" id="{095C479A-4354-4F88-96D5-4A7742641A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366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Gallery Item 10">
            <a:extLst>
              <a:ext uri="{FF2B5EF4-FFF2-40B4-BE49-F238E27FC236}">
                <a16:creationId xmlns:a16="http://schemas.microsoft.com/office/drawing/2014/main" id="{18056502-6F38-4840-8FC6-486AB0FD11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446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Gallery Item 11">
            <a:extLst>
              <a:ext uri="{FF2B5EF4-FFF2-40B4-BE49-F238E27FC236}">
                <a16:creationId xmlns:a16="http://schemas.microsoft.com/office/drawing/2014/main" id="{036E56D3-520E-4354-B62B-9B683CE3A6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798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 descr="Gallery Item 12">
            <a:extLst>
              <a:ext uri="{FF2B5EF4-FFF2-40B4-BE49-F238E27FC236}">
                <a16:creationId xmlns:a16="http://schemas.microsoft.com/office/drawing/2014/main" id="{25DC20DA-0111-4904-B06C-29329946FF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185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Gallery Item 13">
            <a:extLst>
              <a:ext uri="{FF2B5EF4-FFF2-40B4-BE49-F238E27FC236}">
                <a16:creationId xmlns:a16="http://schemas.microsoft.com/office/drawing/2014/main" id="{99DE1126-B2A6-4F59-9D8D-0EC226AF27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940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Gallery Item 14">
            <a:extLst>
              <a:ext uri="{FF2B5EF4-FFF2-40B4-BE49-F238E27FC236}">
                <a16:creationId xmlns:a16="http://schemas.microsoft.com/office/drawing/2014/main" id="{64039081-78D2-4FA7-A30F-C3511B8DC4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142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Gallery Item 15">
            <a:extLst>
              <a:ext uri="{FF2B5EF4-FFF2-40B4-BE49-F238E27FC236}">
                <a16:creationId xmlns:a16="http://schemas.microsoft.com/office/drawing/2014/main" id="{1F177CEA-1552-4105-8D03-32C58E13F1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3095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Gallery Item 16">
            <a:extLst>
              <a:ext uri="{FF2B5EF4-FFF2-40B4-BE49-F238E27FC236}">
                <a16:creationId xmlns:a16="http://schemas.microsoft.com/office/drawing/2014/main" id="{DE7749F1-BD9A-4866-B03C-649955859C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213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Gallery Item 17">
            <a:extLst>
              <a:ext uri="{FF2B5EF4-FFF2-40B4-BE49-F238E27FC236}">
                <a16:creationId xmlns:a16="http://schemas.microsoft.com/office/drawing/2014/main" id="{38AAD174-B925-4117-B40E-A231C48303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2238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Gallery Item 17">
            <a:extLst>
              <a:ext uri="{FF2B5EF4-FFF2-40B4-BE49-F238E27FC236}">
                <a16:creationId xmlns:a16="http://schemas.microsoft.com/office/drawing/2014/main" id="{34D0589B-DDD2-41AB-B3B6-F318610797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966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Gallery Item 19">
            <a:extLst>
              <a:ext uri="{FF2B5EF4-FFF2-40B4-BE49-F238E27FC236}">
                <a16:creationId xmlns:a16="http://schemas.microsoft.com/office/drawing/2014/main" id="{4FEBE7C5-6713-4905-9C70-F6B6627A0D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03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Gallery Item 20">
            <a:extLst>
              <a:ext uri="{FF2B5EF4-FFF2-40B4-BE49-F238E27FC236}">
                <a16:creationId xmlns:a16="http://schemas.microsoft.com/office/drawing/2014/main" id="{6FC7A2B3-271D-4BEA-AE7F-72086AE409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864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Gallery Item 21">
            <a:extLst>
              <a:ext uri="{FF2B5EF4-FFF2-40B4-BE49-F238E27FC236}">
                <a16:creationId xmlns:a16="http://schemas.microsoft.com/office/drawing/2014/main" id="{506EFE7A-5288-4306-BC36-CD44975A07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35" y="1600200"/>
            <a:ext cx="604092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672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Log Analysis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612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than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datasets efficiently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computational cost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practical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167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https://www.slideshare.net/slideshow/data-mining-fp-growth/20208045#2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https://www.slideshare.net/slideshow/frequent-pattern-analysis-apriori-and-fp-growth-algorithm/267512961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 build="p"/>
      <p:bldP spid="4" grpI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542</TotalTime>
  <Words>531</Words>
  <Application>Microsoft Office PowerPoint</Application>
  <PresentationFormat>On-screen Show (4:3)</PresentationFormat>
  <Paragraphs>112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16_SE10 slides</vt:lpstr>
      <vt:lpstr>Data Mining DS-303</vt:lpstr>
      <vt:lpstr>Content </vt:lpstr>
      <vt:lpstr>Frequent Pattern Growth</vt:lpstr>
      <vt:lpstr>What is FP Growth?</vt:lpstr>
      <vt:lpstr>What is FP-Growth?</vt:lpstr>
      <vt:lpstr>How FP-Growth Works</vt:lpstr>
      <vt:lpstr>Key Features of FP-Growth</vt:lpstr>
      <vt:lpstr>FP-Tree (Frequent Pattern Tree)</vt:lpstr>
      <vt:lpstr>Steps of FP-Growth Algorithm</vt:lpstr>
      <vt:lpstr>Cont…</vt:lpstr>
      <vt:lpstr>FP Growth</vt:lpstr>
      <vt:lpstr>FP-Growth </vt:lpstr>
      <vt:lpstr>FP-Tree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  <vt:lpstr>Advantages</vt:lpstr>
      <vt:lpstr>Reference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213</cp:revision>
  <dcterms:created xsi:type="dcterms:W3CDTF">2009-12-29T10:39:00Z</dcterms:created>
  <dcterms:modified xsi:type="dcterms:W3CDTF">2026-02-25T05:53:19Z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