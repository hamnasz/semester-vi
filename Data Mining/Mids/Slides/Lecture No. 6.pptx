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84" r:id="rId3"/>
    <p:sldMasterId id="2147483696" r:id="rId4"/>
    <p:sldMasterId id="2147483852" r:id="rId5"/>
  </p:sldMasterIdLst>
  <p:notesMasterIdLst>
    <p:notesMasterId r:id="rId30"/>
  </p:notesMasterIdLst>
  <p:handoutMasterIdLst>
    <p:handoutMasterId r:id="rId31"/>
  </p:handoutMasterIdLst>
  <p:sldIdLst>
    <p:sldId id="329" r:id="rId6"/>
    <p:sldId id="430" r:id="rId7"/>
    <p:sldId id="432" r:id="rId8"/>
    <p:sldId id="507" r:id="rId9"/>
    <p:sldId id="508" r:id="rId10"/>
    <p:sldId id="517" r:id="rId11"/>
    <p:sldId id="518" r:id="rId12"/>
    <p:sldId id="499" r:id="rId13"/>
    <p:sldId id="500" r:id="rId14"/>
    <p:sldId id="501" r:id="rId15"/>
    <p:sldId id="502" r:id="rId16"/>
    <p:sldId id="519" r:id="rId17"/>
    <p:sldId id="520" r:id="rId18"/>
    <p:sldId id="521" r:id="rId19"/>
    <p:sldId id="522" r:id="rId20"/>
    <p:sldId id="523" r:id="rId21"/>
    <p:sldId id="524" r:id="rId22"/>
    <p:sldId id="525" r:id="rId23"/>
    <p:sldId id="526" r:id="rId24"/>
    <p:sldId id="527" r:id="rId25"/>
    <p:sldId id="509" r:id="rId26"/>
    <p:sldId id="510" r:id="rId27"/>
    <p:sldId id="496" r:id="rId28"/>
    <p:sldId id="427" r:id="rId2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2672" autoAdjust="0"/>
  </p:normalViewPr>
  <p:slideViewPr>
    <p:cSldViewPr snapToGrid="0" snapToObjects="1" showGuides="1">
      <p:cViewPr varScale="1">
        <p:scale>
          <a:sx n="68" d="100"/>
          <a:sy n="68" d="100"/>
        </p:scale>
        <p:origin x="1668" y="60"/>
      </p:cViewPr>
      <p:guideLst>
        <p:guide orient="horz" pos="2160"/>
        <p:guide pos="2904"/>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2/14/2026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32457758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2/14/2026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extLst>
      <p:ext uri="{BB962C8B-B14F-4D97-AF65-F5344CB8AC3E}">
        <p14:creationId xmlns:p14="http://schemas.microsoft.com/office/powerpoint/2010/main" val="809164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3.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10.svg"/><Relationship Id="rId2" Type="http://schemas.openxmlformats.org/officeDocument/2006/relationships/slideLayout" Target="../slideLayouts/slideLayout46.xml"/><Relationship Id="rId16" Type="http://schemas.openxmlformats.org/officeDocument/2006/relationships/image" Target="../media/image6.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8.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hyperlink" Target="https://www.slideshare.net/slideshow/apriori-algorithm-241228738/241228738#3" TargetMode="Externa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6</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smtClean="0">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sz="3200" dirty="0" err="1">
                <a:solidFill>
                  <a:schemeClr val="tx1"/>
                </a:solidFill>
                <a:latin typeface="Times New Roman" panose="02020603050405020304" pitchFamily="18" charset="0"/>
                <a:cs typeface="Times New Roman" panose="02020603050405020304" pitchFamily="18" charset="0"/>
              </a:rPr>
              <a:t>Apriori</a:t>
            </a:r>
            <a:r>
              <a:rPr lang="en-US" altLang="en-US" sz="3200" dirty="0">
                <a:solidFill>
                  <a:schemeClr val="tx1"/>
                </a:solidFill>
                <a:latin typeface="Times New Roman" panose="02020603050405020304" pitchFamily="18" charset="0"/>
                <a:cs typeface="Times New Roman" panose="02020603050405020304" pitchFamily="18" charset="0"/>
              </a:rPr>
              <a:t> Algorithm</a:t>
            </a:r>
          </a:p>
        </p:txBody>
      </p:sp>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
                                        <p:tgtEl>
                                          <p:spTgt spid="3">
                                            <p:txEl>
                                              <p:pRg st="0" end="0"/>
                                            </p:txEl>
                                          </p:spTgt>
                                        </p:tgtEl>
                                      </p:cBhvr>
                                    </p:animEffect>
                                    <p:anim calcmode="lin" valueType="num">
                                      <p:cBhvr>
                                        <p:cTn id="22"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err="1">
                <a:solidFill>
                  <a:srgbClr val="C00000"/>
                </a:solidFill>
                <a:latin typeface="Times New Roman" panose="02020603050405020304" pitchFamily="18" charset="0"/>
                <a:cs typeface="Times New Roman" panose="02020603050405020304" pitchFamily="18" charset="0"/>
                <a:sym typeface="+mn-ea"/>
              </a:rPr>
              <a:t>Apriori</a:t>
            </a:r>
            <a:r>
              <a:rPr lang="en-US" altLang="en-US" sz="4800" dirty="0">
                <a:solidFill>
                  <a:srgbClr val="C00000"/>
                </a:solidFill>
                <a:latin typeface="Times New Roman" panose="02020603050405020304" pitchFamily="18" charset="0"/>
                <a:cs typeface="Times New Roman" panose="02020603050405020304" pitchFamily="18" charset="0"/>
                <a:sym typeface="+mn-ea"/>
              </a:rPr>
              <a:t> Algorithm</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Introduction to APRIORI</a:t>
            </a:r>
          </a:p>
        </p:txBody>
      </p:sp>
      <p:sp>
        <p:nvSpPr>
          <p:cNvPr id="4" name="Content Placeholder 3"/>
          <p:cNvSpPr>
            <a:spLocks noGrp="1"/>
          </p:cNvSpPr>
          <p:nvPr>
            <p:ph idx="1"/>
          </p:nvPr>
        </p:nvSpPr>
        <p:spPr/>
        <p:txBody>
          <a:bodyPr/>
          <a:lstStyle/>
          <a:p>
            <a:r>
              <a:rPr lang="en-US" altLang="en-US" sz="2400" dirty="0" err="1">
                <a:solidFill>
                  <a:schemeClr val="tx1"/>
                </a:solidFill>
                <a:latin typeface="Times New Roman" panose="02020603050405020304" pitchFamily="18" charset="0"/>
                <a:cs typeface="Times New Roman" panose="02020603050405020304" pitchFamily="18" charset="0"/>
              </a:rPr>
              <a:t>Apriori</a:t>
            </a:r>
            <a:r>
              <a:rPr lang="en-US" altLang="en-US" sz="2400" dirty="0">
                <a:solidFill>
                  <a:schemeClr val="tx1"/>
                </a:solidFill>
                <a:latin typeface="Times New Roman" panose="02020603050405020304" pitchFamily="18" charset="0"/>
                <a:cs typeface="Times New Roman" panose="02020603050405020304" pitchFamily="18" charset="0"/>
              </a:rPr>
              <a:t> is the most famous frequent pattern mining method. It scans dataset repeatedly and generate item sets by bottom-top approach </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sz="2400" dirty="0" err="1">
                <a:solidFill>
                  <a:schemeClr val="tx1"/>
                </a:solidFill>
                <a:latin typeface="Times New Roman" panose="02020603050405020304" pitchFamily="18" charset="0"/>
                <a:cs typeface="Times New Roman" panose="02020603050405020304" pitchFamily="18" charset="0"/>
              </a:rPr>
              <a:t>Apriori</a:t>
            </a:r>
            <a:r>
              <a:rPr lang="en-US" altLang="en-US" sz="2400" dirty="0">
                <a:solidFill>
                  <a:schemeClr val="tx1"/>
                </a:solidFill>
                <a:latin typeface="Times New Roman" panose="02020603050405020304" pitchFamily="18" charset="0"/>
                <a:cs typeface="Times New Roman" panose="02020603050405020304" pitchFamily="18" charset="0"/>
              </a:rPr>
              <a:t> algorithm is given by R. Agrawal and R. Srikant in 1994 for finding frequent </a:t>
            </a:r>
            <a:r>
              <a:rPr lang="en-US" altLang="en-US" sz="2400" dirty="0" err="1">
                <a:solidFill>
                  <a:schemeClr val="tx1"/>
                </a:solidFill>
                <a:latin typeface="Times New Roman" panose="02020603050405020304" pitchFamily="18" charset="0"/>
                <a:cs typeface="Times New Roman" panose="02020603050405020304" pitchFamily="18" charset="0"/>
              </a:rPr>
              <a:t>itemsets</a:t>
            </a:r>
            <a:r>
              <a:rPr lang="en-US" altLang="en-US" sz="2400" dirty="0">
                <a:solidFill>
                  <a:schemeClr val="tx1"/>
                </a:solidFill>
                <a:latin typeface="Times New Roman" panose="02020603050405020304" pitchFamily="18" charset="0"/>
                <a:cs typeface="Times New Roman" panose="02020603050405020304" pitchFamily="18" charset="0"/>
              </a:rPr>
              <a:t> in a dataset for Boolean association rule. Name of the algorithm is </a:t>
            </a:r>
            <a:r>
              <a:rPr lang="en-US" altLang="en-US" sz="2400" dirty="0" err="1">
                <a:solidFill>
                  <a:schemeClr val="tx1"/>
                </a:solidFill>
                <a:latin typeface="Times New Roman" panose="02020603050405020304" pitchFamily="18" charset="0"/>
                <a:cs typeface="Times New Roman" panose="02020603050405020304" pitchFamily="18" charset="0"/>
              </a:rPr>
              <a:t>apriori</a:t>
            </a:r>
            <a:r>
              <a:rPr lang="en-US" altLang="en-US" sz="2400" dirty="0">
                <a:solidFill>
                  <a:schemeClr val="tx1"/>
                </a:solidFill>
                <a:latin typeface="Times New Roman" panose="02020603050405020304" pitchFamily="18" charset="0"/>
                <a:cs typeface="Times New Roman" panose="02020603050405020304" pitchFamily="18" charset="0"/>
              </a:rPr>
              <a:t> because it uses prior knowledge of frequent itemset properties.</a:t>
            </a:r>
          </a:p>
        </p:txBody>
      </p:sp>
    </p:spTree>
    <p:extLst>
      <p:ext uri="{BB962C8B-B14F-4D97-AF65-F5344CB8AC3E}">
        <p14:creationId xmlns:p14="http://schemas.microsoft.com/office/powerpoint/2010/main" val="428778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Cont</a:t>
            </a:r>
            <a:r>
              <a:rPr lang="en-US" sz="3600" dirty="0">
                <a:solidFill>
                  <a:schemeClr val="bg1"/>
                </a:solidFill>
                <a:latin typeface="Times New Roman" panose="02020603050405020304" pitchFamily="18" charset="0"/>
                <a:cs typeface="Times New Roman" panose="02020603050405020304" pitchFamily="18" charset="0"/>
              </a:rPr>
              <a:t>…</a:t>
            </a:r>
          </a:p>
        </p:txBody>
      </p:sp>
      <p:sp>
        <p:nvSpPr>
          <p:cNvPr id="4" name="Content Placeholder 3"/>
          <p:cNvSpPr>
            <a:spLocks noGrp="1"/>
          </p:cNvSpPr>
          <p:nvPr>
            <p:ph idx="1"/>
          </p:nvPr>
        </p:nvSpPr>
        <p:spPr>
          <a:xfrm>
            <a:off x="124178" y="1343377"/>
            <a:ext cx="8940800" cy="4748919"/>
          </a:xfrm>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This small story will help you understand the concept better. You must have noticed that the local vegetable seller always bundles onions and potatoes together. He even offers a discount to people who buy these bundles.</a:t>
            </a:r>
          </a:p>
          <a:p>
            <a:r>
              <a:rPr lang="en-US" altLang="en-US" sz="2000" dirty="0">
                <a:solidFill>
                  <a:schemeClr val="tx1"/>
                </a:solidFill>
                <a:latin typeface="Times New Roman" panose="02020603050405020304" pitchFamily="18" charset="0"/>
                <a:cs typeface="Times New Roman" panose="02020603050405020304" pitchFamily="18" charset="0"/>
              </a:rPr>
              <a:t>Why does he do so? He realizes that people who buy potatoes also buy onions. Therefore, by bunching them together, he makes it easy for the customers. At the same time, he also increases his sales performance. It also allows him to offer discounts.</a:t>
            </a:r>
          </a:p>
          <a:p>
            <a:r>
              <a:rPr lang="en-US" altLang="en-US" sz="2000" dirty="0">
                <a:solidFill>
                  <a:schemeClr val="tx1"/>
                </a:solidFill>
                <a:latin typeface="Times New Roman" panose="02020603050405020304" pitchFamily="18" charset="0"/>
                <a:cs typeface="Times New Roman" panose="02020603050405020304" pitchFamily="18" charset="0"/>
              </a:rPr>
              <a:t>Similarly, you go to a supermarket, and you will find bread, butter, and jam bundled together. The idea is to make it comfortable for the customer to buy these three food items in the same place.</a:t>
            </a:r>
          </a:p>
          <a:p>
            <a:r>
              <a:rPr lang="en-US" altLang="en-US" sz="2000" dirty="0">
                <a:solidFill>
                  <a:schemeClr val="tx1"/>
                </a:solidFill>
                <a:latin typeface="Times New Roman" panose="02020603050405020304" pitchFamily="18" charset="0"/>
                <a:cs typeface="Times New Roman" panose="02020603050405020304" pitchFamily="18" charset="0"/>
              </a:rPr>
              <a:t>The Walmart beer diaper parable is another example of this phenomenon. People who buy diapers tend to buy beer as well. The logic is that raising kids is a stressful job. People take beer to relieve stress. Walmart saw a spurt in the sale of both diapers and beer.</a:t>
            </a:r>
          </a:p>
          <a:p>
            <a:r>
              <a:rPr lang="en-US" altLang="en-US" sz="2000" dirty="0">
                <a:solidFill>
                  <a:schemeClr val="tx1"/>
                </a:solidFill>
                <a:latin typeface="Times New Roman" panose="02020603050405020304" pitchFamily="18" charset="0"/>
                <a:cs typeface="Times New Roman" panose="02020603050405020304" pitchFamily="18" charset="0"/>
              </a:rPr>
              <a:t>These three examples listed above are perfect examples of Association Rules in Data Mining. It helps us understand the concept of </a:t>
            </a:r>
            <a:r>
              <a:rPr lang="en-US" altLang="en-US" sz="2000" dirty="0" err="1">
                <a:solidFill>
                  <a:schemeClr val="tx1"/>
                </a:solidFill>
                <a:latin typeface="Times New Roman" panose="02020603050405020304" pitchFamily="18" charset="0"/>
                <a:cs typeface="Times New Roman" panose="02020603050405020304" pitchFamily="18" charset="0"/>
              </a:rPr>
              <a:t>apriori</a:t>
            </a:r>
            <a:r>
              <a:rPr lang="en-US" altLang="en-US" sz="2000" dirty="0">
                <a:solidFill>
                  <a:schemeClr val="tx1"/>
                </a:solidFill>
                <a:latin typeface="Times New Roman" panose="02020603050405020304" pitchFamily="18" charset="0"/>
                <a:cs typeface="Times New Roman" panose="02020603050405020304" pitchFamily="18" charset="0"/>
              </a:rPr>
              <a:t> algorithms.</a:t>
            </a:r>
          </a:p>
        </p:txBody>
      </p:sp>
    </p:spTree>
    <p:extLst>
      <p:ext uri="{BB962C8B-B14F-4D97-AF65-F5344CB8AC3E}">
        <p14:creationId xmlns:p14="http://schemas.microsoft.com/office/powerpoint/2010/main" val="2267137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the </a:t>
            </a:r>
            <a:r>
              <a:rPr lang="en-US" sz="3600" dirty="0" err="1">
                <a:solidFill>
                  <a:schemeClr val="bg1"/>
                </a:solidFill>
                <a:latin typeface="Times New Roman" panose="02020603050405020304" pitchFamily="18" charset="0"/>
                <a:cs typeface="Times New Roman" panose="02020603050405020304" pitchFamily="18" charset="0"/>
              </a:rPr>
              <a:t>Apriori</a:t>
            </a:r>
            <a:r>
              <a:rPr lang="en-US" sz="3600" dirty="0">
                <a:solidFill>
                  <a:schemeClr val="bg1"/>
                </a:solidFill>
                <a:latin typeface="Times New Roman" panose="02020603050405020304" pitchFamily="18" charset="0"/>
                <a:cs typeface="Times New Roman" panose="02020603050405020304" pitchFamily="18" charset="0"/>
              </a:rPr>
              <a:t> Algorithm?</a:t>
            </a:r>
          </a:p>
        </p:txBody>
      </p:sp>
      <p:sp>
        <p:nvSpPr>
          <p:cNvPr id="4" name="Content Placeholder 3"/>
          <p:cNvSpPr>
            <a:spLocks noGrp="1"/>
          </p:cNvSpPr>
          <p:nvPr>
            <p:ph idx="1"/>
          </p:nvPr>
        </p:nvSpPr>
        <p:spPr/>
        <p:txBody>
          <a:bodyPr/>
          <a:lstStyle/>
          <a:p>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 a classic algorithm, is useful in mining frequent </a:t>
            </a:r>
            <a:r>
              <a:rPr lang="en-US" altLang="en-US" dirty="0" err="1">
                <a:solidFill>
                  <a:schemeClr val="tx1"/>
                </a:solidFill>
                <a:latin typeface="Times New Roman" panose="02020603050405020304" pitchFamily="18" charset="0"/>
                <a:cs typeface="Times New Roman" panose="02020603050405020304" pitchFamily="18" charset="0"/>
              </a:rPr>
              <a:t>itemsets</a:t>
            </a:r>
            <a:r>
              <a:rPr lang="en-US" altLang="en-US" dirty="0">
                <a:solidFill>
                  <a:schemeClr val="tx1"/>
                </a:solidFill>
                <a:latin typeface="Times New Roman" panose="02020603050405020304" pitchFamily="18" charset="0"/>
                <a:cs typeface="Times New Roman" panose="02020603050405020304" pitchFamily="18" charset="0"/>
              </a:rPr>
              <a:t> and relevant association rules. Usually, you operate this algorithm on a database containing a large number of transactions. One such example is the items customers buy at a supermarket.</a:t>
            </a:r>
          </a:p>
          <a:p>
            <a:r>
              <a:rPr lang="en-US" altLang="en-US" dirty="0">
                <a:solidFill>
                  <a:schemeClr val="tx1"/>
                </a:solidFill>
                <a:latin typeface="Times New Roman" panose="02020603050405020304" pitchFamily="18" charset="0"/>
                <a:cs typeface="Times New Roman" panose="02020603050405020304" pitchFamily="18" charset="0"/>
              </a:rPr>
              <a:t>It helps the customers buy their items with ease, and enhances the sales performance of the departmental store. </a:t>
            </a:r>
          </a:p>
          <a:p>
            <a:r>
              <a:rPr lang="en-US" altLang="en-US" dirty="0">
                <a:solidFill>
                  <a:schemeClr val="tx1"/>
                </a:solidFill>
                <a:latin typeface="Times New Roman" panose="02020603050405020304" pitchFamily="18" charset="0"/>
                <a:cs typeface="Times New Roman" panose="02020603050405020304" pitchFamily="18" charset="0"/>
              </a:rPr>
              <a:t>This algorithm has utility in the field of healthcare as it can help in detecting adverse drug reactions (ADR) by producing association rules to indicate the combination of medications and patient characteristics that could lead to ADRs.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41698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Apriori</a:t>
            </a:r>
            <a:r>
              <a:rPr lang="en-US" sz="3600" dirty="0">
                <a:solidFill>
                  <a:schemeClr val="bg1"/>
                </a:solidFill>
                <a:latin typeface="Times New Roman" panose="02020603050405020304" pitchFamily="18" charset="0"/>
                <a:cs typeface="Times New Roman" panose="02020603050405020304" pitchFamily="18" charset="0"/>
              </a:rPr>
              <a:t> algorithm - The Theory</a:t>
            </a:r>
          </a:p>
        </p:txBody>
      </p:sp>
      <p:sp>
        <p:nvSpPr>
          <p:cNvPr id="4" name="Content Placeholder 3"/>
          <p:cNvSpPr>
            <a:spLocks noGrp="1"/>
          </p:cNvSpPr>
          <p:nvPr>
            <p:ph idx="1"/>
          </p:nvPr>
        </p:nvSpPr>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Three significant components comprise the </a:t>
            </a:r>
            <a:r>
              <a:rPr lang="en-US" altLang="en-US" sz="2000" dirty="0" err="1">
                <a:solidFill>
                  <a:schemeClr val="tx1"/>
                </a:solidFill>
                <a:latin typeface="Times New Roman" panose="02020603050405020304" pitchFamily="18" charset="0"/>
                <a:cs typeface="Times New Roman" panose="02020603050405020304" pitchFamily="18" charset="0"/>
              </a:rPr>
              <a:t>apriori</a:t>
            </a:r>
            <a:r>
              <a:rPr lang="en-US" altLang="en-US" sz="2000" dirty="0">
                <a:solidFill>
                  <a:schemeClr val="tx1"/>
                </a:solidFill>
                <a:latin typeface="Times New Roman" panose="02020603050405020304" pitchFamily="18" charset="0"/>
                <a:cs typeface="Times New Roman" panose="02020603050405020304" pitchFamily="18" charset="0"/>
              </a:rPr>
              <a:t> algorithm. They are as follows.</a:t>
            </a:r>
          </a:p>
          <a:p>
            <a:pPr lvl="1"/>
            <a:r>
              <a:rPr lang="en-US" altLang="en-US" sz="1800" dirty="0">
                <a:solidFill>
                  <a:schemeClr val="tx1"/>
                </a:solidFill>
                <a:latin typeface="Times New Roman" panose="02020603050405020304" pitchFamily="18" charset="0"/>
                <a:cs typeface="Times New Roman" panose="02020603050405020304" pitchFamily="18" charset="0"/>
              </a:rPr>
              <a:t>Support </a:t>
            </a:r>
          </a:p>
          <a:p>
            <a:pPr lvl="1"/>
            <a:r>
              <a:rPr lang="en-US" altLang="en-US" sz="1800" dirty="0">
                <a:solidFill>
                  <a:schemeClr val="tx1"/>
                </a:solidFill>
                <a:latin typeface="Times New Roman" panose="02020603050405020304" pitchFamily="18" charset="0"/>
                <a:cs typeface="Times New Roman" panose="02020603050405020304" pitchFamily="18" charset="0"/>
              </a:rPr>
              <a:t>Confidence </a:t>
            </a:r>
          </a:p>
          <a:p>
            <a:pPr lvl="1"/>
            <a:r>
              <a:rPr lang="en-US" altLang="en-US" sz="1800" dirty="0">
                <a:solidFill>
                  <a:schemeClr val="tx1"/>
                </a:solidFill>
                <a:latin typeface="Times New Roman" panose="02020603050405020304" pitchFamily="18" charset="0"/>
                <a:cs typeface="Times New Roman" panose="02020603050405020304" pitchFamily="18" charset="0"/>
              </a:rPr>
              <a:t>Lift</a:t>
            </a:r>
          </a:p>
          <a:p>
            <a:r>
              <a:rPr lang="en-US" altLang="en-US" sz="2000" dirty="0">
                <a:solidFill>
                  <a:schemeClr val="tx1"/>
                </a:solidFill>
                <a:latin typeface="Times New Roman" panose="02020603050405020304" pitchFamily="18" charset="0"/>
                <a:cs typeface="Times New Roman" panose="02020603050405020304" pitchFamily="18" charset="0"/>
              </a:rPr>
              <a:t>This example will make things easy to understand.</a:t>
            </a:r>
          </a:p>
          <a:p>
            <a:r>
              <a:rPr lang="en-US" altLang="en-US" sz="2000" dirty="0">
                <a:solidFill>
                  <a:schemeClr val="tx1"/>
                </a:solidFill>
                <a:latin typeface="Times New Roman" panose="02020603050405020304" pitchFamily="18" charset="0"/>
                <a:cs typeface="Times New Roman" panose="02020603050405020304" pitchFamily="18" charset="0"/>
              </a:rPr>
              <a:t>As mentioned earlier, you need a big database. Let us suppose you have 2000 customer transactions in a supermarket. You have to find the Support, Confidence, and Lift for two items, say bread and jam. It is because people frequently bundle these two items together. </a:t>
            </a:r>
          </a:p>
          <a:p>
            <a:r>
              <a:rPr lang="en-US" altLang="en-US" sz="2000" dirty="0">
                <a:solidFill>
                  <a:schemeClr val="tx1"/>
                </a:solidFill>
                <a:latin typeface="Times New Roman" panose="02020603050405020304" pitchFamily="18" charset="0"/>
                <a:cs typeface="Times New Roman" panose="02020603050405020304" pitchFamily="18" charset="0"/>
              </a:rPr>
              <a:t>Out of the 2000 transactions, 200 contain jam whereas 300 contain bread. These 300 transactions include a 100 that includes bread as well as jam. Using this data, we shall find out the support, confidence, and lift.</a:t>
            </a:r>
          </a:p>
        </p:txBody>
      </p:sp>
    </p:spTree>
    <p:extLst>
      <p:ext uri="{BB962C8B-B14F-4D97-AF65-F5344CB8AC3E}">
        <p14:creationId xmlns:p14="http://schemas.microsoft.com/office/powerpoint/2010/main" val="34398117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9" dur="500"/>
                                        <p:tgtEl>
                                          <p:spTgt spid="4">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animEffect transition="in" filter="randombar(horizontal)">
                                      <p:cBhvr>
                                        <p:cTn id="44"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Support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Support is the frequency of A or how frequently an item appears in the dataset. It is defined as the fraction of the transaction T that contains the itemset X. If there are X datasets, then for transactions T, It can be written as </a:t>
            </a:r>
          </a:p>
        </p:txBody>
      </p:sp>
      <p:pic>
        <p:nvPicPr>
          <p:cNvPr id="3" name="Picture 2">
            <a:extLst>
              <a:ext uri="{FF2B5EF4-FFF2-40B4-BE49-F238E27FC236}">
                <a16:creationId xmlns:a16="http://schemas.microsoft.com/office/drawing/2014/main" id="{C54DB1D0-4677-46ED-BFC8-52071C22B1E2}"/>
              </a:ext>
            </a:extLst>
          </p:cNvPr>
          <p:cNvPicPr>
            <a:picLocks noChangeAspect="1"/>
          </p:cNvPicPr>
          <p:nvPr/>
        </p:nvPicPr>
        <p:blipFill>
          <a:blip r:embed="rId2"/>
          <a:stretch>
            <a:fillRect/>
          </a:stretch>
        </p:blipFill>
        <p:spPr>
          <a:xfrm>
            <a:off x="457200" y="3298737"/>
            <a:ext cx="6134956" cy="1829055"/>
          </a:xfrm>
          <a:prstGeom prst="rect">
            <a:avLst/>
          </a:prstGeom>
        </p:spPr>
      </p:pic>
      <p:pic>
        <p:nvPicPr>
          <p:cNvPr id="7" name="Picture 6">
            <a:extLst>
              <a:ext uri="{FF2B5EF4-FFF2-40B4-BE49-F238E27FC236}">
                <a16:creationId xmlns:a16="http://schemas.microsoft.com/office/drawing/2014/main" id="{D69662D9-E28D-4C72-952E-9A5D6F601408}"/>
              </a:ext>
            </a:extLst>
          </p:cNvPr>
          <p:cNvPicPr>
            <a:picLocks noChangeAspect="1"/>
          </p:cNvPicPr>
          <p:nvPr/>
        </p:nvPicPr>
        <p:blipFill>
          <a:blip r:embed="rId3"/>
          <a:stretch>
            <a:fillRect/>
          </a:stretch>
        </p:blipFill>
        <p:spPr>
          <a:xfrm>
            <a:off x="6592156" y="4346294"/>
            <a:ext cx="2295845" cy="2010056"/>
          </a:xfrm>
          <a:prstGeom prst="rect">
            <a:avLst/>
          </a:prstGeom>
        </p:spPr>
      </p:pic>
    </p:spTree>
    <p:extLst>
      <p:ext uri="{BB962C8B-B14F-4D97-AF65-F5344CB8AC3E}">
        <p14:creationId xmlns:p14="http://schemas.microsoft.com/office/powerpoint/2010/main" val="1182923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Confidence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Confidence indicates how often the rule has been found to be true. Or how often the items X and Y occur together in the dataset when the occurrence of X is already given. It is the ratio of the transactio</a:t>
            </a:r>
            <a:r>
              <a:rPr lang="en-US" altLang="en-US" dirty="0">
                <a:solidFill>
                  <a:schemeClr val="tx1"/>
                </a:solidFill>
                <a:latin typeface="Times New Roman" panose="02020603050405020304" pitchFamily="18" charset="0"/>
                <a:cs typeface="Times New Roman" panose="02020603050405020304" pitchFamily="18" charset="0"/>
              </a:rPr>
              <a:t>n that contains X and Y to be number of records that contain X.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66CA5D3-F791-466D-984C-8BB781D43C93}"/>
              </a:ext>
            </a:extLst>
          </p:cNvPr>
          <p:cNvPicPr>
            <a:picLocks noChangeAspect="1"/>
          </p:cNvPicPr>
          <p:nvPr/>
        </p:nvPicPr>
        <p:blipFill>
          <a:blip r:embed="rId2"/>
          <a:stretch>
            <a:fillRect/>
          </a:stretch>
        </p:blipFill>
        <p:spPr>
          <a:xfrm>
            <a:off x="1737917" y="4290877"/>
            <a:ext cx="5668166" cy="1933845"/>
          </a:xfrm>
          <a:prstGeom prst="rect">
            <a:avLst/>
          </a:prstGeom>
        </p:spPr>
      </p:pic>
      <p:pic>
        <p:nvPicPr>
          <p:cNvPr id="7" name="Picture 6">
            <a:extLst>
              <a:ext uri="{FF2B5EF4-FFF2-40B4-BE49-F238E27FC236}">
                <a16:creationId xmlns:a16="http://schemas.microsoft.com/office/drawing/2014/main" id="{E7C499A2-D749-4D34-8DB4-41D5C109D5AC}"/>
              </a:ext>
            </a:extLst>
          </p:cNvPr>
          <p:cNvPicPr>
            <a:picLocks noChangeAspect="1"/>
          </p:cNvPicPr>
          <p:nvPr/>
        </p:nvPicPr>
        <p:blipFill>
          <a:blip r:embed="rId3"/>
          <a:stretch>
            <a:fillRect/>
          </a:stretch>
        </p:blipFill>
        <p:spPr>
          <a:xfrm>
            <a:off x="4898009" y="3317636"/>
            <a:ext cx="3600953" cy="743054"/>
          </a:xfrm>
          <a:prstGeom prst="rect">
            <a:avLst/>
          </a:prstGeom>
        </p:spPr>
      </p:pic>
    </p:spTree>
    <p:extLst>
      <p:ext uri="{BB962C8B-B14F-4D97-AF65-F5344CB8AC3E}">
        <p14:creationId xmlns:p14="http://schemas.microsoft.com/office/powerpoint/2010/main" val="25507957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Lift </a:t>
            </a:r>
          </a:p>
        </p:txBody>
      </p:sp>
      <p:sp>
        <p:nvSpPr>
          <p:cNvPr id="4" name="Content Placeholder 3"/>
          <p:cNvSpPr>
            <a:spLocks noGrp="1"/>
          </p:cNvSpPr>
          <p:nvPr>
            <p:ph idx="1"/>
          </p:nvPr>
        </p:nvSpPr>
        <p:spPr>
          <a:xfrm>
            <a:off x="457200" y="1476021"/>
            <a:ext cx="8229600" cy="4525963"/>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It is the strength of any rule, which can be defined as below formula:</a:t>
            </a:r>
          </a:p>
          <a:p>
            <a:pPr marL="0" indent="0">
              <a:buNone/>
            </a:pP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It is the ratio of the observed support measure and expected support if X and Y are independent of each other. It has three possible values:</a:t>
            </a:r>
          </a:p>
          <a:p>
            <a:r>
              <a:rPr lang="en-US" altLang="en-US" dirty="0">
                <a:solidFill>
                  <a:schemeClr val="tx1"/>
                </a:solidFill>
                <a:latin typeface="Times New Roman" panose="02020603050405020304" pitchFamily="18" charset="0"/>
                <a:cs typeface="Times New Roman" panose="02020603050405020304" pitchFamily="18" charset="0"/>
              </a:rPr>
              <a:t>If Lift =1: The probability of occurrence of antecedent and consequent is independent of each other.</a:t>
            </a:r>
          </a:p>
          <a:p>
            <a:r>
              <a:rPr lang="en-US" altLang="en-US" dirty="0">
                <a:solidFill>
                  <a:schemeClr val="tx1"/>
                </a:solidFill>
                <a:latin typeface="Times New Roman" panose="02020603050405020304" pitchFamily="18" charset="0"/>
                <a:cs typeface="Times New Roman" panose="02020603050405020304" pitchFamily="18" charset="0"/>
              </a:rPr>
              <a:t>Lift&gt;1: It determines the degree to which the two itemset are dependent to each other.</a:t>
            </a:r>
          </a:p>
          <a:p>
            <a:r>
              <a:rPr lang="en-US" altLang="en-US" dirty="0">
                <a:solidFill>
                  <a:schemeClr val="tx1"/>
                </a:solidFill>
                <a:latin typeface="Times New Roman" panose="02020603050405020304" pitchFamily="18" charset="0"/>
                <a:cs typeface="Times New Roman" panose="02020603050405020304" pitchFamily="18" charset="0"/>
              </a:rPr>
              <a:t>Lift&lt;1: It tells us that one item is a substitute for other items, which means one item has a negative effect on another.</a:t>
            </a:r>
          </a:p>
        </p:txBody>
      </p:sp>
      <p:pic>
        <p:nvPicPr>
          <p:cNvPr id="3" name="Picture 2">
            <a:extLst>
              <a:ext uri="{FF2B5EF4-FFF2-40B4-BE49-F238E27FC236}">
                <a16:creationId xmlns:a16="http://schemas.microsoft.com/office/drawing/2014/main" id="{DE4C203C-EDB1-4233-9146-5CF69406AE7E}"/>
              </a:ext>
            </a:extLst>
          </p:cNvPr>
          <p:cNvPicPr>
            <a:picLocks noChangeAspect="1"/>
          </p:cNvPicPr>
          <p:nvPr/>
        </p:nvPicPr>
        <p:blipFill>
          <a:blip r:embed="rId2"/>
          <a:stretch>
            <a:fillRect/>
          </a:stretch>
        </p:blipFill>
        <p:spPr>
          <a:xfrm>
            <a:off x="2207267" y="2108197"/>
            <a:ext cx="5572493" cy="714024"/>
          </a:xfrm>
          <a:prstGeom prst="rect">
            <a:avLst/>
          </a:prstGeom>
        </p:spPr>
      </p:pic>
      <p:pic>
        <p:nvPicPr>
          <p:cNvPr id="7" name="Picture 6">
            <a:extLst>
              <a:ext uri="{FF2B5EF4-FFF2-40B4-BE49-F238E27FC236}">
                <a16:creationId xmlns:a16="http://schemas.microsoft.com/office/drawing/2014/main" id="{B2F0CEA0-3289-478C-8E67-429C5DB9C46C}"/>
              </a:ext>
            </a:extLst>
          </p:cNvPr>
          <p:cNvPicPr>
            <a:picLocks noChangeAspect="1"/>
          </p:cNvPicPr>
          <p:nvPr/>
        </p:nvPicPr>
        <p:blipFill>
          <a:blip r:embed="rId3"/>
          <a:stretch>
            <a:fillRect/>
          </a:stretch>
        </p:blipFill>
        <p:spPr>
          <a:xfrm>
            <a:off x="4819110" y="2117498"/>
            <a:ext cx="3867690" cy="695422"/>
          </a:xfrm>
          <a:prstGeom prst="rect">
            <a:avLst/>
          </a:prstGeom>
        </p:spPr>
      </p:pic>
    </p:spTree>
    <p:extLst>
      <p:ext uri="{BB962C8B-B14F-4D97-AF65-F5344CB8AC3E}">
        <p14:creationId xmlns:p14="http://schemas.microsoft.com/office/powerpoint/2010/main" val="3690632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9" dur="500"/>
                                        <p:tgtEl>
                                          <p:spTgt spid="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296741CF-CDC1-4ECE-A9CB-83AD34C330AD}"/>
              </a:ext>
            </a:extLst>
          </p:cNvPr>
          <p:cNvPicPr>
            <a:picLocks noGrp="1" noChangeAspect="1"/>
          </p:cNvPicPr>
          <p:nvPr>
            <p:ph idx="1"/>
          </p:nvPr>
        </p:nvPicPr>
        <p:blipFill>
          <a:blip r:embed="rId2"/>
          <a:stretch>
            <a:fillRect/>
          </a:stretch>
        </p:blipFill>
        <p:spPr>
          <a:xfrm>
            <a:off x="764229" y="2020710"/>
            <a:ext cx="7839005" cy="3793067"/>
          </a:xfrm>
        </p:spPr>
      </p:pic>
    </p:spTree>
    <p:extLst>
      <p:ext uri="{BB962C8B-B14F-4D97-AF65-F5344CB8AC3E}">
        <p14:creationId xmlns:p14="http://schemas.microsoft.com/office/powerpoint/2010/main" val="8778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304868" y="-124179"/>
            <a:ext cx="6326418" cy="1143000"/>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How does the </a:t>
            </a:r>
            <a:r>
              <a:rPr lang="en-US" sz="3200" dirty="0" err="1">
                <a:solidFill>
                  <a:schemeClr val="bg1"/>
                </a:solidFill>
                <a:latin typeface="Times New Roman" panose="02020603050405020304" pitchFamily="18" charset="0"/>
                <a:cs typeface="Times New Roman" panose="02020603050405020304" pitchFamily="18" charset="0"/>
              </a:rPr>
              <a:t>Apriori</a:t>
            </a:r>
            <a:r>
              <a:rPr lang="en-US" sz="3200" dirty="0">
                <a:solidFill>
                  <a:schemeClr val="bg1"/>
                </a:solidFill>
                <a:latin typeface="Times New Roman" panose="02020603050405020304" pitchFamily="18" charset="0"/>
                <a:cs typeface="Times New Roman" panose="02020603050405020304" pitchFamily="18" charset="0"/>
              </a:rPr>
              <a:t> Algorithm in</a:t>
            </a:r>
            <a:br>
              <a:rPr lang="en-US" sz="3200"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latin typeface="Times New Roman" panose="02020603050405020304" pitchFamily="18" charset="0"/>
                <a:cs typeface="Times New Roman" panose="02020603050405020304" pitchFamily="18" charset="0"/>
              </a:rPr>
              <a:t>Data Mining work?</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We shall explain this algorithm with a simple example.</a:t>
            </a:r>
          </a:p>
          <a:p>
            <a:r>
              <a:rPr lang="en-US" altLang="en-US" dirty="0">
                <a:solidFill>
                  <a:schemeClr val="tx1"/>
                </a:solidFill>
                <a:latin typeface="Times New Roman" panose="02020603050405020304" pitchFamily="18" charset="0"/>
                <a:cs typeface="Times New Roman" panose="02020603050405020304" pitchFamily="18" charset="0"/>
              </a:rPr>
              <a:t>Consider a supermarket scenario where the itemset is | = {Onion, Burger, Potato, Milk, Beer}. The database consists of six transactions where 1 represents the presence of the item and 0 the absence.</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549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Cont</a:t>
            </a:r>
            <a:r>
              <a:rPr lang="en-US" sz="3600" dirty="0">
                <a:solidFill>
                  <a:schemeClr val="bg1"/>
                </a:solidFill>
                <a:latin typeface="Times New Roman" panose="02020603050405020304" pitchFamily="18" charset="0"/>
                <a:cs typeface="Times New Roman" panose="02020603050405020304" pitchFamily="18" charset="0"/>
              </a:rPr>
              <a:t>…</a:t>
            </a:r>
          </a:p>
        </p:txBody>
      </p:sp>
      <p:pic>
        <p:nvPicPr>
          <p:cNvPr id="3" name="Content Placeholder 2">
            <a:extLst>
              <a:ext uri="{FF2B5EF4-FFF2-40B4-BE49-F238E27FC236}">
                <a16:creationId xmlns:a16="http://schemas.microsoft.com/office/drawing/2014/main" id="{885E97FC-DCE9-4E70-A7D3-B0190DEAD3D7}"/>
              </a:ext>
            </a:extLst>
          </p:cNvPr>
          <p:cNvPicPr>
            <a:picLocks noGrp="1" noChangeAspect="1"/>
          </p:cNvPicPr>
          <p:nvPr>
            <p:ph idx="1"/>
          </p:nvPr>
        </p:nvPicPr>
        <p:blipFill>
          <a:blip r:embed="rId2"/>
          <a:stretch>
            <a:fillRect/>
          </a:stretch>
        </p:blipFill>
        <p:spPr>
          <a:xfrm>
            <a:off x="1266363" y="1881705"/>
            <a:ext cx="6611273" cy="3962953"/>
          </a:xfrm>
        </p:spPr>
      </p:pic>
    </p:spTree>
    <p:extLst>
      <p:ext uri="{BB962C8B-B14F-4D97-AF65-F5344CB8AC3E}">
        <p14:creationId xmlns:p14="http://schemas.microsoft.com/office/powerpoint/2010/main" val="11401756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Cont</a:t>
            </a:r>
            <a:r>
              <a:rPr lang="en-US" sz="3600" dirty="0">
                <a:solidFill>
                  <a:schemeClr val="bg1"/>
                </a:solidFill>
                <a:latin typeface="Times New Roman" panose="02020603050405020304" pitchFamily="18" charset="0"/>
                <a:cs typeface="Times New Roman" panose="02020603050405020304" pitchFamily="18" charset="0"/>
              </a:rPr>
              <a:t>…</a:t>
            </a:r>
          </a:p>
        </p:txBody>
      </p:sp>
      <p:sp>
        <p:nvSpPr>
          <p:cNvPr id="4" name="Content Placeholder 3"/>
          <p:cNvSpPr>
            <a:spLocks noGrp="1"/>
          </p:cNvSpPr>
          <p:nvPr>
            <p:ph idx="1"/>
          </p:nvPr>
        </p:nvSpPr>
        <p:spPr/>
        <p:txBody>
          <a:bodyPr/>
          <a:lstStyle/>
          <a:p>
            <a:pPr marL="0" indent="0" algn="ctr">
              <a:buNone/>
            </a:pPr>
            <a:r>
              <a:rPr lang="en-US" altLang="en-US" sz="3200" b="1" dirty="0">
                <a:solidFill>
                  <a:srgbClr val="C00000"/>
                </a:solidFill>
                <a:latin typeface="Times New Roman" panose="02020603050405020304" pitchFamily="18" charset="0"/>
                <a:cs typeface="Times New Roman" panose="02020603050405020304" pitchFamily="18" charset="0"/>
              </a:rPr>
              <a:t>The </a:t>
            </a:r>
            <a:r>
              <a:rPr lang="en-US" altLang="en-US" sz="3200" b="1" dirty="0" err="1">
                <a:solidFill>
                  <a:srgbClr val="C00000"/>
                </a:solidFill>
                <a:latin typeface="Times New Roman" panose="02020603050405020304" pitchFamily="18" charset="0"/>
                <a:cs typeface="Times New Roman" panose="02020603050405020304" pitchFamily="18" charset="0"/>
              </a:rPr>
              <a:t>Apriori</a:t>
            </a:r>
            <a:r>
              <a:rPr lang="en-US" altLang="en-US" sz="3200" b="1" dirty="0">
                <a:solidFill>
                  <a:srgbClr val="C00000"/>
                </a:solidFill>
                <a:latin typeface="Times New Roman" panose="02020603050405020304" pitchFamily="18" charset="0"/>
                <a:cs typeface="Times New Roman" panose="02020603050405020304" pitchFamily="18" charset="0"/>
              </a:rPr>
              <a:t> Algorithm makes the following assumptions</a:t>
            </a:r>
          </a:p>
          <a:p>
            <a:r>
              <a:rPr lang="en-US" altLang="en-US" dirty="0">
                <a:solidFill>
                  <a:schemeClr val="tx1"/>
                </a:solidFill>
                <a:latin typeface="Times New Roman" panose="02020603050405020304" pitchFamily="18" charset="0"/>
                <a:cs typeface="Times New Roman" panose="02020603050405020304" pitchFamily="18" charset="0"/>
              </a:rPr>
              <a:t>All subsets of a frequent itemset should be frequent.</a:t>
            </a:r>
          </a:p>
          <a:p>
            <a:r>
              <a:rPr lang="en-US" altLang="en-US" dirty="0">
                <a:solidFill>
                  <a:schemeClr val="tx1"/>
                </a:solidFill>
                <a:latin typeface="Times New Roman" panose="02020603050405020304" pitchFamily="18" charset="0"/>
                <a:cs typeface="Times New Roman" panose="02020603050405020304" pitchFamily="18" charset="0"/>
              </a:rPr>
              <a:t>In the same way, the subsets of an infrequent itemset should be infrequent.</a:t>
            </a:r>
          </a:p>
          <a:p>
            <a:r>
              <a:rPr lang="en-US" altLang="en-US" dirty="0">
                <a:solidFill>
                  <a:schemeClr val="tx1"/>
                </a:solidFill>
                <a:latin typeface="Times New Roman" panose="02020603050405020304" pitchFamily="18" charset="0"/>
                <a:cs typeface="Times New Roman" panose="02020603050405020304" pitchFamily="18" charset="0"/>
              </a:rPr>
              <a:t>Set a threshold support level. In our case, we shall fix it at 50%</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2487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217E4899-4680-454B-A842-FB7BC03727E5}"/>
              </a:ext>
            </a:extLst>
          </p:cNvPr>
          <p:cNvPicPr>
            <a:picLocks noGrp="1" noChangeAspect="1"/>
          </p:cNvPicPr>
          <p:nvPr>
            <p:ph idx="1"/>
          </p:nvPr>
        </p:nvPicPr>
        <p:blipFill>
          <a:blip r:embed="rId2"/>
          <a:stretch>
            <a:fillRect/>
          </a:stretch>
        </p:blipFill>
        <p:spPr>
          <a:xfrm>
            <a:off x="1725594" y="1600200"/>
            <a:ext cx="5692812" cy="4525963"/>
          </a:xfrm>
        </p:spPr>
      </p:pic>
    </p:spTree>
    <p:extLst>
      <p:ext uri="{BB962C8B-B14F-4D97-AF65-F5344CB8AC3E}">
        <p14:creationId xmlns:p14="http://schemas.microsoft.com/office/powerpoint/2010/main" val="1915157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Steps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Create a frequency table of all the items that occur in all the transactions. The frequency table to include only those items having a threshold support level over 50%.</a:t>
            </a:r>
          </a:p>
          <a:p>
            <a:r>
              <a:rPr lang="en-US" altLang="en-US" dirty="0">
                <a:solidFill>
                  <a:schemeClr val="tx1"/>
                </a:solidFill>
                <a:latin typeface="Times New Roman" panose="02020603050405020304" pitchFamily="18" charset="0"/>
                <a:cs typeface="Times New Roman" panose="02020603050405020304" pitchFamily="18" charset="0"/>
              </a:rPr>
              <a:t>We arrive at this frequency table.</a:t>
            </a:r>
          </a:p>
          <a:p>
            <a:pPr marL="0" indent="0" algn="ctr">
              <a:buNone/>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Threshold support &gt;= 50%</a:t>
            </a:r>
          </a:p>
        </p:txBody>
      </p:sp>
    </p:spTree>
    <p:extLst>
      <p:ext uri="{BB962C8B-B14F-4D97-AF65-F5344CB8AC3E}">
        <p14:creationId xmlns:p14="http://schemas.microsoft.com/office/powerpoint/2010/main" val="2082555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Steps </a:t>
            </a:r>
          </a:p>
        </p:txBody>
      </p:sp>
      <p:pic>
        <p:nvPicPr>
          <p:cNvPr id="3" name="Content Placeholder 2">
            <a:extLst>
              <a:ext uri="{FF2B5EF4-FFF2-40B4-BE49-F238E27FC236}">
                <a16:creationId xmlns:a16="http://schemas.microsoft.com/office/drawing/2014/main" id="{112BABBD-A3D4-4F25-A6BD-18A9B5937611}"/>
              </a:ext>
            </a:extLst>
          </p:cNvPr>
          <p:cNvPicPr>
            <a:picLocks noGrp="1" noChangeAspect="1"/>
          </p:cNvPicPr>
          <p:nvPr>
            <p:ph idx="1"/>
          </p:nvPr>
        </p:nvPicPr>
        <p:blipFill>
          <a:blip r:embed="rId2"/>
          <a:stretch>
            <a:fillRect/>
          </a:stretch>
        </p:blipFill>
        <p:spPr>
          <a:xfrm>
            <a:off x="1690285" y="2458048"/>
            <a:ext cx="5763429" cy="2810267"/>
          </a:xfrm>
        </p:spPr>
      </p:pic>
    </p:spTree>
    <p:extLst>
      <p:ext uri="{BB962C8B-B14F-4D97-AF65-F5344CB8AC3E}">
        <p14:creationId xmlns:p14="http://schemas.microsoft.com/office/powerpoint/2010/main" val="2242399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93EA527D-2C8D-46CC-8872-F1F1B6B94F17}"/>
              </a:ext>
            </a:extLst>
          </p:cNvPr>
          <p:cNvPicPr>
            <a:picLocks noGrp="1" noChangeAspect="1"/>
          </p:cNvPicPr>
          <p:nvPr>
            <p:ph idx="1"/>
          </p:nvPr>
        </p:nvPicPr>
        <p:blipFill>
          <a:blip r:embed="rId2"/>
          <a:stretch>
            <a:fillRect/>
          </a:stretch>
        </p:blipFill>
        <p:spPr>
          <a:xfrm>
            <a:off x="1551535" y="1600200"/>
            <a:ext cx="6040929" cy="4525963"/>
          </a:xfrm>
          <a:prstGeom prst="rect">
            <a:avLst/>
          </a:prstGeom>
        </p:spPr>
      </p:pic>
    </p:spTree>
    <p:extLst>
      <p:ext uri="{BB962C8B-B14F-4D97-AF65-F5344CB8AC3E}">
        <p14:creationId xmlns:p14="http://schemas.microsoft.com/office/powerpoint/2010/main" val="27521901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0842166C-0856-4CF4-B57C-E65D74ED7EAB}"/>
              </a:ext>
            </a:extLst>
          </p:cNvPr>
          <p:cNvPicPr>
            <a:picLocks noGrp="1" noChangeAspect="1"/>
          </p:cNvPicPr>
          <p:nvPr>
            <p:ph idx="1"/>
          </p:nvPr>
        </p:nvPicPr>
        <p:blipFill>
          <a:blip r:embed="rId2"/>
          <a:stretch>
            <a:fillRect/>
          </a:stretch>
        </p:blipFill>
        <p:spPr>
          <a:xfrm>
            <a:off x="1551535" y="1600200"/>
            <a:ext cx="6040929" cy="4525963"/>
          </a:xfrm>
          <a:prstGeom prst="rect">
            <a:avLst/>
          </a:prstGeom>
        </p:spPr>
      </p:pic>
    </p:spTree>
    <p:extLst>
      <p:ext uri="{BB962C8B-B14F-4D97-AF65-F5344CB8AC3E}">
        <p14:creationId xmlns:p14="http://schemas.microsoft.com/office/powerpoint/2010/main" val="4100730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B13C748E-F6C4-4E95-ABCD-DBEE1D6DAFF2}"/>
              </a:ext>
            </a:extLst>
          </p:cNvPr>
          <p:cNvPicPr>
            <a:picLocks noGrp="1" noChangeAspect="1"/>
          </p:cNvPicPr>
          <p:nvPr>
            <p:ph idx="1"/>
          </p:nvPr>
        </p:nvPicPr>
        <p:blipFill>
          <a:blip r:embed="rId2"/>
          <a:stretch>
            <a:fillRect/>
          </a:stretch>
        </p:blipFill>
        <p:spPr>
          <a:xfrm>
            <a:off x="1551535" y="1600200"/>
            <a:ext cx="6040929" cy="4525963"/>
          </a:xfrm>
          <a:prstGeom prst="rect">
            <a:avLst/>
          </a:prstGeom>
        </p:spPr>
      </p:pic>
    </p:spTree>
    <p:extLst>
      <p:ext uri="{BB962C8B-B14F-4D97-AF65-F5344CB8AC3E}">
        <p14:creationId xmlns:p14="http://schemas.microsoft.com/office/powerpoint/2010/main" val="36973615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 - Pros</a:t>
            </a:r>
          </a:p>
          <a:p>
            <a:pPr lvl="1"/>
            <a:r>
              <a:rPr lang="en-US" altLang="en-US" dirty="0">
                <a:solidFill>
                  <a:schemeClr val="tx1"/>
                </a:solidFill>
                <a:latin typeface="Times New Roman" panose="02020603050405020304" pitchFamily="18" charset="0"/>
                <a:cs typeface="Times New Roman" panose="02020603050405020304" pitchFamily="18" charset="0"/>
              </a:rPr>
              <a:t>Easy to understand and implement</a:t>
            </a:r>
          </a:p>
          <a:p>
            <a:pPr lvl="1"/>
            <a:r>
              <a:rPr lang="en-US" altLang="en-US" dirty="0">
                <a:solidFill>
                  <a:schemeClr val="tx1"/>
                </a:solidFill>
                <a:latin typeface="Times New Roman" panose="02020603050405020304" pitchFamily="18" charset="0"/>
                <a:cs typeface="Times New Roman" panose="02020603050405020304" pitchFamily="18" charset="0"/>
              </a:rPr>
              <a:t>Can use on large </a:t>
            </a:r>
            <a:r>
              <a:rPr lang="en-US" altLang="en-US" dirty="0" err="1">
                <a:solidFill>
                  <a:schemeClr val="tx1"/>
                </a:solidFill>
                <a:latin typeface="Times New Roman" panose="02020603050405020304" pitchFamily="18" charset="0"/>
                <a:cs typeface="Times New Roman" panose="02020603050405020304" pitchFamily="18" charset="0"/>
              </a:rPr>
              <a:t>itemsets</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 - Cons</a:t>
            </a:r>
          </a:p>
          <a:p>
            <a:pPr lvl="1"/>
            <a:r>
              <a:rPr lang="en-US" altLang="en-US" dirty="0">
                <a:solidFill>
                  <a:schemeClr val="tx1"/>
                </a:solidFill>
                <a:latin typeface="Times New Roman" panose="02020603050405020304" pitchFamily="18" charset="0"/>
                <a:cs typeface="Times New Roman" panose="02020603050405020304" pitchFamily="18" charset="0"/>
              </a:rPr>
              <a:t>At times, you need a large number of candidate rules. It can become computationally expensive.</a:t>
            </a:r>
          </a:p>
          <a:p>
            <a:pPr lvl="1"/>
            <a:r>
              <a:rPr lang="en-US" altLang="en-US" dirty="0">
                <a:solidFill>
                  <a:schemeClr val="tx1"/>
                </a:solidFill>
                <a:latin typeface="Times New Roman" panose="02020603050405020304" pitchFamily="18" charset="0"/>
                <a:cs typeface="Times New Roman" panose="02020603050405020304" pitchFamily="18" charset="0"/>
              </a:rPr>
              <a:t>It is also an expensive method to calculate support because the calculation has to go through the entire database.</a:t>
            </a:r>
          </a:p>
          <a:p>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 - Limitations</a:t>
            </a:r>
          </a:p>
          <a:p>
            <a:pPr lvl="1"/>
            <a:r>
              <a:rPr lang="en-US" altLang="en-US" dirty="0">
                <a:solidFill>
                  <a:schemeClr val="tx1"/>
                </a:solidFill>
                <a:latin typeface="Times New Roman" panose="02020603050405020304" pitchFamily="18" charset="0"/>
                <a:cs typeface="Times New Roman" panose="02020603050405020304" pitchFamily="18" charset="0"/>
              </a:rPr>
              <a:t>The process can sometimes be very tedious.</a:t>
            </a:r>
          </a:p>
        </p:txBody>
      </p:sp>
    </p:spTree>
    <p:extLst>
      <p:ext uri="{BB962C8B-B14F-4D97-AF65-F5344CB8AC3E}">
        <p14:creationId xmlns:p14="http://schemas.microsoft.com/office/powerpoint/2010/main" val="22045728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9" dur="500"/>
                                        <p:tgtEl>
                                          <p:spTgt spid="4">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animEffect transition="in" filter="randombar(horizontal)">
                                      <p:cBhvr>
                                        <p:cTn id="44" dur="500"/>
                                        <p:tgtEl>
                                          <p:spTgt spid="4">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randombar(horizontal)">
                                      <p:cBhvr>
                                        <p:cTn id="49"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22</a:t>
            </a:fld>
            <a:endParaRPr lang="en-US"/>
          </a:p>
        </p:txBody>
      </p:sp>
      <p:sp>
        <p:nvSpPr>
          <p:cNvPr id="8" name="Title 1"/>
          <p:cNvSpPr>
            <a:spLocks noGrp="1"/>
          </p:cNvSpPr>
          <p:nvPr>
            <p:ph type="title"/>
          </p:nvPr>
        </p:nvSpPr>
        <p:spPr>
          <a:xfrm>
            <a:off x="1112955" y="-45156"/>
            <a:ext cx="6507041"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How to Improve the Efficiency of the </a:t>
            </a:r>
            <a:r>
              <a:rPr lang="en-US" sz="3600" dirty="0" err="1">
                <a:solidFill>
                  <a:schemeClr val="bg1"/>
                </a:solidFill>
                <a:latin typeface="Times New Roman" panose="02020603050405020304" pitchFamily="18" charset="0"/>
                <a:cs typeface="Times New Roman" panose="02020603050405020304" pitchFamily="18" charset="0"/>
              </a:rPr>
              <a:t>Apriori</a:t>
            </a:r>
            <a:r>
              <a:rPr lang="en-US" sz="3600" dirty="0">
                <a:solidFill>
                  <a:schemeClr val="bg1"/>
                </a:solidFill>
                <a:latin typeface="Times New Roman" panose="02020603050405020304" pitchFamily="18" charset="0"/>
                <a:cs typeface="Times New Roman" panose="02020603050405020304" pitchFamily="18" charset="0"/>
              </a:rPr>
              <a:t> Algorithm?</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Use the following methods to improve the efficiency of the </a:t>
            </a:r>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a:t>
            </a:r>
          </a:p>
          <a:p>
            <a:r>
              <a:rPr lang="en-US" altLang="en-US" dirty="0">
                <a:solidFill>
                  <a:schemeClr val="tx1"/>
                </a:solidFill>
                <a:latin typeface="Times New Roman" panose="02020603050405020304" pitchFamily="18" charset="0"/>
                <a:cs typeface="Times New Roman" panose="02020603050405020304" pitchFamily="18" charset="0"/>
              </a:rPr>
              <a:t>Transaction Reduction - A transaction not containing any frequent k-itemset becomes useless in subsequent scans.</a:t>
            </a:r>
          </a:p>
          <a:p>
            <a:r>
              <a:rPr lang="en-US" altLang="en-US" dirty="0">
                <a:solidFill>
                  <a:schemeClr val="tx1"/>
                </a:solidFill>
                <a:latin typeface="Times New Roman" panose="02020603050405020304" pitchFamily="18" charset="0"/>
                <a:cs typeface="Times New Roman" panose="02020603050405020304" pitchFamily="18" charset="0"/>
              </a:rPr>
              <a:t>Hash-based Itemset Counting - Exclude the k-itemset whose corresponding hashing bucket count is less than the threshold is an infrequent itemset.</a:t>
            </a:r>
          </a:p>
          <a:p>
            <a:r>
              <a:rPr lang="en-US" altLang="en-US" dirty="0">
                <a:solidFill>
                  <a:schemeClr val="tx1"/>
                </a:solidFill>
                <a:latin typeface="Times New Roman" panose="02020603050405020304" pitchFamily="18" charset="0"/>
                <a:cs typeface="Times New Roman" panose="02020603050405020304" pitchFamily="18" charset="0"/>
              </a:rPr>
              <a:t>There are other methods as well such as partitioning, sampling, and dynamic itemset counting.</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438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23</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hlinkClick r:id="rId2"/>
              </a:rPr>
              <a:t>https://www.slideshare.net/slideshow/apriori-algorithm-241228738/241228738#3</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https://www.slideshare.net/slideshow/apriori-algorithmpptx/251719626</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478</TotalTime>
  <Words>1122</Words>
  <Application>Microsoft Office PowerPoint</Application>
  <PresentationFormat>On-screen Show (4:3)</PresentationFormat>
  <Paragraphs>98</Paragraphs>
  <Slides>24</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24</vt:i4>
      </vt:variant>
    </vt:vector>
  </HeadingPairs>
  <TitlesOfParts>
    <vt:vector size="36" baseType="lpstr">
      <vt:lpstr>MS PGothic</vt:lpstr>
      <vt:lpstr>Arial</vt:lpstr>
      <vt:lpstr>Arial Black</vt:lpstr>
      <vt:lpstr>Calibri</vt:lpstr>
      <vt:lpstr>Garamond</vt:lpstr>
      <vt:lpstr>Times New Roman</vt:lpstr>
      <vt:lpstr>Wingdings</vt:lpstr>
      <vt:lpstr>SE10 slides</vt:lpstr>
      <vt:lpstr>2_SE10 slides</vt:lpstr>
      <vt:lpstr>5_SE10 slides</vt:lpstr>
      <vt:lpstr>7_SE10 slides</vt:lpstr>
      <vt:lpstr>16_SE10 slides</vt:lpstr>
      <vt:lpstr>Data Mining DS-303</vt:lpstr>
      <vt:lpstr>Content </vt:lpstr>
      <vt:lpstr>Apriori Algorithm</vt:lpstr>
      <vt:lpstr>Introduction to APRIORI</vt:lpstr>
      <vt:lpstr>Cont…</vt:lpstr>
      <vt:lpstr>What is the Apriori Algorithm?</vt:lpstr>
      <vt:lpstr>Apriori algorithm - The Theory</vt:lpstr>
      <vt:lpstr>Support</vt:lpstr>
      <vt:lpstr>Confidence </vt:lpstr>
      <vt:lpstr>Lift </vt:lpstr>
      <vt:lpstr>PowerPoint Presentation</vt:lpstr>
      <vt:lpstr>How does the Apriori Algorithm in Data Mining work?</vt:lpstr>
      <vt:lpstr>Cont…</vt:lpstr>
      <vt:lpstr>Cont…</vt:lpstr>
      <vt:lpstr>PowerPoint Presentation</vt:lpstr>
      <vt:lpstr>Steps </vt:lpstr>
      <vt:lpstr>Steps </vt:lpstr>
      <vt:lpstr>PowerPoint Presentation</vt:lpstr>
      <vt:lpstr>PowerPoint Presentation</vt:lpstr>
      <vt:lpstr>PowerPoint Presentation</vt:lpstr>
      <vt:lpstr>PowerPoint Presentation</vt:lpstr>
      <vt:lpstr>How to Improve the Efficiency of the Apriori Algorithm?</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203</cp:revision>
  <dcterms:created xsi:type="dcterms:W3CDTF">2009-12-29T10:39:00Z</dcterms:created>
  <dcterms:modified xsi:type="dcterms:W3CDTF">2026-02-14T05:42:40Z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