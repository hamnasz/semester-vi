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8.xml" ContentType="application/vnd.openxmlformats-officedocument.theme+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9.xml" ContentType="application/vnd.openxmlformats-officedocument.theme+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10.xml" ContentType="application/vnd.openxmlformats-officedocument.theme+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theme/theme11.xml" ContentType="application/vnd.openxmlformats-officedocument.theme+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theme/theme12.xml" ContentType="application/vnd.openxmlformats-officedocument.theme+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theme/theme13.xml" ContentType="application/vnd.openxmlformats-officedocument.theme+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0" r:id="rId2"/>
    <p:sldMasterId id="2147483696" r:id="rId3"/>
    <p:sldMasterId id="2147483708" r:id="rId4"/>
    <p:sldMasterId id="2147483720" r:id="rId5"/>
    <p:sldMasterId id="2147483732" r:id="rId6"/>
    <p:sldMasterId id="2147483744" r:id="rId7"/>
    <p:sldMasterId id="2147483756" r:id="rId8"/>
    <p:sldMasterId id="2147483768" r:id="rId9"/>
    <p:sldMasterId id="2147483780" r:id="rId10"/>
    <p:sldMasterId id="2147483792" r:id="rId11"/>
    <p:sldMasterId id="2147483804" r:id="rId12"/>
    <p:sldMasterId id="2147483840" r:id="rId13"/>
    <p:sldMasterId id="2147483852" r:id="rId14"/>
  </p:sldMasterIdLst>
  <p:notesMasterIdLst>
    <p:notesMasterId r:id="rId37"/>
  </p:notesMasterIdLst>
  <p:handoutMasterIdLst>
    <p:handoutMasterId r:id="rId38"/>
  </p:handoutMasterIdLst>
  <p:sldIdLst>
    <p:sldId id="329" r:id="rId15"/>
    <p:sldId id="432" r:id="rId16"/>
    <p:sldId id="448" r:id="rId17"/>
    <p:sldId id="497" r:id="rId18"/>
    <p:sldId id="487" r:id="rId19"/>
    <p:sldId id="486" r:id="rId20"/>
    <p:sldId id="488" r:id="rId21"/>
    <p:sldId id="489" r:id="rId22"/>
    <p:sldId id="498" r:id="rId23"/>
    <p:sldId id="490" r:id="rId24"/>
    <p:sldId id="456" r:id="rId25"/>
    <p:sldId id="479" r:id="rId26"/>
    <p:sldId id="499" r:id="rId27"/>
    <p:sldId id="491" r:id="rId28"/>
    <p:sldId id="505" r:id="rId29"/>
    <p:sldId id="492" r:id="rId30"/>
    <p:sldId id="500" r:id="rId31"/>
    <p:sldId id="495" r:id="rId32"/>
    <p:sldId id="503" r:id="rId33"/>
    <p:sldId id="504" r:id="rId34"/>
    <p:sldId id="496" r:id="rId35"/>
    <p:sldId id="427" r:id="rId36"/>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panose="020B0604020202020204" pitchFamily="34" charset="0"/>
        <a:ea typeface="MS PGothic" panose="020B0600070205080204" charset="-128"/>
        <a:cs typeface="MS PGothic" panose="020B0600070205080204" charset="-128"/>
      </a:defRPr>
    </a:lvl1pPr>
    <a:lvl2pPr marL="457200" algn="l" defTabSz="457200" rtl="0" fontAlgn="base">
      <a:spcBef>
        <a:spcPct val="0"/>
      </a:spcBef>
      <a:spcAft>
        <a:spcPct val="0"/>
      </a:spcAft>
      <a:defRPr kern="1200">
        <a:solidFill>
          <a:schemeClr val="tx1"/>
        </a:solidFill>
        <a:latin typeface="Arial" panose="020B0604020202020204" pitchFamily="34" charset="0"/>
        <a:ea typeface="MS PGothic" panose="020B0600070205080204" charset="-128"/>
        <a:cs typeface="MS PGothic" panose="020B0600070205080204" charset="-128"/>
      </a:defRPr>
    </a:lvl2pPr>
    <a:lvl3pPr marL="914400" algn="l" defTabSz="457200" rtl="0" fontAlgn="base">
      <a:spcBef>
        <a:spcPct val="0"/>
      </a:spcBef>
      <a:spcAft>
        <a:spcPct val="0"/>
      </a:spcAft>
      <a:defRPr kern="1200">
        <a:solidFill>
          <a:schemeClr val="tx1"/>
        </a:solidFill>
        <a:latin typeface="Arial" panose="020B0604020202020204" pitchFamily="34" charset="0"/>
        <a:ea typeface="MS PGothic" panose="020B0600070205080204" charset="-128"/>
        <a:cs typeface="MS PGothic" panose="020B0600070205080204" charset="-128"/>
      </a:defRPr>
    </a:lvl3pPr>
    <a:lvl4pPr marL="1371600" algn="l" defTabSz="457200" rtl="0" fontAlgn="base">
      <a:spcBef>
        <a:spcPct val="0"/>
      </a:spcBef>
      <a:spcAft>
        <a:spcPct val="0"/>
      </a:spcAft>
      <a:defRPr kern="1200">
        <a:solidFill>
          <a:schemeClr val="tx1"/>
        </a:solidFill>
        <a:latin typeface="Arial" panose="020B0604020202020204" pitchFamily="34" charset="0"/>
        <a:ea typeface="MS PGothic" panose="020B0600070205080204" charset="-128"/>
        <a:cs typeface="MS PGothic" panose="020B0600070205080204" charset="-128"/>
      </a:defRPr>
    </a:lvl4pPr>
    <a:lvl5pPr marL="1828800" algn="l" defTabSz="457200" rtl="0" fontAlgn="base">
      <a:spcBef>
        <a:spcPct val="0"/>
      </a:spcBef>
      <a:spcAft>
        <a:spcPct val="0"/>
      </a:spcAft>
      <a:defRPr kern="1200">
        <a:solidFill>
          <a:schemeClr val="tx1"/>
        </a:solidFill>
        <a:latin typeface="Arial" panose="020B0604020202020204" pitchFamily="34" charset="0"/>
        <a:ea typeface="MS PGothic" panose="020B0600070205080204" charset="-128"/>
        <a:cs typeface="MS PGothic" panose="020B0600070205080204" charset="-128"/>
      </a:defRPr>
    </a:lvl5pPr>
    <a:lvl6pPr marL="2286000" algn="l" defTabSz="457200" rtl="0" eaLnBrk="1" latinLnBrk="0" hangingPunct="1">
      <a:defRPr kern="1200">
        <a:solidFill>
          <a:schemeClr val="tx1"/>
        </a:solidFill>
        <a:latin typeface="Arial" panose="020B0604020202020204" pitchFamily="34" charset="0"/>
        <a:ea typeface="MS PGothic" panose="020B0600070205080204" charset="-128"/>
        <a:cs typeface="MS PGothic" panose="020B0600070205080204" charset="-128"/>
      </a:defRPr>
    </a:lvl6pPr>
    <a:lvl7pPr marL="2743200" algn="l" defTabSz="457200" rtl="0" eaLnBrk="1" latinLnBrk="0" hangingPunct="1">
      <a:defRPr kern="1200">
        <a:solidFill>
          <a:schemeClr val="tx1"/>
        </a:solidFill>
        <a:latin typeface="Arial" panose="020B0604020202020204" pitchFamily="34" charset="0"/>
        <a:ea typeface="MS PGothic" panose="020B0600070205080204" charset="-128"/>
        <a:cs typeface="MS PGothic" panose="020B0600070205080204" charset="-128"/>
      </a:defRPr>
    </a:lvl7pPr>
    <a:lvl8pPr marL="3200400" algn="l" defTabSz="457200" rtl="0" eaLnBrk="1" latinLnBrk="0" hangingPunct="1">
      <a:defRPr kern="1200">
        <a:solidFill>
          <a:schemeClr val="tx1"/>
        </a:solidFill>
        <a:latin typeface="Arial" panose="020B0604020202020204" pitchFamily="34" charset="0"/>
        <a:ea typeface="MS PGothic" panose="020B0600070205080204" charset="-128"/>
        <a:cs typeface="MS PGothic" panose="020B0600070205080204" charset="-128"/>
      </a:defRPr>
    </a:lvl8pPr>
    <a:lvl9pPr marL="3657600" algn="l" defTabSz="457200" rtl="0" eaLnBrk="1" latinLnBrk="0" hangingPunct="1">
      <a:defRPr kern="1200">
        <a:solidFill>
          <a:schemeClr val="tx1"/>
        </a:solidFill>
        <a:latin typeface="Arial" panose="020B0604020202020204" pitchFamily="34" charset="0"/>
        <a:ea typeface="MS PGothic" panose="020B0600070205080204" charset="-128"/>
        <a:cs typeface="MS PGothic" panose="020B0600070205080204" charset="-128"/>
      </a:defRPr>
    </a:lvl9pPr>
  </p:defaultTextStyle>
  <p:extLst>
    <p:ext uri="{EFAFB233-063F-42B5-8137-9DF3F51BA10A}">
      <p15:sldGuideLst xmlns:p15="http://schemas.microsoft.com/office/powerpoint/2012/main">
        <p15:guide id="1" orient="horz" pos="2160" userDrawn="1">
          <p15:clr>
            <a:srgbClr val="A4A3A4"/>
          </p15:clr>
        </p15:guide>
        <p15:guide id="2" pos="290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424D"/>
    <a:srgbClr val="5B86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62" autoAdjust="0"/>
    <p:restoredTop sz="83943" autoAdjust="0"/>
  </p:normalViewPr>
  <p:slideViewPr>
    <p:cSldViewPr snapToGrid="0" snapToObjects="1" showGuides="1">
      <p:cViewPr varScale="1">
        <p:scale>
          <a:sx n="61" d="100"/>
          <a:sy n="61" d="100"/>
        </p:scale>
        <p:origin x="786" y="78"/>
      </p:cViewPr>
      <p:guideLst>
        <p:guide orient="horz" pos="2160"/>
        <p:guide pos="2904"/>
      </p:guideLst>
    </p:cSldViewPr>
  </p:slideViewPr>
  <p:notesTextViewPr>
    <p:cViewPr>
      <p:scale>
        <a:sx n="100" d="100"/>
        <a:sy n="100" d="100"/>
      </p:scale>
      <p:origin x="0" y="0"/>
    </p:cViewPr>
  </p:notesTextViewPr>
  <p:sorterViewPr>
    <p:cViewPr>
      <p:scale>
        <a:sx n="200" d="100"/>
        <a:sy n="200" d="100"/>
      </p:scale>
      <p:origin x="0" y="472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 Target="slides/slide4.xml"/><Relationship Id="rId26" Type="http://schemas.openxmlformats.org/officeDocument/2006/relationships/slide" Target="slides/slide12.xml"/><Relationship Id="rId39" Type="http://schemas.openxmlformats.org/officeDocument/2006/relationships/presProps" Target="presProps.xml"/><Relationship Id="rId21" Type="http://schemas.openxmlformats.org/officeDocument/2006/relationships/slide" Target="slides/slide7.xml"/><Relationship Id="rId34" Type="http://schemas.openxmlformats.org/officeDocument/2006/relationships/slide" Target="slides/slide20.xml"/><Relationship Id="rId42" Type="http://schemas.openxmlformats.org/officeDocument/2006/relationships/tableStyles" Target="tableStyle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2.xml"/><Relationship Id="rId20" Type="http://schemas.openxmlformats.org/officeDocument/2006/relationships/slide" Target="slides/slide6.xml"/><Relationship Id="rId29" Type="http://schemas.openxmlformats.org/officeDocument/2006/relationships/slide" Target="slides/slide15.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10.xml"/><Relationship Id="rId32" Type="http://schemas.openxmlformats.org/officeDocument/2006/relationships/slide" Target="slides/slide18.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1.xml"/><Relationship Id="rId23" Type="http://schemas.openxmlformats.org/officeDocument/2006/relationships/slide" Target="slides/slide9.xml"/><Relationship Id="rId28" Type="http://schemas.openxmlformats.org/officeDocument/2006/relationships/slide" Target="slides/slide14.xml"/><Relationship Id="rId36" Type="http://schemas.openxmlformats.org/officeDocument/2006/relationships/slide" Target="slides/slide22.xml"/><Relationship Id="rId10" Type="http://schemas.openxmlformats.org/officeDocument/2006/relationships/slideMaster" Target="slideMasters/slideMaster10.xml"/><Relationship Id="rId19" Type="http://schemas.openxmlformats.org/officeDocument/2006/relationships/slide" Target="slides/slide5.xml"/><Relationship Id="rId31" Type="http://schemas.openxmlformats.org/officeDocument/2006/relationships/slide" Target="slides/slide17.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8.xml"/><Relationship Id="rId27" Type="http://schemas.openxmlformats.org/officeDocument/2006/relationships/slide" Target="slides/slide13.xml"/><Relationship Id="rId30" Type="http://schemas.openxmlformats.org/officeDocument/2006/relationships/slide" Target="slides/slide16.xml"/><Relationship Id="rId35" Type="http://schemas.openxmlformats.org/officeDocument/2006/relationships/slide" Target="slides/slide21.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 Target="slides/slide3.xml"/><Relationship Id="rId25" Type="http://schemas.openxmlformats.org/officeDocument/2006/relationships/slide" Target="slides/slide11.xml"/><Relationship Id="rId33" Type="http://schemas.openxmlformats.org/officeDocument/2006/relationships/slide" Target="slides/slide19.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B44B6B1-5441-9644-AE1C-BB7EA5DBA264}" type="datetimeFigureOut">
              <a:rPr lang="en-US" smtClean="0"/>
              <a:t>2/3/2026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0300CC7-81E2-B842-8904-673E09748720}" type="slidenum">
              <a:rPr lang="en-US" smtClean="0"/>
              <a:t>‹#›</a:t>
            </a:fld>
            <a:endParaRPr 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1878819-472C-A14B-95BF-39C94BA106B2}" type="datetimeFigureOut">
              <a:rPr lang="en-US" smtClean="0"/>
              <a:t>2/3/2026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B4F38C2-4548-F541-8261-4C1D96E7A166}" type="slidenum">
              <a:rPr lang="en-US" smtClean="0"/>
              <a:t>‹#›</a:t>
            </a:fld>
            <a:endParaRPr lang="en-US"/>
          </a:p>
        </p:txBody>
      </p:sp>
    </p:spTree>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1" dirty="0">
                <a:solidFill>
                  <a:schemeClr val="tx1"/>
                </a:solidFill>
              </a:rPr>
              <a:t>Non-trivial</a:t>
            </a:r>
            <a:r>
              <a:rPr lang="en-US" sz="1400" dirty="0">
                <a:solidFill>
                  <a:schemeClr val="tx1"/>
                </a:solidFill>
              </a:rPr>
              <a:t> – not obvious or simple to find</a:t>
            </a:r>
          </a:p>
          <a:p>
            <a:r>
              <a:rPr lang="en-US" sz="1400" b="1" dirty="0">
                <a:solidFill>
                  <a:schemeClr val="tx1"/>
                </a:solidFill>
              </a:rPr>
              <a:t>Implicit</a:t>
            </a:r>
            <a:r>
              <a:rPr lang="en-US" sz="1400" dirty="0">
                <a:solidFill>
                  <a:schemeClr val="tx1"/>
                </a:solidFill>
              </a:rPr>
              <a:t> – hidden within the data</a:t>
            </a:r>
          </a:p>
          <a:p>
            <a:r>
              <a:rPr lang="en-US" sz="1400" b="1" dirty="0">
                <a:solidFill>
                  <a:schemeClr val="tx1"/>
                </a:solidFill>
              </a:rPr>
              <a:t>Previously unknown</a:t>
            </a:r>
            <a:r>
              <a:rPr lang="en-US" sz="1400" dirty="0">
                <a:solidFill>
                  <a:schemeClr val="tx1"/>
                </a:solidFill>
              </a:rPr>
              <a:t> – not already identified</a:t>
            </a:r>
          </a:p>
          <a:p>
            <a:r>
              <a:rPr lang="en-US" sz="1400" b="1" dirty="0">
                <a:solidFill>
                  <a:schemeClr val="tx1"/>
                </a:solidFill>
              </a:rPr>
              <a:t>Potentially useful</a:t>
            </a:r>
            <a:r>
              <a:rPr lang="en-US" sz="1400" dirty="0">
                <a:solidFill>
                  <a:schemeClr val="tx1"/>
                </a:solidFill>
              </a:rPr>
              <a:t> – valuable for decision-making or prediction</a:t>
            </a:r>
          </a:p>
          <a:p>
            <a:endParaRPr lang="en-US" sz="1400" dirty="0">
              <a:solidFill>
                <a:schemeClr val="tx1"/>
              </a:solidFill>
            </a:endParaRPr>
          </a:p>
          <a:p>
            <a:r>
              <a:rPr lang="en-US" sz="1400" b="1" dirty="0">
                <a:solidFill>
                  <a:schemeClr val="tx1"/>
                </a:solidFill>
              </a:rPr>
              <a:t>3.</a:t>
            </a:r>
          </a:p>
          <a:p>
            <a:r>
              <a:rPr lang="en-US" b="1" dirty="0"/>
              <a:t>Simple search and query processing</a:t>
            </a:r>
          </a:p>
          <a:p>
            <a:r>
              <a:rPr lang="en-US" dirty="0"/>
              <a:t>This involves retrieving information using predefined queries (like SQL).</a:t>
            </a:r>
          </a:p>
          <a:p>
            <a:pPr>
              <a:buFont typeface="Arial" panose="020B0604020202020204" pitchFamily="34" charset="0"/>
              <a:buChar char="•"/>
            </a:pPr>
            <a:r>
              <a:rPr lang="en-US" dirty="0"/>
              <a:t>It answers </a:t>
            </a:r>
            <a:r>
              <a:rPr lang="en-US" b="1" dirty="0"/>
              <a:t>explicit questions</a:t>
            </a:r>
            <a:endParaRPr lang="en-US" dirty="0"/>
          </a:p>
          <a:p>
            <a:pPr>
              <a:buFont typeface="Arial" panose="020B0604020202020204" pitchFamily="34" charset="0"/>
              <a:buChar char="•"/>
            </a:pPr>
            <a:r>
              <a:rPr lang="en-US" dirty="0"/>
              <a:t>Results are </a:t>
            </a:r>
            <a:r>
              <a:rPr lang="en-US" b="1" dirty="0"/>
              <a:t>direct and obvious</a:t>
            </a:r>
            <a:endParaRPr lang="en-US" dirty="0"/>
          </a:p>
          <a:p>
            <a:pPr>
              <a:buFont typeface="Arial" panose="020B0604020202020204" pitchFamily="34" charset="0"/>
              <a:buChar char="•"/>
            </a:pPr>
            <a:r>
              <a:rPr lang="en-US" dirty="0"/>
              <a:t>No new patterns or knowledge are discovered</a:t>
            </a:r>
          </a:p>
          <a:p>
            <a:pPr marL="171450" indent="-171450">
              <a:buFont typeface="Wingdings" panose="05000000000000000000" pitchFamily="2" charset="2"/>
              <a:buChar char="Ø"/>
            </a:pPr>
            <a:r>
              <a:rPr lang="en-US" dirty="0"/>
              <a:t>Example: </a:t>
            </a:r>
            <a:r>
              <a:rPr lang="en-US" i="1" dirty="0"/>
              <a:t>“Find all customers who bought product X last month.”</a:t>
            </a:r>
            <a:r>
              <a:rPr lang="en-US" dirty="0"/>
              <a:t/>
            </a:r>
            <a:br>
              <a:rPr lang="en-US" dirty="0"/>
            </a:br>
            <a:r>
              <a:rPr lang="en-US" dirty="0"/>
              <a:t>This is </a:t>
            </a:r>
            <a:r>
              <a:rPr lang="en-US" b="1" dirty="0"/>
              <a:t>not data mining</a:t>
            </a:r>
            <a:r>
              <a:rPr lang="en-US" dirty="0"/>
              <a:t>—it’s just data retrieval.</a:t>
            </a:r>
          </a:p>
          <a:p>
            <a:r>
              <a:rPr lang="en-US" b="1" dirty="0"/>
              <a:t>(Deductive) Expert systems</a:t>
            </a:r>
          </a:p>
          <a:p>
            <a:r>
              <a:rPr lang="en-US" dirty="0"/>
              <a:t>Expert systems use </a:t>
            </a:r>
            <a:r>
              <a:rPr lang="en-US" b="1" dirty="0"/>
              <a:t>predefined rules and human expertise</a:t>
            </a:r>
            <a:r>
              <a:rPr lang="en-US" dirty="0"/>
              <a:t> to make decisions.</a:t>
            </a:r>
          </a:p>
          <a:p>
            <a:pPr>
              <a:buFont typeface="Arial" panose="020B0604020202020204" pitchFamily="34" charset="0"/>
              <a:buChar char="•"/>
            </a:pPr>
            <a:r>
              <a:rPr lang="en-US" dirty="0"/>
              <a:t>Knowledge is </a:t>
            </a:r>
            <a:r>
              <a:rPr lang="en-US" b="1" dirty="0"/>
              <a:t>manually encoded</a:t>
            </a:r>
            <a:endParaRPr lang="en-US" dirty="0"/>
          </a:p>
          <a:p>
            <a:pPr>
              <a:buFont typeface="Arial" panose="020B0604020202020204" pitchFamily="34" charset="0"/>
              <a:buChar char="•"/>
            </a:pPr>
            <a:r>
              <a:rPr lang="en-US" dirty="0"/>
              <a:t>Reasoning is </a:t>
            </a:r>
            <a:r>
              <a:rPr lang="en-US" b="1" dirty="0"/>
              <a:t>deductive</a:t>
            </a:r>
            <a:r>
              <a:rPr lang="en-US" dirty="0"/>
              <a:t> (if–then rules)</a:t>
            </a:r>
          </a:p>
          <a:p>
            <a:pPr>
              <a:buFont typeface="Arial" panose="020B0604020202020204" pitchFamily="34" charset="0"/>
              <a:buChar char="•"/>
            </a:pPr>
            <a:r>
              <a:rPr lang="en-US" dirty="0"/>
              <a:t>Does </a:t>
            </a:r>
            <a:r>
              <a:rPr lang="en-US" b="1" dirty="0"/>
              <a:t>not learn from data</a:t>
            </a:r>
            <a:endParaRPr lang="en-US" dirty="0"/>
          </a:p>
          <a:p>
            <a:pPr marL="171450" indent="-171450">
              <a:buFont typeface="Wingdings" panose="05000000000000000000" pitchFamily="2" charset="2"/>
              <a:buChar char="Ø"/>
            </a:pPr>
            <a:r>
              <a:rPr lang="en-US" dirty="0"/>
              <a:t>Example: </a:t>
            </a:r>
            <a:r>
              <a:rPr lang="en-US" i="1" dirty="0"/>
              <a:t>“If income &gt; X and credit score &gt; Y, approve loan.”</a:t>
            </a:r>
            <a:r>
              <a:rPr lang="en-US" dirty="0"/>
              <a:t/>
            </a:r>
            <a:br>
              <a:rPr lang="en-US" dirty="0"/>
            </a:br>
            <a:r>
              <a:rPr lang="en-US" dirty="0"/>
              <a:t>This is </a:t>
            </a:r>
            <a:r>
              <a:rPr lang="en-US" b="1" dirty="0"/>
              <a:t>rule-based reasoning</a:t>
            </a:r>
            <a:r>
              <a:rPr lang="en-US" dirty="0"/>
              <a:t>, not data mining.</a:t>
            </a:r>
          </a:p>
          <a:p>
            <a:pPr marL="0" indent="0">
              <a:buFont typeface="Wingdings" panose="05000000000000000000" pitchFamily="2" charset="2"/>
              <a:buNone/>
            </a:pPr>
            <a:endParaRPr lang="en-US" dirty="0"/>
          </a:p>
          <a:p>
            <a:endParaRPr lang="en-US" dirty="0"/>
          </a:p>
        </p:txBody>
      </p:sp>
      <p:sp>
        <p:nvSpPr>
          <p:cNvPr id="4" name="Slide Number Placeholder 3"/>
          <p:cNvSpPr>
            <a:spLocks noGrp="1"/>
          </p:cNvSpPr>
          <p:nvPr>
            <p:ph type="sldNum" sz="quarter" idx="5"/>
          </p:nvPr>
        </p:nvSpPr>
        <p:spPr/>
        <p:txBody>
          <a:bodyPr/>
          <a:lstStyle/>
          <a:p>
            <a:fld id="{CB4F38C2-4548-F541-8261-4C1D96E7A166}" type="slidenum">
              <a:rPr lang="en-US" smtClean="0"/>
              <a:t>4</a:t>
            </a:fld>
            <a:endParaRPr lang="en-US"/>
          </a:p>
        </p:txBody>
      </p:sp>
    </p:spTree>
    <p:extLst>
      <p:ext uri="{BB962C8B-B14F-4D97-AF65-F5344CB8AC3E}">
        <p14:creationId xmlns:p14="http://schemas.microsoft.com/office/powerpoint/2010/main" val="27526701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Organizations increasingly realize that </a:t>
            </a:r>
            <a:r>
              <a:rPr lang="en-US" b="1" dirty="0"/>
              <a:t>discovering knowledge from data</a:t>
            </a:r>
            <a:r>
              <a:rPr lang="en-US" dirty="0"/>
              <a:t>—rather than just storing or querying it—can provide a </a:t>
            </a:r>
            <a:r>
              <a:rPr lang="en-US" b="1" dirty="0"/>
              <a:t>strong competitive advantage</a:t>
            </a:r>
            <a:r>
              <a:rPr lang="en-US" dirty="0"/>
              <a:t>. By analyzing large volumes of data, businesses can uncover hidden patterns, customer behaviors, market trends, and risks that competitors may not see.</a:t>
            </a:r>
          </a:p>
          <a:p>
            <a:r>
              <a:rPr lang="en-US" dirty="0"/>
              <a:t>This insight allows companies to:</a:t>
            </a:r>
          </a:p>
          <a:p>
            <a:pPr>
              <a:buFont typeface="Arial" panose="020B0604020202020204" pitchFamily="34" charset="0"/>
              <a:buChar char="•"/>
            </a:pPr>
            <a:r>
              <a:rPr lang="en-US" dirty="0"/>
              <a:t>Make </a:t>
            </a:r>
            <a:r>
              <a:rPr lang="en-US" b="1" dirty="0"/>
              <a:t>better strategic decisions</a:t>
            </a:r>
            <a:endParaRPr lang="en-US" dirty="0"/>
          </a:p>
          <a:p>
            <a:pPr>
              <a:buFont typeface="Arial" panose="020B0604020202020204" pitchFamily="34" charset="0"/>
              <a:buChar char="•"/>
            </a:pPr>
            <a:r>
              <a:rPr lang="en-US" dirty="0"/>
              <a:t>Improve </a:t>
            </a:r>
            <a:r>
              <a:rPr lang="en-US" b="1" dirty="0"/>
              <a:t>efficiency and profitability</a:t>
            </a:r>
            <a:endParaRPr lang="en-US" dirty="0"/>
          </a:p>
          <a:p>
            <a:pPr>
              <a:buFont typeface="Arial" panose="020B0604020202020204" pitchFamily="34" charset="0"/>
              <a:buChar char="•"/>
            </a:pPr>
            <a:r>
              <a:rPr lang="en-US" dirty="0"/>
              <a:t>Anticipate </a:t>
            </a:r>
            <a:r>
              <a:rPr lang="en-US" b="1" dirty="0"/>
              <a:t>customer needs and market changes</a:t>
            </a:r>
            <a:endParaRPr lang="en-US" dirty="0"/>
          </a:p>
          <a:p>
            <a:pPr>
              <a:buFont typeface="Arial" panose="020B0604020202020204" pitchFamily="34" charset="0"/>
              <a:buChar char="•"/>
            </a:pPr>
            <a:r>
              <a:rPr lang="en-US" dirty="0"/>
              <a:t>Innovate faster than competitors</a:t>
            </a:r>
          </a:p>
          <a:p>
            <a:endParaRPr lang="en-US" dirty="0"/>
          </a:p>
        </p:txBody>
      </p:sp>
      <p:sp>
        <p:nvSpPr>
          <p:cNvPr id="4" name="Slide Number Placeholder 3"/>
          <p:cNvSpPr>
            <a:spLocks noGrp="1"/>
          </p:cNvSpPr>
          <p:nvPr>
            <p:ph type="sldNum" sz="quarter" idx="5"/>
          </p:nvPr>
        </p:nvSpPr>
        <p:spPr/>
        <p:txBody>
          <a:bodyPr/>
          <a:lstStyle/>
          <a:p>
            <a:fld id="{CB4F38C2-4548-F541-8261-4C1D96E7A166}" type="slidenum">
              <a:rPr lang="en-US" smtClean="0"/>
              <a:t>6</a:t>
            </a:fld>
            <a:endParaRPr lang="en-US"/>
          </a:p>
        </p:txBody>
      </p:sp>
    </p:spTree>
    <p:extLst>
      <p:ext uri="{BB962C8B-B14F-4D97-AF65-F5344CB8AC3E}">
        <p14:creationId xmlns:p14="http://schemas.microsoft.com/office/powerpoint/2010/main" val="26641926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techniques analyze large datasets to </a:t>
            </a:r>
            <a:r>
              <a:rPr lang="en-US" b="1" dirty="0"/>
              <a:t>identify patterns, correlations, and trends</a:t>
            </a:r>
            <a:r>
              <a:rPr lang="en-US" dirty="0"/>
              <a:t> that are difficult for humans to detect manually. By learning from historical data, machine learning models can generalize and make predictions or decisions on new data.</a:t>
            </a:r>
          </a:p>
          <a:p>
            <a:r>
              <a:rPr lang="en-US" dirty="0"/>
              <a:t>Common machine learning methods used in data mining include:</a:t>
            </a:r>
          </a:p>
          <a:p>
            <a:pPr>
              <a:buFont typeface="Arial" panose="020B0604020202020204" pitchFamily="34" charset="0"/>
              <a:buChar char="•"/>
            </a:pPr>
            <a:r>
              <a:rPr lang="en-US" b="1" dirty="0"/>
              <a:t>Clustering</a:t>
            </a:r>
            <a:r>
              <a:rPr lang="en-US" dirty="0"/>
              <a:t> – grouping similar data objects without predefined labels</a:t>
            </a:r>
          </a:p>
          <a:p>
            <a:pPr>
              <a:buFont typeface="Arial" panose="020B0604020202020204" pitchFamily="34" charset="0"/>
              <a:buChar char="•"/>
            </a:pPr>
            <a:r>
              <a:rPr lang="en-US" b="1" dirty="0"/>
              <a:t>Classification</a:t>
            </a:r>
            <a:r>
              <a:rPr lang="en-US" dirty="0"/>
              <a:t> – assigning data items to predefined categories</a:t>
            </a:r>
          </a:p>
          <a:p>
            <a:pPr>
              <a:buFont typeface="Arial" panose="020B0604020202020204" pitchFamily="34" charset="0"/>
              <a:buChar char="•"/>
            </a:pPr>
            <a:r>
              <a:rPr lang="en-US" b="1" dirty="0"/>
              <a:t>Regression</a:t>
            </a:r>
            <a:r>
              <a:rPr lang="en-US" dirty="0"/>
              <a:t> – modeling relationships between variables to predict continuous values</a:t>
            </a:r>
          </a:p>
          <a:p>
            <a:r>
              <a:rPr lang="en-US" dirty="0"/>
              <a:t>Together, pattern recognition and machine learning help </a:t>
            </a:r>
            <a:r>
              <a:rPr lang="en-US" b="1" dirty="0"/>
              <a:t>uncover hidden insights</a:t>
            </a:r>
            <a:r>
              <a:rPr lang="en-US" dirty="0"/>
              <a:t>, support </a:t>
            </a:r>
            <a:r>
              <a:rPr lang="en-US" b="1" dirty="0"/>
              <a:t>data-driven decision-making</a:t>
            </a:r>
            <a:r>
              <a:rPr lang="en-US" dirty="0"/>
              <a:t>, and improve prediction accuracy across various applications.</a:t>
            </a:r>
          </a:p>
          <a:p>
            <a:endParaRPr lang="en-US" dirty="0"/>
          </a:p>
        </p:txBody>
      </p:sp>
      <p:sp>
        <p:nvSpPr>
          <p:cNvPr id="4" name="Slide Number Placeholder 3"/>
          <p:cNvSpPr>
            <a:spLocks noGrp="1"/>
          </p:cNvSpPr>
          <p:nvPr>
            <p:ph type="sldNum" sz="quarter" idx="5"/>
          </p:nvPr>
        </p:nvSpPr>
        <p:spPr/>
        <p:txBody>
          <a:bodyPr/>
          <a:lstStyle/>
          <a:p>
            <a:fld id="{CB4F38C2-4548-F541-8261-4C1D96E7A166}" type="slidenum">
              <a:rPr lang="en-US" smtClean="0"/>
              <a:t>8</a:t>
            </a:fld>
            <a:endParaRPr lang="en-US"/>
          </a:p>
        </p:txBody>
      </p:sp>
    </p:spTree>
    <p:extLst>
      <p:ext uri="{BB962C8B-B14F-4D97-AF65-F5344CB8AC3E}">
        <p14:creationId xmlns:p14="http://schemas.microsoft.com/office/powerpoint/2010/main" val="6792667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solidFill>
                  <a:srgbClr val="C00000"/>
                </a:solidFill>
                <a:latin typeface="Times New Roman" panose="02020603050405020304" pitchFamily="18" charset="0"/>
                <a:cs typeface="Times New Roman" panose="02020603050405020304" pitchFamily="18" charset="0"/>
              </a:rPr>
              <a:t>Fraud </a:t>
            </a:r>
            <a:r>
              <a:rPr lang="en-US" altLang="en-US" b="1" dirty="0" err="1">
                <a:solidFill>
                  <a:srgbClr val="C00000"/>
                </a:solidFill>
                <a:latin typeface="Times New Roman" panose="02020603050405020304" pitchFamily="18" charset="0"/>
                <a:cs typeface="Times New Roman" panose="02020603050405020304" pitchFamily="18" charset="0"/>
              </a:rPr>
              <a:t>Detection:</a:t>
            </a:r>
            <a:r>
              <a:rPr lang="en-US" dirty="0" err="1"/>
              <a:t>Data</a:t>
            </a:r>
            <a:r>
              <a:rPr lang="en-US" dirty="0"/>
              <a:t> mining helps detect fraudulent activities by </a:t>
            </a:r>
            <a:r>
              <a:rPr lang="en-US" b="1" dirty="0"/>
              <a:t>analyzing large volumes of transactional and historical data</a:t>
            </a:r>
            <a:r>
              <a:rPr lang="en-US" dirty="0"/>
              <a:t> to identify </a:t>
            </a:r>
            <a:r>
              <a:rPr lang="en-US" b="1" dirty="0"/>
              <a:t>unusual or abnormal patterns</a:t>
            </a:r>
            <a:r>
              <a:rPr lang="en-US" dirty="0"/>
              <a:t>.</a:t>
            </a:r>
            <a:br>
              <a:rPr lang="en-US" dirty="0"/>
            </a:br>
            <a:r>
              <a:rPr lang="en-US" dirty="0"/>
              <a:t>Similarly, in the insurance industry, data mining analyzes past claim records to </a:t>
            </a:r>
            <a:r>
              <a:rPr lang="en-US" b="1" dirty="0"/>
              <a:t>identify inconsistencies, repeated claims, or abnormal patterns</a:t>
            </a:r>
            <a:r>
              <a:rPr lang="en-US" dirty="0"/>
              <a:t> that may indicate fraud. By recognizing these patterns early, organizations can </a:t>
            </a:r>
            <a:r>
              <a:rPr lang="en-US" b="1" dirty="0"/>
              <a:t>reduce financial losses, improve security, and take preventive actions</a:t>
            </a:r>
            <a:r>
              <a:rPr lang="en-US" dirty="0"/>
              <a:t>.</a:t>
            </a:r>
            <a:br>
              <a:rPr lang="en-US" dirty="0"/>
            </a:br>
            <a:r>
              <a:rPr lang="en-US" dirty="0"/>
              <a:t/>
            </a:r>
            <a:br>
              <a:rPr lang="en-US" dirty="0"/>
            </a:br>
            <a:endParaRPr lang="en-US" dirty="0"/>
          </a:p>
        </p:txBody>
      </p:sp>
      <p:sp>
        <p:nvSpPr>
          <p:cNvPr id="4" name="Slide Number Placeholder 3"/>
          <p:cNvSpPr>
            <a:spLocks noGrp="1"/>
          </p:cNvSpPr>
          <p:nvPr>
            <p:ph type="sldNum" sz="quarter" idx="5"/>
          </p:nvPr>
        </p:nvSpPr>
        <p:spPr/>
        <p:txBody>
          <a:bodyPr/>
          <a:lstStyle/>
          <a:p>
            <a:fld id="{CB4F38C2-4548-F541-8261-4C1D96E7A166}" type="slidenum">
              <a:rPr lang="en-US" smtClean="0"/>
              <a:t>12</a:t>
            </a:fld>
            <a:endParaRPr lang="en-US"/>
          </a:p>
        </p:txBody>
      </p:sp>
    </p:spTree>
    <p:extLst>
      <p:ext uri="{BB962C8B-B14F-4D97-AF65-F5344CB8AC3E}">
        <p14:creationId xmlns:p14="http://schemas.microsoft.com/office/powerpoint/2010/main" val="29697420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Manage inventory efficiently</a:t>
            </a:r>
            <a:r>
              <a:rPr lang="en-US" dirty="0"/>
              <a:t> – ensuring the right products are available at the right time</a:t>
            </a:r>
          </a:p>
          <a:p>
            <a:r>
              <a:rPr lang="en-US" b="1" dirty="0"/>
              <a:t>Predict shortages or excess stock</a:t>
            </a:r>
            <a:r>
              <a:rPr lang="en-US" dirty="0"/>
              <a:t> – reducing waste and preventing stockouts</a:t>
            </a:r>
          </a:p>
          <a:p>
            <a:r>
              <a:rPr lang="en-US" b="1" dirty="0"/>
              <a:t>Optimize logistics and distribution</a:t>
            </a:r>
            <a:r>
              <a:rPr lang="en-US" dirty="0"/>
              <a:t> – improving transportation routes and delivery schedules</a:t>
            </a:r>
          </a:p>
          <a:p>
            <a:r>
              <a:rPr lang="en-US" b="1" dirty="0"/>
              <a:t>Reduce costs and improve delivery times</a:t>
            </a:r>
            <a:r>
              <a:rPr lang="en-US" dirty="0"/>
              <a:t> – making the supply chain faster, more efficient, and cost-effective</a:t>
            </a:r>
          </a:p>
          <a:p>
            <a:endParaRPr lang="en-US" dirty="0"/>
          </a:p>
        </p:txBody>
      </p:sp>
      <p:sp>
        <p:nvSpPr>
          <p:cNvPr id="4" name="Slide Number Placeholder 3"/>
          <p:cNvSpPr>
            <a:spLocks noGrp="1"/>
          </p:cNvSpPr>
          <p:nvPr>
            <p:ph type="sldNum" sz="quarter" idx="5"/>
          </p:nvPr>
        </p:nvSpPr>
        <p:spPr/>
        <p:txBody>
          <a:bodyPr/>
          <a:lstStyle/>
          <a:p>
            <a:fld id="{CB4F38C2-4548-F541-8261-4C1D96E7A166}" type="slidenum">
              <a:rPr lang="en-US" smtClean="0"/>
              <a:t>13</a:t>
            </a:fld>
            <a:endParaRPr lang="en-US"/>
          </a:p>
        </p:txBody>
      </p:sp>
    </p:spTree>
    <p:extLst>
      <p:ext uri="{BB962C8B-B14F-4D97-AF65-F5344CB8AC3E}">
        <p14:creationId xmlns:p14="http://schemas.microsoft.com/office/powerpoint/2010/main" val="10762914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Churn prediction </a:t>
            </a:r>
            <a:r>
              <a:rPr lang="en-US" dirty="0"/>
              <a:t>is the proactive identification of at-risk customers likely to cancel subscriptions or stop using services, utilizing machine learning, historical, and behavioral data.</a:t>
            </a:r>
          </a:p>
          <a:p>
            <a:r>
              <a:rPr lang="en-US" b="0" i="0" dirty="0">
                <a:solidFill>
                  <a:srgbClr val="474747"/>
                </a:solidFill>
                <a:effectLst/>
                <a:latin typeface="Google Sans"/>
              </a:rPr>
              <a:t>An </a:t>
            </a:r>
            <a:r>
              <a:rPr lang="en-US" b="1" i="0" dirty="0">
                <a:solidFill>
                  <a:srgbClr val="474747"/>
                </a:solidFill>
                <a:effectLst/>
                <a:latin typeface="Google Sans"/>
              </a:rPr>
              <a:t>intrusion detection </a:t>
            </a:r>
            <a:r>
              <a:rPr lang="en-US" b="0" i="0" dirty="0">
                <a:solidFill>
                  <a:srgbClr val="474747"/>
                </a:solidFill>
                <a:effectLst/>
                <a:latin typeface="Google Sans"/>
              </a:rPr>
              <a:t>system (IDS) is </a:t>
            </a:r>
            <a:r>
              <a:rPr lang="en-US" b="0" i="0" dirty="0">
                <a:solidFill>
                  <a:srgbClr val="040C28"/>
                </a:solidFill>
                <a:effectLst/>
                <a:latin typeface="Google Sans"/>
              </a:rPr>
              <a:t>an application that monitors network traffic and searches for known threats and suspicious or malicious activity</a:t>
            </a:r>
            <a:r>
              <a:rPr lang="en-US" b="0" i="0" dirty="0">
                <a:solidFill>
                  <a:srgbClr val="474747"/>
                </a:solidFill>
                <a:effectLst/>
                <a:latin typeface="Google Sans"/>
              </a:rPr>
              <a:t>.</a:t>
            </a:r>
            <a:endParaRPr lang="en-US" dirty="0"/>
          </a:p>
        </p:txBody>
      </p:sp>
      <p:sp>
        <p:nvSpPr>
          <p:cNvPr id="4" name="Slide Number Placeholder 3"/>
          <p:cNvSpPr>
            <a:spLocks noGrp="1"/>
          </p:cNvSpPr>
          <p:nvPr>
            <p:ph type="sldNum" sz="quarter" idx="5"/>
          </p:nvPr>
        </p:nvSpPr>
        <p:spPr/>
        <p:txBody>
          <a:bodyPr/>
          <a:lstStyle/>
          <a:p>
            <a:fld id="{CB4F38C2-4548-F541-8261-4C1D96E7A166}" type="slidenum">
              <a:rPr lang="en-US" smtClean="0"/>
              <a:t>15</a:t>
            </a:fld>
            <a:endParaRPr lang="en-US"/>
          </a:p>
        </p:txBody>
      </p:sp>
    </p:spTree>
    <p:extLst>
      <p:ext uri="{BB962C8B-B14F-4D97-AF65-F5344CB8AC3E}">
        <p14:creationId xmlns:p14="http://schemas.microsoft.com/office/powerpoint/2010/main" val="16726963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1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1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1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1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1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1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Layouts/slideLayout14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14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14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14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15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15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15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15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18"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image" Target="../media/image5.svg"/><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sv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18" Type="http://schemas.openxmlformats.org/officeDocument/2006/relationships/image" Target="../media/image4.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17" Type="http://schemas.openxmlformats.org/officeDocument/2006/relationships/image" Target="../media/image5.svg"/><Relationship Id="rId2" Type="http://schemas.openxmlformats.org/officeDocument/2006/relationships/slideLayout" Target="../slideLayouts/slideLayout13.xml"/><Relationship Id="rId16" Type="http://schemas.openxmlformats.org/officeDocument/2006/relationships/image" Target="../media/image3.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3.sv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png"/><Relationship Id="rId18" Type="http://schemas.openxmlformats.org/officeDocument/2006/relationships/image" Target="../media/image4.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17" Type="http://schemas.openxmlformats.org/officeDocument/2006/relationships/image" Target="../media/image5.svg"/><Relationship Id="rId2" Type="http://schemas.openxmlformats.org/officeDocument/2006/relationships/slideLayout" Target="../slideLayouts/slideLayout24.xml"/><Relationship Id="rId16" Type="http://schemas.openxmlformats.org/officeDocument/2006/relationships/image" Target="../media/image3.png"/><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image" Target="../media/image3.svg"/><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1.png"/><Relationship Id="rId18" Type="http://schemas.openxmlformats.org/officeDocument/2006/relationships/image" Target="../media/image4.pn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17" Type="http://schemas.openxmlformats.org/officeDocument/2006/relationships/image" Target="../media/image10.svg"/><Relationship Id="rId2" Type="http://schemas.openxmlformats.org/officeDocument/2006/relationships/slideLayout" Target="../slideLayouts/slideLayout35.xml"/><Relationship Id="rId16" Type="http://schemas.openxmlformats.org/officeDocument/2006/relationships/image" Target="../media/image6.png"/><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5" Type="http://schemas.openxmlformats.org/officeDocument/2006/relationships/image" Target="../media/image8.svg"/><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image" Target="../media/image5.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image" Target="../media/image1.png"/><Relationship Id="rId18" Type="http://schemas.openxmlformats.org/officeDocument/2006/relationships/image" Target="../media/image4.png"/><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17" Type="http://schemas.openxmlformats.org/officeDocument/2006/relationships/image" Target="../media/image14.svg"/><Relationship Id="rId2" Type="http://schemas.openxmlformats.org/officeDocument/2006/relationships/slideLayout" Target="../slideLayouts/slideLayout46.xml"/><Relationship Id="rId16" Type="http://schemas.openxmlformats.org/officeDocument/2006/relationships/image" Target="../media/image8.png"/><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5" Type="http://schemas.openxmlformats.org/officeDocument/2006/relationships/image" Target="../media/image12.svg"/><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image" Target="../media/image7.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13" Type="http://schemas.openxmlformats.org/officeDocument/2006/relationships/image" Target="../media/image1.png"/><Relationship Id="rId18" Type="http://schemas.openxmlformats.org/officeDocument/2006/relationships/image" Target="../media/image4.png"/><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17" Type="http://schemas.openxmlformats.org/officeDocument/2006/relationships/image" Target="../media/image14.svg"/><Relationship Id="rId2" Type="http://schemas.openxmlformats.org/officeDocument/2006/relationships/slideLayout" Target="../slideLayouts/slideLayout57.xml"/><Relationship Id="rId16" Type="http://schemas.openxmlformats.org/officeDocument/2006/relationships/image" Target="../media/image8.png"/><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5" Type="http://schemas.openxmlformats.org/officeDocument/2006/relationships/image" Target="../media/image12.svg"/><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 Id="rId14" Type="http://schemas.openxmlformats.org/officeDocument/2006/relationships/image" Target="../media/image7.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13" Type="http://schemas.openxmlformats.org/officeDocument/2006/relationships/image" Target="../media/image1.png"/><Relationship Id="rId18" Type="http://schemas.openxmlformats.org/officeDocument/2006/relationships/image" Target="../media/image4.png"/><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17" Type="http://schemas.openxmlformats.org/officeDocument/2006/relationships/image" Target="../media/image14.svg"/><Relationship Id="rId2" Type="http://schemas.openxmlformats.org/officeDocument/2006/relationships/slideLayout" Target="../slideLayouts/slideLayout68.xml"/><Relationship Id="rId16" Type="http://schemas.openxmlformats.org/officeDocument/2006/relationships/image" Target="../media/image8.png"/><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5" Type="http://schemas.openxmlformats.org/officeDocument/2006/relationships/image" Target="../media/image12.svg"/><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 Id="rId14" Type="http://schemas.openxmlformats.org/officeDocument/2006/relationships/image" Target="../media/image7.pn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image" Target="../media/image1.png"/><Relationship Id="rId18" Type="http://schemas.openxmlformats.org/officeDocument/2006/relationships/image" Target="../media/image4.png"/><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theme" Target="../theme/theme8.xml"/><Relationship Id="rId17" Type="http://schemas.openxmlformats.org/officeDocument/2006/relationships/image" Target="../media/image14.svg"/><Relationship Id="rId2" Type="http://schemas.openxmlformats.org/officeDocument/2006/relationships/slideLayout" Target="../slideLayouts/slideLayout79.xml"/><Relationship Id="rId16" Type="http://schemas.openxmlformats.org/officeDocument/2006/relationships/image" Target="../media/image8.png"/><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5" Type="http://schemas.openxmlformats.org/officeDocument/2006/relationships/image" Target="../media/image12.svg"/><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image" Target="../media/image7.png"/></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6.xml"/><Relationship Id="rId13" Type="http://schemas.openxmlformats.org/officeDocument/2006/relationships/image" Target="../media/image1.png"/><Relationship Id="rId18" Type="http://schemas.openxmlformats.org/officeDocument/2006/relationships/image" Target="../media/image4.png"/><Relationship Id="rId3" Type="http://schemas.openxmlformats.org/officeDocument/2006/relationships/slideLayout" Target="../slideLayouts/slideLayout91.xml"/><Relationship Id="rId7" Type="http://schemas.openxmlformats.org/officeDocument/2006/relationships/slideLayout" Target="../slideLayouts/slideLayout95.xml"/><Relationship Id="rId12" Type="http://schemas.openxmlformats.org/officeDocument/2006/relationships/theme" Target="../theme/theme9.xml"/><Relationship Id="rId17" Type="http://schemas.openxmlformats.org/officeDocument/2006/relationships/image" Target="../media/image14.svg"/><Relationship Id="rId2" Type="http://schemas.openxmlformats.org/officeDocument/2006/relationships/slideLayout" Target="../slideLayouts/slideLayout90.xml"/><Relationship Id="rId16" Type="http://schemas.openxmlformats.org/officeDocument/2006/relationships/image" Target="../media/image8.png"/><Relationship Id="rId1" Type="http://schemas.openxmlformats.org/officeDocument/2006/relationships/slideLayout" Target="../slideLayouts/slideLayout89.xml"/><Relationship Id="rId6" Type="http://schemas.openxmlformats.org/officeDocument/2006/relationships/slideLayout" Target="../slideLayouts/slideLayout94.xml"/><Relationship Id="rId11" Type="http://schemas.openxmlformats.org/officeDocument/2006/relationships/slideLayout" Target="../slideLayouts/slideLayout99.xml"/><Relationship Id="rId5" Type="http://schemas.openxmlformats.org/officeDocument/2006/relationships/slideLayout" Target="../slideLayouts/slideLayout93.xml"/><Relationship Id="rId15" Type="http://schemas.openxmlformats.org/officeDocument/2006/relationships/image" Target="../media/image12.svg"/><Relationship Id="rId10" Type="http://schemas.openxmlformats.org/officeDocument/2006/relationships/slideLayout" Target="../slideLayouts/slideLayout98.xml"/><Relationship Id="rId4" Type="http://schemas.openxmlformats.org/officeDocument/2006/relationships/slideLayout" Target="../slideLayouts/slideLayout92.xml"/><Relationship Id="rId9" Type="http://schemas.openxmlformats.org/officeDocument/2006/relationships/slideLayout" Target="../slideLayouts/slideLayout97.xml"/><Relationship Id="rId14" Type="http://schemas.openxmlformats.org/officeDocument/2006/relationships/image" Target="../media/image7.png"/></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07.xml"/><Relationship Id="rId13" Type="http://schemas.openxmlformats.org/officeDocument/2006/relationships/image" Target="../media/image1.png"/><Relationship Id="rId18" Type="http://schemas.openxmlformats.org/officeDocument/2006/relationships/image" Target="../media/image4.png"/><Relationship Id="rId3" Type="http://schemas.openxmlformats.org/officeDocument/2006/relationships/slideLayout" Target="../slideLayouts/slideLayout102.xml"/><Relationship Id="rId7" Type="http://schemas.openxmlformats.org/officeDocument/2006/relationships/slideLayout" Target="../slideLayouts/slideLayout106.xml"/><Relationship Id="rId12" Type="http://schemas.openxmlformats.org/officeDocument/2006/relationships/theme" Target="../theme/theme10.xml"/><Relationship Id="rId17" Type="http://schemas.openxmlformats.org/officeDocument/2006/relationships/image" Target="../media/image14.svg"/><Relationship Id="rId2" Type="http://schemas.openxmlformats.org/officeDocument/2006/relationships/slideLayout" Target="../slideLayouts/slideLayout101.xml"/><Relationship Id="rId16" Type="http://schemas.openxmlformats.org/officeDocument/2006/relationships/image" Target="../media/image8.png"/><Relationship Id="rId1" Type="http://schemas.openxmlformats.org/officeDocument/2006/relationships/slideLayout" Target="../slideLayouts/slideLayout100.xml"/><Relationship Id="rId6" Type="http://schemas.openxmlformats.org/officeDocument/2006/relationships/slideLayout" Target="../slideLayouts/slideLayout105.xml"/><Relationship Id="rId11" Type="http://schemas.openxmlformats.org/officeDocument/2006/relationships/slideLayout" Target="../slideLayouts/slideLayout110.xml"/><Relationship Id="rId5" Type="http://schemas.openxmlformats.org/officeDocument/2006/relationships/slideLayout" Target="../slideLayouts/slideLayout104.xml"/><Relationship Id="rId15" Type="http://schemas.openxmlformats.org/officeDocument/2006/relationships/image" Target="../media/image12.svg"/><Relationship Id="rId10" Type="http://schemas.openxmlformats.org/officeDocument/2006/relationships/slideLayout" Target="../slideLayouts/slideLayout109.xml"/><Relationship Id="rId4" Type="http://schemas.openxmlformats.org/officeDocument/2006/relationships/slideLayout" Target="../slideLayouts/slideLayout103.xml"/><Relationship Id="rId9" Type="http://schemas.openxmlformats.org/officeDocument/2006/relationships/slideLayout" Target="../slideLayouts/slideLayout108.xml"/><Relationship Id="rId14" Type="http://schemas.openxmlformats.org/officeDocument/2006/relationships/image" Target="../media/image7.png"/></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18.xml"/><Relationship Id="rId13" Type="http://schemas.openxmlformats.org/officeDocument/2006/relationships/image" Target="../media/image1.png"/><Relationship Id="rId18" Type="http://schemas.openxmlformats.org/officeDocument/2006/relationships/image" Target="../media/image4.png"/><Relationship Id="rId3" Type="http://schemas.openxmlformats.org/officeDocument/2006/relationships/slideLayout" Target="../slideLayouts/slideLayout113.xml"/><Relationship Id="rId7" Type="http://schemas.openxmlformats.org/officeDocument/2006/relationships/slideLayout" Target="../slideLayouts/slideLayout117.xml"/><Relationship Id="rId12" Type="http://schemas.openxmlformats.org/officeDocument/2006/relationships/theme" Target="../theme/theme11.xml"/><Relationship Id="rId17" Type="http://schemas.openxmlformats.org/officeDocument/2006/relationships/image" Target="../media/image10.svg"/><Relationship Id="rId2" Type="http://schemas.openxmlformats.org/officeDocument/2006/relationships/slideLayout" Target="../slideLayouts/slideLayout112.xml"/><Relationship Id="rId16" Type="http://schemas.openxmlformats.org/officeDocument/2006/relationships/image" Target="../media/image8.png"/><Relationship Id="rId1" Type="http://schemas.openxmlformats.org/officeDocument/2006/relationships/slideLayout" Target="../slideLayouts/slideLayout111.xml"/><Relationship Id="rId6" Type="http://schemas.openxmlformats.org/officeDocument/2006/relationships/slideLayout" Target="../slideLayouts/slideLayout116.xml"/><Relationship Id="rId11" Type="http://schemas.openxmlformats.org/officeDocument/2006/relationships/slideLayout" Target="../slideLayouts/slideLayout121.xml"/><Relationship Id="rId5" Type="http://schemas.openxmlformats.org/officeDocument/2006/relationships/slideLayout" Target="../slideLayouts/slideLayout115.xml"/><Relationship Id="rId15" Type="http://schemas.openxmlformats.org/officeDocument/2006/relationships/image" Target="../media/image8.svg"/><Relationship Id="rId10" Type="http://schemas.openxmlformats.org/officeDocument/2006/relationships/slideLayout" Target="../slideLayouts/slideLayout120.xml"/><Relationship Id="rId4" Type="http://schemas.openxmlformats.org/officeDocument/2006/relationships/slideLayout" Target="../slideLayouts/slideLayout114.xml"/><Relationship Id="rId9" Type="http://schemas.openxmlformats.org/officeDocument/2006/relationships/slideLayout" Target="../slideLayouts/slideLayout119.xml"/><Relationship Id="rId14" Type="http://schemas.openxmlformats.org/officeDocument/2006/relationships/image" Target="../media/image7.png"/></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29.xml"/><Relationship Id="rId13" Type="http://schemas.openxmlformats.org/officeDocument/2006/relationships/image" Target="../media/image1.png"/><Relationship Id="rId18" Type="http://schemas.openxmlformats.org/officeDocument/2006/relationships/image" Target="../media/image4.png"/><Relationship Id="rId3" Type="http://schemas.openxmlformats.org/officeDocument/2006/relationships/slideLayout" Target="../slideLayouts/slideLayout124.xml"/><Relationship Id="rId7" Type="http://schemas.openxmlformats.org/officeDocument/2006/relationships/slideLayout" Target="../slideLayouts/slideLayout128.xml"/><Relationship Id="rId12" Type="http://schemas.openxmlformats.org/officeDocument/2006/relationships/theme" Target="../theme/theme12.xml"/><Relationship Id="rId17" Type="http://schemas.openxmlformats.org/officeDocument/2006/relationships/image" Target="../media/image10.svg"/><Relationship Id="rId2" Type="http://schemas.openxmlformats.org/officeDocument/2006/relationships/slideLayout" Target="../slideLayouts/slideLayout123.xml"/><Relationship Id="rId16" Type="http://schemas.openxmlformats.org/officeDocument/2006/relationships/image" Target="../media/image8.png"/><Relationship Id="rId1" Type="http://schemas.openxmlformats.org/officeDocument/2006/relationships/slideLayout" Target="../slideLayouts/slideLayout122.xml"/><Relationship Id="rId6" Type="http://schemas.openxmlformats.org/officeDocument/2006/relationships/slideLayout" Target="../slideLayouts/slideLayout127.xml"/><Relationship Id="rId11" Type="http://schemas.openxmlformats.org/officeDocument/2006/relationships/slideLayout" Target="../slideLayouts/slideLayout132.xml"/><Relationship Id="rId5" Type="http://schemas.openxmlformats.org/officeDocument/2006/relationships/slideLayout" Target="../slideLayouts/slideLayout126.xml"/><Relationship Id="rId15" Type="http://schemas.openxmlformats.org/officeDocument/2006/relationships/image" Target="../media/image8.svg"/><Relationship Id="rId10" Type="http://schemas.openxmlformats.org/officeDocument/2006/relationships/slideLayout" Target="../slideLayouts/slideLayout131.xml"/><Relationship Id="rId4" Type="http://schemas.openxmlformats.org/officeDocument/2006/relationships/slideLayout" Target="../slideLayouts/slideLayout125.xml"/><Relationship Id="rId9" Type="http://schemas.openxmlformats.org/officeDocument/2006/relationships/slideLayout" Target="../slideLayouts/slideLayout130.xml"/><Relationship Id="rId14" Type="http://schemas.openxmlformats.org/officeDocument/2006/relationships/image" Target="../media/image7.png"/></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40.xml"/><Relationship Id="rId13" Type="http://schemas.openxmlformats.org/officeDocument/2006/relationships/image" Target="../media/image1.png"/><Relationship Id="rId18" Type="http://schemas.openxmlformats.org/officeDocument/2006/relationships/image" Target="../media/image4.png"/><Relationship Id="rId3" Type="http://schemas.openxmlformats.org/officeDocument/2006/relationships/slideLayout" Target="../slideLayouts/slideLayout135.xml"/><Relationship Id="rId7" Type="http://schemas.openxmlformats.org/officeDocument/2006/relationships/slideLayout" Target="../slideLayouts/slideLayout139.xml"/><Relationship Id="rId12" Type="http://schemas.openxmlformats.org/officeDocument/2006/relationships/theme" Target="../theme/theme13.xml"/><Relationship Id="rId17" Type="http://schemas.openxmlformats.org/officeDocument/2006/relationships/image" Target="../media/image10.svg"/><Relationship Id="rId2" Type="http://schemas.openxmlformats.org/officeDocument/2006/relationships/slideLayout" Target="../slideLayouts/slideLayout134.xml"/><Relationship Id="rId16" Type="http://schemas.openxmlformats.org/officeDocument/2006/relationships/image" Target="../media/image8.png"/><Relationship Id="rId1" Type="http://schemas.openxmlformats.org/officeDocument/2006/relationships/slideLayout" Target="../slideLayouts/slideLayout133.xml"/><Relationship Id="rId6" Type="http://schemas.openxmlformats.org/officeDocument/2006/relationships/slideLayout" Target="../slideLayouts/slideLayout138.xml"/><Relationship Id="rId11" Type="http://schemas.openxmlformats.org/officeDocument/2006/relationships/slideLayout" Target="../slideLayouts/slideLayout143.xml"/><Relationship Id="rId5" Type="http://schemas.openxmlformats.org/officeDocument/2006/relationships/slideLayout" Target="../slideLayouts/slideLayout137.xml"/><Relationship Id="rId15" Type="http://schemas.openxmlformats.org/officeDocument/2006/relationships/image" Target="../media/image8.svg"/><Relationship Id="rId10" Type="http://schemas.openxmlformats.org/officeDocument/2006/relationships/slideLayout" Target="../slideLayouts/slideLayout142.xml"/><Relationship Id="rId4" Type="http://schemas.openxmlformats.org/officeDocument/2006/relationships/slideLayout" Target="../slideLayouts/slideLayout136.xml"/><Relationship Id="rId9" Type="http://schemas.openxmlformats.org/officeDocument/2006/relationships/slideLayout" Target="../slideLayouts/slideLayout141.xml"/><Relationship Id="rId14" Type="http://schemas.openxmlformats.org/officeDocument/2006/relationships/image" Target="../media/image7.png"/></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151.xml"/><Relationship Id="rId13" Type="http://schemas.openxmlformats.org/officeDocument/2006/relationships/image" Target="../media/image1.png"/><Relationship Id="rId18" Type="http://schemas.openxmlformats.org/officeDocument/2006/relationships/image" Target="../media/image4.png"/><Relationship Id="rId3" Type="http://schemas.openxmlformats.org/officeDocument/2006/relationships/slideLayout" Target="../slideLayouts/slideLayout146.xml"/><Relationship Id="rId7" Type="http://schemas.openxmlformats.org/officeDocument/2006/relationships/slideLayout" Target="../slideLayouts/slideLayout150.xml"/><Relationship Id="rId12" Type="http://schemas.openxmlformats.org/officeDocument/2006/relationships/theme" Target="../theme/theme14.xml"/><Relationship Id="rId17" Type="http://schemas.openxmlformats.org/officeDocument/2006/relationships/image" Target="../media/image10.svg"/><Relationship Id="rId2" Type="http://schemas.openxmlformats.org/officeDocument/2006/relationships/slideLayout" Target="../slideLayouts/slideLayout145.xml"/><Relationship Id="rId16" Type="http://schemas.openxmlformats.org/officeDocument/2006/relationships/image" Target="../media/image8.png"/><Relationship Id="rId1" Type="http://schemas.openxmlformats.org/officeDocument/2006/relationships/slideLayout" Target="../slideLayouts/slideLayout144.xml"/><Relationship Id="rId6" Type="http://schemas.openxmlformats.org/officeDocument/2006/relationships/slideLayout" Target="../slideLayouts/slideLayout149.xml"/><Relationship Id="rId11" Type="http://schemas.openxmlformats.org/officeDocument/2006/relationships/slideLayout" Target="../slideLayouts/slideLayout154.xml"/><Relationship Id="rId5" Type="http://schemas.openxmlformats.org/officeDocument/2006/relationships/slideLayout" Target="../slideLayouts/slideLayout148.xml"/><Relationship Id="rId15" Type="http://schemas.openxmlformats.org/officeDocument/2006/relationships/image" Target="../media/image8.svg"/><Relationship Id="rId10" Type="http://schemas.openxmlformats.org/officeDocument/2006/relationships/slideLayout" Target="../slideLayouts/slideLayout153.xml"/><Relationship Id="rId4" Type="http://schemas.openxmlformats.org/officeDocument/2006/relationships/slideLayout" Target="../slideLayouts/slideLayout147.xml"/><Relationship Id="rId9" Type="http://schemas.openxmlformats.org/officeDocument/2006/relationships/slideLayout" Target="../slideLayouts/slideLayout152.xml"/><Relationship Id="rId14" Type="http://schemas.openxmlformats.org/officeDocument/2006/relationships/image" Target="../media/image7.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xmlns=""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xmlns=""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xmlns=""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xmlns=""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xmlns=""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xmlns=""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xmlns=""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xmlns=""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xmlns=""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xmlns=""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xmlns=""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xmlns=""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xmlns=""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xmlns=""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8.xml.rels><?xml version="1.0" encoding="UTF-8" standalone="yes"?>
<Relationships xmlns="http://schemas.openxmlformats.org/package/2006/relationships"><Relationship Id="rId3" Type="http://schemas.openxmlformats.org/officeDocument/2006/relationships/hyperlink" Target="https://www.geeksforgeeks.org/machine-learning/clustering-in-machine-learning/" TargetMode="External"/><Relationship Id="rId2" Type="http://schemas.openxmlformats.org/officeDocument/2006/relationships/notesSlide" Target="../notesSlides/notesSlide3.xml"/><Relationship Id="rId1" Type="http://schemas.openxmlformats.org/officeDocument/2006/relationships/slideLayout" Target="../slideLayouts/slideLayout90.xml"/><Relationship Id="rId5" Type="http://schemas.openxmlformats.org/officeDocument/2006/relationships/hyperlink" Target="https://www.geeksforgeeks.org/machine-learning/regression-in-machine-learning/" TargetMode="External"/><Relationship Id="rId4" Type="http://schemas.openxmlformats.org/officeDocument/2006/relationships/hyperlink" Target="https://www.geeksforgeeks.org/machine-learning/getting-started-with-classification/"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0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6.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4.xml"/></Relationships>
</file>

<file path=ppt/slides/_rels/slide21.xml.rels><?xml version="1.0" encoding="UTF-8" standalone="yes"?>
<Relationships xmlns="http://schemas.openxmlformats.org/package/2006/relationships"><Relationship Id="rId3" Type="http://schemas.openxmlformats.org/officeDocument/2006/relationships/hyperlink" Target="https://www.geeksforgeeks.org/data-science/introduction-to-data-mining/" TargetMode="External"/><Relationship Id="rId2" Type="http://schemas.openxmlformats.org/officeDocument/2006/relationships/hyperlink" Target="https://www.youtube.com/watch?v=dUm3ptTQr0Q" TargetMode="External"/><Relationship Id="rId1" Type="http://schemas.openxmlformats.org/officeDocument/2006/relationships/slideLayout" Target="../slideLayouts/slideLayout145.xml"/><Relationship Id="rId5" Type="http://schemas.openxmlformats.org/officeDocument/2006/relationships/hyperlink" Target="https://www.slideshare.net/slideshow/data-mining-applications-78279442/78279442" TargetMode="External"/><Relationship Id="rId4" Type="http://schemas.openxmlformats.org/officeDocument/2006/relationships/hyperlink" Target="https://www.slideshare.net/slideshow/introduction-to-data-mining-250399474/250399474"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858000"/>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p:cNvSpPr>
            <a:spLocks noGrp="1"/>
          </p:cNvSpPr>
          <p:nvPr>
            <p:ph type="ctrTitle"/>
          </p:nvPr>
        </p:nvSpPr>
        <p:spPr>
          <a:xfrm>
            <a:off x="727889" y="1229265"/>
            <a:ext cx="7688222" cy="1153160"/>
          </a:xfrm>
        </p:spPr>
        <p:txBody>
          <a:bodyPr>
            <a:noAutofit/>
          </a:bodyPr>
          <a:lstStyle/>
          <a:p>
            <a:pPr algn="ctr"/>
            <a:r>
              <a:rPr lang="en-US" sz="4000" dirty="0">
                <a:solidFill>
                  <a:schemeClr val="bg1"/>
                </a:solidFill>
                <a:latin typeface="Times New Roman" panose="02020603050405020304" pitchFamily="18" charset="0"/>
                <a:cs typeface="Times New Roman" panose="02020603050405020304" pitchFamily="18" charset="0"/>
              </a:rPr>
              <a:t>Data Mining</a:t>
            </a:r>
            <a:br>
              <a:rPr lang="en-US" sz="4000" dirty="0">
                <a:solidFill>
                  <a:schemeClr val="bg1"/>
                </a:solidFill>
                <a:latin typeface="Times New Roman" panose="02020603050405020304" pitchFamily="18" charset="0"/>
                <a:cs typeface="Times New Roman" panose="02020603050405020304" pitchFamily="18" charset="0"/>
              </a:rPr>
            </a:br>
            <a:r>
              <a:rPr lang="en-US" sz="4000" dirty="0">
                <a:solidFill>
                  <a:schemeClr val="bg1"/>
                </a:solidFill>
                <a:latin typeface="Times New Roman" panose="02020603050405020304" pitchFamily="18" charset="0"/>
                <a:cs typeface="Times New Roman" panose="02020603050405020304" pitchFamily="18" charset="0"/>
              </a:rPr>
              <a:t>DS-303</a:t>
            </a:r>
          </a:p>
        </p:txBody>
      </p:sp>
      <p:sp>
        <p:nvSpPr>
          <p:cNvPr id="3" name="Subtitle 2"/>
          <p:cNvSpPr>
            <a:spLocks noGrp="1"/>
          </p:cNvSpPr>
          <p:nvPr>
            <p:ph type="subTitle" idx="1"/>
          </p:nvPr>
        </p:nvSpPr>
        <p:spPr>
          <a:xfrm>
            <a:off x="1391233" y="3082889"/>
            <a:ext cx="6716268" cy="3181229"/>
          </a:xfrm>
        </p:spPr>
        <p:txBody>
          <a:bodyPr>
            <a:noAutofit/>
          </a:bodyPr>
          <a:lstStyle/>
          <a:p>
            <a:r>
              <a:rPr lang="en-US" sz="2800" b="1" dirty="0">
                <a:solidFill>
                  <a:schemeClr val="bg1"/>
                </a:solidFill>
                <a:latin typeface="Times New Roman" panose="02020603050405020304" pitchFamily="18" charset="0"/>
                <a:cs typeface="Times New Roman" panose="02020603050405020304" pitchFamily="18" charset="0"/>
              </a:rPr>
              <a:t>Lecture 1</a:t>
            </a:r>
            <a:endParaRPr lang="en-GB" sz="2800" b="1" dirty="0">
              <a:solidFill>
                <a:schemeClr val="bg1"/>
              </a:solidFill>
              <a:latin typeface="Times New Roman" panose="02020603050405020304" pitchFamily="18" charset="0"/>
              <a:cs typeface="Times New Roman" panose="02020603050405020304" pitchFamily="18" charset="0"/>
            </a:endParaRPr>
          </a:p>
          <a:p>
            <a:endParaRPr lang="en-GB" sz="2800" b="1" dirty="0">
              <a:solidFill>
                <a:schemeClr val="bg1"/>
              </a:solidFill>
              <a:latin typeface="Times New Roman" panose="02020603050405020304" pitchFamily="18" charset="0"/>
              <a:cs typeface="Times New Roman" panose="02020603050405020304" pitchFamily="18" charset="0"/>
            </a:endParaRPr>
          </a:p>
          <a:p>
            <a:endParaRPr lang="en-GB" sz="2800" b="1" dirty="0">
              <a:solidFill>
                <a:schemeClr val="bg1"/>
              </a:solidFill>
              <a:latin typeface="Garamond" panose="02020404030301010803" pitchFamily="18" charset="0"/>
            </a:endParaRPr>
          </a:p>
          <a:p>
            <a:pPr algn="r"/>
            <a:r>
              <a:rPr lang="en-GB" sz="2400" b="1" dirty="0" smtClean="0">
                <a:solidFill>
                  <a:schemeClr val="bg1"/>
                </a:solidFill>
                <a:latin typeface="Garamond" panose="02020404030301010803" pitchFamily="18" charset="0"/>
              </a:rPr>
              <a:t>Muhammad Arham</a:t>
            </a:r>
            <a:endParaRPr lang="en-GB" sz="2400" b="1" dirty="0">
              <a:solidFill>
                <a:schemeClr val="bg1"/>
              </a:solidFill>
              <a:latin typeface="Garamond" panose="02020404030301010803" pitchFamily="18" charset="0"/>
            </a:endParaRPr>
          </a:p>
          <a:p>
            <a:pPr algn="r"/>
            <a:r>
              <a:rPr lang="en-GB" sz="2400" b="1" dirty="0">
                <a:solidFill>
                  <a:schemeClr val="bg1"/>
                </a:solidFill>
                <a:latin typeface="Garamond" panose="02020404030301010803" pitchFamily="18" charset="0"/>
              </a:rPr>
              <a:t>Lecturer</a:t>
            </a:r>
          </a:p>
          <a:p>
            <a:pPr algn="r"/>
            <a:r>
              <a:rPr lang="en-GB" sz="2400" b="1" dirty="0">
                <a:solidFill>
                  <a:schemeClr val="bg1"/>
                </a:solidFill>
                <a:latin typeface="Garamond" panose="02020404030301010803" pitchFamily="18" charset="0"/>
              </a:rPr>
              <a:t>The University of Faisalabad</a:t>
            </a:r>
          </a:p>
        </p:txBody>
      </p:sp>
      <p:pic>
        <p:nvPicPr>
          <p:cNvPr id="10" name="Graphic 9"/>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6192728" y="0"/>
            <a:ext cx="2708768" cy="361169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2000"/>
                                        <p:tgtEl>
                                          <p:spTgt spid="2"/>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box(in)">
                                      <p:cBhvr>
                                        <p:cTn id="10" dur="2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box(in)">
                                      <p:cBhvr>
                                        <p:cTn id="15" dur="20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16" fill="hold" grpId="0"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box(in)">
                                      <p:cBhvr>
                                        <p:cTn id="20" dur="20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box(in)">
                                      <p:cBhvr>
                                        <p:cTn id="25"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build="p"/>
      <p:bldP spid="3" grpId="1"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2</a:t>
            </a:fld>
            <a:endParaRPr lang="en-US"/>
          </a:p>
        </p:txBody>
      </p:sp>
      <p:sp>
        <p:nvSpPr>
          <p:cNvPr id="8" name="Title 1"/>
          <p:cNvSpPr>
            <a:spLocks noGrp="1"/>
          </p:cNvSpPr>
          <p:nvPr>
            <p:ph type="title"/>
          </p:nvPr>
        </p:nvSpPr>
        <p:spPr>
          <a:xfrm>
            <a:off x="453390" y="3024505"/>
            <a:ext cx="8437880" cy="1143000"/>
          </a:xfrm>
        </p:spPr>
        <p:txBody>
          <a:bodyPr/>
          <a:lstStyle/>
          <a:p>
            <a:pPr algn="ctr"/>
            <a:r>
              <a:rPr lang="en-US" altLang="en-US" sz="4800" dirty="0">
                <a:solidFill>
                  <a:srgbClr val="C00000"/>
                </a:solidFill>
                <a:latin typeface="Times New Roman" panose="02020603050405020304" pitchFamily="18" charset="0"/>
                <a:cs typeface="Times New Roman" panose="02020603050405020304" pitchFamily="18" charset="0"/>
                <a:sym typeface="+mn-ea"/>
              </a:rPr>
              <a:t>Introduction to Data Mining</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checkerboard(across)">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8" grpId="0"/>
      <p:bldP spid="8"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3</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What is data mining?</a:t>
            </a:r>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Data mining is the practice of automatically searching large stores of data to discover patterns and trends that go beyond simple analysis.</a:t>
            </a:r>
          </a:p>
          <a:p>
            <a:r>
              <a:rPr lang="en-US" altLang="en-US" sz="2400" dirty="0">
                <a:solidFill>
                  <a:schemeClr val="tx1"/>
                </a:solidFill>
                <a:latin typeface="Times New Roman" panose="02020603050405020304" pitchFamily="18" charset="0"/>
                <a:cs typeface="Times New Roman" panose="02020603050405020304" pitchFamily="18" charset="0"/>
              </a:rPr>
              <a:t>Data mining uses sophisticated mathematical algorithms to segment the data and evaluate the probability of future events.</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4" dur="500"/>
                                        <p:tgtEl>
                                          <p:spTgt spid="4">
                                            <p:txEl>
                                              <p:pRg st="0" end="0"/>
                                            </p:txEl>
                                          </p:spTgt>
                                        </p:tgtEl>
                                      </p:cBhvr>
                                    </p:animEffect>
                                  </p:childTnLst>
                                </p:cTn>
                              </p:par>
                              <p:par>
                                <p:cTn id="15" presetID="14" presetClass="entr" presetSubtype="10" fill="hold" nodeType="with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randombar(horizontal)">
                                      <p:cBhvr>
                                        <p:cTn id="17"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4</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What is data mining?</a:t>
            </a:r>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Data mining (Knowledge discovery from data)</a:t>
            </a:r>
          </a:p>
          <a:p>
            <a:pPr lvl="1"/>
            <a:r>
              <a:rPr lang="en-US" altLang="en-US" dirty="0">
                <a:solidFill>
                  <a:schemeClr val="tx1"/>
                </a:solidFill>
                <a:latin typeface="Times New Roman" panose="02020603050405020304" pitchFamily="18" charset="0"/>
                <a:cs typeface="Times New Roman" panose="02020603050405020304" pitchFamily="18" charset="0"/>
              </a:rPr>
              <a:t>Extracting of interesting (Non-trivial, Implicit, previously unknown, and potentially useful) patterns or knowledge from a huge amount of data.</a:t>
            </a:r>
          </a:p>
          <a:p>
            <a:r>
              <a:rPr lang="en-US" altLang="en-US" dirty="0">
                <a:solidFill>
                  <a:schemeClr val="tx1"/>
                </a:solidFill>
                <a:latin typeface="Times New Roman" panose="02020603050405020304" pitchFamily="18" charset="0"/>
                <a:cs typeface="Times New Roman" panose="02020603050405020304" pitchFamily="18" charset="0"/>
              </a:rPr>
              <a:t>Alternative names</a:t>
            </a:r>
          </a:p>
          <a:p>
            <a:pPr lvl="1"/>
            <a:r>
              <a:rPr lang="en-US" altLang="en-US" dirty="0">
                <a:solidFill>
                  <a:schemeClr val="tx1"/>
                </a:solidFill>
                <a:latin typeface="Times New Roman" panose="02020603050405020304" pitchFamily="18" charset="0"/>
                <a:cs typeface="Times New Roman" panose="02020603050405020304" pitchFamily="18" charset="0"/>
              </a:rPr>
              <a:t>Knowledge discovery (mining) in databases (KDD), Knowledge extraction, data/pattern analysis, data archeology, data dredging, information harvesting, business intelligence, etc.</a:t>
            </a:r>
          </a:p>
          <a:p>
            <a:r>
              <a:rPr lang="en-US" altLang="en-US" sz="2400" dirty="0">
                <a:solidFill>
                  <a:schemeClr val="tx1"/>
                </a:solidFill>
                <a:latin typeface="Times New Roman" panose="02020603050405020304" pitchFamily="18" charset="0"/>
                <a:cs typeface="Times New Roman" panose="02020603050405020304" pitchFamily="18" charset="0"/>
              </a:rPr>
              <a:t>Watch Out: Is everything “Data mining”?</a:t>
            </a:r>
          </a:p>
          <a:p>
            <a:pPr lvl="1"/>
            <a:r>
              <a:rPr lang="en-US" altLang="en-US" dirty="0">
                <a:solidFill>
                  <a:schemeClr val="tx1"/>
                </a:solidFill>
                <a:latin typeface="Times New Roman" panose="02020603050405020304" pitchFamily="18" charset="0"/>
                <a:cs typeface="Times New Roman" panose="02020603050405020304" pitchFamily="18" charset="0"/>
              </a:rPr>
              <a:t>Simple search and query processing </a:t>
            </a:r>
          </a:p>
          <a:p>
            <a:pPr lvl="1"/>
            <a:r>
              <a:rPr lang="en-US" altLang="en-US" dirty="0">
                <a:solidFill>
                  <a:schemeClr val="tx1"/>
                </a:solidFill>
                <a:latin typeface="Times New Roman" panose="02020603050405020304" pitchFamily="18" charset="0"/>
                <a:cs typeface="Times New Roman" panose="02020603050405020304" pitchFamily="18" charset="0"/>
              </a:rPr>
              <a:t>(Deductive) expert systems</a:t>
            </a:r>
          </a:p>
          <a:p>
            <a:pPr lvl="1"/>
            <a:r>
              <a:rPr lang="en-US" altLang="en-US" dirty="0">
                <a:solidFill>
                  <a:schemeClr val="tx1"/>
                </a:solidFill>
                <a:latin typeface="Times New Roman" panose="02020603050405020304" pitchFamily="18" charset="0"/>
                <a:cs typeface="Times New Roman" panose="02020603050405020304" pitchFamily="18" charset="0"/>
              </a:rPr>
              <a:t>Data mining ≠ querying or expert systems</a:t>
            </a:r>
          </a:p>
        </p:txBody>
      </p:sp>
    </p:spTree>
    <p:extLst>
      <p:ext uri="{BB962C8B-B14F-4D97-AF65-F5344CB8AC3E}">
        <p14:creationId xmlns:p14="http://schemas.microsoft.com/office/powerpoint/2010/main" val="413093741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 calcmode="lin" valueType="num">
                                      <p:cBhvr>
                                        <p:cTn id="14" dur="1000" fill="hold"/>
                                        <p:tgtEl>
                                          <p:spTgt spid="4">
                                            <p:txEl>
                                              <p:pRg st="0" end="0"/>
                                            </p:txEl>
                                          </p:spTgt>
                                        </p:tgtEl>
                                        <p:attrNameLst>
                                          <p:attrName>ppt_w</p:attrName>
                                        </p:attrNameLst>
                                      </p:cBhvr>
                                      <p:tavLst>
                                        <p:tav tm="0">
                                          <p:val>
                                            <p:fltVal val="0"/>
                                          </p:val>
                                        </p:tav>
                                        <p:tav tm="100000">
                                          <p:val>
                                            <p:strVal val="#ppt_w"/>
                                          </p:val>
                                        </p:tav>
                                      </p:tavLst>
                                    </p:anim>
                                    <p:anim calcmode="lin" valueType="num">
                                      <p:cBhvr>
                                        <p:cTn id="15" dur="1000" fill="hold"/>
                                        <p:tgtEl>
                                          <p:spTgt spid="4">
                                            <p:txEl>
                                              <p:pRg st="0" end="0"/>
                                            </p:txEl>
                                          </p:spTgt>
                                        </p:tgtEl>
                                        <p:attrNameLst>
                                          <p:attrName>ppt_h</p:attrName>
                                        </p:attrNameLst>
                                      </p:cBhvr>
                                      <p:tavLst>
                                        <p:tav tm="0">
                                          <p:val>
                                            <p:fltVal val="0"/>
                                          </p:val>
                                        </p:tav>
                                        <p:tav tm="100000">
                                          <p:val>
                                            <p:strVal val="#ppt_h"/>
                                          </p:val>
                                        </p:tav>
                                      </p:tavLst>
                                    </p:anim>
                                    <p:anim calcmode="lin" valueType="num">
                                      <p:cBhvr>
                                        <p:cTn id="16" dur="1000" fill="hold"/>
                                        <p:tgtEl>
                                          <p:spTgt spid="4">
                                            <p:txEl>
                                              <p:pRg st="0" end="0"/>
                                            </p:txEl>
                                          </p:spTgt>
                                        </p:tgtEl>
                                        <p:attrNameLst>
                                          <p:attrName>style.rotation</p:attrName>
                                        </p:attrNameLst>
                                      </p:cBhvr>
                                      <p:tavLst>
                                        <p:tav tm="0">
                                          <p:val>
                                            <p:fltVal val="90"/>
                                          </p:val>
                                        </p:tav>
                                        <p:tav tm="100000">
                                          <p:val>
                                            <p:fltVal val="0"/>
                                          </p:val>
                                        </p:tav>
                                      </p:tavLst>
                                    </p:anim>
                                    <p:animEffect transition="in" filter="fade">
                                      <p:cBhvr>
                                        <p:cTn id="17" dur="1000"/>
                                        <p:tgtEl>
                                          <p:spTgt spid="4">
                                            <p:txEl>
                                              <p:pRg st="0" end="0"/>
                                            </p:txEl>
                                          </p:spTgt>
                                        </p:tgtEl>
                                      </p:cBhvr>
                                    </p:animEffect>
                                  </p:childTnLst>
                                </p:cTn>
                              </p:par>
                              <p:par>
                                <p:cTn id="18" presetID="31" presetClass="entr" presetSubtype="0" fill="hold" nodeType="withEffect">
                                  <p:stCondLst>
                                    <p:cond delay="0"/>
                                  </p:stCondLst>
                                  <p:childTnLst>
                                    <p:set>
                                      <p:cBhvr>
                                        <p:cTn id="19" dur="1" fill="hold">
                                          <p:stCondLst>
                                            <p:cond delay="0"/>
                                          </p:stCondLst>
                                        </p:cTn>
                                        <p:tgtEl>
                                          <p:spTgt spid="4">
                                            <p:txEl>
                                              <p:pRg st="1" end="1"/>
                                            </p:txEl>
                                          </p:spTgt>
                                        </p:tgtEl>
                                        <p:attrNameLst>
                                          <p:attrName>style.visibility</p:attrName>
                                        </p:attrNameLst>
                                      </p:cBhvr>
                                      <p:to>
                                        <p:strVal val="visible"/>
                                      </p:to>
                                    </p:set>
                                    <p:anim calcmode="lin" valueType="num">
                                      <p:cBhvr>
                                        <p:cTn id="20" dur="1000" fill="hold"/>
                                        <p:tgtEl>
                                          <p:spTgt spid="4">
                                            <p:txEl>
                                              <p:pRg st="1" end="1"/>
                                            </p:txEl>
                                          </p:spTgt>
                                        </p:tgtEl>
                                        <p:attrNameLst>
                                          <p:attrName>ppt_w</p:attrName>
                                        </p:attrNameLst>
                                      </p:cBhvr>
                                      <p:tavLst>
                                        <p:tav tm="0">
                                          <p:val>
                                            <p:fltVal val="0"/>
                                          </p:val>
                                        </p:tav>
                                        <p:tav tm="100000">
                                          <p:val>
                                            <p:strVal val="#ppt_w"/>
                                          </p:val>
                                        </p:tav>
                                      </p:tavLst>
                                    </p:anim>
                                    <p:anim calcmode="lin" valueType="num">
                                      <p:cBhvr>
                                        <p:cTn id="21" dur="1000" fill="hold"/>
                                        <p:tgtEl>
                                          <p:spTgt spid="4">
                                            <p:txEl>
                                              <p:pRg st="1" end="1"/>
                                            </p:txEl>
                                          </p:spTgt>
                                        </p:tgtEl>
                                        <p:attrNameLst>
                                          <p:attrName>ppt_h</p:attrName>
                                        </p:attrNameLst>
                                      </p:cBhvr>
                                      <p:tavLst>
                                        <p:tav tm="0">
                                          <p:val>
                                            <p:fltVal val="0"/>
                                          </p:val>
                                        </p:tav>
                                        <p:tav tm="100000">
                                          <p:val>
                                            <p:strVal val="#ppt_h"/>
                                          </p:val>
                                        </p:tav>
                                      </p:tavLst>
                                    </p:anim>
                                    <p:anim calcmode="lin" valueType="num">
                                      <p:cBhvr>
                                        <p:cTn id="22" dur="1000" fill="hold"/>
                                        <p:tgtEl>
                                          <p:spTgt spid="4">
                                            <p:txEl>
                                              <p:pRg st="1" end="1"/>
                                            </p:txEl>
                                          </p:spTgt>
                                        </p:tgtEl>
                                        <p:attrNameLst>
                                          <p:attrName>style.rotation</p:attrName>
                                        </p:attrNameLst>
                                      </p:cBhvr>
                                      <p:tavLst>
                                        <p:tav tm="0">
                                          <p:val>
                                            <p:fltVal val="90"/>
                                          </p:val>
                                        </p:tav>
                                        <p:tav tm="100000">
                                          <p:val>
                                            <p:fltVal val="0"/>
                                          </p:val>
                                        </p:tav>
                                      </p:tavLst>
                                    </p:anim>
                                    <p:animEffect transition="in" filter="fade">
                                      <p:cBhvr>
                                        <p:cTn id="23" dur="1000"/>
                                        <p:tgtEl>
                                          <p:spTgt spid="4">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1" presetClass="entr" presetSubtype="0" fill="hold" nodeType="clickEffect">
                                  <p:stCondLst>
                                    <p:cond delay="0"/>
                                  </p:stCondLst>
                                  <p:childTnLst>
                                    <p:set>
                                      <p:cBhvr>
                                        <p:cTn id="27" dur="1" fill="hold">
                                          <p:stCondLst>
                                            <p:cond delay="0"/>
                                          </p:stCondLst>
                                        </p:cTn>
                                        <p:tgtEl>
                                          <p:spTgt spid="4">
                                            <p:txEl>
                                              <p:pRg st="2" end="2"/>
                                            </p:txEl>
                                          </p:spTgt>
                                        </p:tgtEl>
                                        <p:attrNameLst>
                                          <p:attrName>style.visibility</p:attrName>
                                        </p:attrNameLst>
                                      </p:cBhvr>
                                      <p:to>
                                        <p:strVal val="visible"/>
                                      </p:to>
                                    </p:set>
                                    <p:anim calcmode="lin" valueType="num">
                                      <p:cBhvr>
                                        <p:cTn id="28" dur="1000" fill="hold"/>
                                        <p:tgtEl>
                                          <p:spTgt spid="4">
                                            <p:txEl>
                                              <p:pRg st="2" end="2"/>
                                            </p:txEl>
                                          </p:spTgt>
                                        </p:tgtEl>
                                        <p:attrNameLst>
                                          <p:attrName>ppt_w</p:attrName>
                                        </p:attrNameLst>
                                      </p:cBhvr>
                                      <p:tavLst>
                                        <p:tav tm="0">
                                          <p:val>
                                            <p:fltVal val="0"/>
                                          </p:val>
                                        </p:tav>
                                        <p:tav tm="100000">
                                          <p:val>
                                            <p:strVal val="#ppt_w"/>
                                          </p:val>
                                        </p:tav>
                                      </p:tavLst>
                                    </p:anim>
                                    <p:anim calcmode="lin" valueType="num">
                                      <p:cBhvr>
                                        <p:cTn id="29" dur="1000" fill="hold"/>
                                        <p:tgtEl>
                                          <p:spTgt spid="4">
                                            <p:txEl>
                                              <p:pRg st="2" end="2"/>
                                            </p:txEl>
                                          </p:spTgt>
                                        </p:tgtEl>
                                        <p:attrNameLst>
                                          <p:attrName>ppt_h</p:attrName>
                                        </p:attrNameLst>
                                      </p:cBhvr>
                                      <p:tavLst>
                                        <p:tav tm="0">
                                          <p:val>
                                            <p:fltVal val="0"/>
                                          </p:val>
                                        </p:tav>
                                        <p:tav tm="100000">
                                          <p:val>
                                            <p:strVal val="#ppt_h"/>
                                          </p:val>
                                        </p:tav>
                                      </p:tavLst>
                                    </p:anim>
                                    <p:anim calcmode="lin" valueType="num">
                                      <p:cBhvr>
                                        <p:cTn id="30" dur="1000" fill="hold"/>
                                        <p:tgtEl>
                                          <p:spTgt spid="4">
                                            <p:txEl>
                                              <p:pRg st="2" end="2"/>
                                            </p:txEl>
                                          </p:spTgt>
                                        </p:tgtEl>
                                        <p:attrNameLst>
                                          <p:attrName>style.rotation</p:attrName>
                                        </p:attrNameLst>
                                      </p:cBhvr>
                                      <p:tavLst>
                                        <p:tav tm="0">
                                          <p:val>
                                            <p:fltVal val="90"/>
                                          </p:val>
                                        </p:tav>
                                        <p:tav tm="100000">
                                          <p:val>
                                            <p:fltVal val="0"/>
                                          </p:val>
                                        </p:tav>
                                      </p:tavLst>
                                    </p:anim>
                                    <p:animEffect transition="in" filter="fade">
                                      <p:cBhvr>
                                        <p:cTn id="31" dur="1000"/>
                                        <p:tgtEl>
                                          <p:spTgt spid="4">
                                            <p:txEl>
                                              <p:pRg st="2" end="2"/>
                                            </p:txEl>
                                          </p:spTgt>
                                        </p:tgtEl>
                                      </p:cBhvr>
                                    </p:animEffect>
                                  </p:childTnLst>
                                </p:cTn>
                              </p:par>
                              <p:par>
                                <p:cTn id="32" presetID="31" presetClass="entr" presetSubtype="0" fill="hold" nodeType="withEffect">
                                  <p:stCondLst>
                                    <p:cond delay="0"/>
                                  </p:stCondLst>
                                  <p:childTnLst>
                                    <p:set>
                                      <p:cBhvr>
                                        <p:cTn id="33" dur="1" fill="hold">
                                          <p:stCondLst>
                                            <p:cond delay="0"/>
                                          </p:stCondLst>
                                        </p:cTn>
                                        <p:tgtEl>
                                          <p:spTgt spid="4">
                                            <p:txEl>
                                              <p:pRg st="3" end="3"/>
                                            </p:txEl>
                                          </p:spTgt>
                                        </p:tgtEl>
                                        <p:attrNameLst>
                                          <p:attrName>style.visibility</p:attrName>
                                        </p:attrNameLst>
                                      </p:cBhvr>
                                      <p:to>
                                        <p:strVal val="visible"/>
                                      </p:to>
                                    </p:set>
                                    <p:anim calcmode="lin" valueType="num">
                                      <p:cBhvr>
                                        <p:cTn id="34" dur="1000" fill="hold"/>
                                        <p:tgtEl>
                                          <p:spTgt spid="4">
                                            <p:txEl>
                                              <p:pRg st="3" end="3"/>
                                            </p:txEl>
                                          </p:spTgt>
                                        </p:tgtEl>
                                        <p:attrNameLst>
                                          <p:attrName>ppt_w</p:attrName>
                                        </p:attrNameLst>
                                      </p:cBhvr>
                                      <p:tavLst>
                                        <p:tav tm="0">
                                          <p:val>
                                            <p:fltVal val="0"/>
                                          </p:val>
                                        </p:tav>
                                        <p:tav tm="100000">
                                          <p:val>
                                            <p:strVal val="#ppt_w"/>
                                          </p:val>
                                        </p:tav>
                                      </p:tavLst>
                                    </p:anim>
                                    <p:anim calcmode="lin" valueType="num">
                                      <p:cBhvr>
                                        <p:cTn id="35" dur="1000" fill="hold"/>
                                        <p:tgtEl>
                                          <p:spTgt spid="4">
                                            <p:txEl>
                                              <p:pRg st="3" end="3"/>
                                            </p:txEl>
                                          </p:spTgt>
                                        </p:tgtEl>
                                        <p:attrNameLst>
                                          <p:attrName>ppt_h</p:attrName>
                                        </p:attrNameLst>
                                      </p:cBhvr>
                                      <p:tavLst>
                                        <p:tav tm="0">
                                          <p:val>
                                            <p:fltVal val="0"/>
                                          </p:val>
                                        </p:tav>
                                        <p:tav tm="100000">
                                          <p:val>
                                            <p:strVal val="#ppt_h"/>
                                          </p:val>
                                        </p:tav>
                                      </p:tavLst>
                                    </p:anim>
                                    <p:anim calcmode="lin" valueType="num">
                                      <p:cBhvr>
                                        <p:cTn id="36" dur="1000" fill="hold"/>
                                        <p:tgtEl>
                                          <p:spTgt spid="4">
                                            <p:txEl>
                                              <p:pRg st="3" end="3"/>
                                            </p:txEl>
                                          </p:spTgt>
                                        </p:tgtEl>
                                        <p:attrNameLst>
                                          <p:attrName>style.rotation</p:attrName>
                                        </p:attrNameLst>
                                      </p:cBhvr>
                                      <p:tavLst>
                                        <p:tav tm="0">
                                          <p:val>
                                            <p:fltVal val="90"/>
                                          </p:val>
                                        </p:tav>
                                        <p:tav tm="100000">
                                          <p:val>
                                            <p:fltVal val="0"/>
                                          </p:val>
                                        </p:tav>
                                      </p:tavLst>
                                    </p:anim>
                                    <p:animEffect transition="in" filter="fade">
                                      <p:cBhvr>
                                        <p:cTn id="37" dur="1000"/>
                                        <p:tgtEl>
                                          <p:spTgt spid="4">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1" presetClass="entr" presetSubtype="0" fill="hold" nodeType="clickEffect">
                                  <p:stCondLst>
                                    <p:cond delay="0"/>
                                  </p:stCondLst>
                                  <p:childTnLst>
                                    <p:set>
                                      <p:cBhvr>
                                        <p:cTn id="41" dur="1" fill="hold">
                                          <p:stCondLst>
                                            <p:cond delay="0"/>
                                          </p:stCondLst>
                                        </p:cTn>
                                        <p:tgtEl>
                                          <p:spTgt spid="4">
                                            <p:txEl>
                                              <p:pRg st="4" end="4"/>
                                            </p:txEl>
                                          </p:spTgt>
                                        </p:tgtEl>
                                        <p:attrNameLst>
                                          <p:attrName>style.visibility</p:attrName>
                                        </p:attrNameLst>
                                      </p:cBhvr>
                                      <p:to>
                                        <p:strVal val="visible"/>
                                      </p:to>
                                    </p:set>
                                    <p:anim calcmode="lin" valueType="num">
                                      <p:cBhvr>
                                        <p:cTn id="42" dur="1000" fill="hold"/>
                                        <p:tgtEl>
                                          <p:spTgt spid="4">
                                            <p:txEl>
                                              <p:pRg st="4" end="4"/>
                                            </p:txEl>
                                          </p:spTgt>
                                        </p:tgtEl>
                                        <p:attrNameLst>
                                          <p:attrName>ppt_w</p:attrName>
                                        </p:attrNameLst>
                                      </p:cBhvr>
                                      <p:tavLst>
                                        <p:tav tm="0">
                                          <p:val>
                                            <p:fltVal val="0"/>
                                          </p:val>
                                        </p:tav>
                                        <p:tav tm="100000">
                                          <p:val>
                                            <p:strVal val="#ppt_w"/>
                                          </p:val>
                                        </p:tav>
                                      </p:tavLst>
                                    </p:anim>
                                    <p:anim calcmode="lin" valueType="num">
                                      <p:cBhvr>
                                        <p:cTn id="43" dur="1000" fill="hold"/>
                                        <p:tgtEl>
                                          <p:spTgt spid="4">
                                            <p:txEl>
                                              <p:pRg st="4" end="4"/>
                                            </p:txEl>
                                          </p:spTgt>
                                        </p:tgtEl>
                                        <p:attrNameLst>
                                          <p:attrName>ppt_h</p:attrName>
                                        </p:attrNameLst>
                                      </p:cBhvr>
                                      <p:tavLst>
                                        <p:tav tm="0">
                                          <p:val>
                                            <p:fltVal val="0"/>
                                          </p:val>
                                        </p:tav>
                                        <p:tav tm="100000">
                                          <p:val>
                                            <p:strVal val="#ppt_h"/>
                                          </p:val>
                                        </p:tav>
                                      </p:tavLst>
                                    </p:anim>
                                    <p:anim calcmode="lin" valueType="num">
                                      <p:cBhvr>
                                        <p:cTn id="44" dur="1000" fill="hold"/>
                                        <p:tgtEl>
                                          <p:spTgt spid="4">
                                            <p:txEl>
                                              <p:pRg st="4" end="4"/>
                                            </p:txEl>
                                          </p:spTgt>
                                        </p:tgtEl>
                                        <p:attrNameLst>
                                          <p:attrName>style.rotation</p:attrName>
                                        </p:attrNameLst>
                                      </p:cBhvr>
                                      <p:tavLst>
                                        <p:tav tm="0">
                                          <p:val>
                                            <p:fltVal val="90"/>
                                          </p:val>
                                        </p:tav>
                                        <p:tav tm="100000">
                                          <p:val>
                                            <p:fltVal val="0"/>
                                          </p:val>
                                        </p:tav>
                                      </p:tavLst>
                                    </p:anim>
                                    <p:animEffect transition="in" filter="fade">
                                      <p:cBhvr>
                                        <p:cTn id="45" dur="1000"/>
                                        <p:tgtEl>
                                          <p:spTgt spid="4">
                                            <p:txEl>
                                              <p:pRg st="4" end="4"/>
                                            </p:txEl>
                                          </p:spTgt>
                                        </p:tgtEl>
                                      </p:cBhvr>
                                    </p:animEffect>
                                  </p:childTnLst>
                                </p:cTn>
                              </p:par>
                              <p:par>
                                <p:cTn id="46" presetID="31" presetClass="entr" presetSubtype="0" fill="hold" nodeType="withEffect">
                                  <p:stCondLst>
                                    <p:cond delay="0"/>
                                  </p:stCondLst>
                                  <p:childTnLst>
                                    <p:set>
                                      <p:cBhvr>
                                        <p:cTn id="47" dur="1" fill="hold">
                                          <p:stCondLst>
                                            <p:cond delay="0"/>
                                          </p:stCondLst>
                                        </p:cTn>
                                        <p:tgtEl>
                                          <p:spTgt spid="4">
                                            <p:txEl>
                                              <p:pRg st="5" end="5"/>
                                            </p:txEl>
                                          </p:spTgt>
                                        </p:tgtEl>
                                        <p:attrNameLst>
                                          <p:attrName>style.visibility</p:attrName>
                                        </p:attrNameLst>
                                      </p:cBhvr>
                                      <p:to>
                                        <p:strVal val="visible"/>
                                      </p:to>
                                    </p:set>
                                    <p:anim calcmode="lin" valueType="num">
                                      <p:cBhvr>
                                        <p:cTn id="48" dur="1000" fill="hold"/>
                                        <p:tgtEl>
                                          <p:spTgt spid="4">
                                            <p:txEl>
                                              <p:pRg st="5" end="5"/>
                                            </p:txEl>
                                          </p:spTgt>
                                        </p:tgtEl>
                                        <p:attrNameLst>
                                          <p:attrName>ppt_w</p:attrName>
                                        </p:attrNameLst>
                                      </p:cBhvr>
                                      <p:tavLst>
                                        <p:tav tm="0">
                                          <p:val>
                                            <p:fltVal val="0"/>
                                          </p:val>
                                        </p:tav>
                                        <p:tav tm="100000">
                                          <p:val>
                                            <p:strVal val="#ppt_w"/>
                                          </p:val>
                                        </p:tav>
                                      </p:tavLst>
                                    </p:anim>
                                    <p:anim calcmode="lin" valueType="num">
                                      <p:cBhvr>
                                        <p:cTn id="49" dur="1000" fill="hold"/>
                                        <p:tgtEl>
                                          <p:spTgt spid="4">
                                            <p:txEl>
                                              <p:pRg st="5" end="5"/>
                                            </p:txEl>
                                          </p:spTgt>
                                        </p:tgtEl>
                                        <p:attrNameLst>
                                          <p:attrName>ppt_h</p:attrName>
                                        </p:attrNameLst>
                                      </p:cBhvr>
                                      <p:tavLst>
                                        <p:tav tm="0">
                                          <p:val>
                                            <p:fltVal val="0"/>
                                          </p:val>
                                        </p:tav>
                                        <p:tav tm="100000">
                                          <p:val>
                                            <p:strVal val="#ppt_h"/>
                                          </p:val>
                                        </p:tav>
                                      </p:tavLst>
                                    </p:anim>
                                    <p:anim calcmode="lin" valueType="num">
                                      <p:cBhvr>
                                        <p:cTn id="50" dur="1000" fill="hold"/>
                                        <p:tgtEl>
                                          <p:spTgt spid="4">
                                            <p:txEl>
                                              <p:pRg st="5" end="5"/>
                                            </p:txEl>
                                          </p:spTgt>
                                        </p:tgtEl>
                                        <p:attrNameLst>
                                          <p:attrName>style.rotation</p:attrName>
                                        </p:attrNameLst>
                                      </p:cBhvr>
                                      <p:tavLst>
                                        <p:tav tm="0">
                                          <p:val>
                                            <p:fltVal val="90"/>
                                          </p:val>
                                        </p:tav>
                                        <p:tav tm="100000">
                                          <p:val>
                                            <p:fltVal val="0"/>
                                          </p:val>
                                        </p:tav>
                                      </p:tavLst>
                                    </p:anim>
                                    <p:animEffect transition="in" filter="fade">
                                      <p:cBhvr>
                                        <p:cTn id="51" dur="1000"/>
                                        <p:tgtEl>
                                          <p:spTgt spid="4">
                                            <p:txEl>
                                              <p:pRg st="5" end="5"/>
                                            </p:txEl>
                                          </p:spTgt>
                                        </p:tgtEl>
                                      </p:cBhvr>
                                    </p:animEffect>
                                  </p:childTnLst>
                                </p:cTn>
                              </p:par>
                              <p:par>
                                <p:cTn id="52" presetID="31" presetClass="entr" presetSubtype="0" fill="hold" nodeType="withEffect">
                                  <p:stCondLst>
                                    <p:cond delay="0"/>
                                  </p:stCondLst>
                                  <p:childTnLst>
                                    <p:set>
                                      <p:cBhvr>
                                        <p:cTn id="53" dur="1" fill="hold">
                                          <p:stCondLst>
                                            <p:cond delay="0"/>
                                          </p:stCondLst>
                                        </p:cTn>
                                        <p:tgtEl>
                                          <p:spTgt spid="4">
                                            <p:txEl>
                                              <p:pRg st="6" end="6"/>
                                            </p:txEl>
                                          </p:spTgt>
                                        </p:tgtEl>
                                        <p:attrNameLst>
                                          <p:attrName>style.visibility</p:attrName>
                                        </p:attrNameLst>
                                      </p:cBhvr>
                                      <p:to>
                                        <p:strVal val="visible"/>
                                      </p:to>
                                    </p:set>
                                    <p:anim calcmode="lin" valueType="num">
                                      <p:cBhvr>
                                        <p:cTn id="54" dur="1000" fill="hold"/>
                                        <p:tgtEl>
                                          <p:spTgt spid="4">
                                            <p:txEl>
                                              <p:pRg st="6" end="6"/>
                                            </p:txEl>
                                          </p:spTgt>
                                        </p:tgtEl>
                                        <p:attrNameLst>
                                          <p:attrName>ppt_w</p:attrName>
                                        </p:attrNameLst>
                                      </p:cBhvr>
                                      <p:tavLst>
                                        <p:tav tm="0">
                                          <p:val>
                                            <p:fltVal val="0"/>
                                          </p:val>
                                        </p:tav>
                                        <p:tav tm="100000">
                                          <p:val>
                                            <p:strVal val="#ppt_w"/>
                                          </p:val>
                                        </p:tav>
                                      </p:tavLst>
                                    </p:anim>
                                    <p:anim calcmode="lin" valueType="num">
                                      <p:cBhvr>
                                        <p:cTn id="55" dur="1000" fill="hold"/>
                                        <p:tgtEl>
                                          <p:spTgt spid="4">
                                            <p:txEl>
                                              <p:pRg st="6" end="6"/>
                                            </p:txEl>
                                          </p:spTgt>
                                        </p:tgtEl>
                                        <p:attrNameLst>
                                          <p:attrName>ppt_h</p:attrName>
                                        </p:attrNameLst>
                                      </p:cBhvr>
                                      <p:tavLst>
                                        <p:tav tm="0">
                                          <p:val>
                                            <p:fltVal val="0"/>
                                          </p:val>
                                        </p:tav>
                                        <p:tav tm="100000">
                                          <p:val>
                                            <p:strVal val="#ppt_h"/>
                                          </p:val>
                                        </p:tav>
                                      </p:tavLst>
                                    </p:anim>
                                    <p:anim calcmode="lin" valueType="num">
                                      <p:cBhvr>
                                        <p:cTn id="56" dur="1000" fill="hold"/>
                                        <p:tgtEl>
                                          <p:spTgt spid="4">
                                            <p:txEl>
                                              <p:pRg st="6" end="6"/>
                                            </p:txEl>
                                          </p:spTgt>
                                        </p:tgtEl>
                                        <p:attrNameLst>
                                          <p:attrName>style.rotation</p:attrName>
                                        </p:attrNameLst>
                                      </p:cBhvr>
                                      <p:tavLst>
                                        <p:tav tm="0">
                                          <p:val>
                                            <p:fltVal val="90"/>
                                          </p:val>
                                        </p:tav>
                                        <p:tav tm="100000">
                                          <p:val>
                                            <p:fltVal val="0"/>
                                          </p:val>
                                        </p:tav>
                                      </p:tavLst>
                                    </p:anim>
                                    <p:animEffect transition="in" filter="fade">
                                      <p:cBhvr>
                                        <p:cTn id="57" dur="1000"/>
                                        <p:tgtEl>
                                          <p:spTgt spid="4">
                                            <p:txEl>
                                              <p:pRg st="6" end="6"/>
                                            </p:txEl>
                                          </p:spTgt>
                                        </p:tgtEl>
                                      </p:cBhvr>
                                    </p:animEffect>
                                  </p:childTnLst>
                                </p:cTn>
                              </p:par>
                              <p:par>
                                <p:cTn id="58" presetID="31" presetClass="entr" presetSubtype="0" fill="hold" nodeType="withEffect">
                                  <p:stCondLst>
                                    <p:cond delay="0"/>
                                  </p:stCondLst>
                                  <p:childTnLst>
                                    <p:set>
                                      <p:cBhvr>
                                        <p:cTn id="59" dur="1" fill="hold">
                                          <p:stCondLst>
                                            <p:cond delay="0"/>
                                          </p:stCondLst>
                                        </p:cTn>
                                        <p:tgtEl>
                                          <p:spTgt spid="4">
                                            <p:txEl>
                                              <p:pRg st="7" end="7"/>
                                            </p:txEl>
                                          </p:spTgt>
                                        </p:tgtEl>
                                        <p:attrNameLst>
                                          <p:attrName>style.visibility</p:attrName>
                                        </p:attrNameLst>
                                      </p:cBhvr>
                                      <p:to>
                                        <p:strVal val="visible"/>
                                      </p:to>
                                    </p:set>
                                    <p:anim calcmode="lin" valueType="num">
                                      <p:cBhvr>
                                        <p:cTn id="60" dur="1000" fill="hold"/>
                                        <p:tgtEl>
                                          <p:spTgt spid="4">
                                            <p:txEl>
                                              <p:pRg st="7" end="7"/>
                                            </p:txEl>
                                          </p:spTgt>
                                        </p:tgtEl>
                                        <p:attrNameLst>
                                          <p:attrName>ppt_w</p:attrName>
                                        </p:attrNameLst>
                                      </p:cBhvr>
                                      <p:tavLst>
                                        <p:tav tm="0">
                                          <p:val>
                                            <p:fltVal val="0"/>
                                          </p:val>
                                        </p:tav>
                                        <p:tav tm="100000">
                                          <p:val>
                                            <p:strVal val="#ppt_w"/>
                                          </p:val>
                                        </p:tav>
                                      </p:tavLst>
                                    </p:anim>
                                    <p:anim calcmode="lin" valueType="num">
                                      <p:cBhvr>
                                        <p:cTn id="61" dur="1000" fill="hold"/>
                                        <p:tgtEl>
                                          <p:spTgt spid="4">
                                            <p:txEl>
                                              <p:pRg st="7" end="7"/>
                                            </p:txEl>
                                          </p:spTgt>
                                        </p:tgtEl>
                                        <p:attrNameLst>
                                          <p:attrName>ppt_h</p:attrName>
                                        </p:attrNameLst>
                                      </p:cBhvr>
                                      <p:tavLst>
                                        <p:tav tm="0">
                                          <p:val>
                                            <p:fltVal val="0"/>
                                          </p:val>
                                        </p:tav>
                                        <p:tav tm="100000">
                                          <p:val>
                                            <p:strVal val="#ppt_h"/>
                                          </p:val>
                                        </p:tav>
                                      </p:tavLst>
                                    </p:anim>
                                    <p:anim calcmode="lin" valueType="num">
                                      <p:cBhvr>
                                        <p:cTn id="62" dur="1000" fill="hold"/>
                                        <p:tgtEl>
                                          <p:spTgt spid="4">
                                            <p:txEl>
                                              <p:pRg st="7" end="7"/>
                                            </p:txEl>
                                          </p:spTgt>
                                        </p:tgtEl>
                                        <p:attrNameLst>
                                          <p:attrName>style.rotation</p:attrName>
                                        </p:attrNameLst>
                                      </p:cBhvr>
                                      <p:tavLst>
                                        <p:tav tm="0">
                                          <p:val>
                                            <p:fltVal val="90"/>
                                          </p:val>
                                        </p:tav>
                                        <p:tav tm="100000">
                                          <p:val>
                                            <p:fltVal val="0"/>
                                          </p:val>
                                        </p:tav>
                                      </p:tavLst>
                                    </p:anim>
                                    <p:animEffect transition="in" filter="fade">
                                      <p:cBhvr>
                                        <p:cTn id="63" dur="10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5</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sym typeface="+mn-ea"/>
              </a:rPr>
              <a:t>Why data mining?</a:t>
            </a:r>
            <a:endParaRPr lang="en-US" sz="3600" dirty="0">
              <a:solidFill>
                <a:schemeClr val="bg1"/>
              </a:solidFill>
              <a:latin typeface="Times New Roman" panose="02020603050405020304" pitchFamily="18" charset="0"/>
              <a:cs typeface="Times New Roman" panose="02020603050405020304" pitchFamily="18" charset="0"/>
            </a:endParaRPr>
          </a:p>
        </p:txBody>
      </p:sp>
      <p:sp>
        <p:nvSpPr>
          <p:cNvPr id="2" name="Rounded Rectangle 1"/>
          <p:cNvSpPr/>
          <p:nvPr/>
        </p:nvSpPr>
        <p:spPr>
          <a:xfrm>
            <a:off x="201930" y="1623060"/>
            <a:ext cx="3370580" cy="897890"/>
          </a:xfrm>
          <a:prstGeom prst="roundRect">
            <a:avLst/>
          </a:prstGeom>
          <a:solidFill>
            <a:schemeClr val="accent2">
              <a:lumMod val="60000"/>
              <a:lumOff val="40000"/>
            </a:schemeClr>
          </a:solidFill>
          <a:ln>
            <a:solidFill>
              <a:schemeClr val="accent2">
                <a:lumMod val="40000"/>
                <a:lumOff val="60000"/>
              </a:schemeClr>
            </a:solidFill>
          </a:ln>
        </p:spPr>
        <p:style>
          <a:lnRef idx="1">
            <a:schemeClr val="accent1"/>
          </a:lnRef>
          <a:fillRef idx="3">
            <a:schemeClr val="accent1"/>
          </a:fillRef>
          <a:effectRef idx="2">
            <a:schemeClr val="accent1"/>
          </a:effectRef>
          <a:fontRef idx="minor">
            <a:schemeClr val="lt1"/>
          </a:fontRef>
        </p:style>
        <p:txBody>
          <a:bodyPr/>
          <a:lstStyle/>
          <a:p>
            <a:pPr algn="ctr"/>
            <a:r>
              <a:rPr lang="en-US" altLang="en-US" sz="2000" dirty="0">
                <a:solidFill>
                  <a:schemeClr val="tx1"/>
                </a:solidFill>
                <a:latin typeface="Times New Roman" panose="02020603050405020304" pitchFamily="18" charset="0"/>
                <a:cs typeface="Times New Roman" panose="02020603050405020304" pitchFamily="18" charset="0"/>
                <a:sym typeface="+mn-ea"/>
              </a:rPr>
              <a:t>Too much data and too little information </a:t>
            </a:r>
          </a:p>
        </p:txBody>
      </p:sp>
      <p:sp>
        <p:nvSpPr>
          <p:cNvPr id="5" name="Rounded Rectangle 4"/>
          <p:cNvSpPr/>
          <p:nvPr/>
        </p:nvSpPr>
        <p:spPr>
          <a:xfrm>
            <a:off x="2590165" y="2793365"/>
            <a:ext cx="3963035" cy="1271270"/>
          </a:xfrm>
          <a:prstGeom prst="roundRect">
            <a:avLst/>
          </a:prstGeom>
          <a:solidFill>
            <a:schemeClr val="accent2">
              <a:lumMod val="60000"/>
              <a:lumOff val="40000"/>
            </a:schemeClr>
          </a:solidFill>
          <a:ln>
            <a:solidFill>
              <a:schemeClr val="accent2">
                <a:lumMod val="40000"/>
                <a:lumOff val="60000"/>
              </a:schemeClr>
            </a:solidFill>
          </a:ln>
        </p:spPr>
        <p:style>
          <a:lnRef idx="1">
            <a:schemeClr val="accent1"/>
          </a:lnRef>
          <a:fillRef idx="3">
            <a:schemeClr val="accent1"/>
          </a:fillRef>
          <a:effectRef idx="2">
            <a:schemeClr val="accent1"/>
          </a:effectRef>
          <a:fontRef idx="minor">
            <a:schemeClr val="lt1"/>
          </a:fontRef>
        </p:style>
        <p:txBody>
          <a:bodyPr/>
          <a:lstStyle/>
          <a:p>
            <a:pPr algn="ctr"/>
            <a:r>
              <a:rPr lang="en-US" altLang="en-US" sz="2000" dirty="0">
                <a:solidFill>
                  <a:schemeClr val="tx1"/>
                </a:solidFill>
                <a:latin typeface="Times New Roman" panose="02020603050405020304" pitchFamily="18" charset="0"/>
                <a:cs typeface="Times New Roman" panose="02020603050405020304" pitchFamily="18" charset="0"/>
                <a:sym typeface="+mn-ea"/>
              </a:rPr>
              <a:t>There is a need to extract useful information from the data and to interpret the data.</a:t>
            </a:r>
            <a:endParaRPr lang="en-US" altLang="en-US" sz="2000" dirty="0">
              <a:solidFill>
                <a:schemeClr val="tx1"/>
              </a:solidFill>
              <a:latin typeface="Times New Roman" panose="02020603050405020304" pitchFamily="18" charset="0"/>
              <a:cs typeface="Times New Roman" panose="02020603050405020304" pitchFamily="18" charset="0"/>
            </a:endParaRPr>
          </a:p>
          <a:p>
            <a:pPr algn="ctr"/>
            <a:endParaRPr lang="en-US" altLang="en-US" sz="2000" dirty="0">
              <a:solidFill>
                <a:schemeClr val="tx1"/>
              </a:solidFill>
              <a:latin typeface="Times New Roman" panose="02020603050405020304" pitchFamily="18" charset="0"/>
              <a:cs typeface="Times New Roman" panose="02020603050405020304" pitchFamily="18" charset="0"/>
            </a:endParaRPr>
          </a:p>
        </p:txBody>
      </p:sp>
      <p:sp>
        <p:nvSpPr>
          <p:cNvPr id="7" name="Rounded Rectangle 6"/>
          <p:cNvSpPr/>
          <p:nvPr/>
        </p:nvSpPr>
        <p:spPr>
          <a:xfrm>
            <a:off x="4745355" y="4337685"/>
            <a:ext cx="4153535" cy="1744980"/>
          </a:xfrm>
          <a:prstGeom prst="roundRect">
            <a:avLst/>
          </a:prstGeom>
          <a:solidFill>
            <a:schemeClr val="accent2">
              <a:lumMod val="60000"/>
              <a:lumOff val="40000"/>
            </a:schemeClr>
          </a:solidFill>
          <a:ln>
            <a:solidFill>
              <a:schemeClr val="accent2">
                <a:lumMod val="40000"/>
                <a:lumOff val="60000"/>
              </a:schemeClr>
            </a:solidFill>
          </a:ln>
        </p:spPr>
        <p:style>
          <a:lnRef idx="1">
            <a:schemeClr val="accent1"/>
          </a:lnRef>
          <a:fillRef idx="3">
            <a:schemeClr val="accent1"/>
          </a:fillRef>
          <a:effectRef idx="2">
            <a:schemeClr val="accent1"/>
          </a:effectRef>
          <a:fontRef idx="minor">
            <a:schemeClr val="lt1"/>
          </a:fontRef>
        </p:style>
        <p:txBody>
          <a:bodyPr/>
          <a:lstStyle/>
          <a:p>
            <a:pPr algn="ctr"/>
            <a:r>
              <a:rPr lang="en-US" altLang="en-US" sz="2000" dirty="0">
                <a:solidFill>
                  <a:schemeClr val="tx1"/>
                </a:solidFill>
                <a:latin typeface="Times New Roman" panose="02020603050405020304" pitchFamily="18" charset="0"/>
                <a:cs typeface="Times New Roman" panose="02020603050405020304" pitchFamily="18" charset="0"/>
                <a:sym typeface="+mn-ea"/>
              </a:rPr>
              <a:t>It is a process of discovering interesting knowledge from large amounts of data stored either in databases, data warehouses, or other information repositories.</a:t>
            </a:r>
          </a:p>
        </p:txBody>
      </p:sp>
      <p:sp>
        <p:nvSpPr>
          <p:cNvPr id="9" name="Bent-Up Arrow 8"/>
          <p:cNvSpPr/>
          <p:nvPr/>
        </p:nvSpPr>
        <p:spPr>
          <a:xfrm rot="5400000">
            <a:off x="1337310" y="2191385"/>
            <a:ext cx="923290" cy="1582420"/>
          </a:xfrm>
          <a:prstGeom prst="bentUpArrow">
            <a:avLst/>
          </a:prstGeom>
          <a:solidFill>
            <a:schemeClr val="accent2">
              <a:lumMod val="60000"/>
              <a:lumOff val="40000"/>
            </a:schemeClr>
          </a:solidFill>
          <a:ln>
            <a:solidFill>
              <a:schemeClr val="accent2">
                <a:lumMod val="40000"/>
                <a:lumOff val="60000"/>
              </a:schemeClr>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Bent-Up Arrow 9"/>
          <p:cNvSpPr/>
          <p:nvPr/>
        </p:nvSpPr>
        <p:spPr>
          <a:xfrm rot="5400000">
            <a:off x="3492500" y="3735070"/>
            <a:ext cx="923290" cy="1582420"/>
          </a:xfrm>
          <a:prstGeom prst="bentUpArrow">
            <a:avLst/>
          </a:prstGeom>
          <a:solidFill>
            <a:schemeClr val="accent2">
              <a:lumMod val="60000"/>
              <a:lumOff val="40000"/>
            </a:schemeClr>
          </a:solidFill>
          <a:ln>
            <a:solidFill>
              <a:schemeClr val="accent2">
                <a:lumMod val="40000"/>
                <a:lumOff val="60000"/>
              </a:schemeClr>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32" presetClass="emph" presetSubtype="0" fill="hold" grpId="0" nodeType="clickEffect">
                                  <p:stCondLst>
                                    <p:cond delay="0"/>
                                  </p:stCondLst>
                                  <p:childTnLst>
                                    <p:animRot by="120000">
                                      <p:cBhvr>
                                        <p:cTn id="13" dur="100" fill="hold">
                                          <p:stCondLst>
                                            <p:cond delay="0"/>
                                          </p:stCondLst>
                                        </p:cTn>
                                        <p:tgtEl>
                                          <p:spTgt spid="2"/>
                                        </p:tgtEl>
                                        <p:attrNameLst>
                                          <p:attrName>r</p:attrName>
                                        </p:attrNameLst>
                                      </p:cBhvr>
                                    </p:animRot>
                                    <p:animRot by="-240000">
                                      <p:cBhvr>
                                        <p:cTn id="14" dur="200" fill="hold">
                                          <p:stCondLst>
                                            <p:cond delay="200"/>
                                          </p:stCondLst>
                                        </p:cTn>
                                        <p:tgtEl>
                                          <p:spTgt spid="2"/>
                                        </p:tgtEl>
                                        <p:attrNameLst>
                                          <p:attrName>r</p:attrName>
                                        </p:attrNameLst>
                                      </p:cBhvr>
                                    </p:animRot>
                                    <p:animRot by="240000">
                                      <p:cBhvr>
                                        <p:cTn id="15" dur="200" fill="hold">
                                          <p:stCondLst>
                                            <p:cond delay="400"/>
                                          </p:stCondLst>
                                        </p:cTn>
                                        <p:tgtEl>
                                          <p:spTgt spid="2"/>
                                        </p:tgtEl>
                                        <p:attrNameLst>
                                          <p:attrName>r</p:attrName>
                                        </p:attrNameLst>
                                      </p:cBhvr>
                                    </p:animRot>
                                    <p:animRot by="-240000">
                                      <p:cBhvr>
                                        <p:cTn id="16" dur="200" fill="hold">
                                          <p:stCondLst>
                                            <p:cond delay="600"/>
                                          </p:stCondLst>
                                        </p:cTn>
                                        <p:tgtEl>
                                          <p:spTgt spid="2"/>
                                        </p:tgtEl>
                                        <p:attrNameLst>
                                          <p:attrName>r</p:attrName>
                                        </p:attrNameLst>
                                      </p:cBhvr>
                                    </p:animRot>
                                    <p:animRot by="120000">
                                      <p:cBhvr>
                                        <p:cTn id="17" dur="200" fill="hold">
                                          <p:stCondLst>
                                            <p:cond delay="800"/>
                                          </p:stCondLst>
                                        </p:cTn>
                                        <p:tgtEl>
                                          <p:spTgt spid="2"/>
                                        </p:tgtEl>
                                        <p:attrNameLst>
                                          <p:attrName>r</p:attrName>
                                        </p:attrNameLst>
                                      </p:cBhvr>
                                    </p:animRot>
                                  </p:childTnLst>
                                </p:cTn>
                              </p:par>
                              <p:par>
                                <p:cTn id="18" presetID="32" presetClass="emph" presetSubtype="0" fill="hold" grpId="0" nodeType="withEffect">
                                  <p:stCondLst>
                                    <p:cond delay="0"/>
                                  </p:stCondLst>
                                  <p:childTnLst>
                                    <p:animRot by="120000">
                                      <p:cBhvr>
                                        <p:cTn id="19" dur="100" fill="hold">
                                          <p:stCondLst>
                                            <p:cond delay="0"/>
                                          </p:stCondLst>
                                        </p:cTn>
                                        <p:tgtEl>
                                          <p:spTgt spid="9"/>
                                        </p:tgtEl>
                                        <p:attrNameLst>
                                          <p:attrName>r</p:attrName>
                                        </p:attrNameLst>
                                      </p:cBhvr>
                                    </p:animRot>
                                    <p:animRot by="-240000">
                                      <p:cBhvr>
                                        <p:cTn id="20" dur="200" fill="hold">
                                          <p:stCondLst>
                                            <p:cond delay="200"/>
                                          </p:stCondLst>
                                        </p:cTn>
                                        <p:tgtEl>
                                          <p:spTgt spid="9"/>
                                        </p:tgtEl>
                                        <p:attrNameLst>
                                          <p:attrName>r</p:attrName>
                                        </p:attrNameLst>
                                      </p:cBhvr>
                                    </p:animRot>
                                    <p:animRot by="240000">
                                      <p:cBhvr>
                                        <p:cTn id="21" dur="200" fill="hold">
                                          <p:stCondLst>
                                            <p:cond delay="400"/>
                                          </p:stCondLst>
                                        </p:cTn>
                                        <p:tgtEl>
                                          <p:spTgt spid="9"/>
                                        </p:tgtEl>
                                        <p:attrNameLst>
                                          <p:attrName>r</p:attrName>
                                        </p:attrNameLst>
                                      </p:cBhvr>
                                    </p:animRot>
                                    <p:animRot by="-240000">
                                      <p:cBhvr>
                                        <p:cTn id="22" dur="200" fill="hold">
                                          <p:stCondLst>
                                            <p:cond delay="600"/>
                                          </p:stCondLst>
                                        </p:cTn>
                                        <p:tgtEl>
                                          <p:spTgt spid="9"/>
                                        </p:tgtEl>
                                        <p:attrNameLst>
                                          <p:attrName>r</p:attrName>
                                        </p:attrNameLst>
                                      </p:cBhvr>
                                    </p:animRot>
                                    <p:animRot by="120000">
                                      <p:cBhvr>
                                        <p:cTn id="23" dur="200" fill="hold">
                                          <p:stCondLst>
                                            <p:cond delay="800"/>
                                          </p:stCondLst>
                                        </p:cTn>
                                        <p:tgtEl>
                                          <p:spTgt spid="9"/>
                                        </p:tgtEl>
                                        <p:attrNameLst>
                                          <p:attrName>r</p:attrName>
                                        </p:attrNameLst>
                                      </p:cBhvr>
                                    </p:animRot>
                                  </p:childTnLst>
                                </p:cTn>
                              </p:par>
                              <p:par>
                                <p:cTn id="24" presetID="32" presetClass="emph" presetSubtype="0" fill="hold" grpId="0" nodeType="withEffect">
                                  <p:stCondLst>
                                    <p:cond delay="0"/>
                                  </p:stCondLst>
                                  <p:childTnLst>
                                    <p:animRot by="120000">
                                      <p:cBhvr>
                                        <p:cTn id="25" dur="100" fill="hold">
                                          <p:stCondLst>
                                            <p:cond delay="0"/>
                                          </p:stCondLst>
                                        </p:cTn>
                                        <p:tgtEl>
                                          <p:spTgt spid="5"/>
                                        </p:tgtEl>
                                        <p:attrNameLst>
                                          <p:attrName>r</p:attrName>
                                        </p:attrNameLst>
                                      </p:cBhvr>
                                    </p:animRot>
                                    <p:animRot by="-240000">
                                      <p:cBhvr>
                                        <p:cTn id="26" dur="200" fill="hold">
                                          <p:stCondLst>
                                            <p:cond delay="200"/>
                                          </p:stCondLst>
                                        </p:cTn>
                                        <p:tgtEl>
                                          <p:spTgt spid="5"/>
                                        </p:tgtEl>
                                        <p:attrNameLst>
                                          <p:attrName>r</p:attrName>
                                        </p:attrNameLst>
                                      </p:cBhvr>
                                    </p:animRot>
                                    <p:animRot by="240000">
                                      <p:cBhvr>
                                        <p:cTn id="27" dur="200" fill="hold">
                                          <p:stCondLst>
                                            <p:cond delay="400"/>
                                          </p:stCondLst>
                                        </p:cTn>
                                        <p:tgtEl>
                                          <p:spTgt spid="5"/>
                                        </p:tgtEl>
                                        <p:attrNameLst>
                                          <p:attrName>r</p:attrName>
                                        </p:attrNameLst>
                                      </p:cBhvr>
                                    </p:animRot>
                                    <p:animRot by="-240000">
                                      <p:cBhvr>
                                        <p:cTn id="28" dur="200" fill="hold">
                                          <p:stCondLst>
                                            <p:cond delay="600"/>
                                          </p:stCondLst>
                                        </p:cTn>
                                        <p:tgtEl>
                                          <p:spTgt spid="5"/>
                                        </p:tgtEl>
                                        <p:attrNameLst>
                                          <p:attrName>r</p:attrName>
                                        </p:attrNameLst>
                                      </p:cBhvr>
                                    </p:animRot>
                                    <p:animRot by="120000">
                                      <p:cBhvr>
                                        <p:cTn id="29" dur="200" fill="hold">
                                          <p:stCondLst>
                                            <p:cond delay="800"/>
                                          </p:stCondLst>
                                        </p:cTn>
                                        <p:tgtEl>
                                          <p:spTgt spid="5"/>
                                        </p:tgtEl>
                                        <p:attrNameLst>
                                          <p:attrName>r</p:attrName>
                                        </p:attrNameLst>
                                      </p:cBhvr>
                                    </p:animRot>
                                  </p:childTnLst>
                                </p:cTn>
                              </p:par>
                              <p:par>
                                <p:cTn id="30" presetID="32" presetClass="emph" presetSubtype="0" fill="hold" grpId="0" nodeType="withEffect">
                                  <p:stCondLst>
                                    <p:cond delay="0"/>
                                  </p:stCondLst>
                                  <p:childTnLst>
                                    <p:animRot by="120000">
                                      <p:cBhvr>
                                        <p:cTn id="31" dur="100" fill="hold">
                                          <p:stCondLst>
                                            <p:cond delay="0"/>
                                          </p:stCondLst>
                                        </p:cTn>
                                        <p:tgtEl>
                                          <p:spTgt spid="10"/>
                                        </p:tgtEl>
                                        <p:attrNameLst>
                                          <p:attrName>r</p:attrName>
                                        </p:attrNameLst>
                                      </p:cBhvr>
                                    </p:animRot>
                                    <p:animRot by="-240000">
                                      <p:cBhvr>
                                        <p:cTn id="32" dur="200" fill="hold">
                                          <p:stCondLst>
                                            <p:cond delay="200"/>
                                          </p:stCondLst>
                                        </p:cTn>
                                        <p:tgtEl>
                                          <p:spTgt spid="10"/>
                                        </p:tgtEl>
                                        <p:attrNameLst>
                                          <p:attrName>r</p:attrName>
                                        </p:attrNameLst>
                                      </p:cBhvr>
                                    </p:animRot>
                                    <p:animRot by="240000">
                                      <p:cBhvr>
                                        <p:cTn id="33" dur="200" fill="hold">
                                          <p:stCondLst>
                                            <p:cond delay="400"/>
                                          </p:stCondLst>
                                        </p:cTn>
                                        <p:tgtEl>
                                          <p:spTgt spid="10"/>
                                        </p:tgtEl>
                                        <p:attrNameLst>
                                          <p:attrName>r</p:attrName>
                                        </p:attrNameLst>
                                      </p:cBhvr>
                                    </p:animRot>
                                    <p:animRot by="-240000">
                                      <p:cBhvr>
                                        <p:cTn id="34" dur="200" fill="hold">
                                          <p:stCondLst>
                                            <p:cond delay="600"/>
                                          </p:stCondLst>
                                        </p:cTn>
                                        <p:tgtEl>
                                          <p:spTgt spid="10"/>
                                        </p:tgtEl>
                                        <p:attrNameLst>
                                          <p:attrName>r</p:attrName>
                                        </p:attrNameLst>
                                      </p:cBhvr>
                                    </p:animRot>
                                    <p:animRot by="120000">
                                      <p:cBhvr>
                                        <p:cTn id="35" dur="200" fill="hold">
                                          <p:stCondLst>
                                            <p:cond delay="800"/>
                                          </p:stCondLst>
                                        </p:cTn>
                                        <p:tgtEl>
                                          <p:spTgt spid="10"/>
                                        </p:tgtEl>
                                        <p:attrNameLst>
                                          <p:attrName>r</p:attrName>
                                        </p:attrNameLst>
                                      </p:cBhvr>
                                    </p:animRot>
                                  </p:childTnLst>
                                </p:cTn>
                              </p:par>
                              <p:par>
                                <p:cTn id="36" presetID="32" presetClass="emph" presetSubtype="0" fill="hold" grpId="0" nodeType="withEffect">
                                  <p:stCondLst>
                                    <p:cond delay="0"/>
                                  </p:stCondLst>
                                  <p:childTnLst>
                                    <p:animRot by="120000">
                                      <p:cBhvr>
                                        <p:cTn id="37" dur="100" fill="hold">
                                          <p:stCondLst>
                                            <p:cond delay="0"/>
                                          </p:stCondLst>
                                        </p:cTn>
                                        <p:tgtEl>
                                          <p:spTgt spid="7"/>
                                        </p:tgtEl>
                                        <p:attrNameLst>
                                          <p:attrName>r</p:attrName>
                                        </p:attrNameLst>
                                      </p:cBhvr>
                                    </p:animRot>
                                    <p:animRot by="-240000">
                                      <p:cBhvr>
                                        <p:cTn id="38" dur="200" fill="hold">
                                          <p:stCondLst>
                                            <p:cond delay="200"/>
                                          </p:stCondLst>
                                        </p:cTn>
                                        <p:tgtEl>
                                          <p:spTgt spid="7"/>
                                        </p:tgtEl>
                                        <p:attrNameLst>
                                          <p:attrName>r</p:attrName>
                                        </p:attrNameLst>
                                      </p:cBhvr>
                                    </p:animRot>
                                    <p:animRot by="240000">
                                      <p:cBhvr>
                                        <p:cTn id="39" dur="200" fill="hold">
                                          <p:stCondLst>
                                            <p:cond delay="400"/>
                                          </p:stCondLst>
                                        </p:cTn>
                                        <p:tgtEl>
                                          <p:spTgt spid="7"/>
                                        </p:tgtEl>
                                        <p:attrNameLst>
                                          <p:attrName>r</p:attrName>
                                        </p:attrNameLst>
                                      </p:cBhvr>
                                    </p:animRot>
                                    <p:animRot by="-240000">
                                      <p:cBhvr>
                                        <p:cTn id="40" dur="200" fill="hold">
                                          <p:stCondLst>
                                            <p:cond delay="600"/>
                                          </p:stCondLst>
                                        </p:cTn>
                                        <p:tgtEl>
                                          <p:spTgt spid="7"/>
                                        </p:tgtEl>
                                        <p:attrNameLst>
                                          <p:attrName>r</p:attrName>
                                        </p:attrNameLst>
                                      </p:cBhvr>
                                    </p:animRot>
                                    <p:animRot by="120000">
                                      <p:cBhvr>
                                        <p:cTn id="41" dur="200" fill="hold">
                                          <p:stCondLst>
                                            <p:cond delay="800"/>
                                          </p:stCondLst>
                                        </p:cTn>
                                        <p:tgtEl>
                                          <p:spTgt spid="7"/>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animBg="1"/>
      <p:bldP spid="5" grpId="0" animBg="1"/>
      <p:bldP spid="7" grpId="0" animBg="1"/>
      <p:bldP spid="9" grpId="0" animBg="1"/>
      <p:bldP spid="1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6</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Why data mining?</a:t>
            </a:r>
          </a:p>
        </p:txBody>
      </p:sp>
      <p:sp>
        <p:nvSpPr>
          <p:cNvPr id="2" name="Oval 1"/>
          <p:cNvSpPr/>
          <p:nvPr/>
        </p:nvSpPr>
        <p:spPr>
          <a:xfrm>
            <a:off x="263525" y="2372995"/>
            <a:ext cx="2941320" cy="3140075"/>
          </a:xfrm>
          <a:prstGeom prst="ellipse">
            <a:avLst/>
          </a:prstGeom>
          <a:solidFill>
            <a:schemeClr val="accent2">
              <a:lumMod val="60000"/>
              <a:lumOff val="40000"/>
            </a:schemeClr>
          </a:solidFill>
          <a:ln>
            <a:solidFill>
              <a:schemeClr val="accent2">
                <a:lumMod val="40000"/>
                <a:lumOff val="60000"/>
              </a:schemeClr>
            </a:solidFill>
          </a:ln>
        </p:spPr>
        <p:style>
          <a:lnRef idx="1">
            <a:schemeClr val="accent1"/>
          </a:lnRef>
          <a:fillRef idx="3">
            <a:schemeClr val="accent1"/>
          </a:fillRef>
          <a:effectRef idx="2">
            <a:schemeClr val="accent1"/>
          </a:effectRef>
          <a:fontRef idx="minor">
            <a:schemeClr val="lt1"/>
          </a:fontRef>
        </p:style>
        <p:txBody>
          <a:bodyPr/>
          <a:lstStyle/>
          <a:p>
            <a:pPr algn="ctr"/>
            <a:r>
              <a:rPr lang="en-US" sz="2000" b="1">
                <a:solidFill>
                  <a:schemeClr val="tx1"/>
                </a:solidFill>
              </a:rPr>
              <a:t>Rapid Computerization of buisnesses produce huge amount of data</a:t>
            </a:r>
          </a:p>
        </p:txBody>
      </p:sp>
      <p:sp>
        <p:nvSpPr>
          <p:cNvPr id="3" name="Oval 2"/>
          <p:cNvSpPr/>
          <p:nvPr/>
        </p:nvSpPr>
        <p:spPr>
          <a:xfrm>
            <a:off x="2902585" y="2372995"/>
            <a:ext cx="3136265" cy="3139440"/>
          </a:xfrm>
          <a:prstGeom prst="ellipse">
            <a:avLst/>
          </a:prstGeom>
          <a:solidFill>
            <a:schemeClr val="accent2">
              <a:lumMod val="60000"/>
              <a:lumOff val="40000"/>
            </a:schemeClr>
          </a:solidFill>
          <a:ln>
            <a:solidFill>
              <a:schemeClr val="accent2">
                <a:lumMod val="40000"/>
                <a:lumOff val="60000"/>
              </a:schemeClr>
            </a:solidFill>
          </a:ln>
        </p:spPr>
        <p:style>
          <a:lnRef idx="1">
            <a:schemeClr val="accent1"/>
          </a:lnRef>
          <a:fillRef idx="3">
            <a:schemeClr val="accent1"/>
          </a:fillRef>
          <a:effectRef idx="2">
            <a:schemeClr val="accent1"/>
          </a:effectRef>
          <a:fontRef idx="minor">
            <a:schemeClr val="lt1"/>
          </a:fontRef>
        </p:style>
        <p:txBody>
          <a:bodyPr/>
          <a:lstStyle/>
          <a:p>
            <a:pPr algn="ctr"/>
            <a:endParaRPr lang="en-US" sz="2000" b="1">
              <a:solidFill>
                <a:schemeClr val="tx1"/>
              </a:solidFill>
            </a:endParaRPr>
          </a:p>
          <a:p>
            <a:pPr algn="ctr"/>
            <a:endParaRPr lang="en-US" sz="2000" b="1">
              <a:solidFill>
                <a:schemeClr val="tx1"/>
              </a:solidFill>
            </a:endParaRPr>
          </a:p>
          <a:p>
            <a:pPr algn="ctr"/>
            <a:r>
              <a:rPr lang="en-US" sz="2000" b="1">
                <a:solidFill>
                  <a:schemeClr val="tx1"/>
                </a:solidFill>
              </a:rPr>
              <a:t>How to make best use of data?</a:t>
            </a:r>
          </a:p>
        </p:txBody>
      </p:sp>
      <p:sp>
        <p:nvSpPr>
          <p:cNvPr id="5" name="Oval 4"/>
          <p:cNvSpPr/>
          <p:nvPr/>
        </p:nvSpPr>
        <p:spPr>
          <a:xfrm>
            <a:off x="5678170" y="2372995"/>
            <a:ext cx="3325495" cy="3148965"/>
          </a:xfrm>
          <a:prstGeom prst="ellipse">
            <a:avLst/>
          </a:prstGeom>
          <a:solidFill>
            <a:schemeClr val="accent2">
              <a:lumMod val="60000"/>
              <a:lumOff val="40000"/>
            </a:schemeClr>
          </a:solidFill>
          <a:ln>
            <a:solidFill>
              <a:schemeClr val="accent2">
                <a:lumMod val="40000"/>
                <a:lumOff val="60000"/>
              </a:schemeClr>
            </a:solidFill>
          </a:ln>
        </p:spPr>
        <p:style>
          <a:lnRef idx="1">
            <a:schemeClr val="accent1"/>
          </a:lnRef>
          <a:fillRef idx="3">
            <a:schemeClr val="accent1"/>
          </a:fillRef>
          <a:effectRef idx="2">
            <a:schemeClr val="accent1"/>
          </a:effectRef>
          <a:fontRef idx="minor">
            <a:schemeClr val="lt1"/>
          </a:fontRef>
        </p:style>
        <p:txBody>
          <a:bodyPr/>
          <a:lstStyle/>
          <a:p>
            <a:pPr algn="ctr"/>
            <a:r>
              <a:rPr lang="en-US" sz="2000" b="1" dirty="0">
                <a:solidFill>
                  <a:schemeClr val="tx1"/>
                </a:solidFill>
              </a:rPr>
              <a:t>A growing realization that knowledge discovery from data can be used for competitive advantage.</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26"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down)">
                                      <p:cBhvr>
                                        <p:cTn id="15" dur="580">
                                          <p:stCondLst>
                                            <p:cond delay="0"/>
                                          </p:stCondLst>
                                        </p:cTn>
                                        <p:tgtEl>
                                          <p:spTgt spid="2"/>
                                        </p:tgtEl>
                                      </p:cBhvr>
                                    </p:animEffect>
                                    <p:anim calcmode="lin" valueType="num">
                                      <p:cBhvr>
                                        <p:cTn id="16"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17"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8"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9"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20"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21" dur="26">
                                          <p:stCondLst>
                                            <p:cond delay="650"/>
                                          </p:stCondLst>
                                        </p:cTn>
                                        <p:tgtEl>
                                          <p:spTgt spid="2"/>
                                        </p:tgtEl>
                                      </p:cBhvr>
                                      <p:to x="100000" y="60000"/>
                                    </p:animScale>
                                    <p:animScale>
                                      <p:cBhvr>
                                        <p:cTn id="22" dur="166" decel="50000">
                                          <p:stCondLst>
                                            <p:cond delay="676"/>
                                          </p:stCondLst>
                                        </p:cTn>
                                        <p:tgtEl>
                                          <p:spTgt spid="2"/>
                                        </p:tgtEl>
                                      </p:cBhvr>
                                      <p:to x="100000" y="100000"/>
                                    </p:animScale>
                                    <p:animScale>
                                      <p:cBhvr>
                                        <p:cTn id="23" dur="26">
                                          <p:stCondLst>
                                            <p:cond delay="1312"/>
                                          </p:stCondLst>
                                        </p:cTn>
                                        <p:tgtEl>
                                          <p:spTgt spid="2"/>
                                        </p:tgtEl>
                                      </p:cBhvr>
                                      <p:to x="100000" y="80000"/>
                                    </p:animScale>
                                    <p:animScale>
                                      <p:cBhvr>
                                        <p:cTn id="24" dur="166" decel="50000">
                                          <p:stCondLst>
                                            <p:cond delay="1338"/>
                                          </p:stCondLst>
                                        </p:cTn>
                                        <p:tgtEl>
                                          <p:spTgt spid="2"/>
                                        </p:tgtEl>
                                      </p:cBhvr>
                                      <p:to x="100000" y="100000"/>
                                    </p:animScale>
                                    <p:animScale>
                                      <p:cBhvr>
                                        <p:cTn id="25" dur="26">
                                          <p:stCondLst>
                                            <p:cond delay="1642"/>
                                          </p:stCondLst>
                                        </p:cTn>
                                        <p:tgtEl>
                                          <p:spTgt spid="2"/>
                                        </p:tgtEl>
                                      </p:cBhvr>
                                      <p:to x="100000" y="90000"/>
                                    </p:animScale>
                                    <p:animScale>
                                      <p:cBhvr>
                                        <p:cTn id="26" dur="166" decel="50000">
                                          <p:stCondLst>
                                            <p:cond delay="1668"/>
                                          </p:stCondLst>
                                        </p:cTn>
                                        <p:tgtEl>
                                          <p:spTgt spid="2"/>
                                        </p:tgtEl>
                                      </p:cBhvr>
                                      <p:to x="100000" y="100000"/>
                                    </p:animScale>
                                    <p:animScale>
                                      <p:cBhvr>
                                        <p:cTn id="27" dur="26">
                                          <p:stCondLst>
                                            <p:cond delay="1808"/>
                                          </p:stCondLst>
                                        </p:cTn>
                                        <p:tgtEl>
                                          <p:spTgt spid="2"/>
                                        </p:tgtEl>
                                      </p:cBhvr>
                                      <p:to x="100000" y="95000"/>
                                    </p:animScale>
                                    <p:animScale>
                                      <p:cBhvr>
                                        <p:cTn id="28" dur="166" decel="50000">
                                          <p:stCondLst>
                                            <p:cond delay="1834"/>
                                          </p:stCondLst>
                                        </p:cTn>
                                        <p:tgtEl>
                                          <p:spTgt spid="2"/>
                                        </p:tgtEl>
                                      </p:cBhvr>
                                      <p:to x="100000" y="100000"/>
                                    </p:animScale>
                                  </p:childTnLst>
                                </p:cTn>
                              </p:par>
                              <p:par>
                                <p:cTn id="29" presetID="26" presetClass="entr" presetSubtype="0" fill="hold" grpId="0" nodeType="with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wipe(down)">
                                      <p:cBhvr>
                                        <p:cTn id="31" dur="580">
                                          <p:stCondLst>
                                            <p:cond delay="0"/>
                                          </p:stCondLst>
                                        </p:cTn>
                                        <p:tgtEl>
                                          <p:spTgt spid="3"/>
                                        </p:tgtEl>
                                      </p:cBhvr>
                                    </p:animEffect>
                                    <p:anim calcmode="lin" valueType="num">
                                      <p:cBhvr>
                                        <p:cTn id="32"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33"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34"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35"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36"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37" dur="26">
                                          <p:stCondLst>
                                            <p:cond delay="650"/>
                                          </p:stCondLst>
                                        </p:cTn>
                                        <p:tgtEl>
                                          <p:spTgt spid="3"/>
                                        </p:tgtEl>
                                      </p:cBhvr>
                                      <p:to x="100000" y="60000"/>
                                    </p:animScale>
                                    <p:animScale>
                                      <p:cBhvr>
                                        <p:cTn id="38" dur="166" decel="50000">
                                          <p:stCondLst>
                                            <p:cond delay="676"/>
                                          </p:stCondLst>
                                        </p:cTn>
                                        <p:tgtEl>
                                          <p:spTgt spid="3"/>
                                        </p:tgtEl>
                                      </p:cBhvr>
                                      <p:to x="100000" y="100000"/>
                                    </p:animScale>
                                    <p:animScale>
                                      <p:cBhvr>
                                        <p:cTn id="39" dur="26">
                                          <p:stCondLst>
                                            <p:cond delay="1312"/>
                                          </p:stCondLst>
                                        </p:cTn>
                                        <p:tgtEl>
                                          <p:spTgt spid="3"/>
                                        </p:tgtEl>
                                      </p:cBhvr>
                                      <p:to x="100000" y="80000"/>
                                    </p:animScale>
                                    <p:animScale>
                                      <p:cBhvr>
                                        <p:cTn id="40" dur="166" decel="50000">
                                          <p:stCondLst>
                                            <p:cond delay="1338"/>
                                          </p:stCondLst>
                                        </p:cTn>
                                        <p:tgtEl>
                                          <p:spTgt spid="3"/>
                                        </p:tgtEl>
                                      </p:cBhvr>
                                      <p:to x="100000" y="100000"/>
                                    </p:animScale>
                                    <p:animScale>
                                      <p:cBhvr>
                                        <p:cTn id="41" dur="26">
                                          <p:stCondLst>
                                            <p:cond delay="1642"/>
                                          </p:stCondLst>
                                        </p:cTn>
                                        <p:tgtEl>
                                          <p:spTgt spid="3"/>
                                        </p:tgtEl>
                                      </p:cBhvr>
                                      <p:to x="100000" y="90000"/>
                                    </p:animScale>
                                    <p:animScale>
                                      <p:cBhvr>
                                        <p:cTn id="42" dur="166" decel="50000">
                                          <p:stCondLst>
                                            <p:cond delay="1668"/>
                                          </p:stCondLst>
                                        </p:cTn>
                                        <p:tgtEl>
                                          <p:spTgt spid="3"/>
                                        </p:tgtEl>
                                      </p:cBhvr>
                                      <p:to x="100000" y="100000"/>
                                    </p:animScale>
                                    <p:animScale>
                                      <p:cBhvr>
                                        <p:cTn id="43" dur="26">
                                          <p:stCondLst>
                                            <p:cond delay="1808"/>
                                          </p:stCondLst>
                                        </p:cTn>
                                        <p:tgtEl>
                                          <p:spTgt spid="3"/>
                                        </p:tgtEl>
                                      </p:cBhvr>
                                      <p:to x="100000" y="95000"/>
                                    </p:animScale>
                                    <p:animScale>
                                      <p:cBhvr>
                                        <p:cTn id="44" dur="166" decel="50000">
                                          <p:stCondLst>
                                            <p:cond delay="1834"/>
                                          </p:stCondLst>
                                        </p:cTn>
                                        <p:tgtEl>
                                          <p:spTgt spid="3"/>
                                        </p:tgtEl>
                                      </p:cBhvr>
                                      <p:to x="100000" y="100000"/>
                                    </p:animScale>
                                  </p:childTnLst>
                                </p:cTn>
                              </p:par>
                              <p:par>
                                <p:cTn id="45" presetID="26" presetClass="entr" presetSubtype="0" fill="hold" grpId="0" nodeType="withEffect">
                                  <p:stCondLst>
                                    <p:cond delay="0"/>
                                  </p:stCondLst>
                                  <p:childTnLst>
                                    <p:set>
                                      <p:cBhvr>
                                        <p:cTn id="46" dur="1" fill="hold">
                                          <p:stCondLst>
                                            <p:cond delay="0"/>
                                          </p:stCondLst>
                                        </p:cTn>
                                        <p:tgtEl>
                                          <p:spTgt spid="5"/>
                                        </p:tgtEl>
                                        <p:attrNameLst>
                                          <p:attrName>style.visibility</p:attrName>
                                        </p:attrNameLst>
                                      </p:cBhvr>
                                      <p:to>
                                        <p:strVal val="visible"/>
                                      </p:to>
                                    </p:set>
                                    <p:animEffect transition="in" filter="wipe(down)">
                                      <p:cBhvr>
                                        <p:cTn id="47" dur="580">
                                          <p:stCondLst>
                                            <p:cond delay="0"/>
                                          </p:stCondLst>
                                        </p:cTn>
                                        <p:tgtEl>
                                          <p:spTgt spid="5"/>
                                        </p:tgtEl>
                                      </p:cBhvr>
                                    </p:animEffect>
                                    <p:anim calcmode="lin" valueType="num">
                                      <p:cBhvr>
                                        <p:cTn id="48"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49"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50"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51"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52"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53" dur="26">
                                          <p:stCondLst>
                                            <p:cond delay="650"/>
                                          </p:stCondLst>
                                        </p:cTn>
                                        <p:tgtEl>
                                          <p:spTgt spid="5"/>
                                        </p:tgtEl>
                                      </p:cBhvr>
                                      <p:to x="100000" y="60000"/>
                                    </p:animScale>
                                    <p:animScale>
                                      <p:cBhvr>
                                        <p:cTn id="54" dur="166" decel="50000">
                                          <p:stCondLst>
                                            <p:cond delay="676"/>
                                          </p:stCondLst>
                                        </p:cTn>
                                        <p:tgtEl>
                                          <p:spTgt spid="5"/>
                                        </p:tgtEl>
                                      </p:cBhvr>
                                      <p:to x="100000" y="100000"/>
                                    </p:animScale>
                                    <p:animScale>
                                      <p:cBhvr>
                                        <p:cTn id="55" dur="26">
                                          <p:stCondLst>
                                            <p:cond delay="1312"/>
                                          </p:stCondLst>
                                        </p:cTn>
                                        <p:tgtEl>
                                          <p:spTgt spid="5"/>
                                        </p:tgtEl>
                                      </p:cBhvr>
                                      <p:to x="100000" y="80000"/>
                                    </p:animScale>
                                    <p:animScale>
                                      <p:cBhvr>
                                        <p:cTn id="56" dur="166" decel="50000">
                                          <p:stCondLst>
                                            <p:cond delay="1338"/>
                                          </p:stCondLst>
                                        </p:cTn>
                                        <p:tgtEl>
                                          <p:spTgt spid="5"/>
                                        </p:tgtEl>
                                      </p:cBhvr>
                                      <p:to x="100000" y="100000"/>
                                    </p:animScale>
                                    <p:animScale>
                                      <p:cBhvr>
                                        <p:cTn id="57" dur="26">
                                          <p:stCondLst>
                                            <p:cond delay="1642"/>
                                          </p:stCondLst>
                                        </p:cTn>
                                        <p:tgtEl>
                                          <p:spTgt spid="5"/>
                                        </p:tgtEl>
                                      </p:cBhvr>
                                      <p:to x="100000" y="90000"/>
                                    </p:animScale>
                                    <p:animScale>
                                      <p:cBhvr>
                                        <p:cTn id="58" dur="166" decel="50000">
                                          <p:stCondLst>
                                            <p:cond delay="1668"/>
                                          </p:stCondLst>
                                        </p:cTn>
                                        <p:tgtEl>
                                          <p:spTgt spid="5"/>
                                        </p:tgtEl>
                                      </p:cBhvr>
                                      <p:to x="100000" y="100000"/>
                                    </p:animScale>
                                    <p:animScale>
                                      <p:cBhvr>
                                        <p:cTn id="59" dur="26">
                                          <p:stCondLst>
                                            <p:cond delay="1808"/>
                                          </p:stCondLst>
                                        </p:cTn>
                                        <p:tgtEl>
                                          <p:spTgt spid="5"/>
                                        </p:tgtEl>
                                      </p:cBhvr>
                                      <p:to x="100000" y="95000"/>
                                    </p:animScale>
                                    <p:animScale>
                                      <p:cBhvr>
                                        <p:cTn id="60" dur="166" decel="50000">
                                          <p:stCondLst>
                                            <p:cond delay="1834"/>
                                          </p:stCondLst>
                                        </p:cTn>
                                        <p:tgtEl>
                                          <p:spTgt spid="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animBg="1"/>
      <p:bldP spid="3" grpId="0" animBg="1"/>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7</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Why Data Mining is Important</a:t>
            </a:r>
          </a:p>
        </p:txBody>
      </p:sp>
      <p:sp>
        <p:nvSpPr>
          <p:cNvPr id="4" name="Content Placeholder 3"/>
          <p:cNvSpPr>
            <a:spLocks noGrp="1"/>
          </p:cNvSpPr>
          <p:nvPr>
            <p:ph idx="1"/>
          </p:nvPr>
        </p:nvSpPr>
        <p:spPr>
          <a:xfrm>
            <a:off x="249936" y="1344168"/>
            <a:ext cx="8650224" cy="4525963"/>
          </a:xfrm>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Explosion of digital data</a:t>
            </a:r>
          </a:p>
          <a:p>
            <a:pPr lvl="1"/>
            <a:r>
              <a:rPr lang="en-US" altLang="en-US" dirty="0">
                <a:solidFill>
                  <a:schemeClr val="tx1"/>
                </a:solidFill>
                <a:latin typeface="Times New Roman" panose="02020603050405020304" pitchFamily="18" charset="0"/>
                <a:cs typeface="Times New Roman" panose="02020603050405020304" pitchFamily="18" charset="0"/>
              </a:rPr>
              <a:t>With the explosion of digital data from sources like transactions, social media, sensors, and the web, the volume of data has grown far beyond what humans can analyze manually.</a:t>
            </a:r>
          </a:p>
          <a:p>
            <a:r>
              <a:rPr lang="en-US" altLang="en-US" sz="2400" dirty="0">
                <a:solidFill>
                  <a:schemeClr val="tx1"/>
                </a:solidFill>
                <a:latin typeface="Times New Roman" panose="02020603050405020304" pitchFamily="18" charset="0"/>
                <a:cs typeface="Times New Roman" panose="02020603050405020304" pitchFamily="18" charset="0"/>
              </a:rPr>
              <a:t>Manual analysis is impossible at scale</a:t>
            </a:r>
          </a:p>
          <a:p>
            <a:pPr lvl="1"/>
            <a:r>
              <a:rPr lang="en-US" altLang="en-US" dirty="0">
                <a:solidFill>
                  <a:schemeClr val="tx1"/>
                </a:solidFill>
                <a:latin typeface="Times New Roman" panose="02020603050405020304" pitchFamily="18" charset="0"/>
                <a:cs typeface="Times New Roman" panose="02020603050405020304" pitchFamily="18" charset="0"/>
              </a:rPr>
              <a:t>Manual analysis is impossible at this scale, making automated techniques essential</a:t>
            </a:r>
          </a:p>
          <a:p>
            <a:r>
              <a:rPr lang="en-US" altLang="en-US" sz="2400" dirty="0">
                <a:solidFill>
                  <a:schemeClr val="tx1"/>
                </a:solidFill>
                <a:latin typeface="Times New Roman" panose="02020603050405020304" pitchFamily="18" charset="0"/>
                <a:cs typeface="Times New Roman" panose="02020603050405020304" pitchFamily="18" charset="0"/>
              </a:rPr>
              <a:t>Helps in:</a:t>
            </a:r>
          </a:p>
          <a:p>
            <a:pPr lvl="1"/>
            <a:r>
              <a:rPr lang="en-US" altLang="en-US" dirty="0">
                <a:solidFill>
                  <a:schemeClr val="tx1"/>
                </a:solidFill>
                <a:latin typeface="Times New Roman" panose="02020603050405020304" pitchFamily="18" charset="0"/>
                <a:cs typeface="Times New Roman" panose="02020603050405020304" pitchFamily="18" charset="0"/>
              </a:rPr>
              <a:t>Better decision making</a:t>
            </a:r>
          </a:p>
          <a:p>
            <a:pPr lvl="1"/>
            <a:r>
              <a:rPr lang="en-US" altLang="en-US" dirty="0">
                <a:solidFill>
                  <a:schemeClr val="tx1"/>
                </a:solidFill>
                <a:latin typeface="Times New Roman" panose="02020603050405020304" pitchFamily="18" charset="0"/>
                <a:cs typeface="Times New Roman" panose="02020603050405020304" pitchFamily="18" charset="0"/>
              </a:rPr>
              <a:t>Prediction and forecasting</a:t>
            </a:r>
          </a:p>
          <a:p>
            <a:pPr lvl="1"/>
            <a:r>
              <a:rPr lang="en-US" altLang="en-US" dirty="0">
                <a:solidFill>
                  <a:schemeClr val="tx1"/>
                </a:solidFill>
                <a:latin typeface="Times New Roman" panose="02020603050405020304" pitchFamily="18" charset="0"/>
                <a:cs typeface="Times New Roman" panose="02020603050405020304" pitchFamily="18" charset="0"/>
              </a:rPr>
              <a:t>Automation of insights</a:t>
            </a:r>
          </a:p>
          <a:p>
            <a:r>
              <a:rPr lang="en-US" altLang="en-US" sz="2400" dirty="0">
                <a:solidFill>
                  <a:schemeClr val="tx1"/>
                </a:solidFill>
                <a:latin typeface="Times New Roman" panose="02020603050405020304" pitchFamily="18" charset="0"/>
                <a:cs typeface="Times New Roman" panose="02020603050405020304" pitchFamily="18" charset="0"/>
              </a:rPr>
              <a:t>Competitive advantage for organizations</a:t>
            </a:r>
          </a:p>
          <a:p>
            <a:pPr lvl="1"/>
            <a:r>
              <a:rPr lang="en-US" altLang="en-US" dirty="0">
                <a:solidFill>
                  <a:schemeClr val="tx1"/>
                </a:solidFill>
                <a:latin typeface="Times New Roman" panose="02020603050405020304" pitchFamily="18" charset="0"/>
                <a:cs typeface="Times New Roman" panose="02020603050405020304" pitchFamily="18" charset="0"/>
              </a:rPr>
              <a:t>Providing a competitive advantage by enabling faster, smarter, and more informed strategies</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randombar(horizontal)">
                                      <p:cBhvr>
                                        <p:cTn id="17" dur="500"/>
                                        <p:tgtEl>
                                          <p:spTgt spid="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4">
                                            <p:txEl>
                                              <p:pRg st="2" end="2"/>
                                            </p:txEl>
                                          </p:spTgt>
                                        </p:tgtEl>
                                        <p:attrNameLst>
                                          <p:attrName>style.visibility</p:attrName>
                                        </p:attrNameLst>
                                      </p:cBhvr>
                                      <p:to>
                                        <p:strVal val="visible"/>
                                      </p:to>
                                    </p:set>
                                    <p:animEffect transition="in" filter="randombar(horizontal)">
                                      <p:cBhvr>
                                        <p:cTn id="22" dur="500"/>
                                        <p:tgtEl>
                                          <p:spTgt spid="4">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animEffect transition="in" filter="randombar(horizontal)">
                                      <p:cBhvr>
                                        <p:cTn id="27" dur="500"/>
                                        <p:tgtEl>
                                          <p:spTgt spid="4">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4">
                                            <p:txEl>
                                              <p:pRg st="4" end="4"/>
                                            </p:txEl>
                                          </p:spTgt>
                                        </p:tgtEl>
                                        <p:attrNameLst>
                                          <p:attrName>style.visibility</p:attrName>
                                        </p:attrNameLst>
                                      </p:cBhvr>
                                      <p:to>
                                        <p:strVal val="visible"/>
                                      </p:to>
                                    </p:set>
                                    <p:animEffect transition="in" filter="randombar(horizontal)">
                                      <p:cBhvr>
                                        <p:cTn id="32" dur="500"/>
                                        <p:tgtEl>
                                          <p:spTgt spid="4">
                                            <p:txEl>
                                              <p:pRg st="4" end="4"/>
                                            </p:txEl>
                                          </p:spTgt>
                                        </p:tgtEl>
                                      </p:cBhvr>
                                    </p:animEffect>
                                  </p:childTnLst>
                                </p:cTn>
                              </p:par>
                              <p:par>
                                <p:cTn id="33" presetID="14" presetClass="entr" presetSubtype="10" fill="hold" nodeType="with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animEffect transition="in" filter="randombar(horizontal)">
                                      <p:cBhvr>
                                        <p:cTn id="35" dur="500"/>
                                        <p:tgtEl>
                                          <p:spTgt spid="4">
                                            <p:txEl>
                                              <p:pRg st="5" end="5"/>
                                            </p:txEl>
                                          </p:spTgt>
                                        </p:tgtEl>
                                      </p:cBhvr>
                                    </p:animEffect>
                                  </p:childTnLst>
                                </p:cTn>
                              </p:par>
                              <p:par>
                                <p:cTn id="36" presetID="14" presetClass="entr" presetSubtype="10" fill="hold" nodeType="withEffect">
                                  <p:stCondLst>
                                    <p:cond delay="0"/>
                                  </p:stCondLst>
                                  <p:childTnLst>
                                    <p:set>
                                      <p:cBhvr>
                                        <p:cTn id="37" dur="1" fill="hold">
                                          <p:stCondLst>
                                            <p:cond delay="0"/>
                                          </p:stCondLst>
                                        </p:cTn>
                                        <p:tgtEl>
                                          <p:spTgt spid="4">
                                            <p:txEl>
                                              <p:pRg st="6" end="6"/>
                                            </p:txEl>
                                          </p:spTgt>
                                        </p:tgtEl>
                                        <p:attrNameLst>
                                          <p:attrName>style.visibility</p:attrName>
                                        </p:attrNameLst>
                                      </p:cBhvr>
                                      <p:to>
                                        <p:strVal val="visible"/>
                                      </p:to>
                                    </p:set>
                                    <p:animEffect transition="in" filter="randombar(horizontal)">
                                      <p:cBhvr>
                                        <p:cTn id="38" dur="500"/>
                                        <p:tgtEl>
                                          <p:spTgt spid="4">
                                            <p:txEl>
                                              <p:pRg st="6" end="6"/>
                                            </p:txEl>
                                          </p:spTgt>
                                        </p:tgtEl>
                                      </p:cBhvr>
                                    </p:animEffect>
                                  </p:childTnLst>
                                </p:cTn>
                              </p:par>
                              <p:par>
                                <p:cTn id="39" presetID="14" presetClass="entr" presetSubtype="10" fill="hold" nodeType="withEffect">
                                  <p:stCondLst>
                                    <p:cond delay="0"/>
                                  </p:stCondLst>
                                  <p:childTnLst>
                                    <p:set>
                                      <p:cBhvr>
                                        <p:cTn id="40" dur="1" fill="hold">
                                          <p:stCondLst>
                                            <p:cond delay="0"/>
                                          </p:stCondLst>
                                        </p:cTn>
                                        <p:tgtEl>
                                          <p:spTgt spid="4">
                                            <p:txEl>
                                              <p:pRg st="7" end="7"/>
                                            </p:txEl>
                                          </p:spTgt>
                                        </p:tgtEl>
                                        <p:attrNameLst>
                                          <p:attrName>style.visibility</p:attrName>
                                        </p:attrNameLst>
                                      </p:cBhvr>
                                      <p:to>
                                        <p:strVal val="visible"/>
                                      </p:to>
                                    </p:set>
                                    <p:animEffect transition="in" filter="randombar(horizontal)">
                                      <p:cBhvr>
                                        <p:cTn id="41" dur="500"/>
                                        <p:tgtEl>
                                          <p:spTgt spid="4">
                                            <p:txEl>
                                              <p:pRg st="7" end="7"/>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4" presetClass="entr" presetSubtype="10" fill="hold" nodeType="clickEffect">
                                  <p:stCondLst>
                                    <p:cond delay="0"/>
                                  </p:stCondLst>
                                  <p:childTnLst>
                                    <p:set>
                                      <p:cBhvr>
                                        <p:cTn id="45" dur="1" fill="hold">
                                          <p:stCondLst>
                                            <p:cond delay="0"/>
                                          </p:stCondLst>
                                        </p:cTn>
                                        <p:tgtEl>
                                          <p:spTgt spid="4">
                                            <p:txEl>
                                              <p:pRg st="8" end="8"/>
                                            </p:txEl>
                                          </p:spTgt>
                                        </p:tgtEl>
                                        <p:attrNameLst>
                                          <p:attrName>style.visibility</p:attrName>
                                        </p:attrNameLst>
                                      </p:cBhvr>
                                      <p:to>
                                        <p:strVal val="visible"/>
                                      </p:to>
                                    </p:set>
                                    <p:animEffect transition="in" filter="randombar(horizontal)">
                                      <p:cBhvr>
                                        <p:cTn id="46" dur="500"/>
                                        <p:tgtEl>
                                          <p:spTgt spid="4">
                                            <p:txEl>
                                              <p:pRg st="8" end="8"/>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4" presetClass="entr" presetSubtype="10" fill="hold" nodeType="clickEffect">
                                  <p:stCondLst>
                                    <p:cond delay="0"/>
                                  </p:stCondLst>
                                  <p:childTnLst>
                                    <p:set>
                                      <p:cBhvr>
                                        <p:cTn id="50" dur="1" fill="hold">
                                          <p:stCondLst>
                                            <p:cond delay="0"/>
                                          </p:stCondLst>
                                        </p:cTn>
                                        <p:tgtEl>
                                          <p:spTgt spid="4">
                                            <p:txEl>
                                              <p:pRg st="9" end="9"/>
                                            </p:txEl>
                                          </p:spTgt>
                                        </p:tgtEl>
                                        <p:attrNameLst>
                                          <p:attrName>style.visibility</p:attrName>
                                        </p:attrNameLst>
                                      </p:cBhvr>
                                      <p:to>
                                        <p:strVal val="visible"/>
                                      </p:to>
                                    </p:set>
                                    <p:animEffect transition="in" filter="randombar(horizontal)">
                                      <p:cBhvr>
                                        <p:cTn id="51" dur="500"/>
                                        <p:tgtEl>
                                          <p:spTgt spid="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8</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Process of Data Mining</a:t>
            </a:r>
          </a:p>
        </p:txBody>
      </p:sp>
      <p:sp>
        <p:nvSpPr>
          <p:cNvPr id="4" name="Content Placeholder 3"/>
          <p:cNvSpPr>
            <a:spLocks noGrp="1"/>
          </p:cNvSpPr>
          <p:nvPr>
            <p:ph idx="1"/>
          </p:nvPr>
        </p:nvSpPr>
        <p:spPr/>
        <p:txBody>
          <a:bodyPr/>
          <a:lstStyle/>
          <a:p>
            <a:r>
              <a:rPr lang="en-US" sz="2000" b="0" i="0" dirty="0">
                <a:solidFill>
                  <a:schemeClr val="tx1"/>
                </a:solidFill>
                <a:effectLst/>
                <a:latin typeface="Times New Roman" panose="02020603050405020304" pitchFamily="18" charset="0"/>
                <a:cs typeface="Times New Roman" panose="02020603050405020304" pitchFamily="18" charset="0"/>
              </a:rPr>
              <a:t>Data mining involves a combination of several techniques and technologies that help in discovering patterns, trends, and insights from data. It includes:</a:t>
            </a:r>
          </a:p>
          <a:p>
            <a:pPr algn="l" fontAlgn="base">
              <a:buFont typeface="+mj-lt"/>
              <a:buAutoNum type="arabicPeriod"/>
            </a:pPr>
            <a:r>
              <a:rPr lang="en-US" sz="2000" b="1" i="0" dirty="0">
                <a:solidFill>
                  <a:schemeClr val="tx1"/>
                </a:solidFill>
                <a:effectLst/>
                <a:latin typeface="Times New Roman" panose="02020603050405020304" pitchFamily="18" charset="0"/>
                <a:cs typeface="Times New Roman" panose="02020603050405020304" pitchFamily="18" charset="0"/>
              </a:rPr>
              <a:t>Data Collection and Integration</a:t>
            </a:r>
            <a:r>
              <a:rPr lang="en-US" sz="2000" b="0" i="0" dirty="0">
                <a:solidFill>
                  <a:schemeClr val="tx1"/>
                </a:solidFill>
                <a:effectLst/>
                <a:latin typeface="Times New Roman" panose="02020603050405020304" pitchFamily="18" charset="0"/>
                <a:cs typeface="Times New Roman" panose="02020603050405020304" pitchFamily="18" charset="0"/>
              </a:rPr>
              <a:t>: The process starts with gathering large amounts of data from various sources, such as transactional databases, data warehouses, or even the web. This data is then integrated to create a dataset for analysis.</a:t>
            </a:r>
          </a:p>
          <a:p>
            <a:pPr algn="l" fontAlgn="base">
              <a:buFont typeface="+mj-lt"/>
              <a:buAutoNum type="arabicPeriod" startAt="2"/>
            </a:pPr>
            <a:r>
              <a:rPr lang="en-US" sz="2000" b="1" i="0" dirty="0">
                <a:solidFill>
                  <a:schemeClr val="tx1"/>
                </a:solidFill>
                <a:effectLst/>
                <a:latin typeface="Times New Roman" panose="02020603050405020304" pitchFamily="18" charset="0"/>
                <a:cs typeface="Times New Roman" panose="02020603050405020304" pitchFamily="18" charset="0"/>
              </a:rPr>
              <a:t>Data Preprocessing</a:t>
            </a:r>
            <a:r>
              <a:rPr lang="en-US" sz="2000" b="0" i="0" dirty="0">
                <a:solidFill>
                  <a:schemeClr val="tx1"/>
                </a:solidFill>
                <a:effectLst/>
                <a:latin typeface="Times New Roman" panose="02020603050405020304" pitchFamily="18" charset="0"/>
                <a:cs typeface="Times New Roman" panose="02020603050405020304" pitchFamily="18" charset="0"/>
              </a:rPr>
              <a:t>: This step includes removing noise(errors), handling missing values, and transforming data into a suitable format for analysis.</a:t>
            </a:r>
          </a:p>
          <a:p>
            <a:pPr algn="l" fontAlgn="base">
              <a:buFont typeface="+mj-lt"/>
              <a:buAutoNum type="arabicPeriod" startAt="3"/>
            </a:pPr>
            <a:r>
              <a:rPr lang="en-US" sz="2000" b="1" i="0" dirty="0">
                <a:solidFill>
                  <a:schemeClr val="tx1"/>
                </a:solidFill>
                <a:effectLst/>
                <a:latin typeface="Times New Roman" panose="02020603050405020304" pitchFamily="18" charset="0"/>
                <a:cs typeface="Times New Roman" panose="02020603050405020304" pitchFamily="18" charset="0"/>
              </a:rPr>
              <a:t>Pattern Recognition and Machine Learning</a:t>
            </a:r>
            <a:r>
              <a:rPr lang="en-US" sz="2000" b="0" i="0" dirty="0">
                <a:solidFill>
                  <a:schemeClr val="tx1"/>
                </a:solidFill>
                <a:effectLst/>
                <a:latin typeface="Times New Roman" panose="02020603050405020304" pitchFamily="18" charset="0"/>
                <a:cs typeface="Times New Roman" panose="02020603050405020304" pitchFamily="18" charset="0"/>
              </a:rPr>
              <a:t>: These techniques are used to identify patterns, correlations, and trends within the data. Machine learning algorithms such as </a:t>
            </a:r>
            <a:r>
              <a:rPr lang="en-US" sz="2000" b="0" i="0" dirty="0">
                <a:solidFill>
                  <a:schemeClr val="tx1"/>
                </a:solidFill>
                <a:effectLst/>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xmlns="" val="tx"/>
                    </a:ext>
                  </a:extLst>
                </a:hlinkClick>
              </a:rPr>
              <a:t>clustering</a:t>
            </a:r>
            <a:r>
              <a:rPr lang="en-US" sz="2000" b="0" i="0" dirty="0">
                <a:solidFill>
                  <a:schemeClr val="tx1"/>
                </a:solidFill>
                <a:effectLst/>
                <a:latin typeface="Times New Roman" panose="02020603050405020304" pitchFamily="18" charset="0"/>
                <a:cs typeface="Times New Roman" panose="02020603050405020304" pitchFamily="18" charset="0"/>
              </a:rPr>
              <a:t>, </a:t>
            </a:r>
            <a:r>
              <a:rPr lang="en-US" sz="2000" b="0" i="0" dirty="0">
                <a:solidFill>
                  <a:schemeClr val="tx1"/>
                </a:solidFill>
                <a:effectLst/>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xmlns="" val="tx"/>
                    </a:ext>
                  </a:extLst>
                </a:hlinkClick>
              </a:rPr>
              <a:t>classification</a:t>
            </a:r>
            <a:r>
              <a:rPr lang="en-US" sz="2000" b="0" i="0" dirty="0">
                <a:solidFill>
                  <a:schemeClr val="tx1"/>
                </a:solidFill>
                <a:effectLst/>
                <a:latin typeface="Times New Roman" panose="02020603050405020304" pitchFamily="18" charset="0"/>
                <a:cs typeface="Times New Roman" panose="02020603050405020304" pitchFamily="18" charset="0"/>
              </a:rPr>
              <a:t>, and </a:t>
            </a:r>
            <a:r>
              <a:rPr lang="en-US" sz="2000" b="0" i="0" dirty="0">
                <a:solidFill>
                  <a:schemeClr val="tx1"/>
                </a:solidFill>
                <a:effectLst/>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xmlns="" val="tx"/>
                    </a:ext>
                  </a:extLst>
                </a:hlinkClick>
              </a:rPr>
              <a:t>regression</a:t>
            </a:r>
            <a:r>
              <a:rPr lang="en-US" sz="2000" b="0" i="0" dirty="0">
                <a:solidFill>
                  <a:schemeClr val="tx1"/>
                </a:solidFill>
                <a:effectLst/>
                <a:latin typeface="Times New Roman" panose="02020603050405020304" pitchFamily="18" charset="0"/>
                <a:cs typeface="Times New Roman" panose="02020603050405020304" pitchFamily="18" charset="0"/>
              </a:rPr>
              <a:t> help uncover hidden insights that drive decision-making.</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 calcmode="lin" valueType="num">
                                      <p:cBhvr additive="base">
                                        <p:cTn id="14"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4">
                                            <p:txEl>
                                              <p:pRg st="1" end="1"/>
                                            </p:txEl>
                                          </p:spTgt>
                                        </p:tgtEl>
                                        <p:attrNameLst>
                                          <p:attrName>style.visibility</p:attrName>
                                        </p:attrNameLst>
                                      </p:cBhvr>
                                      <p:to>
                                        <p:strVal val="visible"/>
                                      </p:to>
                                    </p:set>
                                    <p:anim calcmode="lin" valueType="num">
                                      <p:cBhvr additive="base">
                                        <p:cTn id="20"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4">
                                            <p:txEl>
                                              <p:pRg st="2" end="2"/>
                                            </p:txEl>
                                          </p:spTgt>
                                        </p:tgtEl>
                                        <p:attrNameLst>
                                          <p:attrName>style.visibility</p:attrName>
                                        </p:attrNameLst>
                                      </p:cBhvr>
                                      <p:to>
                                        <p:strVal val="visible"/>
                                      </p:to>
                                    </p:set>
                                    <p:anim calcmode="lin" valueType="num">
                                      <p:cBhvr additive="base">
                                        <p:cTn id="26"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4">
                                            <p:txEl>
                                              <p:pRg st="3" end="3"/>
                                            </p:txEl>
                                          </p:spTgt>
                                        </p:tgtEl>
                                        <p:attrNameLst>
                                          <p:attrName>style.visibility</p:attrName>
                                        </p:attrNameLst>
                                      </p:cBhvr>
                                      <p:to>
                                        <p:strVal val="visible"/>
                                      </p:to>
                                    </p:set>
                                    <p:anim calcmode="lin" valueType="num">
                                      <p:cBhvr additive="base">
                                        <p:cTn id="32"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9</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Process of Data Mining</a:t>
            </a:r>
          </a:p>
        </p:txBody>
      </p:sp>
      <p:sp>
        <p:nvSpPr>
          <p:cNvPr id="4" name="Content Placeholder 3"/>
          <p:cNvSpPr>
            <a:spLocks noGrp="1"/>
          </p:cNvSpPr>
          <p:nvPr>
            <p:ph idx="1"/>
          </p:nvPr>
        </p:nvSpPr>
        <p:spPr/>
        <p:txBody>
          <a:bodyPr/>
          <a:lstStyle/>
          <a:p>
            <a:pPr algn="l" fontAlgn="base">
              <a:buFont typeface="+mj-lt"/>
              <a:buAutoNum type="arabicPeriod" startAt="4"/>
            </a:pPr>
            <a:r>
              <a:rPr lang="en-US" sz="2000" b="1" i="0" dirty="0">
                <a:solidFill>
                  <a:schemeClr val="tx1"/>
                </a:solidFill>
                <a:effectLst/>
                <a:latin typeface="Times New Roman" panose="02020603050405020304" pitchFamily="18" charset="0"/>
                <a:cs typeface="Times New Roman" panose="02020603050405020304" pitchFamily="18" charset="0"/>
              </a:rPr>
              <a:t>Statistical Analysis</a:t>
            </a:r>
            <a:r>
              <a:rPr lang="en-US" sz="2000" b="0" i="0" dirty="0">
                <a:solidFill>
                  <a:schemeClr val="tx1"/>
                </a:solidFill>
                <a:effectLst/>
                <a:latin typeface="Times New Roman" panose="02020603050405020304" pitchFamily="18" charset="0"/>
                <a:cs typeface="Times New Roman" panose="02020603050405020304" pitchFamily="18" charset="0"/>
              </a:rPr>
              <a:t>: Statistics is used to understand how different factors are related or how strong those relationships are, and whether the patterns we see are meaningful or not.</a:t>
            </a:r>
          </a:p>
          <a:p>
            <a:pPr algn="l" fontAlgn="base">
              <a:buFont typeface="+mj-lt"/>
              <a:buAutoNum type="arabicPeriod" startAt="5"/>
            </a:pPr>
            <a:r>
              <a:rPr lang="en-US" sz="2000" b="1" i="0" dirty="0">
                <a:solidFill>
                  <a:schemeClr val="tx1"/>
                </a:solidFill>
                <a:effectLst/>
                <a:latin typeface="Times New Roman" panose="02020603050405020304" pitchFamily="18" charset="0"/>
                <a:cs typeface="Times New Roman" panose="02020603050405020304" pitchFamily="18" charset="0"/>
              </a:rPr>
              <a:t>Evaluation and Interpretation</a:t>
            </a:r>
            <a:r>
              <a:rPr lang="en-US" sz="2000" b="0" i="0" dirty="0">
                <a:solidFill>
                  <a:schemeClr val="tx1"/>
                </a:solidFill>
                <a:effectLst/>
                <a:latin typeface="Times New Roman" panose="02020603050405020304" pitchFamily="18" charset="0"/>
                <a:cs typeface="Times New Roman" panose="02020603050405020304" pitchFamily="18" charset="0"/>
              </a:rPr>
              <a:t>: After patterns are identified, it's important to check how relevant and significant they are. The results are presented through visualizations or reports to help businesses understand the data and make informed decisions.</a:t>
            </a:r>
          </a:p>
          <a:p>
            <a:pPr algn="l" fontAlgn="base">
              <a:buFont typeface="+mj-lt"/>
              <a:buAutoNum type="arabicPeriod" startAt="6"/>
            </a:pPr>
            <a:r>
              <a:rPr lang="en-US" sz="2000" b="1" i="0" dirty="0">
                <a:solidFill>
                  <a:schemeClr val="tx1"/>
                </a:solidFill>
                <a:effectLst/>
                <a:latin typeface="Times New Roman" panose="02020603050405020304" pitchFamily="18" charset="0"/>
                <a:cs typeface="Times New Roman" panose="02020603050405020304" pitchFamily="18" charset="0"/>
              </a:rPr>
              <a:t>Data Presentation and Visualization</a:t>
            </a:r>
            <a:r>
              <a:rPr lang="en-US" sz="2000" b="0" i="0" dirty="0">
                <a:solidFill>
                  <a:schemeClr val="tx1"/>
                </a:solidFill>
                <a:effectLst/>
                <a:latin typeface="Times New Roman" panose="02020603050405020304" pitchFamily="18" charset="0"/>
                <a:cs typeface="Times New Roman" panose="02020603050405020304" pitchFamily="18" charset="0"/>
              </a:rPr>
              <a:t>: It is very important to share the findings clearly. Visualization tools such as graphs, charts, and dashboards are used to present the insights in an easily understandable format.</a:t>
            </a:r>
          </a:p>
          <a:p>
            <a:endParaRPr lang="en-US" sz="2000" b="0" i="0" dirty="0">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768009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10</a:t>
            </a:fld>
            <a:endParaRPr lang="en-US"/>
          </a:p>
        </p:txBody>
      </p:sp>
      <p:sp>
        <p:nvSpPr>
          <p:cNvPr id="8" name="Title 1"/>
          <p:cNvSpPr>
            <a:spLocks noGrp="1"/>
          </p:cNvSpPr>
          <p:nvPr>
            <p:ph type="title"/>
          </p:nvPr>
        </p:nvSpPr>
        <p:spPr>
          <a:xfrm>
            <a:off x="1553226" y="0"/>
            <a:ext cx="5461349" cy="1143000"/>
          </a:xfrm>
        </p:spPr>
        <p:txBody>
          <a:bodyPr/>
          <a:lstStyle/>
          <a:p>
            <a:pPr algn="ctr"/>
            <a:endParaRPr lang="en-US" sz="3600" dirty="0">
              <a:solidFill>
                <a:schemeClr val="bg1"/>
              </a:solidFill>
              <a:latin typeface="Times New Roman" panose="02020603050405020304" pitchFamily="18" charset="0"/>
              <a:cs typeface="Times New Roman" panose="02020603050405020304" pitchFamily="18" charset="0"/>
            </a:endParaRPr>
          </a:p>
        </p:txBody>
      </p:sp>
      <p:pic>
        <p:nvPicPr>
          <p:cNvPr id="3" name="Content Placeholder 2">
            <a:extLst>
              <a:ext uri="{FF2B5EF4-FFF2-40B4-BE49-F238E27FC236}">
                <a16:creationId xmlns:a16="http://schemas.microsoft.com/office/drawing/2014/main" id="{5EE82B6F-2968-4B3B-BBA9-380AA21C3158}"/>
              </a:ext>
            </a:extLst>
          </p:cNvPr>
          <p:cNvPicPr>
            <a:picLocks noGrp="1" noChangeAspect="1"/>
          </p:cNvPicPr>
          <p:nvPr>
            <p:ph idx="1"/>
          </p:nvPr>
        </p:nvPicPr>
        <p:blipFill>
          <a:blip r:embed="rId2"/>
          <a:stretch>
            <a:fillRect/>
          </a:stretch>
        </p:blipFill>
        <p:spPr>
          <a:xfrm>
            <a:off x="762000" y="1958181"/>
            <a:ext cx="7620000" cy="381000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11</a:t>
            </a:fld>
            <a:endParaRPr lang="en-US"/>
          </a:p>
        </p:txBody>
      </p:sp>
      <p:sp>
        <p:nvSpPr>
          <p:cNvPr id="8" name="Title 1"/>
          <p:cNvSpPr>
            <a:spLocks noGrp="1"/>
          </p:cNvSpPr>
          <p:nvPr>
            <p:ph type="title"/>
          </p:nvPr>
        </p:nvSpPr>
        <p:spPr>
          <a:xfrm>
            <a:off x="17780" y="3024505"/>
            <a:ext cx="9080500" cy="1143000"/>
          </a:xfrm>
        </p:spPr>
        <p:txBody>
          <a:bodyPr/>
          <a:lstStyle/>
          <a:p>
            <a:pPr algn="ctr"/>
            <a:r>
              <a:rPr lang="en-US" sz="4400" dirty="0">
                <a:solidFill>
                  <a:srgbClr val="C00000"/>
                </a:solidFill>
                <a:latin typeface="Times New Roman" panose="02020603050405020304" pitchFamily="18" charset="0"/>
                <a:cs typeface="Times New Roman" panose="02020603050405020304" pitchFamily="18" charset="0"/>
                <a:sym typeface="+mn-ea"/>
              </a:rPr>
              <a:t>Applications</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12</a:t>
            </a:fld>
            <a:endParaRPr lang="en-US"/>
          </a:p>
        </p:txBody>
      </p:sp>
      <p:sp>
        <p:nvSpPr>
          <p:cNvPr id="8" name="Title 1"/>
          <p:cNvSpPr>
            <a:spLocks noGrp="1"/>
          </p:cNvSpPr>
          <p:nvPr>
            <p:ph type="title"/>
          </p:nvPr>
        </p:nvSpPr>
        <p:spPr>
          <a:xfrm>
            <a:off x="1553226" y="0"/>
            <a:ext cx="5461349" cy="1143000"/>
          </a:xfrm>
        </p:spPr>
        <p:txBody>
          <a:bodyPr/>
          <a:lstStyle/>
          <a:p>
            <a:pPr algn="ctr"/>
            <a:r>
              <a:rPr lang="en-US" altLang="en-US" sz="3600" dirty="0">
                <a:solidFill>
                  <a:schemeClr val="bg1"/>
                </a:solidFill>
                <a:latin typeface="Times New Roman" panose="02020603050405020304" pitchFamily="18" charset="0"/>
                <a:cs typeface="Times New Roman" panose="02020603050405020304" pitchFamily="18" charset="0"/>
              </a:rPr>
              <a:t>Applications of Data Mining</a:t>
            </a:r>
          </a:p>
        </p:txBody>
      </p:sp>
      <p:sp>
        <p:nvSpPr>
          <p:cNvPr id="4" name="Content Placeholder 3"/>
          <p:cNvSpPr>
            <a:spLocks noGrp="1"/>
          </p:cNvSpPr>
          <p:nvPr>
            <p:ph idx="1"/>
          </p:nvPr>
        </p:nvSpPr>
        <p:spPr/>
        <p:txBody>
          <a:bodyPr/>
          <a:lstStyle/>
          <a:p>
            <a:r>
              <a:rPr lang="en-US" altLang="en-US" dirty="0">
                <a:solidFill>
                  <a:schemeClr val="tx1"/>
                </a:solidFill>
                <a:latin typeface="Times New Roman" panose="02020603050405020304" pitchFamily="18" charset="0"/>
                <a:cs typeface="Times New Roman" panose="02020603050405020304" pitchFamily="18" charset="0"/>
              </a:rPr>
              <a:t>Here are some key areas where data mining is commonly applied:</a:t>
            </a:r>
          </a:p>
          <a:p>
            <a:r>
              <a:rPr lang="en-US" altLang="en-US" b="1" dirty="0">
                <a:solidFill>
                  <a:srgbClr val="C00000"/>
                </a:solidFill>
                <a:latin typeface="Times New Roman" panose="02020603050405020304" pitchFamily="18" charset="0"/>
                <a:cs typeface="Times New Roman" panose="02020603050405020304" pitchFamily="18" charset="0"/>
              </a:rPr>
              <a:t>Fraud Detection</a:t>
            </a:r>
            <a:r>
              <a:rPr lang="en-US" altLang="en-US" dirty="0">
                <a:latin typeface="Times New Roman" panose="02020603050405020304" pitchFamily="18" charset="0"/>
                <a:cs typeface="Times New Roman" panose="02020603050405020304" pitchFamily="18" charset="0"/>
              </a:rPr>
              <a:t>: </a:t>
            </a:r>
            <a:r>
              <a:rPr lang="en-US" altLang="en-US" dirty="0">
                <a:solidFill>
                  <a:schemeClr val="tx1"/>
                </a:solidFill>
                <a:latin typeface="Times New Roman" panose="02020603050405020304" pitchFamily="18" charset="0"/>
                <a:cs typeface="Times New Roman" panose="02020603050405020304" pitchFamily="18" charset="0"/>
              </a:rPr>
              <a:t>Data mining plays an important role in detecting fraudulent activities in various industries. In banking, it helps identify suspicious credit card transactions by recognizing abnormal spending patterns. Similarly, in insurance, it helps spot fraudulent claims by analyzing historical data and identifying inconsistencies.</a:t>
            </a:r>
          </a:p>
          <a:p>
            <a:r>
              <a:rPr lang="en-US" altLang="en-US" b="1" dirty="0">
                <a:solidFill>
                  <a:srgbClr val="C00000"/>
                </a:solidFill>
                <a:latin typeface="Times New Roman" panose="02020603050405020304" pitchFamily="18" charset="0"/>
                <a:cs typeface="Times New Roman" panose="02020603050405020304" pitchFamily="18" charset="0"/>
              </a:rPr>
              <a:t>Anomaly Detection: </a:t>
            </a:r>
            <a:r>
              <a:rPr lang="en-US" altLang="en-US" dirty="0">
                <a:solidFill>
                  <a:schemeClr val="tx1"/>
                </a:solidFill>
                <a:latin typeface="Times New Roman" panose="02020603050405020304" pitchFamily="18" charset="0"/>
                <a:cs typeface="Times New Roman" panose="02020603050405020304" pitchFamily="18" charset="0"/>
              </a:rPr>
              <a:t>Anomaly detection identifies unusual patterns that differ from normal behavior. This application is particularly useful in security, where it can help detect cyberattacks, system intrusions, or unusual network traffic</a:t>
            </a:r>
            <a:r>
              <a:rPr lang="en-US" altLang="en-US" dirty="0">
                <a:latin typeface="Times New Roman" panose="02020603050405020304" pitchFamily="18" charset="0"/>
                <a:cs typeface="Times New Roman" panose="02020603050405020304" pitchFamily="18" charset="0"/>
              </a:rPr>
              <a: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37"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animEffect transition="in" filter="fade">
                                      <p:cBhvr>
                                        <p:cTn id="15" dur="1000"/>
                                        <p:tgtEl>
                                          <p:spTgt spid="4">
                                            <p:txEl>
                                              <p:pRg st="0" end="0"/>
                                            </p:txEl>
                                          </p:spTgt>
                                        </p:tgtEl>
                                      </p:cBhvr>
                                    </p:animEffect>
                                    <p:anim calcmode="lin" valueType="num">
                                      <p:cBhvr>
                                        <p:cTn id="16"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7" dur="900" decel="100000" fill="hold"/>
                                        <p:tgtEl>
                                          <p:spTgt spid="4">
                                            <p:txEl>
                                              <p:pRg st="0" end="0"/>
                                            </p:txEl>
                                          </p:spTgt>
                                        </p:tgtEl>
                                        <p:attrNameLst>
                                          <p:attrName>ppt_y</p:attrName>
                                        </p:attrNameLst>
                                      </p:cBhvr>
                                      <p:tavLst>
                                        <p:tav tm="0">
                                          <p:val>
                                            <p:strVal val="#ppt_y+1"/>
                                          </p:val>
                                        </p:tav>
                                        <p:tav tm="100000">
                                          <p:val>
                                            <p:strVal val="#ppt_y-.03"/>
                                          </p:val>
                                        </p:tav>
                                      </p:tavLst>
                                    </p:anim>
                                    <p:anim calcmode="lin" valueType="num">
                                      <p:cBhvr>
                                        <p:cTn id="18" dur="100" accel="100000" fill="hold">
                                          <p:stCondLst>
                                            <p:cond delay="900"/>
                                          </p:stCondLst>
                                        </p:cTn>
                                        <p:tgtEl>
                                          <p:spTgt spid="4">
                                            <p:txEl>
                                              <p:pRg st="0" end="0"/>
                                            </p:txEl>
                                          </p:spTgt>
                                        </p:tgtEl>
                                        <p:attrNameLst>
                                          <p:attrName>ppt_y</p:attrName>
                                        </p:attrNameLst>
                                      </p:cBhvr>
                                      <p:tavLst>
                                        <p:tav tm="0">
                                          <p:val>
                                            <p:strVal val="#ppt_y-.03"/>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7" presetClass="entr" presetSubtype="0" fill="hold" grpId="0" nodeType="click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animEffect transition="in" filter="fade">
                                      <p:cBhvr>
                                        <p:cTn id="23" dur="1000"/>
                                        <p:tgtEl>
                                          <p:spTgt spid="4">
                                            <p:txEl>
                                              <p:pRg st="1" end="1"/>
                                            </p:txEl>
                                          </p:spTgt>
                                        </p:tgtEl>
                                      </p:cBhvr>
                                    </p:animEffect>
                                    <p:anim calcmode="lin" valueType="num">
                                      <p:cBhvr>
                                        <p:cTn id="24"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25" dur="900" decel="100000" fill="hold"/>
                                        <p:tgtEl>
                                          <p:spTgt spid="4">
                                            <p:txEl>
                                              <p:pRg st="1" end="1"/>
                                            </p:txEl>
                                          </p:spTgt>
                                        </p:tgtEl>
                                        <p:attrNameLst>
                                          <p:attrName>ppt_y</p:attrName>
                                        </p:attrNameLst>
                                      </p:cBhvr>
                                      <p:tavLst>
                                        <p:tav tm="0">
                                          <p:val>
                                            <p:strVal val="#ppt_y+1"/>
                                          </p:val>
                                        </p:tav>
                                        <p:tav tm="100000">
                                          <p:val>
                                            <p:strVal val="#ppt_y-.03"/>
                                          </p:val>
                                        </p:tav>
                                      </p:tavLst>
                                    </p:anim>
                                    <p:anim calcmode="lin" valueType="num">
                                      <p:cBhvr>
                                        <p:cTn id="26" dur="100" accel="100000" fill="hold">
                                          <p:stCondLst>
                                            <p:cond delay="900"/>
                                          </p:stCondLst>
                                        </p:cTn>
                                        <p:tgtEl>
                                          <p:spTgt spid="4">
                                            <p:txEl>
                                              <p:pRg st="1" end="1"/>
                                            </p:txEl>
                                          </p:spTgt>
                                        </p:tgtEl>
                                        <p:attrNameLst>
                                          <p:attrName>ppt_y</p:attrName>
                                        </p:attrNameLst>
                                      </p:cBhvr>
                                      <p:tavLst>
                                        <p:tav tm="0">
                                          <p:val>
                                            <p:strVal val="#ppt_y-.03"/>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37" presetClass="entr" presetSubtype="0" fill="hold" grpId="0" nodeType="clickEffect">
                                  <p:stCondLst>
                                    <p:cond delay="0"/>
                                  </p:stCondLst>
                                  <p:childTnLst>
                                    <p:set>
                                      <p:cBhvr>
                                        <p:cTn id="30" dur="1" fill="hold">
                                          <p:stCondLst>
                                            <p:cond delay="0"/>
                                          </p:stCondLst>
                                        </p:cTn>
                                        <p:tgtEl>
                                          <p:spTgt spid="4">
                                            <p:txEl>
                                              <p:pRg st="2" end="2"/>
                                            </p:txEl>
                                          </p:spTgt>
                                        </p:tgtEl>
                                        <p:attrNameLst>
                                          <p:attrName>style.visibility</p:attrName>
                                        </p:attrNameLst>
                                      </p:cBhvr>
                                      <p:to>
                                        <p:strVal val="visible"/>
                                      </p:to>
                                    </p:set>
                                    <p:animEffect transition="in" filter="fade">
                                      <p:cBhvr>
                                        <p:cTn id="31" dur="1000"/>
                                        <p:tgtEl>
                                          <p:spTgt spid="4">
                                            <p:txEl>
                                              <p:pRg st="2" end="2"/>
                                            </p:txEl>
                                          </p:spTgt>
                                        </p:tgtEl>
                                      </p:cBhvr>
                                    </p:animEffect>
                                    <p:anim calcmode="lin" valueType="num">
                                      <p:cBhvr>
                                        <p:cTn id="3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33" dur="900" decel="100000" fill="hold"/>
                                        <p:tgtEl>
                                          <p:spTgt spid="4">
                                            <p:txEl>
                                              <p:pRg st="2" end="2"/>
                                            </p:txEl>
                                          </p:spTgt>
                                        </p:tgtEl>
                                        <p:attrNameLst>
                                          <p:attrName>ppt_y</p:attrName>
                                        </p:attrNameLst>
                                      </p:cBhvr>
                                      <p:tavLst>
                                        <p:tav tm="0">
                                          <p:val>
                                            <p:strVal val="#ppt_y+1"/>
                                          </p:val>
                                        </p:tav>
                                        <p:tav tm="100000">
                                          <p:val>
                                            <p:strVal val="#ppt_y-.03"/>
                                          </p:val>
                                        </p:tav>
                                      </p:tavLst>
                                    </p:anim>
                                    <p:anim calcmode="lin" valueType="num">
                                      <p:cBhvr>
                                        <p:cTn id="34" dur="100" accel="100000" fill="hold">
                                          <p:stCondLst>
                                            <p:cond delay="900"/>
                                          </p:stCondLst>
                                        </p:cTn>
                                        <p:tgtEl>
                                          <p:spTgt spid="4">
                                            <p:txEl>
                                              <p:pRg st="2" end="2"/>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P spid="4" grpId="0" build="p"/>
      <p:bldP spid="4" grpI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13</a:t>
            </a:fld>
            <a:endParaRPr lang="en-US"/>
          </a:p>
        </p:txBody>
      </p:sp>
      <p:sp>
        <p:nvSpPr>
          <p:cNvPr id="8" name="Title 1"/>
          <p:cNvSpPr>
            <a:spLocks noGrp="1"/>
          </p:cNvSpPr>
          <p:nvPr>
            <p:ph type="title"/>
          </p:nvPr>
        </p:nvSpPr>
        <p:spPr>
          <a:xfrm>
            <a:off x="1553226" y="0"/>
            <a:ext cx="5461349" cy="1143000"/>
          </a:xfrm>
        </p:spPr>
        <p:txBody>
          <a:bodyPr/>
          <a:lstStyle/>
          <a:p>
            <a:pPr algn="ctr"/>
            <a:r>
              <a:rPr lang="en-US" altLang="en-US" sz="3600" dirty="0">
                <a:solidFill>
                  <a:schemeClr val="bg1"/>
                </a:solidFill>
                <a:latin typeface="Times New Roman" panose="02020603050405020304" pitchFamily="18" charset="0"/>
                <a:cs typeface="Times New Roman" panose="02020603050405020304" pitchFamily="18" charset="0"/>
              </a:rPr>
              <a:t>Applications of Data Mining</a:t>
            </a:r>
          </a:p>
        </p:txBody>
      </p:sp>
      <p:sp>
        <p:nvSpPr>
          <p:cNvPr id="4" name="Content Placeholder 3"/>
          <p:cNvSpPr>
            <a:spLocks noGrp="1"/>
          </p:cNvSpPr>
          <p:nvPr>
            <p:ph idx="1"/>
          </p:nvPr>
        </p:nvSpPr>
        <p:spPr/>
        <p:txBody>
          <a:bodyPr/>
          <a:lstStyle/>
          <a:p>
            <a:r>
              <a:rPr lang="en-US" altLang="en-US" sz="2200" b="1" dirty="0">
                <a:solidFill>
                  <a:srgbClr val="C00000"/>
                </a:solidFill>
                <a:latin typeface="Times New Roman" panose="02020603050405020304" pitchFamily="18" charset="0"/>
                <a:cs typeface="Times New Roman" panose="02020603050405020304" pitchFamily="18" charset="0"/>
              </a:rPr>
              <a:t>Supply Chain Optimization: </a:t>
            </a:r>
            <a:r>
              <a:rPr lang="en-US" altLang="en-US" sz="2200" dirty="0">
                <a:solidFill>
                  <a:schemeClr val="tx1"/>
                </a:solidFill>
                <a:latin typeface="Times New Roman" panose="02020603050405020304" pitchFamily="18" charset="0"/>
                <a:cs typeface="Times New Roman" panose="02020603050405020304" pitchFamily="18" charset="0"/>
              </a:rPr>
              <a:t>It helps in improving how supply chains work by analyzing demand, production, and distribution patterns. It helps manage inventory, predict shortages, and optimize logistics, thereby cutting costs and improving delivery times.</a:t>
            </a:r>
          </a:p>
          <a:p>
            <a:r>
              <a:rPr lang="en-US" altLang="en-US" sz="2200" b="1" dirty="0">
                <a:solidFill>
                  <a:srgbClr val="C00000"/>
                </a:solidFill>
                <a:latin typeface="Times New Roman" panose="02020603050405020304" pitchFamily="18" charset="0"/>
                <a:cs typeface="Times New Roman" panose="02020603050405020304" pitchFamily="18" charset="0"/>
              </a:rPr>
              <a:t>Traffic Management: </a:t>
            </a:r>
            <a:r>
              <a:rPr lang="en-US" altLang="en-US" sz="2200" dirty="0">
                <a:solidFill>
                  <a:schemeClr val="tx1"/>
                </a:solidFill>
                <a:latin typeface="Times New Roman" panose="02020603050405020304" pitchFamily="18" charset="0"/>
                <a:cs typeface="Times New Roman" panose="02020603050405020304" pitchFamily="18" charset="0"/>
              </a:rPr>
              <a:t>Traffic systems use data mining to predict congestion, make traffic flow smoother, and reduce accidents. By looking at real-time traffic data, cities can make better decisions on things like infrastructure, traffic signals, and routes.</a:t>
            </a:r>
          </a:p>
          <a:p>
            <a:r>
              <a:rPr lang="en-US" altLang="en-US" sz="2200" b="1" dirty="0">
                <a:solidFill>
                  <a:srgbClr val="C00000"/>
                </a:solidFill>
                <a:latin typeface="Times New Roman" panose="02020603050405020304" pitchFamily="18" charset="0"/>
                <a:cs typeface="Times New Roman" panose="02020603050405020304" pitchFamily="18" charset="0"/>
              </a:rPr>
              <a:t>Financial Market Analysis: </a:t>
            </a:r>
            <a:r>
              <a:rPr lang="en-US" altLang="en-US" sz="2200" dirty="0">
                <a:solidFill>
                  <a:schemeClr val="tx1"/>
                </a:solidFill>
                <a:latin typeface="Times New Roman" panose="02020603050405020304" pitchFamily="18" charset="0"/>
                <a:cs typeface="Times New Roman" panose="02020603050405020304" pitchFamily="18" charset="0"/>
              </a:rPr>
              <a:t>In finance, data mining is used to analyze market trends, predict stock movements, and identify investment opportunities. It helps with portfolio management by evaluating the risk and return of different investments and spotting possible issues in the market.</a:t>
            </a:r>
          </a:p>
        </p:txBody>
      </p:sp>
    </p:spTree>
    <p:extLst>
      <p:ext uri="{BB962C8B-B14F-4D97-AF65-F5344CB8AC3E}">
        <p14:creationId xmlns:p14="http://schemas.microsoft.com/office/powerpoint/2010/main" val="206902395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37"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animEffect transition="in" filter="fade">
                                      <p:cBhvr>
                                        <p:cTn id="15" dur="1000"/>
                                        <p:tgtEl>
                                          <p:spTgt spid="4">
                                            <p:txEl>
                                              <p:pRg st="0" end="0"/>
                                            </p:txEl>
                                          </p:spTgt>
                                        </p:tgtEl>
                                      </p:cBhvr>
                                    </p:animEffect>
                                    <p:anim calcmode="lin" valueType="num">
                                      <p:cBhvr>
                                        <p:cTn id="16"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7" dur="900" decel="100000" fill="hold"/>
                                        <p:tgtEl>
                                          <p:spTgt spid="4">
                                            <p:txEl>
                                              <p:pRg st="0" end="0"/>
                                            </p:txEl>
                                          </p:spTgt>
                                        </p:tgtEl>
                                        <p:attrNameLst>
                                          <p:attrName>ppt_y</p:attrName>
                                        </p:attrNameLst>
                                      </p:cBhvr>
                                      <p:tavLst>
                                        <p:tav tm="0">
                                          <p:val>
                                            <p:strVal val="#ppt_y+1"/>
                                          </p:val>
                                        </p:tav>
                                        <p:tav tm="100000">
                                          <p:val>
                                            <p:strVal val="#ppt_y-.03"/>
                                          </p:val>
                                        </p:tav>
                                      </p:tavLst>
                                    </p:anim>
                                    <p:anim calcmode="lin" valueType="num">
                                      <p:cBhvr>
                                        <p:cTn id="18" dur="100" accel="100000" fill="hold">
                                          <p:stCondLst>
                                            <p:cond delay="900"/>
                                          </p:stCondLst>
                                        </p:cTn>
                                        <p:tgtEl>
                                          <p:spTgt spid="4">
                                            <p:txEl>
                                              <p:pRg st="0" end="0"/>
                                            </p:txEl>
                                          </p:spTgt>
                                        </p:tgtEl>
                                        <p:attrNameLst>
                                          <p:attrName>ppt_y</p:attrName>
                                        </p:attrNameLst>
                                      </p:cBhvr>
                                      <p:tavLst>
                                        <p:tav tm="0">
                                          <p:val>
                                            <p:strVal val="#ppt_y-.03"/>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7" presetClass="entr" presetSubtype="0" fill="hold" grpId="0" nodeType="click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animEffect transition="in" filter="fade">
                                      <p:cBhvr>
                                        <p:cTn id="23" dur="1000"/>
                                        <p:tgtEl>
                                          <p:spTgt spid="4">
                                            <p:txEl>
                                              <p:pRg st="1" end="1"/>
                                            </p:txEl>
                                          </p:spTgt>
                                        </p:tgtEl>
                                      </p:cBhvr>
                                    </p:animEffect>
                                    <p:anim calcmode="lin" valueType="num">
                                      <p:cBhvr>
                                        <p:cTn id="24"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25" dur="900" decel="100000" fill="hold"/>
                                        <p:tgtEl>
                                          <p:spTgt spid="4">
                                            <p:txEl>
                                              <p:pRg st="1" end="1"/>
                                            </p:txEl>
                                          </p:spTgt>
                                        </p:tgtEl>
                                        <p:attrNameLst>
                                          <p:attrName>ppt_y</p:attrName>
                                        </p:attrNameLst>
                                      </p:cBhvr>
                                      <p:tavLst>
                                        <p:tav tm="0">
                                          <p:val>
                                            <p:strVal val="#ppt_y+1"/>
                                          </p:val>
                                        </p:tav>
                                        <p:tav tm="100000">
                                          <p:val>
                                            <p:strVal val="#ppt_y-.03"/>
                                          </p:val>
                                        </p:tav>
                                      </p:tavLst>
                                    </p:anim>
                                    <p:anim calcmode="lin" valueType="num">
                                      <p:cBhvr>
                                        <p:cTn id="26" dur="100" accel="100000" fill="hold">
                                          <p:stCondLst>
                                            <p:cond delay="900"/>
                                          </p:stCondLst>
                                        </p:cTn>
                                        <p:tgtEl>
                                          <p:spTgt spid="4">
                                            <p:txEl>
                                              <p:pRg st="1" end="1"/>
                                            </p:txEl>
                                          </p:spTgt>
                                        </p:tgtEl>
                                        <p:attrNameLst>
                                          <p:attrName>ppt_y</p:attrName>
                                        </p:attrNameLst>
                                      </p:cBhvr>
                                      <p:tavLst>
                                        <p:tav tm="0">
                                          <p:val>
                                            <p:strVal val="#ppt_y-.03"/>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37" presetClass="entr" presetSubtype="0" fill="hold" grpId="0" nodeType="clickEffect">
                                  <p:stCondLst>
                                    <p:cond delay="0"/>
                                  </p:stCondLst>
                                  <p:childTnLst>
                                    <p:set>
                                      <p:cBhvr>
                                        <p:cTn id="30" dur="1" fill="hold">
                                          <p:stCondLst>
                                            <p:cond delay="0"/>
                                          </p:stCondLst>
                                        </p:cTn>
                                        <p:tgtEl>
                                          <p:spTgt spid="4">
                                            <p:txEl>
                                              <p:pRg st="2" end="2"/>
                                            </p:txEl>
                                          </p:spTgt>
                                        </p:tgtEl>
                                        <p:attrNameLst>
                                          <p:attrName>style.visibility</p:attrName>
                                        </p:attrNameLst>
                                      </p:cBhvr>
                                      <p:to>
                                        <p:strVal val="visible"/>
                                      </p:to>
                                    </p:set>
                                    <p:animEffect transition="in" filter="fade">
                                      <p:cBhvr>
                                        <p:cTn id="31" dur="1000"/>
                                        <p:tgtEl>
                                          <p:spTgt spid="4">
                                            <p:txEl>
                                              <p:pRg st="2" end="2"/>
                                            </p:txEl>
                                          </p:spTgt>
                                        </p:tgtEl>
                                      </p:cBhvr>
                                    </p:animEffect>
                                    <p:anim calcmode="lin" valueType="num">
                                      <p:cBhvr>
                                        <p:cTn id="3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33" dur="900" decel="100000" fill="hold"/>
                                        <p:tgtEl>
                                          <p:spTgt spid="4">
                                            <p:txEl>
                                              <p:pRg st="2" end="2"/>
                                            </p:txEl>
                                          </p:spTgt>
                                        </p:tgtEl>
                                        <p:attrNameLst>
                                          <p:attrName>ppt_y</p:attrName>
                                        </p:attrNameLst>
                                      </p:cBhvr>
                                      <p:tavLst>
                                        <p:tav tm="0">
                                          <p:val>
                                            <p:strVal val="#ppt_y+1"/>
                                          </p:val>
                                        </p:tav>
                                        <p:tav tm="100000">
                                          <p:val>
                                            <p:strVal val="#ppt_y-.03"/>
                                          </p:val>
                                        </p:tav>
                                      </p:tavLst>
                                    </p:anim>
                                    <p:anim calcmode="lin" valueType="num">
                                      <p:cBhvr>
                                        <p:cTn id="34" dur="100" accel="100000" fill="hold">
                                          <p:stCondLst>
                                            <p:cond delay="900"/>
                                          </p:stCondLst>
                                        </p:cTn>
                                        <p:tgtEl>
                                          <p:spTgt spid="4">
                                            <p:txEl>
                                              <p:pRg st="2" end="2"/>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P spid="4" grpId="0" build="p"/>
      <p:bldP spid="4" grpI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14</a:t>
            </a:fld>
            <a:endParaRPr lang="en-US"/>
          </a:p>
        </p:txBody>
      </p:sp>
      <p:sp>
        <p:nvSpPr>
          <p:cNvPr id="8" name="Title 1"/>
          <p:cNvSpPr>
            <a:spLocks noGrp="1"/>
          </p:cNvSpPr>
          <p:nvPr>
            <p:ph type="title"/>
          </p:nvPr>
        </p:nvSpPr>
        <p:spPr>
          <a:xfrm>
            <a:off x="1553226" y="0"/>
            <a:ext cx="5461349" cy="1143000"/>
          </a:xfrm>
        </p:spPr>
        <p:txBody>
          <a:bodyPr/>
          <a:lstStyle/>
          <a:p>
            <a:pPr algn="ctr"/>
            <a:endParaRPr lang="en-US" altLang="en-US" sz="3600" dirty="0">
              <a:solidFill>
                <a:schemeClr val="bg1"/>
              </a:solidFill>
              <a:latin typeface="Times New Roman" panose="02020603050405020304" pitchFamily="18" charset="0"/>
              <a:cs typeface="Times New Roman" panose="02020603050405020304" pitchFamily="18" charset="0"/>
            </a:endParaRPr>
          </a:p>
        </p:txBody>
      </p:sp>
      <p:pic>
        <p:nvPicPr>
          <p:cNvPr id="3" name="Content Placeholder 2">
            <a:extLst>
              <a:ext uri="{FF2B5EF4-FFF2-40B4-BE49-F238E27FC236}">
                <a16:creationId xmlns:a16="http://schemas.microsoft.com/office/drawing/2014/main" id="{74A92C1F-FE36-4B11-9C26-B61EA94D9F0B}"/>
              </a:ext>
            </a:extLst>
          </p:cNvPr>
          <p:cNvPicPr>
            <a:picLocks noGrp="1" noChangeAspect="1"/>
          </p:cNvPicPr>
          <p:nvPr>
            <p:ph idx="1"/>
          </p:nvPr>
        </p:nvPicPr>
        <p:blipFill>
          <a:blip r:embed="rId2"/>
          <a:stretch>
            <a:fillRect/>
          </a:stretch>
        </p:blipFill>
        <p:spPr>
          <a:xfrm>
            <a:off x="762000" y="1958181"/>
            <a:ext cx="7620000" cy="381000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15</a:t>
            </a:fld>
            <a:endParaRPr lang="en-US"/>
          </a:p>
        </p:txBody>
      </p:sp>
      <p:sp>
        <p:nvSpPr>
          <p:cNvPr id="8" name="Title 1"/>
          <p:cNvSpPr>
            <a:spLocks noGrp="1"/>
          </p:cNvSpPr>
          <p:nvPr>
            <p:ph type="title"/>
          </p:nvPr>
        </p:nvSpPr>
        <p:spPr>
          <a:xfrm>
            <a:off x="1553226" y="0"/>
            <a:ext cx="5461349" cy="1143000"/>
          </a:xfrm>
        </p:spPr>
        <p:txBody>
          <a:bodyPr/>
          <a:lstStyle/>
          <a:p>
            <a:pPr algn="ctr"/>
            <a:r>
              <a:rPr lang="en-US" altLang="en-US" sz="3600" dirty="0">
                <a:solidFill>
                  <a:schemeClr val="bg1"/>
                </a:solidFill>
                <a:latin typeface="Times New Roman" panose="02020603050405020304" pitchFamily="18" charset="0"/>
                <a:cs typeface="Times New Roman" panose="02020603050405020304" pitchFamily="18" charset="0"/>
              </a:rPr>
              <a:t>Applications of Data Mining</a:t>
            </a:r>
          </a:p>
        </p:txBody>
      </p:sp>
      <p:sp>
        <p:nvSpPr>
          <p:cNvPr id="4" name="Content Placeholder 3"/>
          <p:cNvSpPr>
            <a:spLocks noGrp="1"/>
          </p:cNvSpPr>
          <p:nvPr>
            <p:ph idx="1"/>
          </p:nvPr>
        </p:nvSpPr>
        <p:spPr/>
        <p:txBody>
          <a:bodyPr/>
          <a:lstStyle/>
          <a:p>
            <a:r>
              <a:rPr lang="en-US" altLang="en-US" b="1" dirty="0">
                <a:solidFill>
                  <a:srgbClr val="C00000"/>
                </a:solidFill>
                <a:latin typeface="Times New Roman" panose="02020603050405020304" pitchFamily="18" charset="0"/>
                <a:cs typeface="Times New Roman" panose="02020603050405020304" pitchFamily="18" charset="0"/>
              </a:rPr>
              <a:t>Business: </a:t>
            </a:r>
            <a:r>
              <a:rPr lang="en-US" altLang="en-US" dirty="0">
                <a:solidFill>
                  <a:schemeClr val="tx1"/>
                </a:solidFill>
                <a:latin typeface="Times New Roman" panose="02020603050405020304" pitchFamily="18" charset="0"/>
                <a:cs typeface="Times New Roman" panose="02020603050405020304" pitchFamily="18" charset="0"/>
              </a:rPr>
              <a:t>Customer profiling, churn prediction</a:t>
            </a:r>
          </a:p>
          <a:p>
            <a:r>
              <a:rPr lang="en-US" altLang="en-US" b="1" dirty="0">
                <a:solidFill>
                  <a:srgbClr val="C00000"/>
                </a:solidFill>
                <a:latin typeface="Times New Roman" panose="02020603050405020304" pitchFamily="18" charset="0"/>
                <a:cs typeface="Times New Roman" panose="02020603050405020304" pitchFamily="18" charset="0"/>
              </a:rPr>
              <a:t>Healthcare: </a:t>
            </a:r>
            <a:r>
              <a:rPr lang="en-US" altLang="en-US" dirty="0">
                <a:solidFill>
                  <a:schemeClr val="tx1"/>
                </a:solidFill>
                <a:latin typeface="Times New Roman" panose="02020603050405020304" pitchFamily="18" charset="0"/>
                <a:cs typeface="Times New Roman" panose="02020603050405020304" pitchFamily="18" charset="0"/>
              </a:rPr>
              <a:t>Disease prediction, patient analysis</a:t>
            </a:r>
          </a:p>
          <a:p>
            <a:r>
              <a:rPr lang="en-US" altLang="en-US" b="1" dirty="0">
                <a:solidFill>
                  <a:srgbClr val="C00000"/>
                </a:solidFill>
                <a:latin typeface="Times New Roman" panose="02020603050405020304" pitchFamily="18" charset="0"/>
                <a:cs typeface="Times New Roman" panose="02020603050405020304" pitchFamily="18" charset="0"/>
              </a:rPr>
              <a:t>Finance: </a:t>
            </a:r>
            <a:r>
              <a:rPr lang="en-US" altLang="en-US" dirty="0">
                <a:solidFill>
                  <a:schemeClr val="tx1"/>
                </a:solidFill>
                <a:latin typeface="Times New Roman" panose="02020603050405020304" pitchFamily="18" charset="0"/>
                <a:cs typeface="Times New Roman" panose="02020603050405020304" pitchFamily="18" charset="0"/>
              </a:rPr>
              <a:t>Credit scoring, fraud detection</a:t>
            </a:r>
          </a:p>
          <a:p>
            <a:r>
              <a:rPr lang="en-US" altLang="en-US" b="1" dirty="0">
                <a:solidFill>
                  <a:srgbClr val="C00000"/>
                </a:solidFill>
                <a:latin typeface="Times New Roman" panose="02020603050405020304" pitchFamily="18" charset="0"/>
                <a:cs typeface="Times New Roman" panose="02020603050405020304" pitchFamily="18" charset="0"/>
              </a:rPr>
              <a:t>Retail: </a:t>
            </a:r>
            <a:r>
              <a:rPr lang="en-US" altLang="en-US" dirty="0">
                <a:solidFill>
                  <a:schemeClr val="tx1"/>
                </a:solidFill>
                <a:latin typeface="Times New Roman" panose="02020603050405020304" pitchFamily="18" charset="0"/>
                <a:cs typeface="Times New Roman" panose="02020603050405020304" pitchFamily="18" charset="0"/>
              </a:rPr>
              <a:t>Market basket analysis</a:t>
            </a:r>
          </a:p>
          <a:p>
            <a:r>
              <a:rPr lang="en-US" altLang="en-US" b="1" dirty="0">
                <a:solidFill>
                  <a:srgbClr val="C00000"/>
                </a:solidFill>
                <a:latin typeface="Times New Roman" panose="02020603050405020304" pitchFamily="18" charset="0"/>
                <a:cs typeface="Times New Roman" panose="02020603050405020304" pitchFamily="18" charset="0"/>
              </a:rPr>
              <a:t>Education: </a:t>
            </a:r>
            <a:r>
              <a:rPr lang="en-US" altLang="en-US" dirty="0">
                <a:solidFill>
                  <a:schemeClr val="tx1"/>
                </a:solidFill>
                <a:latin typeface="Times New Roman" panose="02020603050405020304" pitchFamily="18" charset="0"/>
                <a:cs typeface="Times New Roman" panose="02020603050405020304" pitchFamily="18" charset="0"/>
              </a:rPr>
              <a:t>Student performance prediction</a:t>
            </a:r>
          </a:p>
          <a:p>
            <a:r>
              <a:rPr lang="en-US" altLang="en-US" b="1" dirty="0">
                <a:solidFill>
                  <a:srgbClr val="C00000"/>
                </a:solidFill>
                <a:latin typeface="Times New Roman" panose="02020603050405020304" pitchFamily="18" charset="0"/>
                <a:cs typeface="Times New Roman" panose="02020603050405020304" pitchFamily="18" charset="0"/>
              </a:rPr>
              <a:t>Cybersecurity: </a:t>
            </a:r>
            <a:r>
              <a:rPr lang="en-US" altLang="en-US" dirty="0">
                <a:solidFill>
                  <a:schemeClr val="tx1"/>
                </a:solidFill>
                <a:latin typeface="Times New Roman" panose="02020603050405020304" pitchFamily="18" charset="0"/>
                <a:cs typeface="Times New Roman" panose="02020603050405020304" pitchFamily="18" charset="0"/>
              </a:rPr>
              <a:t>Intrusion detection</a:t>
            </a:r>
          </a:p>
        </p:txBody>
      </p:sp>
    </p:spTree>
    <p:extLst>
      <p:ext uri="{BB962C8B-B14F-4D97-AF65-F5344CB8AC3E}">
        <p14:creationId xmlns:p14="http://schemas.microsoft.com/office/powerpoint/2010/main" val="184058901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37"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animEffect transition="in" filter="fade">
                                      <p:cBhvr>
                                        <p:cTn id="15" dur="1000"/>
                                        <p:tgtEl>
                                          <p:spTgt spid="4">
                                            <p:txEl>
                                              <p:pRg st="0" end="0"/>
                                            </p:txEl>
                                          </p:spTgt>
                                        </p:tgtEl>
                                      </p:cBhvr>
                                    </p:animEffect>
                                    <p:anim calcmode="lin" valueType="num">
                                      <p:cBhvr>
                                        <p:cTn id="16"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7" dur="900" decel="100000" fill="hold"/>
                                        <p:tgtEl>
                                          <p:spTgt spid="4">
                                            <p:txEl>
                                              <p:pRg st="0" end="0"/>
                                            </p:txEl>
                                          </p:spTgt>
                                        </p:tgtEl>
                                        <p:attrNameLst>
                                          <p:attrName>ppt_y</p:attrName>
                                        </p:attrNameLst>
                                      </p:cBhvr>
                                      <p:tavLst>
                                        <p:tav tm="0">
                                          <p:val>
                                            <p:strVal val="#ppt_y+1"/>
                                          </p:val>
                                        </p:tav>
                                        <p:tav tm="100000">
                                          <p:val>
                                            <p:strVal val="#ppt_y-.03"/>
                                          </p:val>
                                        </p:tav>
                                      </p:tavLst>
                                    </p:anim>
                                    <p:anim calcmode="lin" valueType="num">
                                      <p:cBhvr>
                                        <p:cTn id="18" dur="100" accel="100000" fill="hold">
                                          <p:stCondLst>
                                            <p:cond delay="900"/>
                                          </p:stCondLst>
                                        </p:cTn>
                                        <p:tgtEl>
                                          <p:spTgt spid="4">
                                            <p:txEl>
                                              <p:pRg st="0" end="0"/>
                                            </p:txEl>
                                          </p:spTgt>
                                        </p:tgtEl>
                                        <p:attrNameLst>
                                          <p:attrName>ppt_y</p:attrName>
                                        </p:attrNameLst>
                                      </p:cBhvr>
                                      <p:tavLst>
                                        <p:tav tm="0">
                                          <p:val>
                                            <p:strVal val="#ppt_y-.03"/>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7" presetClass="entr" presetSubtype="0" fill="hold" grpId="0" nodeType="click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animEffect transition="in" filter="fade">
                                      <p:cBhvr>
                                        <p:cTn id="23" dur="1000"/>
                                        <p:tgtEl>
                                          <p:spTgt spid="4">
                                            <p:txEl>
                                              <p:pRg st="1" end="1"/>
                                            </p:txEl>
                                          </p:spTgt>
                                        </p:tgtEl>
                                      </p:cBhvr>
                                    </p:animEffect>
                                    <p:anim calcmode="lin" valueType="num">
                                      <p:cBhvr>
                                        <p:cTn id="24"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25" dur="900" decel="100000" fill="hold"/>
                                        <p:tgtEl>
                                          <p:spTgt spid="4">
                                            <p:txEl>
                                              <p:pRg st="1" end="1"/>
                                            </p:txEl>
                                          </p:spTgt>
                                        </p:tgtEl>
                                        <p:attrNameLst>
                                          <p:attrName>ppt_y</p:attrName>
                                        </p:attrNameLst>
                                      </p:cBhvr>
                                      <p:tavLst>
                                        <p:tav tm="0">
                                          <p:val>
                                            <p:strVal val="#ppt_y+1"/>
                                          </p:val>
                                        </p:tav>
                                        <p:tav tm="100000">
                                          <p:val>
                                            <p:strVal val="#ppt_y-.03"/>
                                          </p:val>
                                        </p:tav>
                                      </p:tavLst>
                                    </p:anim>
                                    <p:anim calcmode="lin" valueType="num">
                                      <p:cBhvr>
                                        <p:cTn id="26" dur="100" accel="100000" fill="hold">
                                          <p:stCondLst>
                                            <p:cond delay="900"/>
                                          </p:stCondLst>
                                        </p:cTn>
                                        <p:tgtEl>
                                          <p:spTgt spid="4">
                                            <p:txEl>
                                              <p:pRg st="1" end="1"/>
                                            </p:txEl>
                                          </p:spTgt>
                                        </p:tgtEl>
                                        <p:attrNameLst>
                                          <p:attrName>ppt_y</p:attrName>
                                        </p:attrNameLst>
                                      </p:cBhvr>
                                      <p:tavLst>
                                        <p:tav tm="0">
                                          <p:val>
                                            <p:strVal val="#ppt_y-.03"/>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37" presetClass="entr" presetSubtype="0" fill="hold" grpId="0" nodeType="clickEffect">
                                  <p:stCondLst>
                                    <p:cond delay="0"/>
                                  </p:stCondLst>
                                  <p:childTnLst>
                                    <p:set>
                                      <p:cBhvr>
                                        <p:cTn id="30" dur="1" fill="hold">
                                          <p:stCondLst>
                                            <p:cond delay="0"/>
                                          </p:stCondLst>
                                        </p:cTn>
                                        <p:tgtEl>
                                          <p:spTgt spid="4">
                                            <p:txEl>
                                              <p:pRg st="2" end="2"/>
                                            </p:txEl>
                                          </p:spTgt>
                                        </p:tgtEl>
                                        <p:attrNameLst>
                                          <p:attrName>style.visibility</p:attrName>
                                        </p:attrNameLst>
                                      </p:cBhvr>
                                      <p:to>
                                        <p:strVal val="visible"/>
                                      </p:to>
                                    </p:set>
                                    <p:animEffect transition="in" filter="fade">
                                      <p:cBhvr>
                                        <p:cTn id="31" dur="1000"/>
                                        <p:tgtEl>
                                          <p:spTgt spid="4">
                                            <p:txEl>
                                              <p:pRg st="2" end="2"/>
                                            </p:txEl>
                                          </p:spTgt>
                                        </p:tgtEl>
                                      </p:cBhvr>
                                    </p:animEffect>
                                    <p:anim calcmode="lin" valueType="num">
                                      <p:cBhvr>
                                        <p:cTn id="3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33" dur="900" decel="100000" fill="hold"/>
                                        <p:tgtEl>
                                          <p:spTgt spid="4">
                                            <p:txEl>
                                              <p:pRg st="2" end="2"/>
                                            </p:txEl>
                                          </p:spTgt>
                                        </p:tgtEl>
                                        <p:attrNameLst>
                                          <p:attrName>ppt_y</p:attrName>
                                        </p:attrNameLst>
                                      </p:cBhvr>
                                      <p:tavLst>
                                        <p:tav tm="0">
                                          <p:val>
                                            <p:strVal val="#ppt_y+1"/>
                                          </p:val>
                                        </p:tav>
                                        <p:tav tm="100000">
                                          <p:val>
                                            <p:strVal val="#ppt_y-.03"/>
                                          </p:val>
                                        </p:tav>
                                      </p:tavLst>
                                    </p:anim>
                                    <p:anim calcmode="lin" valueType="num">
                                      <p:cBhvr>
                                        <p:cTn id="34" dur="100" accel="100000" fill="hold">
                                          <p:stCondLst>
                                            <p:cond delay="900"/>
                                          </p:stCondLst>
                                        </p:cTn>
                                        <p:tgtEl>
                                          <p:spTgt spid="4">
                                            <p:txEl>
                                              <p:pRg st="2" end="2"/>
                                            </p:txEl>
                                          </p:spTgt>
                                        </p:tgtEl>
                                        <p:attrNameLst>
                                          <p:attrName>ppt_y</p:attrName>
                                        </p:attrNameLst>
                                      </p:cBhvr>
                                      <p:tavLst>
                                        <p:tav tm="0">
                                          <p:val>
                                            <p:strVal val="#ppt_y-.03"/>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37" presetClass="entr" presetSubtype="0" fill="hold" grpId="0" nodeType="clickEffect">
                                  <p:stCondLst>
                                    <p:cond delay="0"/>
                                  </p:stCondLst>
                                  <p:childTnLst>
                                    <p:set>
                                      <p:cBhvr>
                                        <p:cTn id="38" dur="1" fill="hold">
                                          <p:stCondLst>
                                            <p:cond delay="0"/>
                                          </p:stCondLst>
                                        </p:cTn>
                                        <p:tgtEl>
                                          <p:spTgt spid="4">
                                            <p:txEl>
                                              <p:pRg st="3" end="3"/>
                                            </p:txEl>
                                          </p:spTgt>
                                        </p:tgtEl>
                                        <p:attrNameLst>
                                          <p:attrName>style.visibility</p:attrName>
                                        </p:attrNameLst>
                                      </p:cBhvr>
                                      <p:to>
                                        <p:strVal val="visible"/>
                                      </p:to>
                                    </p:set>
                                    <p:animEffect transition="in" filter="fade">
                                      <p:cBhvr>
                                        <p:cTn id="39" dur="1000"/>
                                        <p:tgtEl>
                                          <p:spTgt spid="4">
                                            <p:txEl>
                                              <p:pRg st="3" end="3"/>
                                            </p:txEl>
                                          </p:spTgt>
                                        </p:tgtEl>
                                      </p:cBhvr>
                                    </p:animEffect>
                                    <p:anim calcmode="lin" valueType="num">
                                      <p:cBhvr>
                                        <p:cTn id="40"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41" dur="900" decel="100000" fill="hold"/>
                                        <p:tgtEl>
                                          <p:spTgt spid="4">
                                            <p:txEl>
                                              <p:pRg st="3" end="3"/>
                                            </p:txEl>
                                          </p:spTgt>
                                        </p:tgtEl>
                                        <p:attrNameLst>
                                          <p:attrName>ppt_y</p:attrName>
                                        </p:attrNameLst>
                                      </p:cBhvr>
                                      <p:tavLst>
                                        <p:tav tm="0">
                                          <p:val>
                                            <p:strVal val="#ppt_y+1"/>
                                          </p:val>
                                        </p:tav>
                                        <p:tav tm="100000">
                                          <p:val>
                                            <p:strVal val="#ppt_y-.03"/>
                                          </p:val>
                                        </p:tav>
                                      </p:tavLst>
                                    </p:anim>
                                    <p:anim calcmode="lin" valueType="num">
                                      <p:cBhvr>
                                        <p:cTn id="42" dur="100" accel="100000" fill="hold">
                                          <p:stCondLst>
                                            <p:cond delay="900"/>
                                          </p:stCondLst>
                                        </p:cTn>
                                        <p:tgtEl>
                                          <p:spTgt spid="4">
                                            <p:txEl>
                                              <p:pRg st="3" end="3"/>
                                            </p:txEl>
                                          </p:spTgt>
                                        </p:tgtEl>
                                        <p:attrNameLst>
                                          <p:attrName>ppt_y</p:attrName>
                                        </p:attrNameLst>
                                      </p:cBhvr>
                                      <p:tavLst>
                                        <p:tav tm="0">
                                          <p:val>
                                            <p:strVal val="#ppt_y-.03"/>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37" presetClass="entr" presetSubtype="0" fill="hold" grpId="0" nodeType="clickEffect">
                                  <p:stCondLst>
                                    <p:cond delay="0"/>
                                  </p:stCondLst>
                                  <p:childTnLst>
                                    <p:set>
                                      <p:cBhvr>
                                        <p:cTn id="46" dur="1" fill="hold">
                                          <p:stCondLst>
                                            <p:cond delay="0"/>
                                          </p:stCondLst>
                                        </p:cTn>
                                        <p:tgtEl>
                                          <p:spTgt spid="4">
                                            <p:txEl>
                                              <p:pRg st="4" end="4"/>
                                            </p:txEl>
                                          </p:spTgt>
                                        </p:tgtEl>
                                        <p:attrNameLst>
                                          <p:attrName>style.visibility</p:attrName>
                                        </p:attrNameLst>
                                      </p:cBhvr>
                                      <p:to>
                                        <p:strVal val="visible"/>
                                      </p:to>
                                    </p:set>
                                    <p:animEffect transition="in" filter="fade">
                                      <p:cBhvr>
                                        <p:cTn id="47" dur="1000"/>
                                        <p:tgtEl>
                                          <p:spTgt spid="4">
                                            <p:txEl>
                                              <p:pRg st="4" end="4"/>
                                            </p:txEl>
                                          </p:spTgt>
                                        </p:tgtEl>
                                      </p:cBhvr>
                                    </p:animEffect>
                                    <p:anim calcmode="lin" valueType="num">
                                      <p:cBhvr>
                                        <p:cTn id="48"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49" dur="900" decel="100000" fill="hold"/>
                                        <p:tgtEl>
                                          <p:spTgt spid="4">
                                            <p:txEl>
                                              <p:pRg st="4" end="4"/>
                                            </p:txEl>
                                          </p:spTgt>
                                        </p:tgtEl>
                                        <p:attrNameLst>
                                          <p:attrName>ppt_y</p:attrName>
                                        </p:attrNameLst>
                                      </p:cBhvr>
                                      <p:tavLst>
                                        <p:tav tm="0">
                                          <p:val>
                                            <p:strVal val="#ppt_y+1"/>
                                          </p:val>
                                        </p:tav>
                                        <p:tav tm="100000">
                                          <p:val>
                                            <p:strVal val="#ppt_y-.03"/>
                                          </p:val>
                                        </p:tav>
                                      </p:tavLst>
                                    </p:anim>
                                    <p:anim calcmode="lin" valueType="num">
                                      <p:cBhvr>
                                        <p:cTn id="50" dur="100" accel="100000" fill="hold">
                                          <p:stCondLst>
                                            <p:cond delay="900"/>
                                          </p:stCondLst>
                                        </p:cTn>
                                        <p:tgtEl>
                                          <p:spTgt spid="4">
                                            <p:txEl>
                                              <p:pRg st="4" end="4"/>
                                            </p:txEl>
                                          </p:spTgt>
                                        </p:tgtEl>
                                        <p:attrNameLst>
                                          <p:attrName>ppt_y</p:attrName>
                                        </p:attrNameLst>
                                      </p:cBhvr>
                                      <p:tavLst>
                                        <p:tav tm="0">
                                          <p:val>
                                            <p:strVal val="#ppt_y-.03"/>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37" presetClass="entr" presetSubtype="0" fill="hold" grpId="0" nodeType="clickEffect">
                                  <p:stCondLst>
                                    <p:cond delay="0"/>
                                  </p:stCondLst>
                                  <p:childTnLst>
                                    <p:set>
                                      <p:cBhvr>
                                        <p:cTn id="54" dur="1" fill="hold">
                                          <p:stCondLst>
                                            <p:cond delay="0"/>
                                          </p:stCondLst>
                                        </p:cTn>
                                        <p:tgtEl>
                                          <p:spTgt spid="4">
                                            <p:txEl>
                                              <p:pRg st="5" end="5"/>
                                            </p:txEl>
                                          </p:spTgt>
                                        </p:tgtEl>
                                        <p:attrNameLst>
                                          <p:attrName>style.visibility</p:attrName>
                                        </p:attrNameLst>
                                      </p:cBhvr>
                                      <p:to>
                                        <p:strVal val="visible"/>
                                      </p:to>
                                    </p:set>
                                    <p:animEffect transition="in" filter="fade">
                                      <p:cBhvr>
                                        <p:cTn id="55" dur="1000"/>
                                        <p:tgtEl>
                                          <p:spTgt spid="4">
                                            <p:txEl>
                                              <p:pRg st="5" end="5"/>
                                            </p:txEl>
                                          </p:spTgt>
                                        </p:tgtEl>
                                      </p:cBhvr>
                                    </p:animEffect>
                                    <p:anim calcmode="lin" valueType="num">
                                      <p:cBhvr>
                                        <p:cTn id="56"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57" dur="900" decel="100000" fill="hold"/>
                                        <p:tgtEl>
                                          <p:spTgt spid="4">
                                            <p:txEl>
                                              <p:pRg st="5" end="5"/>
                                            </p:txEl>
                                          </p:spTgt>
                                        </p:tgtEl>
                                        <p:attrNameLst>
                                          <p:attrName>ppt_y</p:attrName>
                                        </p:attrNameLst>
                                      </p:cBhvr>
                                      <p:tavLst>
                                        <p:tav tm="0">
                                          <p:val>
                                            <p:strVal val="#ppt_y+1"/>
                                          </p:val>
                                        </p:tav>
                                        <p:tav tm="100000">
                                          <p:val>
                                            <p:strVal val="#ppt_y-.03"/>
                                          </p:val>
                                        </p:tav>
                                      </p:tavLst>
                                    </p:anim>
                                    <p:anim calcmode="lin" valueType="num">
                                      <p:cBhvr>
                                        <p:cTn id="58" dur="100" accel="100000" fill="hold">
                                          <p:stCondLst>
                                            <p:cond delay="900"/>
                                          </p:stCondLst>
                                        </p:cTn>
                                        <p:tgtEl>
                                          <p:spTgt spid="4">
                                            <p:txEl>
                                              <p:pRg st="5" end="5"/>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P spid="4" grpId="0" build="p"/>
      <p:bldP spid="4" grpI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16</a:t>
            </a:fld>
            <a:endParaRPr lang="en-US"/>
          </a:p>
        </p:txBody>
      </p:sp>
      <p:sp>
        <p:nvSpPr>
          <p:cNvPr id="8" name="Title 1"/>
          <p:cNvSpPr>
            <a:spLocks noGrp="1"/>
          </p:cNvSpPr>
          <p:nvPr>
            <p:ph type="title"/>
          </p:nvPr>
        </p:nvSpPr>
        <p:spPr>
          <a:xfrm>
            <a:off x="1553226" y="0"/>
            <a:ext cx="5461349" cy="1143000"/>
          </a:xfrm>
        </p:spPr>
        <p:txBody>
          <a:bodyPr/>
          <a:lstStyle/>
          <a:p>
            <a:pPr algn="ctr"/>
            <a:r>
              <a:rPr lang="en-US" altLang="en-US" sz="3600" dirty="0">
                <a:solidFill>
                  <a:schemeClr val="bg1"/>
                </a:solidFill>
                <a:latin typeface="Times New Roman" panose="02020603050405020304" pitchFamily="18" charset="0"/>
                <a:cs typeface="Times New Roman" panose="02020603050405020304" pitchFamily="18" charset="0"/>
              </a:rPr>
              <a:t>Advantages of Data Mining</a:t>
            </a:r>
          </a:p>
        </p:txBody>
      </p:sp>
      <p:sp>
        <p:nvSpPr>
          <p:cNvPr id="4" name="Content Placeholder 3"/>
          <p:cNvSpPr>
            <a:spLocks noGrp="1"/>
          </p:cNvSpPr>
          <p:nvPr>
            <p:ph idx="1"/>
          </p:nvPr>
        </p:nvSpPr>
        <p:spPr/>
        <p:txBody>
          <a:bodyPr/>
          <a:lstStyle/>
          <a:p>
            <a:r>
              <a:rPr lang="en-US" altLang="en-US" dirty="0">
                <a:solidFill>
                  <a:schemeClr val="tx1"/>
                </a:solidFill>
                <a:latin typeface="Times New Roman" panose="02020603050405020304" pitchFamily="18" charset="0"/>
                <a:cs typeface="Times New Roman" panose="02020603050405020304" pitchFamily="18" charset="0"/>
              </a:rPr>
              <a:t> The data mining process has many benefits including,</a:t>
            </a:r>
          </a:p>
          <a:p>
            <a:endParaRPr lang="en-US" altLang="en-US" dirty="0">
              <a:latin typeface="Times New Roman" panose="02020603050405020304" pitchFamily="18" charset="0"/>
              <a:cs typeface="Times New Roman" panose="02020603050405020304" pitchFamily="18" charset="0"/>
            </a:endParaRPr>
          </a:p>
          <a:p>
            <a:r>
              <a:rPr lang="en-US" altLang="en-US" b="1" dirty="0">
                <a:solidFill>
                  <a:srgbClr val="C00000"/>
                </a:solidFill>
                <a:latin typeface="Times New Roman" panose="02020603050405020304" pitchFamily="18" charset="0"/>
                <a:cs typeface="Times New Roman" panose="02020603050405020304" pitchFamily="18" charset="0"/>
              </a:rPr>
              <a:t>Operational Efficiency and Automation: </a:t>
            </a:r>
            <a:r>
              <a:rPr lang="en-US" altLang="en-US" dirty="0">
                <a:solidFill>
                  <a:schemeClr val="tx1"/>
                </a:solidFill>
                <a:latin typeface="Times New Roman" panose="02020603050405020304" pitchFamily="18" charset="0"/>
                <a:cs typeface="Times New Roman" panose="02020603050405020304" pitchFamily="18" charset="0"/>
              </a:rPr>
              <a:t>It helps to automate repetitive tasks like cleaning data, spotting unusual patterns, and generating reports. This saves time and resources, allowing teams to focus on more important work, which leads to increased productivity.</a:t>
            </a:r>
          </a:p>
          <a:p>
            <a:r>
              <a:rPr lang="en-US" altLang="en-US" b="1" dirty="0">
                <a:solidFill>
                  <a:srgbClr val="C00000"/>
                </a:solidFill>
                <a:latin typeface="Times New Roman" panose="02020603050405020304" pitchFamily="18" charset="0"/>
                <a:cs typeface="Times New Roman" panose="02020603050405020304" pitchFamily="18" charset="0"/>
              </a:rPr>
              <a:t>Fraud Detection and Anomaly Identification: </a:t>
            </a:r>
            <a:r>
              <a:rPr lang="en-US" altLang="en-US" dirty="0">
                <a:solidFill>
                  <a:schemeClr val="tx1"/>
                </a:solidFill>
                <a:latin typeface="Times New Roman" panose="02020603050405020304" pitchFamily="18" charset="0"/>
                <a:cs typeface="Times New Roman" panose="02020603050405020304" pitchFamily="18" charset="0"/>
              </a:rPr>
              <a:t>It detects fraudulent behavior by identifying unusual patterns in financial transactions, insurance claims, and digital activity. This enhances security and reduces financial losses.</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37"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animEffect transition="in" filter="fade">
                                      <p:cBhvr>
                                        <p:cTn id="15" dur="1000"/>
                                        <p:tgtEl>
                                          <p:spTgt spid="4">
                                            <p:txEl>
                                              <p:pRg st="0" end="0"/>
                                            </p:txEl>
                                          </p:spTgt>
                                        </p:tgtEl>
                                      </p:cBhvr>
                                    </p:animEffect>
                                    <p:anim calcmode="lin" valueType="num">
                                      <p:cBhvr>
                                        <p:cTn id="16"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7" dur="900" decel="100000" fill="hold"/>
                                        <p:tgtEl>
                                          <p:spTgt spid="4">
                                            <p:txEl>
                                              <p:pRg st="0" end="0"/>
                                            </p:txEl>
                                          </p:spTgt>
                                        </p:tgtEl>
                                        <p:attrNameLst>
                                          <p:attrName>ppt_y</p:attrName>
                                        </p:attrNameLst>
                                      </p:cBhvr>
                                      <p:tavLst>
                                        <p:tav tm="0">
                                          <p:val>
                                            <p:strVal val="#ppt_y+1"/>
                                          </p:val>
                                        </p:tav>
                                        <p:tav tm="100000">
                                          <p:val>
                                            <p:strVal val="#ppt_y-.03"/>
                                          </p:val>
                                        </p:tav>
                                      </p:tavLst>
                                    </p:anim>
                                    <p:anim calcmode="lin" valueType="num">
                                      <p:cBhvr>
                                        <p:cTn id="18" dur="100" accel="100000" fill="hold">
                                          <p:stCondLst>
                                            <p:cond delay="900"/>
                                          </p:stCondLst>
                                        </p:cTn>
                                        <p:tgtEl>
                                          <p:spTgt spid="4">
                                            <p:txEl>
                                              <p:pRg st="0" end="0"/>
                                            </p:txEl>
                                          </p:spTgt>
                                        </p:tgtEl>
                                        <p:attrNameLst>
                                          <p:attrName>ppt_y</p:attrName>
                                        </p:attrNameLst>
                                      </p:cBhvr>
                                      <p:tavLst>
                                        <p:tav tm="0">
                                          <p:val>
                                            <p:strVal val="#ppt_y-.03"/>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7" presetClass="entr" presetSubtype="0" fill="hold" grpId="0"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animEffect transition="in" filter="fade">
                                      <p:cBhvr>
                                        <p:cTn id="23" dur="1000"/>
                                        <p:tgtEl>
                                          <p:spTgt spid="4">
                                            <p:txEl>
                                              <p:pRg st="2" end="2"/>
                                            </p:txEl>
                                          </p:spTgt>
                                        </p:tgtEl>
                                      </p:cBhvr>
                                    </p:animEffect>
                                    <p:anim calcmode="lin" valueType="num">
                                      <p:cBhvr>
                                        <p:cTn id="24"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5" dur="900" decel="100000" fill="hold"/>
                                        <p:tgtEl>
                                          <p:spTgt spid="4">
                                            <p:txEl>
                                              <p:pRg st="2" end="2"/>
                                            </p:txEl>
                                          </p:spTgt>
                                        </p:tgtEl>
                                        <p:attrNameLst>
                                          <p:attrName>ppt_y</p:attrName>
                                        </p:attrNameLst>
                                      </p:cBhvr>
                                      <p:tavLst>
                                        <p:tav tm="0">
                                          <p:val>
                                            <p:strVal val="#ppt_y+1"/>
                                          </p:val>
                                        </p:tav>
                                        <p:tav tm="100000">
                                          <p:val>
                                            <p:strVal val="#ppt_y-.03"/>
                                          </p:val>
                                        </p:tav>
                                      </p:tavLst>
                                    </p:anim>
                                    <p:anim calcmode="lin" valueType="num">
                                      <p:cBhvr>
                                        <p:cTn id="26" dur="100" accel="100000" fill="hold">
                                          <p:stCondLst>
                                            <p:cond delay="900"/>
                                          </p:stCondLst>
                                        </p:cTn>
                                        <p:tgtEl>
                                          <p:spTgt spid="4">
                                            <p:txEl>
                                              <p:pRg st="2" end="2"/>
                                            </p:txEl>
                                          </p:spTgt>
                                        </p:tgtEl>
                                        <p:attrNameLst>
                                          <p:attrName>ppt_y</p:attrName>
                                        </p:attrNameLst>
                                      </p:cBhvr>
                                      <p:tavLst>
                                        <p:tav tm="0">
                                          <p:val>
                                            <p:strVal val="#ppt_y-.03"/>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37" presetClass="entr" presetSubtype="0" fill="hold" grpId="0" nodeType="clickEffect">
                                  <p:stCondLst>
                                    <p:cond delay="0"/>
                                  </p:stCondLst>
                                  <p:childTnLst>
                                    <p:set>
                                      <p:cBhvr>
                                        <p:cTn id="30" dur="1" fill="hold">
                                          <p:stCondLst>
                                            <p:cond delay="0"/>
                                          </p:stCondLst>
                                        </p:cTn>
                                        <p:tgtEl>
                                          <p:spTgt spid="4">
                                            <p:txEl>
                                              <p:pRg st="3" end="3"/>
                                            </p:txEl>
                                          </p:spTgt>
                                        </p:tgtEl>
                                        <p:attrNameLst>
                                          <p:attrName>style.visibility</p:attrName>
                                        </p:attrNameLst>
                                      </p:cBhvr>
                                      <p:to>
                                        <p:strVal val="visible"/>
                                      </p:to>
                                    </p:set>
                                    <p:animEffect transition="in" filter="fade">
                                      <p:cBhvr>
                                        <p:cTn id="31" dur="1000"/>
                                        <p:tgtEl>
                                          <p:spTgt spid="4">
                                            <p:txEl>
                                              <p:pRg st="3" end="3"/>
                                            </p:txEl>
                                          </p:spTgt>
                                        </p:tgtEl>
                                      </p:cBhvr>
                                    </p:animEffect>
                                    <p:anim calcmode="lin" valueType="num">
                                      <p:cBhvr>
                                        <p:cTn id="32"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3" dur="900" decel="100000" fill="hold"/>
                                        <p:tgtEl>
                                          <p:spTgt spid="4">
                                            <p:txEl>
                                              <p:pRg st="3" end="3"/>
                                            </p:txEl>
                                          </p:spTgt>
                                        </p:tgtEl>
                                        <p:attrNameLst>
                                          <p:attrName>ppt_y</p:attrName>
                                        </p:attrNameLst>
                                      </p:cBhvr>
                                      <p:tavLst>
                                        <p:tav tm="0">
                                          <p:val>
                                            <p:strVal val="#ppt_y+1"/>
                                          </p:val>
                                        </p:tav>
                                        <p:tav tm="100000">
                                          <p:val>
                                            <p:strVal val="#ppt_y-.03"/>
                                          </p:val>
                                        </p:tav>
                                      </p:tavLst>
                                    </p:anim>
                                    <p:anim calcmode="lin" valueType="num">
                                      <p:cBhvr>
                                        <p:cTn id="34" dur="100" accel="100000" fill="hold">
                                          <p:stCondLst>
                                            <p:cond delay="900"/>
                                          </p:stCondLst>
                                        </p:cTn>
                                        <p:tgtEl>
                                          <p:spTgt spid="4">
                                            <p:txEl>
                                              <p:pRg st="3" end="3"/>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P spid="4" grpId="0" build="p"/>
      <p:bldP spid="4" grpI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17</a:t>
            </a:fld>
            <a:endParaRPr lang="en-US"/>
          </a:p>
        </p:txBody>
      </p:sp>
      <p:sp>
        <p:nvSpPr>
          <p:cNvPr id="8" name="Title 1"/>
          <p:cNvSpPr>
            <a:spLocks noGrp="1"/>
          </p:cNvSpPr>
          <p:nvPr>
            <p:ph type="title"/>
          </p:nvPr>
        </p:nvSpPr>
        <p:spPr>
          <a:xfrm>
            <a:off x="1553226" y="0"/>
            <a:ext cx="5461349" cy="1143000"/>
          </a:xfrm>
        </p:spPr>
        <p:txBody>
          <a:bodyPr/>
          <a:lstStyle/>
          <a:p>
            <a:pPr algn="ctr"/>
            <a:r>
              <a:rPr lang="en-US" altLang="en-US" sz="3600" dirty="0">
                <a:solidFill>
                  <a:schemeClr val="bg1"/>
                </a:solidFill>
                <a:latin typeface="Times New Roman" panose="02020603050405020304" pitchFamily="18" charset="0"/>
                <a:cs typeface="Times New Roman" panose="02020603050405020304" pitchFamily="18" charset="0"/>
              </a:rPr>
              <a:t>Advantages of Data Mining</a:t>
            </a:r>
          </a:p>
        </p:txBody>
      </p:sp>
      <p:sp>
        <p:nvSpPr>
          <p:cNvPr id="4" name="Content Placeholder 3"/>
          <p:cNvSpPr>
            <a:spLocks noGrp="1"/>
          </p:cNvSpPr>
          <p:nvPr>
            <p:ph idx="1"/>
          </p:nvPr>
        </p:nvSpPr>
        <p:spPr/>
        <p:txBody>
          <a:bodyPr/>
          <a:lstStyle/>
          <a:p>
            <a:r>
              <a:rPr lang="en-US" altLang="en-US" b="1" dirty="0">
                <a:solidFill>
                  <a:srgbClr val="C00000"/>
                </a:solidFill>
                <a:latin typeface="Times New Roman" panose="02020603050405020304" pitchFamily="18" charset="0"/>
                <a:cs typeface="Times New Roman" panose="02020603050405020304" pitchFamily="18" charset="0"/>
              </a:rPr>
              <a:t>Risk Management and Compliance: </a:t>
            </a:r>
            <a:r>
              <a:rPr lang="en-US" altLang="en-US" dirty="0">
                <a:solidFill>
                  <a:schemeClr val="tx1"/>
                </a:solidFill>
                <a:latin typeface="Times New Roman" panose="02020603050405020304" pitchFamily="18" charset="0"/>
                <a:cs typeface="Times New Roman" panose="02020603050405020304" pitchFamily="18" charset="0"/>
              </a:rPr>
              <a:t>By analyzing historical data and real-time indicators, data mining helps identify operational, financial, and strategic risks. It makes it easier to assess risks, stay compliant with regulations, and plan for unexpected situations.</a:t>
            </a:r>
          </a:p>
          <a:p>
            <a:r>
              <a:rPr lang="en-US" altLang="en-US" b="1" dirty="0">
                <a:solidFill>
                  <a:srgbClr val="C00000"/>
                </a:solidFill>
                <a:latin typeface="Times New Roman" panose="02020603050405020304" pitchFamily="18" charset="0"/>
                <a:cs typeface="Times New Roman" panose="02020603050405020304" pitchFamily="18" charset="0"/>
              </a:rPr>
              <a:t>Improved Resource Allocation: </a:t>
            </a:r>
            <a:r>
              <a:rPr lang="en-US" altLang="en-US" dirty="0">
                <a:solidFill>
                  <a:schemeClr val="tx1"/>
                </a:solidFill>
                <a:latin typeface="Times New Roman" panose="02020603050405020304" pitchFamily="18" charset="0"/>
                <a:cs typeface="Times New Roman" panose="02020603050405020304" pitchFamily="18" charset="0"/>
              </a:rPr>
              <a:t>It helps optimize resource allocation by identifying which initiatives, products, or customer segments generate the highest returns. This makes budgeting, staffing, and investment decisions smarter and more efficient.</a:t>
            </a:r>
          </a:p>
        </p:txBody>
      </p:sp>
    </p:spTree>
    <p:extLst>
      <p:ext uri="{BB962C8B-B14F-4D97-AF65-F5344CB8AC3E}">
        <p14:creationId xmlns:p14="http://schemas.microsoft.com/office/powerpoint/2010/main" val="103069992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37"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animEffect transition="in" filter="fade">
                                      <p:cBhvr>
                                        <p:cTn id="15" dur="1000"/>
                                        <p:tgtEl>
                                          <p:spTgt spid="4">
                                            <p:txEl>
                                              <p:pRg st="0" end="0"/>
                                            </p:txEl>
                                          </p:spTgt>
                                        </p:tgtEl>
                                      </p:cBhvr>
                                    </p:animEffect>
                                    <p:anim calcmode="lin" valueType="num">
                                      <p:cBhvr>
                                        <p:cTn id="16"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7" dur="900" decel="100000" fill="hold"/>
                                        <p:tgtEl>
                                          <p:spTgt spid="4">
                                            <p:txEl>
                                              <p:pRg st="0" end="0"/>
                                            </p:txEl>
                                          </p:spTgt>
                                        </p:tgtEl>
                                        <p:attrNameLst>
                                          <p:attrName>ppt_y</p:attrName>
                                        </p:attrNameLst>
                                      </p:cBhvr>
                                      <p:tavLst>
                                        <p:tav tm="0">
                                          <p:val>
                                            <p:strVal val="#ppt_y+1"/>
                                          </p:val>
                                        </p:tav>
                                        <p:tav tm="100000">
                                          <p:val>
                                            <p:strVal val="#ppt_y-.03"/>
                                          </p:val>
                                        </p:tav>
                                      </p:tavLst>
                                    </p:anim>
                                    <p:anim calcmode="lin" valueType="num">
                                      <p:cBhvr>
                                        <p:cTn id="18" dur="100" accel="100000" fill="hold">
                                          <p:stCondLst>
                                            <p:cond delay="900"/>
                                          </p:stCondLst>
                                        </p:cTn>
                                        <p:tgtEl>
                                          <p:spTgt spid="4">
                                            <p:txEl>
                                              <p:pRg st="0" end="0"/>
                                            </p:txEl>
                                          </p:spTgt>
                                        </p:tgtEl>
                                        <p:attrNameLst>
                                          <p:attrName>ppt_y</p:attrName>
                                        </p:attrNameLst>
                                      </p:cBhvr>
                                      <p:tavLst>
                                        <p:tav tm="0">
                                          <p:val>
                                            <p:strVal val="#ppt_y-.03"/>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7" presetClass="entr" presetSubtype="0" fill="hold" grpId="0" nodeType="click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animEffect transition="in" filter="fade">
                                      <p:cBhvr>
                                        <p:cTn id="23" dur="1000"/>
                                        <p:tgtEl>
                                          <p:spTgt spid="4">
                                            <p:txEl>
                                              <p:pRg st="1" end="1"/>
                                            </p:txEl>
                                          </p:spTgt>
                                        </p:tgtEl>
                                      </p:cBhvr>
                                    </p:animEffect>
                                    <p:anim calcmode="lin" valueType="num">
                                      <p:cBhvr>
                                        <p:cTn id="24"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25" dur="900" decel="100000" fill="hold"/>
                                        <p:tgtEl>
                                          <p:spTgt spid="4">
                                            <p:txEl>
                                              <p:pRg st="1" end="1"/>
                                            </p:txEl>
                                          </p:spTgt>
                                        </p:tgtEl>
                                        <p:attrNameLst>
                                          <p:attrName>ppt_y</p:attrName>
                                        </p:attrNameLst>
                                      </p:cBhvr>
                                      <p:tavLst>
                                        <p:tav tm="0">
                                          <p:val>
                                            <p:strVal val="#ppt_y+1"/>
                                          </p:val>
                                        </p:tav>
                                        <p:tav tm="100000">
                                          <p:val>
                                            <p:strVal val="#ppt_y-.03"/>
                                          </p:val>
                                        </p:tav>
                                      </p:tavLst>
                                    </p:anim>
                                    <p:anim calcmode="lin" valueType="num">
                                      <p:cBhvr>
                                        <p:cTn id="26" dur="100" accel="100000" fill="hold">
                                          <p:stCondLst>
                                            <p:cond delay="900"/>
                                          </p:stCondLst>
                                        </p:cTn>
                                        <p:tgtEl>
                                          <p:spTgt spid="4">
                                            <p:txEl>
                                              <p:pRg st="1" end="1"/>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P spid="4" grpId="0" build="p"/>
      <p:bldP spid="4" grpI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18</a:t>
            </a:fld>
            <a:endParaRPr lang="en-US"/>
          </a:p>
        </p:txBody>
      </p:sp>
      <p:sp>
        <p:nvSpPr>
          <p:cNvPr id="8" name="Title 1"/>
          <p:cNvSpPr>
            <a:spLocks noGrp="1"/>
          </p:cNvSpPr>
          <p:nvPr>
            <p:ph type="title"/>
          </p:nvPr>
        </p:nvSpPr>
        <p:spPr>
          <a:xfrm>
            <a:off x="1553226" y="0"/>
            <a:ext cx="5461349" cy="1143000"/>
          </a:xfrm>
        </p:spPr>
        <p:txBody>
          <a:bodyPr/>
          <a:lstStyle/>
          <a:p>
            <a:pPr algn="ctr"/>
            <a:r>
              <a:rPr lang="en-US" altLang="en-US" sz="3600" dirty="0">
                <a:solidFill>
                  <a:schemeClr val="bg1"/>
                </a:solidFill>
                <a:latin typeface="Times New Roman" panose="02020603050405020304" pitchFamily="18" charset="0"/>
                <a:cs typeface="Times New Roman" panose="02020603050405020304" pitchFamily="18" charset="0"/>
              </a:rPr>
              <a:t>Challenges in Data Mining</a:t>
            </a:r>
          </a:p>
        </p:txBody>
      </p:sp>
      <p:sp>
        <p:nvSpPr>
          <p:cNvPr id="4" name="Content Placeholder 3"/>
          <p:cNvSpPr>
            <a:spLocks noGrp="1"/>
          </p:cNvSpPr>
          <p:nvPr>
            <p:ph idx="1"/>
          </p:nvPr>
        </p:nvSpPr>
        <p:spPr/>
        <p:txBody>
          <a:bodyPr/>
          <a:lstStyle/>
          <a:p>
            <a:r>
              <a:rPr lang="en-US" altLang="en-US" b="1" dirty="0">
                <a:solidFill>
                  <a:srgbClr val="C00000"/>
                </a:solidFill>
                <a:latin typeface="Times New Roman" panose="02020603050405020304" pitchFamily="18" charset="0"/>
                <a:cs typeface="Times New Roman" panose="02020603050405020304" pitchFamily="18" charset="0"/>
              </a:rPr>
              <a:t>Data Quality and Preprocessing: </a:t>
            </a:r>
            <a:r>
              <a:rPr lang="en-US" altLang="en-US" dirty="0">
                <a:solidFill>
                  <a:schemeClr val="tx1"/>
                </a:solidFill>
                <a:latin typeface="Times New Roman" panose="02020603050405020304" pitchFamily="18" charset="0"/>
                <a:cs typeface="Times New Roman" panose="02020603050405020304" pitchFamily="18" charset="0"/>
              </a:rPr>
              <a:t>Raw data is often noisy, incomplete, or inconsistent, which makes it hard to pull out useful insights.</a:t>
            </a:r>
          </a:p>
          <a:p>
            <a:r>
              <a:rPr lang="en-US" altLang="en-US" b="1" dirty="0">
                <a:solidFill>
                  <a:srgbClr val="C00000"/>
                </a:solidFill>
                <a:latin typeface="Times New Roman" panose="02020603050405020304" pitchFamily="18" charset="0"/>
                <a:cs typeface="Times New Roman" panose="02020603050405020304" pitchFamily="18" charset="0"/>
              </a:rPr>
              <a:t>Data Privacy and Security: </a:t>
            </a:r>
            <a:r>
              <a:rPr lang="en-US" altLang="en-US" dirty="0">
                <a:solidFill>
                  <a:schemeClr val="tx1"/>
                </a:solidFill>
                <a:latin typeface="Times New Roman" panose="02020603050405020304" pitchFamily="18" charset="0"/>
                <a:cs typeface="Times New Roman" panose="02020603050405020304" pitchFamily="18" charset="0"/>
              </a:rPr>
              <a:t>Handling sensitive data requires strict measures to ensure privacy and comply with regulations like GDPR. Protecting against unauthorized access and misuse of data is a major concern in data mining.</a:t>
            </a:r>
          </a:p>
          <a:p>
            <a:r>
              <a:rPr lang="en-US" altLang="en-US" b="1" dirty="0">
                <a:solidFill>
                  <a:srgbClr val="C00000"/>
                </a:solidFill>
                <a:latin typeface="Times New Roman" panose="02020603050405020304" pitchFamily="18" charset="0"/>
                <a:cs typeface="Times New Roman" panose="02020603050405020304" pitchFamily="18" charset="0"/>
              </a:rPr>
              <a:t>Overfitting and Underfitting: </a:t>
            </a:r>
            <a:r>
              <a:rPr lang="en-US" altLang="en-US" dirty="0">
                <a:solidFill>
                  <a:schemeClr val="tx1"/>
                </a:solidFill>
                <a:latin typeface="Times New Roman" panose="02020603050405020304" pitchFamily="18" charset="0"/>
                <a:cs typeface="Times New Roman" panose="02020603050405020304" pitchFamily="18" charset="0"/>
              </a:rPr>
              <a:t>In machine learning, overfitting occurs when models learn noise instead of general patterns, while underfitting happens when the model fails to capture important trends, leading to poor predictions.</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37"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animEffect transition="in" filter="fade">
                                      <p:cBhvr>
                                        <p:cTn id="15" dur="1000"/>
                                        <p:tgtEl>
                                          <p:spTgt spid="4">
                                            <p:txEl>
                                              <p:pRg st="0" end="0"/>
                                            </p:txEl>
                                          </p:spTgt>
                                        </p:tgtEl>
                                      </p:cBhvr>
                                    </p:animEffect>
                                    <p:anim calcmode="lin" valueType="num">
                                      <p:cBhvr>
                                        <p:cTn id="16"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7" dur="900" decel="100000" fill="hold"/>
                                        <p:tgtEl>
                                          <p:spTgt spid="4">
                                            <p:txEl>
                                              <p:pRg st="0" end="0"/>
                                            </p:txEl>
                                          </p:spTgt>
                                        </p:tgtEl>
                                        <p:attrNameLst>
                                          <p:attrName>ppt_y</p:attrName>
                                        </p:attrNameLst>
                                      </p:cBhvr>
                                      <p:tavLst>
                                        <p:tav tm="0">
                                          <p:val>
                                            <p:strVal val="#ppt_y+1"/>
                                          </p:val>
                                        </p:tav>
                                        <p:tav tm="100000">
                                          <p:val>
                                            <p:strVal val="#ppt_y-.03"/>
                                          </p:val>
                                        </p:tav>
                                      </p:tavLst>
                                    </p:anim>
                                    <p:anim calcmode="lin" valueType="num">
                                      <p:cBhvr>
                                        <p:cTn id="18" dur="100" accel="100000" fill="hold">
                                          <p:stCondLst>
                                            <p:cond delay="900"/>
                                          </p:stCondLst>
                                        </p:cTn>
                                        <p:tgtEl>
                                          <p:spTgt spid="4">
                                            <p:txEl>
                                              <p:pRg st="0" end="0"/>
                                            </p:txEl>
                                          </p:spTgt>
                                        </p:tgtEl>
                                        <p:attrNameLst>
                                          <p:attrName>ppt_y</p:attrName>
                                        </p:attrNameLst>
                                      </p:cBhvr>
                                      <p:tavLst>
                                        <p:tav tm="0">
                                          <p:val>
                                            <p:strVal val="#ppt_y-.03"/>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7" presetClass="entr" presetSubtype="0" fill="hold" grpId="0" nodeType="click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animEffect transition="in" filter="fade">
                                      <p:cBhvr>
                                        <p:cTn id="23" dur="1000"/>
                                        <p:tgtEl>
                                          <p:spTgt spid="4">
                                            <p:txEl>
                                              <p:pRg st="1" end="1"/>
                                            </p:txEl>
                                          </p:spTgt>
                                        </p:tgtEl>
                                      </p:cBhvr>
                                    </p:animEffect>
                                    <p:anim calcmode="lin" valueType="num">
                                      <p:cBhvr>
                                        <p:cTn id="24"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25" dur="900" decel="100000" fill="hold"/>
                                        <p:tgtEl>
                                          <p:spTgt spid="4">
                                            <p:txEl>
                                              <p:pRg st="1" end="1"/>
                                            </p:txEl>
                                          </p:spTgt>
                                        </p:tgtEl>
                                        <p:attrNameLst>
                                          <p:attrName>ppt_y</p:attrName>
                                        </p:attrNameLst>
                                      </p:cBhvr>
                                      <p:tavLst>
                                        <p:tav tm="0">
                                          <p:val>
                                            <p:strVal val="#ppt_y+1"/>
                                          </p:val>
                                        </p:tav>
                                        <p:tav tm="100000">
                                          <p:val>
                                            <p:strVal val="#ppt_y-.03"/>
                                          </p:val>
                                        </p:tav>
                                      </p:tavLst>
                                    </p:anim>
                                    <p:anim calcmode="lin" valueType="num">
                                      <p:cBhvr>
                                        <p:cTn id="26" dur="100" accel="100000" fill="hold">
                                          <p:stCondLst>
                                            <p:cond delay="900"/>
                                          </p:stCondLst>
                                        </p:cTn>
                                        <p:tgtEl>
                                          <p:spTgt spid="4">
                                            <p:txEl>
                                              <p:pRg st="1" end="1"/>
                                            </p:txEl>
                                          </p:spTgt>
                                        </p:tgtEl>
                                        <p:attrNameLst>
                                          <p:attrName>ppt_y</p:attrName>
                                        </p:attrNameLst>
                                      </p:cBhvr>
                                      <p:tavLst>
                                        <p:tav tm="0">
                                          <p:val>
                                            <p:strVal val="#ppt_y-.03"/>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37" presetClass="entr" presetSubtype="0" fill="hold" grpId="0" nodeType="clickEffect">
                                  <p:stCondLst>
                                    <p:cond delay="0"/>
                                  </p:stCondLst>
                                  <p:childTnLst>
                                    <p:set>
                                      <p:cBhvr>
                                        <p:cTn id="30" dur="1" fill="hold">
                                          <p:stCondLst>
                                            <p:cond delay="0"/>
                                          </p:stCondLst>
                                        </p:cTn>
                                        <p:tgtEl>
                                          <p:spTgt spid="4">
                                            <p:txEl>
                                              <p:pRg st="2" end="2"/>
                                            </p:txEl>
                                          </p:spTgt>
                                        </p:tgtEl>
                                        <p:attrNameLst>
                                          <p:attrName>style.visibility</p:attrName>
                                        </p:attrNameLst>
                                      </p:cBhvr>
                                      <p:to>
                                        <p:strVal val="visible"/>
                                      </p:to>
                                    </p:set>
                                    <p:animEffect transition="in" filter="fade">
                                      <p:cBhvr>
                                        <p:cTn id="31" dur="1000"/>
                                        <p:tgtEl>
                                          <p:spTgt spid="4">
                                            <p:txEl>
                                              <p:pRg st="2" end="2"/>
                                            </p:txEl>
                                          </p:spTgt>
                                        </p:tgtEl>
                                      </p:cBhvr>
                                    </p:animEffect>
                                    <p:anim calcmode="lin" valueType="num">
                                      <p:cBhvr>
                                        <p:cTn id="3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33" dur="900" decel="100000" fill="hold"/>
                                        <p:tgtEl>
                                          <p:spTgt spid="4">
                                            <p:txEl>
                                              <p:pRg st="2" end="2"/>
                                            </p:txEl>
                                          </p:spTgt>
                                        </p:tgtEl>
                                        <p:attrNameLst>
                                          <p:attrName>ppt_y</p:attrName>
                                        </p:attrNameLst>
                                      </p:cBhvr>
                                      <p:tavLst>
                                        <p:tav tm="0">
                                          <p:val>
                                            <p:strVal val="#ppt_y+1"/>
                                          </p:val>
                                        </p:tav>
                                        <p:tav tm="100000">
                                          <p:val>
                                            <p:strVal val="#ppt_y-.03"/>
                                          </p:val>
                                        </p:tav>
                                      </p:tavLst>
                                    </p:anim>
                                    <p:anim calcmode="lin" valueType="num">
                                      <p:cBhvr>
                                        <p:cTn id="34" dur="100" accel="100000" fill="hold">
                                          <p:stCondLst>
                                            <p:cond delay="900"/>
                                          </p:stCondLst>
                                        </p:cTn>
                                        <p:tgtEl>
                                          <p:spTgt spid="4">
                                            <p:txEl>
                                              <p:pRg st="2" end="2"/>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P spid="4" grpId="0" build="p"/>
      <p:bldP spid="4" grpI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19</a:t>
            </a:fld>
            <a:endParaRPr lang="en-US"/>
          </a:p>
        </p:txBody>
      </p:sp>
      <p:sp>
        <p:nvSpPr>
          <p:cNvPr id="8" name="Title 1"/>
          <p:cNvSpPr>
            <a:spLocks noGrp="1"/>
          </p:cNvSpPr>
          <p:nvPr>
            <p:ph type="title"/>
          </p:nvPr>
        </p:nvSpPr>
        <p:spPr>
          <a:xfrm>
            <a:off x="1553226" y="0"/>
            <a:ext cx="5461349" cy="1143000"/>
          </a:xfrm>
        </p:spPr>
        <p:txBody>
          <a:bodyPr/>
          <a:lstStyle/>
          <a:p>
            <a:pPr algn="ctr"/>
            <a:r>
              <a:rPr lang="en-US" altLang="en-US" sz="3600" dirty="0">
                <a:solidFill>
                  <a:schemeClr val="bg1"/>
                </a:solidFill>
                <a:latin typeface="Times New Roman" panose="02020603050405020304" pitchFamily="18" charset="0"/>
                <a:cs typeface="Times New Roman" panose="02020603050405020304" pitchFamily="18" charset="0"/>
              </a:rPr>
              <a:t>Common Data Mining Techniques</a:t>
            </a:r>
          </a:p>
        </p:txBody>
      </p:sp>
      <p:sp>
        <p:nvSpPr>
          <p:cNvPr id="4" name="Content Placeholder 3"/>
          <p:cNvSpPr>
            <a:spLocks noGrp="1"/>
          </p:cNvSpPr>
          <p:nvPr>
            <p:ph idx="1"/>
          </p:nvPr>
        </p:nvSpPr>
        <p:spPr/>
        <p:txBody>
          <a:bodyPr/>
          <a:lstStyle/>
          <a:p>
            <a:r>
              <a:rPr lang="en-US" altLang="en-US" dirty="0">
                <a:solidFill>
                  <a:schemeClr val="tx1"/>
                </a:solidFill>
                <a:latin typeface="Times New Roman" panose="02020603050405020304" pitchFamily="18" charset="0"/>
                <a:cs typeface="Times New Roman" panose="02020603050405020304" pitchFamily="18" charset="0"/>
              </a:rPr>
              <a:t>Decision Trees</a:t>
            </a:r>
          </a:p>
          <a:p>
            <a:r>
              <a:rPr lang="en-US" altLang="en-US" dirty="0">
                <a:solidFill>
                  <a:schemeClr val="tx1"/>
                </a:solidFill>
                <a:latin typeface="Times New Roman" panose="02020603050405020304" pitchFamily="18" charset="0"/>
                <a:cs typeface="Times New Roman" panose="02020603050405020304" pitchFamily="18" charset="0"/>
              </a:rPr>
              <a:t>Naïve Bayes</a:t>
            </a:r>
          </a:p>
          <a:p>
            <a:r>
              <a:rPr lang="en-US" altLang="en-US" dirty="0">
                <a:solidFill>
                  <a:schemeClr val="tx1"/>
                </a:solidFill>
                <a:latin typeface="Times New Roman" panose="02020603050405020304" pitchFamily="18" charset="0"/>
                <a:cs typeface="Times New Roman" panose="02020603050405020304" pitchFamily="18" charset="0"/>
              </a:rPr>
              <a:t>k-Nearest Neighbors (KNN)</a:t>
            </a:r>
          </a:p>
          <a:p>
            <a:r>
              <a:rPr lang="en-US" altLang="en-US" dirty="0">
                <a:solidFill>
                  <a:schemeClr val="tx1"/>
                </a:solidFill>
                <a:latin typeface="Times New Roman" panose="02020603050405020304" pitchFamily="18" charset="0"/>
                <a:cs typeface="Times New Roman" panose="02020603050405020304" pitchFamily="18" charset="0"/>
              </a:rPr>
              <a:t>Support Vector Machines (SVM)</a:t>
            </a:r>
          </a:p>
          <a:p>
            <a:r>
              <a:rPr lang="en-US" altLang="en-US" dirty="0">
                <a:solidFill>
                  <a:schemeClr val="tx1"/>
                </a:solidFill>
                <a:latin typeface="Times New Roman" panose="02020603050405020304" pitchFamily="18" charset="0"/>
                <a:cs typeface="Times New Roman" panose="02020603050405020304" pitchFamily="18" charset="0"/>
              </a:rPr>
              <a:t>Neural Networks</a:t>
            </a:r>
          </a:p>
          <a:p>
            <a:r>
              <a:rPr lang="en-US" altLang="en-US" dirty="0" err="1">
                <a:solidFill>
                  <a:schemeClr val="tx1"/>
                </a:solidFill>
                <a:latin typeface="Times New Roman" panose="02020603050405020304" pitchFamily="18" charset="0"/>
                <a:cs typeface="Times New Roman" panose="02020603050405020304" pitchFamily="18" charset="0"/>
              </a:rPr>
              <a:t>Apriori</a:t>
            </a:r>
            <a:r>
              <a:rPr lang="en-US" altLang="en-US" dirty="0">
                <a:solidFill>
                  <a:schemeClr val="tx1"/>
                </a:solidFill>
                <a:latin typeface="Times New Roman" panose="02020603050405020304" pitchFamily="18" charset="0"/>
                <a:cs typeface="Times New Roman" panose="02020603050405020304" pitchFamily="18" charset="0"/>
              </a:rPr>
              <a:t> Algorithm</a:t>
            </a:r>
          </a:p>
          <a:p>
            <a:r>
              <a:rPr lang="en-US" altLang="en-US" dirty="0">
                <a:solidFill>
                  <a:schemeClr val="tx1"/>
                </a:solidFill>
                <a:latin typeface="Times New Roman" panose="02020603050405020304" pitchFamily="18" charset="0"/>
                <a:cs typeface="Times New Roman" panose="02020603050405020304" pitchFamily="18" charset="0"/>
              </a:rPr>
              <a:t>k-Means Clustering</a:t>
            </a:r>
          </a:p>
        </p:txBody>
      </p:sp>
    </p:spTree>
    <p:extLst>
      <p:ext uri="{BB962C8B-B14F-4D97-AF65-F5344CB8AC3E}">
        <p14:creationId xmlns:p14="http://schemas.microsoft.com/office/powerpoint/2010/main" val="255813049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37"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animEffect transition="in" filter="fade">
                                      <p:cBhvr>
                                        <p:cTn id="15" dur="1000"/>
                                        <p:tgtEl>
                                          <p:spTgt spid="4">
                                            <p:txEl>
                                              <p:pRg st="0" end="0"/>
                                            </p:txEl>
                                          </p:spTgt>
                                        </p:tgtEl>
                                      </p:cBhvr>
                                    </p:animEffect>
                                    <p:anim calcmode="lin" valueType="num">
                                      <p:cBhvr>
                                        <p:cTn id="16"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7" dur="900" decel="100000" fill="hold"/>
                                        <p:tgtEl>
                                          <p:spTgt spid="4">
                                            <p:txEl>
                                              <p:pRg st="0" end="0"/>
                                            </p:txEl>
                                          </p:spTgt>
                                        </p:tgtEl>
                                        <p:attrNameLst>
                                          <p:attrName>ppt_y</p:attrName>
                                        </p:attrNameLst>
                                      </p:cBhvr>
                                      <p:tavLst>
                                        <p:tav tm="0">
                                          <p:val>
                                            <p:strVal val="#ppt_y+1"/>
                                          </p:val>
                                        </p:tav>
                                        <p:tav tm="100000">
                                          <p:val>
                                            <p:strVal val="#ppt_y-.03"/>
                                          </p:val>
                                        </p:tav>
                                      </p:tavLst>
                                    </p:anim>
                                    <p:anim calcmode="lin" valueType="num">
                                      <p:cBhvr>
                                        <p:cTn id="18" dur="100" accel="100000" fill="hold">
                                          <p:stCondLst>
                                            <p:cond delay="900"/>
                                          </p:stCondLst>
                                        </p:cTn>
                                        <p:tgtEl>
                                          <p:spTgt spid="4">
                                            <p:txEl>
                                              <p:pRg st="0" end="0"/>
                                            </p:txEl>
                                          </p:spTgt>
                                        </p:tgtEl>
                                        <p:attrNameLst>
                                          <p:attrName>ppt_y</p:attrName>
                                        </p:attrNameLst>
                                      </p:cBhvr>
                                      <p:tavLst>
                                        <p:tav tm="0">
                                          <p:val>
                                            <p:strVal val="#ppt_y-.03"/>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7" presetClass="entr" presetSubtype="0" fill="hold" grpId="0" nodeType="click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animEffect transition="in" filter="fade">
                                      <p:cBhvr>
                                        <p:cTn id="23" dur="1000"/>
                                        <p:tgtEl>
                                          <p:spTgt spid="4">
                                            <p:txEl>
                                              <p:pRg st="1" end="1"/>
                                            </p:txEl>
                                          </p:spTgt>
                                        </p:tgtEl>
                                      </p:cBhvr>
                                    </p:animEffect>
                                    <p:anim calcmode="lin" valueType="num">
                                      <p:cBhvr>
                                        <p:cTn id="24"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25" dur="900" decel="100000" fill="hold"/>
                                        <p:tgtEl>
                                          <p:spTgt spid="4">
                                            <p:txEl>
                                              <p:pRg st="1" end="1"/>
                                            </p:txEl>
                                          </p:spTgt>
                                        </p:tgtEl>
                                        <p:attrNameLst>
                                          <p:attrName>ppt_y</p:attrName>
                                        </p:attrNameLst>
                                      </p:cBhvr>
                                      <p:tavLst>
                                        <p:tav tm="0">
                                          <p:val>
                                            <p:strVal val="#ppt_y+1"/>
                                          </p:val>
                                        </p:tav>
                                        <p:tav tm="100000">
                                          <p:val>
                                            <p:strVal val="#ppt_y-.03"/>
                                          </p:val>
                                        </p:tav>
                                      </p:tavLst>
                                    </p:anim>
                                    <p:anim calcmode="lin" valueType="num">
                                      <p:cBhvr>
                                        <p:cTn id="26" dur="100" accel="100000" fill="hold">
                                          <p:stCondLst>
                                            <p:cond delay="900"/>
                                          </p:stCondLst>
                                        </p:cTn>
                                        <p:tgtEl>
                                          <p:spTgt spid="4">
                                            <p:txEl>
                                              <p:pRg st="1" end="1"/>
                                            </p:txEl>
                                          </p:spTgt>
                                        </p:tgtEl>
                                        <p:attrNameLst>
                                          <p:attrName>ppt_y</p:attrName>
                                        </p:attrNameLst>
                                      </p:cBhvr>
                                      <p:tavLst>
                                        <p:tav tm="0">
                                          <p:val>
                                            <p:strVal val="#ppt_y-.03"/>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37" presetClass="entr" presetSubtype="0" fill="hold" grpId="0" nodeType="clickEffect">
                                  <p:stCondLst>
                                    <p:cond delay="0"/>
                                  </p:stCondLst>
                                  <p:childTnLst>
                                    <p:set>
                                      <p:cBhvr>
                                        <p:cTn id="30" dur="1" fill="hold">
                                          <p:stCondLst>
                                            <p:cond delay="0"/>
                                          </p:stCondLst>
                                        </p:cTn>
                                        <p:tgtEl>
                                          <p:spTgt spid="4">
                                            <p:txEl>
                                              <p:pRg st="2" end="2"/>
                                            </p:txEl>
                                          </p:spTgt>
                                        </p:tgtEl>
                                        <p:attrNameLst>
                                          <p:attrName>style.visibility</p:attrName>
                                        </p:attrNameLst>
                                      </p:cBhvr>
                                      <p:to>
                                        <p:strVal val="visible"/>
                                      </p:to>
                                    </p:set>
                                    <p:animEffect transition="in" filter="fade">
                                      <p:cBhvr>
                                        <p:cTn id="31" dur="1000"/>
                                        <p:tgtEl>
                                          <p:spTgt spid="4">
                                            <p:txEl>
                                              <p:pRg st="2" end="2"/>
                                            </p:txEl>
                                          </p:spTgt>
                                        </p:tgtEl>
                                      </p:cBhvr>
                                    </p:animEffect>
                                    <p:anim calcmode="lin" valueType="num">
                                      <p:cBhvr>
                                        <p:cTn id="3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33" dur="900" decel="100000" fill="hold"/>
                                        <p:tgtEl>
                                          <p:spTgt spid="4">
                                            <p:txEl>
                                              <p:pRg st="2" end="2"/>
                                            </p:txEl>
                                          </p:spTgt>
                                        </p:tgtEl>
                                        <p:attrNameLst>
                                          <p:attrName>ppt_y</p:attrName>
                                        </p:attrNameLst>
                                      </p:cBhvr>
                                      <p:tavLst>
                                        <p:tav tm="0">
                                          <p:val>
                                            <p:strVal val="#ppt_y+1"/>
                                          </p:val>
                                        </p:tav>
                                        <p:tav tm="100000">
                                          <p:val>
                                            <p:strVal val="#ppt_y-.03"/>
                                          </p:val>
                                        </p:tav>
                                      </p:tavLst>
                                    </p:anim>
                                    <p:anim calcmode="lin" valueType="num">
                                      <p:cBhvr>
                                        <p:cTn id="34" dur="100" accel="100000" fill="hold">
                                          <p:stCondLst>
                                            <p:cond delay="900"/>
                                          </p:stCondLst>
                                        </p:cTn>
                                        <p:tgtEl>
                                          <p:spTgt spid="4">
                                            <p:txEl>
                                              <p:pRg st="2" end="2"/>
                                            </p:txEl>
                                          </p:spTgt>
                                        </p:tgtEl>
                                        <p:attrNameLst>
                                          <p:attrName>ppt_y</p:attrName>
                                        </p:attrNameLst>
                                      </p:cBhvr>
                                      <p:tavLst>
                                        <p:tav tm="0">
                                          <p:val>
                                            <p:strVal val="#ppt_y-.03"/>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37" presetClass="entr" presetSubtype="0" fill="hold" grpId="0" nodeType="clickEffect">
                                  <p:stCondLst>
                                    <p:cond delay="0"/>
                                  </p:stCondLst>
                                  <p:childTnLst>
                                    <p:set>
                                      <p:cBhvr>
                                        <p:cTn id="38" dur="1" fill="hold">
                                          <p:stCondLst>
                                            <p:cond delay="0"/>
                                          </p:stCondLst>
                                        </p:cTn>
                                        <p:tgtEl>
                                          <p:spTgt spid="4">
                                            <p:txEl>
                                              <p:pRg st="3" end="3"/>
                                            </p:txEl>
                                          </p:spTgt>
                                        </p:tgtEl>
                                        <p:attrNameLst>
                                          <p:attrName>style.visibility</p:attrName>
                                        </p:attrNameLst>
                                      </p:cBhvr>
                                      <p:to>
                                        <p:strVal val="visible"/>
                                      </p:to>
                                    </p:set>
                                    <p:animEffect transition="in" filter="fade">
                                      <p:cBhvr>
                                        <p:cTn id="39" dur="1000"/>
                                        <p:tgtEl>
                                          <p:spTgt spid="4">
                                            <p:txEl>
                                              <p:pRg st="3" end="3"/>
                                            </p:txEl>
                                          </p:spTgt>
                                        </p:tgtEl>
                                      </p:cBhvr>
                                    </p:animEffect>
                                    <p:anim calcmode="lin" valueType="num">
                                      <p:cBhvr>
                                        <p:cTn id="40"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41" dur="900" decel="100000" fill="hold"/>
                                        <p:tgtEl>
                                          <p:spTgt spid="4">
                                            <p:txEl>
                                              <p:pRg st="3" end="3"/>
                                            </p:txEl>
                                          </p:spTgt>
                                        </p:tgtEl>
                                        <p:attrNameLst>
                                          <p:attrName>ppt_y</p:attrName>
                                        </p:attrNameLst>
                                      </p:cBhvr>
                                      <p:tavLst>
                                        <p:tav tm="0">
                                          <p:val>
                                            <p:strVal val="#ppt_y+1"/>
                                          </p:val>
                                        </p:tav>
                                        <p:tav tm="100000">
                                          <p:val>
                                            <p:strVal val="#ppt_y-.03"/>
                                          </p:val>
                                        </p:tav>
                                      </p:tavLst>
                                    </p:anim>
                                    <p:anim calcmode="lin" valueType="num">
                                      <p:cBhvr>
                                        <p:cTn id="42" dur="100" accel="100000" fill="hold">
                                          <p:stCondLst>
                                            <p:cond delay="900"/>
                                          </p:stCondLst>
                                        </p:cTn>
                                        <p:tgtEl>
                                          <p:spTgt spid="4">
                                            <p:txEl>
                                              <p:pRg st="3" end="3"/>
                                            </p:txEl>
                                          </p:spTgt>
                                        </p:tgtEl>
                                        <p:attrNameLst>
                                          <p:attrName>ppt_y</p:attrName>
                                        </p:attrNameLst>
                                      </p:cBhvr>
                                      <p:tavLst>
                                        <p:tav tm="0">
                                          <p:val>
                                            <p:strVal val="#ppt_y-.03"/>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37" presetClass="entr" presetSubtype="0" fill="hold" grpId="0" nodeType="clickEffect">
                                  <p:stCondLst>
                                    <p:cond delay="0"/>
                                  </p:stCondLst>
                                  <p:childTnLst>
                                    <p:set>
                                      <p:cBhvr>
                                        <p:cTn id="46" dur="1" fill="hold">
                                          <p:stCondLst>
                                            <p:cond delay="0"/>
                                          </p:stCondLst>
                                        </p:cTn>
                                        <p:tgtEl>
                                          <p:spTgt spid="4">
                                            <p:txEl>
                                              <p:pRg st="4" end="4"/>
                                            </p:txEl>
                                          </p:spTgt>
                                        </p:tgtEl>
                                        <p:attrNameLst>
                                          <p:attrName>style.visibility</p:attrName>
                                        </p:attrNameLst>
                                      </p:cBhvr>
                                      <p:to>
                                        <p:strVal val="visible"/>
                                      </p:to>
                                    </p:set>
                                    <p:animEffect transition="in" filter="fade">
                                      <p:cBhvr>
                                        <p:cTn id="47" dur="1000"/>
                                        <p:tgtEl>
                                          <p:spTgt spid="4">
                                            <p:txEl>
                                              <p:pRg st="4" end="4"/>
                                            </p:txEl>
                                          </p:spTgt>
                                        </p:tgtEl>
                                      </p:cBhvr>
                                    </p:animEffect>
                                    <p:anim calcmode="lin" valueType="num">
                                      <p:cBhvr>
                                        <p:cTn id="48"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49" dur="900" decel="100000" fill="hold"/>
                                        <p:tgtEl>
                                          <p:spTgt spid="4">
                                            <p:txEl>
                                              <p:pRg st="4" end="4"/>
                                            </p:txEl>
                                          </p:spTgt>
                                        </p:tgtEl>
                                        <p:attrNameLst>
                                          <p:attrName>ppt_y</p:attrName>
                                        </p:attrNameLst>
                                      </p:cBhvr>
                                      <p:tavLst>
                                        <p:tav tm="0">
                                          <p:val>
                                            <p:strVal val="#ppt_y+1"/>
                                          </p:val>
                                        </p:tav>
                                        <p:tav tm="100000">
                                          <p:val>
                                            <p:strVal val="#ppt_y-.03"/>
                                          </p:val>
                                        </p:tav>
                                      </p:tavLst>
                                    </p:anim>
                                    <p:anim calcmode="lin" valueType="num">
                                      <p:cBhvr>
                                        <p:cTn id="50" dur="100" accel="100000" fill="hold">
                                          <p:stCondLst>
                                            <p:cond delay="900"/>
                                          </p:stCondLst>
                                        </p:cTn>
                                        <p:tgtEl>
                                          <p:spTgt spid="4">
                                            <p:txEl>
                                              <p:pRg st="4" end="4"/>
                                            </p:txEl>
                                          </p:spTgt>
                                        </p:tgtEl>
                                        <p:attrNameLst>
                                          <p:attrName>ppt_y</p:attrName>
                                        </p:attrNameLst>
                                      </p:cBhvr>
                                      <p:tavLst>
                                        <p:tav tm="0">
                                          <p:val>
                                            <p:strVal val="#ppt_y-.03"/>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37" presetClass="entr" presetSubtype="0" fill="hold" grpId="0" nodeType="clickEffect">
                                  <p:stCondLst>
                                    <p:cond delay="0"/>
                                  </p:stCondLst>
                                  <p:childTnLst>
                                    <p:set>
                                      <p:cBhvr>
                                        <p:cTn id="54" dur="1" fill="hold">
                                          <p:stCondLst>
                                            <p:cond delay="0"/>
                                          </p:stCondLst>
                                        </p:cTn>
                                        <p:tgtEl>
                                          <p:spTgt spid="4">
                                            <p:txEl>
                                              <p:pRg st="5" end="5"/>
                                            </p:txEl>
                                          </p:spTgt>
                                        </p:tgtEl>
                                        <p:attrNameLst>
                                          <p:attrName>style.visibility</p:attrName>
                                        </p:attrNameLst>
                                      </p:cBhvr>
                                      <p:to>
                                        <p:strVal val="visible"/>
                                      </p:to>
                                    </p:set>
                                    <p:animEffect transition="in" filter="fade">
                                      <p:cBhvr>
                                        <p:cTn id="55" dur="1000"/>
                                        <p:tgtEl>
                                          <p:spTgt spid="4">
                                            <p:txEl>
                                              <p:pRg st="5" end="5"/>
                                            </p:txEl>
                                          </p:spTgt>
                                        </p:tgtEl>
                                      </p:cBhvr>
                                    </p:animEffect>
                                    <p:anim calcmode="lin" valueType="num">
                                      <p:cBhvr>
                                        <p:cTn id="56"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57" dur="900" decel="100000" fill="hold"/>
                                        <p:tgtEl>
                                          <p:spTgt spid="4">
                                            <p:txEl>
                                              <p:pRg st="5" end="5"/>
                                            </p:txEl>
                                          </p:spTgt>
                                        </p:tgtEl>
                                        <p:attrNameLst>
                                          <p:attrName>ppt_y</p:attrName>
                                        </p:attrNameLst>
                                      </p:cBhvr>
                                      <p:tavLst>
                                        <p:tav tm="0">
                                          <p:val>
                                            <p:strVal val="#ppt_y+1"/>
                                          </p:val>
                                        </p:tav>
                                        <p:tav tm="100000">
                                          <p:val>
                                            <p:strVal val="#ppt_y-.03"/>
                                          </p:val>
                                        </p:tav>
                                      </p:tavLst>
                                    </p:anim>
                                    <p:anim calcmode="lin" valueType="num">
                                      <p:cBhvr>
                                        <p:cTn id="58" dur="100" accel="100000" fill="hold">
                                          <p:stCondLst>
                                            <p:cond delay="900"/>
                                          </p:stCondLst>
                                        </p:cTn>
                                        <p:tgtEl>
                                          <p:spTgt spid="4">
                                            <p:txEl>
                                              <p:pRg st="5" end="5"/>
                                            </p:txEl>
                                          </p:spTgt>
                                        </p:tgtEl>
                                        <p:attrNameLst>
                                          <p:attrName>ppt_y</p:attrName>
                                        </p:attrNameLst>
                                      </p:cBhvr>
                                      <p:tavLst>
                                        <p:tav tm="0">
                                          <p:val>
                                            <p:strVal val="#ppt_y-.03"/>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37" presetClass="entr" presetSubtype="0" fill="hold" grpId="0" nodeType="clickEffect">
                                  <p:stCondLst>
                                    <p:cond delay="0"/>
                                  </p:stCondLst>
                                  <p:childTnLst>
                                    <p:set>
                                      <p:cBhvr>
                                        <p:cTn id="62" dur="1" fill="hold">
                                          <p:stCondLst>
                                            <p:cond delay="0"/>
                                          </p:stCondLst>
                                        </p:cTn>
                                        <p:tgtEl>
                                          <p:spTgt spid="4">
                                            <p:txEl>
                                              <p:pRg st="6" end="6"/>
                                            </p:txEl>
                                          </p:spTgt>
                                        </p:tgtEl>
                                        <p:attrNameLst>
                                          <p:attrName>style.visibility</p:attrName>
                                        </p:attrNameLst>
                                      </p:cBhvr>
                                      <p:to>
                                        <p:strVal val="visible"/>
                                      </p:to>
                                    </p:set>
                                    <p:animEffect transition="in" filter="fade">
                                      <p:cBhvr>
                                        <p:cTn id="63" dur="1000"/>
                                        <p:tgtEl>
                                          <p:spTgt spid="4">
                                            <p:txEl>
                                              <p:pRg st="6" end="6"/>
                                            </p:txEl>
                                          </p:spTgt>
                                        </p:tgtEl>
                                      </p:cBhvr>
                                    </p:animEffect>
                                    <p:anim calcmode="lin" valueType="num">
                                      <p:cBhvr>
                                        <p:cTn id="64"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65" dur="900" decel="100000" fill="hold"/>
                                        <p:tgtEl>
                                          <p:spTgt spid="4">
                                            <p:txEl>
                                              <p:pRg st="6" end="6"/>
                                            </p:txEl>
                                          </p:spTgt>
                                        </p:tgtEl>
                                        <p:attrNameLst>
                                          <p:attrName>ppt_y</p:attrName>
                                        </p:attrNameLst>
                                      </p:cBhvr>
                                      <p:tavLst>
                                        <p:tav tm="0">
                                          <p:val>
                                            <p:strVal val="#ppt_y+1"/>
                                          </p:val>
                                        </p:tav>
                                        <p:tav tm="100000">
                                          <p:val>
                                            <p:strVal val="#ppt_y-.03"/>
                                          </p:val>
                                        </p:tav>
                                      </p:tavLst>
                                    </p:anim>
                                    <p:anim calcmode="lin" valueType="num">
                                      <p:cBhvr>
                                        <p:cTn id="66" dur="100" accel="100000" fill="hold">
                                          <p:stCondLst>
                                            <p:cond delay="900"/>
                                          </p:stCondLst>
                                        </p:cTn>
                                        <p:tgtEl>
                                          <p:spTgt spid="4">
                                            <p:txEl>
                                              <p:pRg st="6" end="6"/>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P spid="4" grpId="0" build="p"/>
      <p:bldP spid="4" grpI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20</a:t>
            </a:fld>
            <a:endParaRPr lang="en-US"/>
          </a:p>
        </p:txBody>
      </p:sp>
      <p:sp>
        <p:nvSpPr>
          <p:cNvPr id="8" name="Title 1"/>
          <p:cNvSpPr>
            <a:spLocks noGrp="1"/>
          </p:cNvSpPr>
          <p:nvPr>
            <p:ph type="title"/>
          </p:nvPr>
        </p:nvSpPr>
        <p:spPr>
          <a:xfrm>
            <a:off x="1553226" y="0"/>
            <a:ext cx="5461349" cy="1143000"/>
          </a:xfrm>
        </p:spPr>
        <p:txBody>
          <a:bodyPr/>
          <a:lstStyle/>
          <a:p>
            <a:pPr algn="ctr"/>
            <a:r>
              <a:rPr lang="en-US" altLang="en-US" sz="3600" dirty="0">
                <a:solidFill>
                  <a:schemeClr val="bg1"/>
                </a:solidFill>
                <a:latin typeface="Times New Roman" panose="02020603050405020304" pitchFamily="18" charset="0"/>
                <a:cs typeface="Times New Roman" panose="02020603050405020304" pitchFamily="18" charset="0"/>
              </a:rPr>
              <a:t>Tools &amp; Software</a:t>
            </a:r>
          </a:p>
        </p:txBody>
      </p:sp>
      <p:sp>
        <p:nvSpPr>
          <p:cNvPr id="4" name="Content Placeholder 3"/>
          <p:cNvSpPr>
            <a:spLocks noGrp="1"/>
          </p:cNvSpPr>
          <p:nvPr>
            <p:ph idx="1"/>
          </p:nvPr>
        </p:nvSpPr>
        <p:spPr/>
        <p:txBody>
          <a:bodyPr/>
          <a:lstStyle/>
          <a:p>
            <a:r>
              <a:rPr lang="en-US" altLang="en-US" dirty="0">
                <a:solidFill>
                  <a:schemeClr val="tx1"/>
                </a:solidFill>
                <a:latin typeface="Times New Roman" panose="02020603050405020304" pitchFamily="18" charset="0"/>
                <a:cs typeface="Times New Roman" panose="02020603050405020304" pitchFamily="18" charset="0"/>
              </a:rPr>
              <a:t>Python (NumPy, Pandas, Scikit-learn)</a:t>
            </a:r>
          </a:p>
          <a:p>
            <a:r>
              <a:rPr lang="en-US" altLang="en-US" dirty="0">
                <a:solidFill>
                  <a:schemeClr val="tx1"/>
                </a:solidFill>
                <a:latin typeface="Times New Roman" panose="02020603050405020304" pitchFamily="18" charset="0"/>
                <a:cs typeface="Times New Roman" panose="02020603050405020304" pitchFamily="18" charset="0"/>
              </a:rPr>
              <a:t>R</a:t>
            </a:r>
          </a:p>
          <a:p>
            <a:r>
              <a:rPr lang="en-US" altLang="en-US" dirty="0" smtClean="0">
                <a:solidFill>
                  <a:schemeClr val="tx1"/>
                </a:solidFill>
                <a:latin typeface="Times New Roman" panose="02020603050405020304" pitchFamily="18" charset="0"/>
                <a:cs typeface="Times New Roman" panose="02020603050405020304" pitchFamily="18" charset="0"/>
              </a:rPr>
              <a:t>WEKA/Orange/</a:t>
            </a:r>
            <a:r>
              <a:rPr lang="en-US" altLang="en-US" dirty="0" err="1" smtClean="0">
                <a:solidFill>
                  <a:schemeClr val="tx1"/>
                </a:solidFill>
                <a:latin typeface="Times New Roman" panose="02020603050405020304" pitchFamily="18" charset="0"/>
                <a:cs typeface="Times New Roman" panose="02020603050405020304" pitchFamily="18" charset="0"/>
              </a:rPr>
              <a:t>knime</a:t>
            </a:r>
            <a:endParaRPr lang="en-US" altLang="en-US" dirty="0">
              <a:solidFill>
                <a:schemeClr val="tx1"/>
              </a:solidFill>
              <a:latin typeface="Times New Roman" panose="02020603050405020304" pitchFamily="18" charset="0"/>
              <a:cs typeface="Times New Roman" panose="02020603050405020304" pitchFamily="18" charset="0"/>
            </a:endParaRPr>
          </a:p>
          <a:p>
            <a:r>
              <a:rPr lang="en-US" altLang="en-US" dirty="0" err="1" smtClean="0">
                <a:solidFill>
                  <a:schemeClr val="tx1"/>
                </a:solidFill>
                <a:latin typeface="Times New Roman" panose="02020603050405020304" pitchFamily="18" charset="0"/>
                <a:cs typeface="Times New Roman" panose="02020603050405020304" pitchFamily="18" charset="0"/>
              </a:rPr>
              <a:t>RapidMiner</a:t>
            </a:r>
            <a:r>
              <a:rPr lang="en-US" altLang="en-US" dirty="0" smtClean="0">
                <a:solidFill>
                  <a:schemeClr val="tx1"/>
                </a:solidFill>
                <a:latin typeface="Times New Roman" panose="02020603050405020304" pitchFamily="18" charset="0"/>
                <a:cs typeface="Times New Roman" panose="02020603050405020304" pitchFamily="18" charset="0"/>
              </a:rPr>
              <a:t>/</a:t>
            </a:r>
            <a:r>
              <a:rPr lang="en-US" altLang="en-US" dirty="0" err="1" smtClean="0">
                <a:solidFill>
                  <a:schemeClr val="tx1"/>
                </a:solidFill>
                <a:latin typeface="Times New Roman" panose="02020603050405020304" pitchFamily="18" charset="0"/>
                <a:cs typeface="Times New Roman" panose="02020603050405020304" pitchFamily="18" charset="0"/>
              </a:rPr>
              <a:t>Gaphi</a:t>
            </a:r>
            <a:r>
              <a:rPr lang="en-US" altLang="en-US" dirty="0" smtClean="0">
                <a:solidFill>
                  <a:schemeClr val="tx1"/>
                </a:solidFill>
                <a:latin typeface="Times New Roman" panose="02020603050405020304" pitchFamily="18" charset="0"/>
                <a:cs typeface="Times New Roman" panose="02020603050405020304" pitchFamily="18" charset="0"/>
              </a:rPr>
              <a:t>/</a:t>
            </a:r>
            <a:r>
              <a:rPr lang="en-US" altLang="en-US" dirty="0" err="1" smtClean="0">
                <a:solidFill>
                  <a:schemeClr val="tx1"/>
                </a:solidFill>
                <a:latin typeface="Times New Roman" panose="02020603050405020304" pitchFamily="18" charset="0"/>
                <a:cs typeface="Times New Roman" panose="02020603050405020304" pitchFamily="18" charset="0"/>
              </a:rPr>
              <a:t>Citespace</a:t>
            </a:r>
            <a:endParaRPr lang="en-US" altLang="en-US" dirty="0">
              <a:solidFill>
                <a:schemeClr val="tx1"/>
              </a:solidFill>
              <a:latin typeface="Times New Roman" panose="02020603050405020304" pitchFamily="18" charset="0"/>
              <a:cs typeface="Times New Roman" panose="02020603050405020304" pitchFamily="18" charset="0"/>
            </a:endParaRPr>
          </a:p>
          <a:p>
            <a:r>
              <a:rPr lang="en-US" altLang="en-US" dirty="0">
                <a:solidFill>
                  <a:schemeClr val="tx1"/>
                </a:solidFill>
                <a:latin typeface="Times New Roman" panose="02020603050405020304" pitchFamily="18" charset="0"/>
                <a:cs typeface="Times New Roman" panose="02020603050405020304" pitchFamily="18" charset="0"/>
              </a:rPr>
              <a:t>Apache Spark / Hadoop</a:t>
            </a:r>
          </a:p>
          <a:p>
            <a:r>
              <a:rPr lang="en-US" altLang="en-US" dirty="0">
                <a:solidFill>
                  <a:schemeClr val="tx1"/>
                </a:solidFill>
                <a:latin typeface="Times New Roman" panose="02020603050405020304" pitchFamily="18" charset="0"/>
                <a:cs typeface="Times New Roman" panose="02020603050405020304" pitchFamily="18" charset="0"/>
              </a:rPr>
              <a:t>SQL-based tools</a:t>
            </a:r>
          </a:p>
        </p:txBody>
      </p:sp>
    </p:spTree>
    <p:extLst>
      <p:ext uri="{BB962C8B-B14F-4D97-AF65-F5344CB8AC3E}">
        <p14:creationId xmlns:p14="http://schemas.microsoft.com/office/powerpoint/2010/main" val="124396075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37"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animEffect transition="in" filter="fade">
                                      <p:cBhvr>
                                        <p:cTn id="15" dur="1000"/>
                                        <p:tgtEl>
                                          <p:spTgt spid="4">
                                            <p:txEl>
                                              <p:pRg st="0" end="0"/>
                                            </p:txEl>
                                          </p:spTgt>
                                        </p:tgtEl>
                                      </p:cBhvr>
                                    </p:animEffect>
                                    <p:anim calcmode="lin" valueType="num">
                                      <p:cBhvr>
                                        <p:cTn id="16"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7" dur="900" decel="100000" fill="hold"/>
                                        <p:tgtEl>
                                          <p:spTgt spid="4">
                                            <p:txEl>
                                              <p:pRg st="0" end="0"/>
                                            </p:txEl>
                                          </p:spTgt>
                                        </p:tgtEl>
                                        <p:attrNameLst>
                                          <p:attrName>ppt_y</p:attrName>
                                        </p:attrNameLst>
                                      </p:cBhvr>
                                      <p:tavLst>
                                        <p:tav tm="0">
                                          <p:val>
                                            <p:strVal val="#ppt_y+1"/>
                                          </p:val>
                                        </p:tav>
                                        <p:tav tm="100000">
                                          <p:val>
                                            <p:strVal val="#ppt_y-.03"/>
                                          </p:val>
                                        </p:tav>
                                      </p:tavLst>
                                    </p:anim>
                                    <p:anim calcmode="lin" valueType="num">
                                      <p:cBhvr>
                                        <p:cTn id="18" dur="100" accel="100000" fill="hold">
                                          <p:stCondLst>
                                            <p:cond delay="900"/>
                                          </p:stCondLst>
                                        </p:cTn>
                                        <p:tgtEl>
                                          <p:spTgt spid="4">
                                            <p:txEl>
                                              <p:pRg st="0" end="0"/>
                                            </p:txEl>
                                          </p:spTgt>
                                        </p:tgtEl>
                                        <p:attrNameLst>
                                          <p:attrName>ppt_y</p:attrName>
                                        </p:attrNameLst>
                                      </p:cBhvr>
                                      <p:tavLst>
                                        <p:tav tm="0">
                                          <p:val>
                                            <p:strVal val="#ppt_y-.03"/>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7" presetClass="entr" presetSubtype="0" fill="hold" grpId="0" nodeType="click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animEffect transition="in" filter="fade">
                                      <p:cBhvr>
                                        <p:cTn id="23" dur="1000"/>
                                        <p:tgtEl>
                                          <p:spTgt spid="4">
                                            <p:txEl>
                                              <p:pRg st="1" end="1"/>
                                            </p:txEl>
                                          </p:spTgt>
                                        </p:tgtEl>
                                      </p:cBhvr>
                                    </p:animEffect>
                                    <p:anim calcmode="lin" valueType="num">
                                      <p:cBhvr>
                                        <p:cTn id="24"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25" dur="900" decel="100000" fill="hold"/>
                                        <p:tgtEl>
                                          <p:spTgt spid="4">
                                            <p:txEl>
                                              <p:pRg st="1" end="1"/>
                                            </p:txEl>
                                          </p:spTgt>
                                        </p:tgtEl>
                                        <p:attrNameLst>
                                          <p:attrName>ppt_y</p:attrName>
                                        </p:attrNameLst>
                                      </p:cBhvr>
                                      <p:tavLst>
                                        <p:tav tm="0">
                                          <p:val>
                                            <p:strVal val="#ppt_y+1"/>
                                          </p:val>
                                        </p:tav>
                                        <p:tav tm="100000">
                                          <p:val>
                                            <p:strVal val="#ppt_y-.03"/>
                                          </p:val>
                                        </p:tav>
                                      </p:tavLst>
                                    </p:anim>
                                    <p:anim calcmode="lin" valueType="num">
                                      <p:cBhvr>
                                        <p:cTn id="26" dur="100" accel="100000" fill="hold">
                                          <p:stCondLst>
                                            <p:cond delay="900"/>
                                          </p:stCondLst>
                                        </p:cTn>
                                        <p:tgtEl>
                                          <p:spTgt spid="4">
                                            <p:txEl>
                                              <p:pRg st="1" end="1"/>
                                            </p:txEl>
                                          </p:spTgt>
                                        </p:tgtEl>
                                        <p:attrNameLst>
                                          <p:attrName>ppt_y</p:attrName>
                                        </p:attrNameLst>
                                      </p:cBhvr>
                                      <p:tavLst>
                                        <p:tav tm="0">
                                          <p:val>
                                            <p:strVal val="#ppt_y-.03"/>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37" presetClass="entr" presetSubtype="0" fill="hold" grpId="0" nodeType="clickEffect">
                                  <p:stCondLst>
                                    <p:cond delay="0"/>
                                  </p:stCondLst>
                                  <p:childTnLst>
                                    <p:set>
                                      <p:cBhvr>
                                        <p:cTn id="30" dur="1" fill="hold">
                                          <p:stCondLst>
                                            <p:cond delay="0"/>
                                          </p:stCondLst>
                                        </p:cTn>
                                        <p:tgtEl>
                                          <p:spTgt spid="4">
                                            <p:txEl>
                                              <p:pRg st="2" end="2"/>
                                            </p:txEl>
                                          </p:spTgt>
                                        </p:tgtEl>
                                        <p:attrNameLst>
                                          <p:attrName>style.visibility</p:attrName>
                                        </p:attrNameLst>
                                      </p:cBhvr>
                                      <p:to>
                                        <p:strVal val="visible"/>
                                      </p:to>
                                    </p:set>
                                    <p:animEffect transition="in" filter="fade">
                                      <p:cBhvr>
                                        <p:cTn id="31" dur="1000"/>
                                        <p:tgtEl>
                                          <p:spTgt spid="4">
                                            <p:txEl>
                                              <p:pRg st="2" end="2"/>
                                            </p:txEl>
                                          </p:spTgt>
                                        </p:tgtEl>
                                      </p:cBhvr>
                                    </p:animEffect>
                                    <p:anim calcmode="lin" valueType="num">
                                      <p:cBhvr>
                                        <p:cTn id="3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33" dur="900" decel="100000" fill="hold"/>
                                        <p:tgtEl>
                                          <p:spTgt spid="4">
                                            <p:txEl>
                                              <p:pRg st="2" end="2"/>
                                            </p:txEl>
                                          </p:spTgt>
                                        </p:tgtEl>
                                        <p:attrNameLst>
                                          <p:attrName>ppt_y</p:attrName>
                                        </p:attrNameLst>
                                      </p:cBhvr>
                                      <p:tavLst>
                                        <p:tav tm="0">
                                          <p:val>
                                            <p:strVal val="#ppt_y+1"/>
                                          </p:val>
                                        </p:tav>
                                        <p:tav tm="100000">
                                          <p:val>
                                            <p:strVal val="#ppt_y-.03"/>
                                          </p:val>
                                        </p:tav>
                                      </p:tavLst>
                                    </p:anim>
                                    <p:anim calcmode="lin" valueType="num">
                                      <p:cBhvr>
                                        <p:cTn id="34" dur="100" accel="100000" fill="hold">
                                          <p:stCondLst>
                                            <p:cond delay="900"/>
                                          </p:stCondLst>
                                        </p:cTn>
                                        <p:tgtEl>
                                          <p:spTgt spid="4">
                                            <p:txEl>
                                              <p:pRg st="2" end="2"/>
                                            </p:txEl>
                                          </p:spTgt>
                                        </p:tgtEl>
                                        <p:attrNameLst>
                                          <p:attrName>ppt_y</p:attrName>
                                        </p:attrNameLst>
                                      </p:cBhvr>
                                      <p:tavLst>
                                        <p:tav tm="0">
                                          <p:val>
                                            <p:strVal val="#ppt_y-.03"/>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37" presetClass="entr" presetSubtype="0" fill="hold" grpId="0" nodeType="clickEffect">
                                  <p:stCondLst>
                                    <p:cond delay="0"/>
                                  </p:stCondLst>
                                  <p:childTnLst>
                                    <p:set>
                                      <p:cBhvr>
                                        <p:cTn id="38" dur="1" fill="hold">
                                          <p:stCondLst>
                                            <p:cond delay="0"/>
                                          </p:stCondLst>
                                        </p:cTn>
                                        <p:tgtEl>
                                          <p:spTgt spid="4">
                                            <p:txEl>
                                              <p:pRg st="3" end="3"/>
                                            </p:txEl>
                                          </p:spTgt>
                                        </p:tgtEl>
                                        <p:attrNameLst>
                                          <p:attrName>style.visibility</p:attrName>
                                        </p:attrNameLst>
                                      </p:cBhvr>
                                      <p:to>
                                        <p:strVal val="visible"/>
                                      </p:to>
                                    </p:set>
                                    <p:animEffect transition="in" filter="fade">
                                      <p:cBhvr>
                                        <p:cTn id="39" dur="1000"/>
                                        <p:tgtEl>
                                          <p:spTgt spid="4">
                                            <p:txEl>
                                              <p:pRg st="3" end="3"/>
                                            </p:txEl>
                                          </p:spTgt>
                                        </p:tgtEl>
                                      </p:cBhvr>
                                    </p:animEffect>
                                    <p:anim calcmode="lin" valueType="num">
                                      <p:cBhvr>
                                        <p:cTn id="40"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41" dur="900" decel="100000" fill="hold"/>
                                        <p:tgtEl>
                                          <p:spTgt spid="4">
                                            <p:txEl>
                                              <p:pRg st="3" end="3"/>
                                            </p:txEl>
                                          </p:spTgt>
                                        </p:tgtEl>
                                        <p:attrNameLst>
                                          <p:attrName>ppt_y</p:attrName>
                                        </p:attrNameLst>
                                      </p:cBhvr>
                                      <p:tavLst>
                                        <p:tav tm="0">
                                          <p:val>
                                            <p:strVal val="#ppt_y+1"/>
                                          </p:val>
                                        </p:tav>
                                        <p:tav tm="100000">
                                          <p:val>
                                            <p:strVal val="#ppt_y-.03"/>
                                          </p:val>
                                        </p:tav>
                                      </p:tavLst>
                                    </p:anim>
                                    <p:anim calcmode="lin" valueType="num">
                                      <p:cBhvr>
                                        <p:cTn id="42" dur="100" accel="100000" fill="hold">
                                          <p:stCondLst>
                                            <p:cond delay="900"/>
                                          </p:stCondLst>
                                        </p:cTn>
                                        <p:tgtEl>
                                          <p:spTgt spid="4">
                                            <p:txEl>
                                              <p:pRg st="3" end="3"/>
                                            </p:txEl>
                                          </p:spTgt>
                                        </p:tgtEl>
                                        <p:attrNameLst>
                                          <p:attrName>ppt_y</p:attrName>
                                        </p:attrNameLst>
                                      </p:cBhvr>
                                      <p:tavLst>
                                        <p:tav tm="0">
                                          <p:val>
                                            <p:strVal val="#ppt_y-.03"/>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37" presetClass="entr" presetSubtype="0" fill="hold" grpId="0" nodeType="clickEffect">
                                  <p:stCondLst>
                                    <p:cond delay="0"/>
                                  </p:stCondLst>
                                  <p:childTnLst>
                                    <p:set>
                                      <p:cBhvr>
                                        <p:cTn id="46" dur="1" fill="hold">
                                          <p:stCondLst>
                                            <p:cond delay="0"/>
                                          </p:stCondLst>
                                        </p:cTn>
                                        <p:tgtEl>
                                          <p:spTgt spid="4">
                                            <p:txEl>
                                              <p:pRg st="4" end="4"/>
                                            </p:txEl>
                                          </p:spTgt>
                                        </p:tgtEl>
                                        <p:attrNameLst>
                                          <p:attrName>style.visibility</p:attrName>
                                        </p:attrNameLst>
                                      </p:cBhvr>
                                      <p:to>
                                        <p:strVal val="visible"/>
                                      </p:to>
                                    </p:set>
                                    <p:animEffect transition="in" filter="fade">
                                      <p:cBhvr>
                                        <p:cTn id="47" dur="1000"/>
                                        <p:tgtEl>
                                          <p:spTgt spid="4">
                                            <p:txEl>
                                              <p:pRg st="4" end="4"/>
                                            </p:txEl>
                                          </p:spTgt>
                                        </p:tgtEl>
                                      </p:cBhvr>
                                    </p:animEffect>
                                    <p:anim calcmode="lin" valueType="num">
                                      <p:cBhvr>
                                        <p:cTn id="48"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49" dur="900" decel="100000" fill="hold"/>
                                        <p:tgtEl>
                                          <p:spTgt spid="4">
                                            <p:txEl>
                                              <p:pRg st="4" end="4"/>
                                            </p:txEl>
                                          </p:spTgt>
                                        </p:tgtEl>
                                        <p:attrNameLst>
                                          <p:attrName>ppt_y</p:attrName>
                                        </p:attrNameLst>
                                      </p:cBhvr>
                                      <p:tavLst>
                                        <p:tav tm="0">
                                          <p:val>
                                            <p:strVal val="#ppt_y+1"/>
                                          </p:val>
                                        </p:tav>
                                        <p:tav tm="100000">
                                          <p:val>
                                            <p:strVal val="#ppt_y-.03"/>
                                          </p:val>
                                        </p:tav>
                                      </p:tavLst>
                                    </p:anim>
                                    <p:anim calcmode="lin" valueType="num">
                                      <p:cBhvr>
                                        <p:cTn id="50" dur="100" accel="100000" fill="hold">
                                          <p:stCondLst>
                                            <p:cond delay="900"/>
                                          </p:stCondLst>
                                        </p:cTn>
                                        <p:tgtEl>
                                          <p:spTgt spid="4">
                                            <p:txEl>
                                              <p:pRg st="4" end="4"/>
                                            </p:txEl>
                                          </p:spTgt>
                                        </p:tgtEl>
                                        <p:attrNameLst>
                                          <p:attrName>ppt_y</p:attrName>
                                        </p:attrNameLst>
                                      </p:cBhvr>
                                      <p:tavLst>
                                        <p:tav tm="0">
                                          <p:val>
                                            <p:strVal val="#ppt_y-.03"/>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37" presetClass="entr" presetSubtype="0" fill="hold" grpId="0" nodeType="clickEffect">
                                  <p:stCondLst>
                                    <p:cond delay="0"/>
                                  </p:stCondLst>
                                  <p:childTnLst>
                                    <p:set>
                                      <p:cBhvr>
                                        <p:cTn id="54" dur="1" fill="hold">
                                          <p:stCondLst>
                                            <p:cond delay="0"/>
                                          </p:stCondLst>
                                        </p:cTn>
                                        <p:tgtEl>
                                          <p:spTgt spid="4">
                                            <p:txEl>
                                              <p:pRg st="5" end="5"/>
                                            </p:txEl>
                                          </p:spTgt>
                                        </p:tgtEl>
                                        <p:attrNameLst>
                                          <p:attrName>style.visibility</p:attrName>
                                        </p:attrNameLst>
                                      </p:cBhvr>
                                      <p:to>
                                        <p:strVal val="visible"/>
                                      </p:to>
                                    </p:set>
                                    <p:animEffect transition="in" filter="fade">
                                      <p:cBhvr>
                                        <p:cTn id="55" dur="1000"/>
                                        <p:tgtEl>
                                          <p:spTgt spid="4">
                                            <p:txEl>
                                              <p:pRg st="5" end="5"/>
                                            </p:txEl>
                                          </p:spTgt>
                                        </p:tgtEl>
                                      </p:cBhvr>
                                    </p:animEffect>
                                    <p:anim calcmode="lin" valueType="num">
                                      <p:cBhvr>
                                        <p:cTn id="56"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57" dur="900" decel="100000" fill="hold"/>
                                        <p:tgtEl>
                                          <p:spTgt spid="4">
                                            <p:txEl>
                                              <p:pRg st="5" end="5"/>
                                            </p:txEl>
                                          </p:spTgt>
                                        </p:tgtEl>
                                        <p:attrNameLst>
                                          <p:attrName>ppt_y</p:attrName>
                                        </p:attrNameLst>
                                      </p:cBhvr>
                                      <p:tavLst>
                                        <p:tav tm="0">
                                          <p:val>
                                            <p:strVal val="#ppt_y+1"/>
                                          </p:val>
                                        </p:tav>
                                        <p:tav tm="100000">
                                          <p:val>
                                            <p:strVal val="#ppt_y-.03"/>
                                          </p:val>
                                        </p:tav>
                                      </p:tavLst>
                                    </p:anim>
                                    <p:anim calcmode="lin" valueType="num">
                                      <p:cBhvr>
                                        <p:cTn id="58" dur="100" accel="100000" fill="hold">
                                          <p:stCondLst>
                                            <p:cond delay="900"/>
                                          </p:stCondLst>
                                        </p:cTn>
                                        <p:tgtEl>
                                          <p:spTgt spid="4">
                                            <p:txEl>
                                              <p:pRg st="5" end="5"/>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P spid="4" grpId="0" build="p"/>
      <p:bldP spid="4" grpI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21</a:t>
            </a:fld>
            <a:endParaRPr lang="en-US"/>
          </a:p>
        </p:txBody>
      </p:sp>
      <p:sp>
        <p:nvSpPr>
          <p:cNvPr id="8" name="Title 1"/>
          <p:cNvSpPr>
            <a:spLocks noGrp="1"/>
          </p:cNvSpPr>
          <p:nvPr>
            <p:ph type="title"/>
          </p:nvPr>
        </p:nvSpPr>
        <p:spPr>
          <a:xfrm>
            <a:off x="1553226" y="0"/>
            <a:ext cx="5461349" cy="1143000"/>
          </a:xfrm>
        </p:spPr>
        <p:txBody>
          <a:bodyPr/>
          <a:lstStyle/>
          <a:p>
            <a:pPr algn="ctr"/>
            <a:r>
              <a:rPr lang="en-US" altLang="en-US" sz="3600" dirty="0">
                <a:solidFill>
                  <a:schemeClr val="bg1"/>
                </a:solidFill>
                <a:latin typeface="Times New Roman" panose="02020603050405020304" pitchFamily="18" charset="0"/>
                <a:cs typeface="Times New Roman" panose="02020603050405020304" pitchFamily="18" charset="0"/>
              </a:rPr>
              <a:t>Reference</a:t>
            </a:r>
          </a:p>
        </p:txBody>
      </p:sp>
      <p:sp>
        <p:nvSpPr>
          <p:cNvPr id="4" name="Content Placeholder 3"/>
          <p:cNvSpPr>
            <a:spLocks noGrp="1"/>
          </p:cNvSpPr>
          <p:nvPr>
            <p:ph idx="1"/>
          </p:nvPr>
        </p:nvSpPr>
        <p:spPr/>
        <p:txBody>
          <a:bodyPr/>
          <a:lstStyle/>
          <a:p>
            <a:r>
              <a:rPr lang="en-US" altLang="en-US" dirty="0">
                <a:solidFill>
                  <a:schemeClr val="tx1"/>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xmlns="" val="tx"/>
                    </a:ext>
                  </a:extLst>
                </a:hlinkClick>
              </a:rPr>
              <a:t>https://www.youtube.com/watch?v=dUm3ptTQr0Q</a:t>
            </a:r>
            <a:endParaRPr lang="en-US" altLang="en-US" dirty="0">
              <a:solidFill>
                <a:schemeClr val="tx1"/>
              </a:solidFill>
              <a:latin typeface="Times New Roman" panose="02020603050405020304" pitchFamily="18" charset="0"/>
              <a:cs typeface="Times New Roman" panose="02020603050405020304" pitchFamily="18" charset="0"/>
            </a:endParaRPr>
          </a:p>
          <a:p>
            <a:r>
              <a:rPr lang="en-US" altLang="en-US" dirty="0">
                <a:solidFill>
                  <a:schemeClr val="tx1"/>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xmlns="" val="tx"/>
                    </a:ext>
                  </a:extLst>
                </a:hlinkClick>
              </a:rPr>
              <a:t>https://www.geeksforgeeks.org/data-science/introduction-to-data-mining/</a:t>
            </a:r>
            <a:endParaRPr lang="en-US" altLang="en-US" dirty="0">
              <a:solidFill>
                <a:schemeClr val="tx1"/>
              </a:solidFill>
              <a:latin typeface="Times New Roman" panose="02020603050405020304" pitchFamily="18" charset="0"/>
              <a:cs typeface="Times New Roman" panose="02020603050405020304" pitchFamily="18" charset="0"/>
            </a:endParaRPr>
          </a:p>
          <a:p>
            <a:r>
              <a:rPr lang="en-US" altLang="en-US" dirty="0">
                <a:solidFill>
                  <a:schemeClr val="tx1"/>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xmlns="" val="tx"/>
                    </a:ext>
                  </a:extLst>
                </a:hlinkClick>
              </a:rPr>
              <a:t>https://www.slideshare.net/slideshow/introduction-to-data-mining-250399474/250399474</a:t>
            </a:r>
            <a:endParaRPr lang="en-US" altLang="en-US" dirty="0">
              <a:solidFill>
                <a:schemeClr val="tx1"/>
              </a:solidFill>
              <a:latin typeface="Times New Roman" panose="02020603050405020304" pitchFamily="18" charset="0"/>
              <a:cs typeface="Times New Roman" panose="02020603050405020304" pitchFamily="18" charset="0"/>
            </a:endParaRPr>
          </a:p>
          <a:p>
            <a:r>
              <a:rPr lang="en-US" altLang="en-US" dirty="0">
                <a:solidFill>
                  <a:schemeClr val="tx1"/>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xmlns="" val="tx"/>
                    </a:ext>
                  </a:extLst>
                </a:hlinkClick>
              </a:rPr>
              <a:t>https://www.slideshare.net/slideshow/data-mining-applications-78279442/78279442</a:t>
            </a:r>
            <a:endParaRPr lang="en-US" altLang="en-US" dirty="0">
              <a:solidFill>
                <a:schemeClr val="tx1"/>
              </a:solidFill>
              <a:latin typeface="Times New Roman" panose="02020603050405020304" pitchFamily="18" charset="0"/>
              <a:cs typeface="Times New Roman" panose="02020603050405020304" pitchFamily="18" charset="0"/>
            </a:endParaRPr>
          </a:p>
          <a:p>
            <a:endParaRPr lang="en-US" altLang="en-US" dirty="0">
              <a:solidFill>
                <a:schemeClr val="tx1"/>
              </a:solidFill>
              <a:latin typeface="Times New Roman" panose="02020603050405020304" pitchFamily="18" charset="0"/>
              <a:cs typeface="Times New Roman" panose="02020603050405020304" pitchFamily="18" charset="0"/>
            </a:endParaRPr>
          </a:p>
          <a:p>
            <a:endParaRPr lang="en-US" altLang="en-US"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37"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animEffect transition="in" filter="fade">
                                      <p:cBhvr>
                                        <p:cTn id="15" dur="1000"/>
                                        <p:tgtEl>
                                          <p:spTgt spid="4">
                                            <p:txEl>
                                              <p:pRg st="0" end="0"/>
                                            </p:txEl>
                                          </p:spTgt>
                                        </p:tgtEl>
                                      </p:cBhvr>
                                    </p:animEffect>
                                    <p:anim calcmode="lin" valueType="num">
                                      <p:cBhvr>
                                        <p:cTn id="16"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7" dur="900" decel="100000" fill="hold"/>
                                        <p:tgtEl>
                                          <p:spTgt spid="4">
                                            <p:txEl>
                                              <p:pRg st="0" end="0"/>
                                            </p:txEl>
                                          </p:spTgt>
                                        </p:tgtEl>
                                        <p:attrNameLst>
                                          <p:attrName>ppt_y</p:attrName>
                                        </p:attrNameLst>
                                      </p:cBhvr>
                                      <p:tavLst>
                                        <p:tav tm="0">
                                          <p:val>
                                            <p:strVal val="#ppt_y+1"/>
                                          </p:val>
                                        </p:tav>
                                        <p:tav tm="100000">
                                          <p:val>
                                            <p:strVal val="#ppt_y-.03"/>
                                          </p:val>
                                        </p:tav>
                                      </p:tavLst>
                                    </p:anim>
                                    <p:anim calcmode="lin" valueType="num">
                                      <p:cBhvr>
                                        <p:cTn id="18" dur="100" accel="100000" fill="hold">
                                          <p:stCondLst>
                                            <p:cond delay="900"/>
                                          </p:stCondLst>
                                        </p:cTn>
                                        <p:tgtEl>
                                          <p:spTgt spid="4">
                                            <p:txEl>
                                              <p:pRg st="0" end="0"/>
                                            </p:txEl>
                                          </p:spTgt>
                                        </p:tgtEl>
                                        <p:attrNameLst>
                                          <p:attrName>ppt_y</p:attrName>
                                        </p:attrNameLst>
                                      </p:cBhvr>
                                      <p:tavLst>
                                        <p:tav tm="0">
                                          <p:val>
                                            <p:strVal val="#ppt_y-.03"/>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7" presetClass="entr" presetSubtype="0" fill="hold" grpId="0" nodeType="click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animEffect transition="in" filter="fade">
                                      <p:cBhvr>
                                        <p:cTn id="23" dur="1000"/>
                                        <p:tgtEl>
                                          <p:spTgt spid="4">
                                            <p:txEl>
                                              <p:pRg st="1" end="1"/>
                                            </p:txEl>
                                          </p:spTgt>
                                        </p:tgtEl>
                                      </p:cBhvr>
                                    </p:animEffect>
                                    <p:anim calcmode="lin" valueType="num">
                                      <p:cBhvr>
                                        <p:cTn id="24"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25" dur="900" decel="100000" fill="hold"/>
                                        <p:tgtEl>
                                          <p:spTgt spid="4">
                                            <p:txEl>
                                              <p:pRg st="1" end="1"/>
                                            </p:txEl>
                                          </p:spTgt>
                                        </p:tgtEl>
                                        <p:attrNameLst>
                                          <p:attrName>ppt_y</p:attrName>
                                        </p:attrNameLst>
                                      </p:cBhvr>
                                      <p:tavLst>
                                        <p:tav tm="0">
                                          <p:val>
                                            <p:strVal val="#ppt_y+1"/>
                                          </p:val>
                                        </p:tav>
                                        <p:tav tm="100000">
                                          <p:val>
                                            <p:strVal val="#ppt_y-.03"/>
                                          </p:val>
                                        </p:tav>
                                      </p:tavLst>
                                    </p:anim>
                                    <p:anim calcmode="lin" valueType="num">
                                      <p:cBhvr>
                                        <p:cTn id="26" dur="100" accel="100000" fill="hold">
                                          <p:stCondLst>
                                            <p:cond delay="900"/>
                                          </p:stCondLst>
                                        </p:cTn>
                                        <p:tgtEl>
                                          <p:spTgt spid="4">
                                            <p:txEl>
                                              <p:pRg st="1" end="1"/>
                                            </p:txEl>
                                          </p:spTgt>
                                        </p:tgtEl>
                                        <p:attrNameLst>
                                          <p:attrName>ppt_y</p:attrName>
                                        </p:attrNameLst>
                                      </p:cBhvr>
                                      <p:tavLst>
                                        <p:tav tm="0">
                                          <p:val>
                                            <p:strVal val="#ppt_y-.03"/>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37" presetClass="entr" presetSubtype="0" fill="hold" grpId="0" nodeType="clickEffect">
                                  <p:stCondLst>
                                    <p:cond delay="0"/>
                                  </p:stCondLst>
                                  <p:childTnLst>
                                    <p:set>
                                      <p:cBhvr>
                                        <p:cTn id="30" dur="1" fill="hold">
                                          <p:stCondLst>
                                            <p:cond delay="0"/>
                                          </p:stCondLst>
                                        </p:cTn>
                                        <p:tgtEl>
                                          <p:spTgt spid="4">
                                            <p:txEl>
                                              <p:pRg st="2" end="2"/>
                                            </p:txEl>
                                          </p:spTgt>
                                        </p:tgtEl>
                                        <p:attrNameLst>
                                          <p:attrName>style.visibility</p:attrName>
                                        </p:attrNameLst>
                                      </p:cBhvr>
                                      <p:to>
                                        <p:strVal val="visible"/>
                                      </p:to>
                                    </p:set>
                                    <p:animEffect transition="in" filter="fade">
                                      <p:cBhvr>
                                        <p:cTn id="31" dur="1000"/>
                                        <p:tgtEl>
                                          <p:spTgt spid="4">
                                            <p:txEl>
                                              <p:pRg st="2" end="2"/>
                                            </p:txEl>
                                          </p:spTgt>
                                        </p:tgtEl>
                                      </p:cBhvr>
                                    </p:animEffect>
                                    <p:anim calcmode="lin" valueType="num">
                                      <p:cBhvr>
                                        <p:cTn id="3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33" dur="900" decel="100000" fill="hold"/>
                                        <p:tgtEl>
                                          <p:spTgt spid="4">
                                            <p:txEl>
                                              <p:pRg st="2" end="2"/>
                                            </p:txEl>
                                          </p:spTgt>
                                        </p:tgtEl>
                                        <p:attrNameLst>
                                          <p:attrName>ppt_y</p:attrName>
                                        </p:attrNameLst>
                                      </p:cBhvr>
                                      <p:tavLst>
                                        <p:tav tm="0">
                                          <p:val>
                                            <p:strVal val="#ppt_y+1"/>
                                          </p:val>
                                        </p:tav>
                                        <p:tav tm="100000">
                                          <p:val>
                                            <p:strVal val="#ppt_y-.03"/>
                                          </p:val>
                                        </p:tav>
                                      </p:tavLst>
                                    </p:anim>
                                    <p:anim calcmode="lin" valueType="num">
                                      <p:cBhvr>
                                        <p:cTn id="34" dur="100" accel="100000" fill="hold">
                                          <p:stCondLst>
                                            <p:cond delay="900"/>
                                          </p:stCondLst>
                                        </p:cTn>
                                        <p:tgtEl>
                                          <p:spTgt spid="4">
                                            <p:txEl>
                                              <p:pRg st="2" end="2"/>
                                            </p:txEl>
                                          </p:spTgt>
                                        </p:tgtEl>
                                        <p:attrNameLst>
                                          <p:attrName>ppt_y</p:attrName>
                                        </p:attrNameLst>
                                      </p:cBhvr>
                                      <p:tavLst>
                                        <p:tav tm="0">
                                          <p:val>
                                            <p:strVal val="#ppt_y-.03"/>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37" presetClass="entr" presetSubtype="0" fill="hold" grpId="0" nodeType="clickEffect">
                                  <p:stCondLst>
                                    <p:cond delay="0"/>
                                  </p:stCondLst>
                                  <p:childTnLst>
                                    <p:set>
                                      <p:cBhvr>
                                        <p:cTn id="38" dur="1" fill="hold">
                                          <p:stCondLst>
                                            <p:cond delay="0"/>
                                          </p:stCondLst>
                                        </p:cTn>
                                        <p:tgtEl>
                                          <p:spTgt spid="4">
                                            <p:txEl>
                                              <p:pRg st="3" end="3"/>
                                            </p:txEl>
                                          </p:spTgt>
                                        </p:tgtEl>
                                        <p:attrNameLst>
                                          <p:attrName>style.visibility</p:attrName>
                                        </p:attrNameLst>
                                      </p:cBhvr>
                                      <p:to>
                                        <p:strVal val="visible"/>
                                      </p:to>
                                    </p:set>
                                    <p:animEffect transition="in" filter="fade">
                                      <p:cBhvr>
                                        <p:cTn id="39" dur="1000"/>
                                        <p:tgtEl>
                                          <p:spTgt spid="4">
                                            <p:txEl>
                                              <p:pRg st="3" end="3"/>
                                            </p:txEl>
                                          </p:spTgt>
                                        </p:tgtEl>
                                      </p:cBhvr>
                                    </p:animEffect>
                                    <p:anim calcmode="lin" valueType="num">
                                      <p:cBhvr>
                                        <p:cTn id="40"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41" dur="900" decel="100000" fill="hold"/>
                                        <p:tgtEl>
                                          <p:spTgt spid="4">
                                            <p:txEl>
                                              <p:pRg st="3" end="3"/>
                                            </p:txEl>
                                          </p:spTgt>
                                        </p:tgtEl>
                                        <p:attrNameLst>
                                          <p:attrName>ppt_y</p:attrName>
                                        </p:attrNameLst>
                                      </p:cBhvr>
                                      <p:tavLst>
                                        <p:tav tm="0">
                                          <p:val>
                                            <p:strVal val="#ppt_y+1"/>
                                          </p:val>
                                        </p:tav>
                                        <p:tav tm="100000">
                                          <p:val>
                                            <p:strVal val="#ppt_y-.03"/>
                                          </p:val>
                                        </p:tav>
                                      </p:tavLst>
                                    </p:anim>
                                    <p:anim calcmode="lin" valueType="num">
                                      <p:cBhvr>
                                        <p:cTn id="42" dur="100" accel="100000" fill="hold">
                                          <p:stCondLst>
                                            <p:cond delay="900"/>
                                          </p:stCondLst>
                                        </p:cTn>
                                        <p:tgtEl>
                                          <p:spTgt spid="4">
                                            <p:txEl>
                                              <p:pRg st="3" end="3"/>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P spid="4" grpId="0" build="p"/>
      <p:bldP spid="4" grpI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381000"/>
            <a:ext cx="5257800" cy="762000"/>
          </a:xfrm>
        </p:spPr>
        <p:txBody>
          <a:bodyPr>
            <a:noAutofit/>
          </a:bodyPr>
          <a:lstStyle/>
          <a:p>
            <a:pPr algn="ctr"/>
            <a:r>
              <a:rPr lang="en-US" sz="4400" b="1" dirty="0">
                <a:solidFill>
                  <a:schemeClr val="bg1"/>
                </a:solidFill>
                <a:latin typeface="Times New Roman" panose="02020603050405020304" pitchFamily="18" charset="0"/>
                <a:cs typeface="Times New Roman" panose="02020603050405020304" pitchFamily="18" charset="0"/>
                <a:sym typeface="+mn-ea"/>
              </a:rPr>
              <a:t>Advice</a:t>
            </a:r>
          </a:p>
        </p:txBody>
      </p:sp>
      <p:sp>
        <p:nvSpPr>
          <p:cNvPr id="3" name="Content Placeholder 2"/>
          <p:cNvSpPr>
            <a:spLocks noGrp="1"/>
          </p:cNvSpPr>
          <p:nvPr>
            <p:ph sz="quarter" idx="1"/>
          </p:nvPr>
        </p:nvSpPr>
        <p:spPr>
          <a:xfrm>
            <a:off x="381000" y="1219200"/>
            <a:ext cx="8458200" cy="5334000"/>
          </a:xfrm>
        </p:spPr>
        <p:txBody>
          <a:bodyPr>
            <a:normAutofit/>
          </a:bodyPr>
          <a:lstStyle/>
          <a:p>
            <a:pPr marL="0" indent="0" algn="ctr">
              <a:lnSpc>
                <a:spcPct val="120000"/>
              </a:lnSpc>
              <a:buNone/>
            </a:pPr>
            <a:endParaRPr lang="en-US" sz="2800" b="1" dirty="0">
              <a:solidFill>
                <a:srgbClr val="C00000"/>
              </a:solidFill>
              <a:latin typeface="Arial Black" panose="020B0A04020102020204" charset="0"/>
              <a:cs typeface="Arial Black" panose="020B0A04020102020204" charset="0"/>
              <a:sym typeface="+mn-ea"/>
            </a:endParaRPr>
          </a:p>
          <a:p>
            <a:pPr marL="0" indent="0" algn="ctr">
              <a:lnSpc>
                <a:spcPct val="120000"/>
              </a:lnSpc>
              <a:buNone/>
            </a:pPr>
            <a:endParaRPr lang="en-US" sz="2800" b="1" dirty="0">
              <a:solidFill>
                <a:srgbClr val="C00000"/>
              </a:solidFill>
              <a:latin typeface="Arial Black" panose="020B0A04020102020204" charset="0"/>
              <a:cs typeface="Arial Black" panose="020B0A04020102020204" charset="0"/>
              <a:sym typeface="+mn-ea"/>
            </a:endParaRPr>
          </a:p>
          <a:p>
            <a:pPr marL="0" indent="0" algn="ctr">
              <a:lnSpc>
                <a:spcPct val="120000"/>
              </a:lnSpc>
              <a:buNone/>
            </a:pPr>
            <a:r>
              <a:rPr lang="en-US" sz="2800" b="1" dirty="0">
                <a:solidFill>
                  <a:srgbClr val="C00000"/>
                </a:solidFill>
                <a:latin typeface="Arial Black" panose="020B0A04020102020204" charset="0"/>
                <a:cs typeface="Arial Black" panose="020B0A04020102020204" charset="0"/>
                <a:sym typeface="+mn-ea"/>
              </a:rPr>
              <a:t>Kindly read the book before and after the lecture, if some terms/ words are not covered in the lecture, if appear in exam it might not appear strange or out of course.</a:t>
            </a:r>
            <a:endParaRPr lang="en-US" sz="2800" b="1" dirty="0">
              <a:solidFill>
                <a:srgbClr val="C00000"/>
              </a:solidFill>
              <a:latin typeface="Arial Black" panose="020B0A04020102020204" charset="0"/>
              <a:cs typeface="Arial Black" panose="020B0A04020102020204" charset="0"/>
            </a:endParaRPr>
          </a:p>
          <a:p>
            <a:pPr algn="ctr">
              <a:lnSpc>
                <a:spcPct val="120000"/>
              </a:lnSpc>
            </a:pPr>
            <a:endParaRPr lang="en-US" sz="2800" dirty="0">
              <a:latin typeface="Arial Black" panose="020B0A04020102020204" charset="0"/>
              <a:cs typeface="Arial Black" panose="020B0A04020102020204" charset="0"/>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2"/>
                                        </p:tgtEl>
                                      </p:cBhvr>
                                      <p:by x="150000" y="150000"/>
                                    </p:animScale>
                                  </p:childTnLst>
                                </p:cTn>
                              </p:par>
                            </p:childTnLst>
                          </p:cTn>
                        </p:par>
                      </p:childTnLst>
                    </p:cTn>
                  </p:par>
                  <p:par>
                    <p:cTn id="7" fill="hold">
                      <p:stCondLst>
                        <p:cond delay="indefinite"/>
                      </p:stCondLst>
                      <p:childTnLst>
                        <p:par>
                          <p:cTn id="8" fill="hold">
                            <p:stCondLst>
                              <p:cond delay="0"/>
                            </p:stCondLst>
                            <p:childTnLst>
                              <p:par>
                                <p:cTn id="9" presetID="17" presetClass="entr" presetSubtype="1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p:cTn id="11"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12" dur="500" fill="hold"/>
                                        <p:tgtEl>
                                          <p:spTgt spid="3">
                                            <p:txEl>
                                              <p:pRg st="2" end="2"/>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7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1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1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8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9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10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1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2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5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6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SE10 slides.thmx</Template>
  <TotalTime>315</TotalTime>
  <Words>1776</Words>
  <Application>Microsoft Office PowerPoint</Application>
  <PresentationFormat>On-screen Show (4:3)</PresentationFormat>
  <Paragraphs>165</Paragraphs>
  <Slides>22</Slides>
  <Notes>6</Notes>
  <HiddenSlides>0</HiddenSlides>
  <MMClips>0</MMClips>
  <ScaleCrop>false</ScaleCrop>
  <HeadingPairs>
    <vt:vector size="6" baseType="variant">
      <vt:variant>
        <vt:lpstr>Fonts Used</vt:lpstr>
      </vt:variant>
      <vt:variant>
        <vt:i4>8</vt:i4>
      </vt:variant>
      <vt:variant>
        <vt:lpstr>Theme</vt:lpstr>
      </vt:variant>
      <vt:variant>
        <vt:i4>14</vt:i4>
      </vt:variant>
      <vt:variant>
        <vt:lpstr>Slide Titles</vt:lpstr>
      </vt:variant>
      <vt:variant>
        <vt:i4>22</vt:i4>
      </vt:variant>
    </vt:vector>
  </HeadingPairs>
  <TitlesOfParts>
    <vt:vector size="44" baseType="lpstr">
      <vt:lpstr>MS PGothic</vt:lpstr>
      <vt:lpstr>Arial</vt:lpstr>
      <vt:lpstr>Arial Black</vt:lpstr>
      <vt:lpstr>Calibri</vt:lpstr>
      <vt:lpstr>Garamond</vt:lpstr>
      <vt:lpstr>Google Sans</vt:lpstr>
      <vt:lpstr>Times New Roman</vt:lpstr>
      <vt:lpstr>Wingdings</vt:lpstr>
      <vt:lpstr>SE10 slides</vt:lpstr>
      <vt:lpstr>2_SE10 slides</vt:lpstr>
      <vt:lpstr>7_SE10 slides</vt:lpstr>
      <vt:lpstr>3_SE10 slides</vt:lpstr>
      <vt:lpstr>21_SE10 slides</vt:lpstr>
      <vt:lpstr>1_SE10 slides</vt:lpstr>
      <vt:lpstr>6_SE10 slides</vt:lpstr>
      <vt:lpstr>8_SE10 slides</vt:lpstr>
      <vt:lpstr>9_SE10 slides</vt:lpstr>
      <vt:lpstr>10_SE10 slides</vt:lpstr>
      <vt:lpstr>11_SE10 slides</vt:lpstr>
      <vt:lpstr>12_SE10 slides</vt:lpstr>
      <vt:lpstr>15_SE10 slides</vt:lpstr>
      <vt:lpstr>16_SE10 slides</vt:lpstr>
      <vt:lpstr>Data Mining DS-303</vt:lpstr>
      <vt:lpstr>Introduction to Data Mining</vt:lpstr>
      <vt:lpstr>What is data mining?</vt:lpstr>
      <vt:lpstr>What is data mining?</vt:lpstr>
      <vt:lpstr>Why data mining?</vt:lpstr>
      <vt:lpstr>Why data mining?</vt:lpstr>
      <vt:lpstr>Why Data Mining is Important</vt:lpstr>
      <vt:lpstr>Process of Data Mining</vt:lpstr>
      <vt:lpstr>Process of Data Mining</vt:lpstr>
      <vt:lpstr>PowerPoint Presentation</vt:lpstr>
      <vt:lpstr>Applications</vt:lpstr>
      <vt:lpstr>Applications of Data Mining</vt:lpstr>
      <vt:lpstr>Applications of Data Mining</vt:lpstr>
      <vt:lpstr>PowerPoint Presentation</vt:lpstr>
      <vt:lpstr>Applications of Data Mining</vt:lpstr>
      <vt:lpstr>Advantages of Data Mining</vt:lpstr>
      <vt:lpstr>Advantages of Data Mining</vt:lpstr>
      <vt:lpstr>Challenges in Data Mining</vt:lpstr>
      <vt:lpstr>Common Data Mining Techniques</vt:lpstr>
      <vt:lpstr>Tools &amp; Software</vt:lpstr>
      <vt:lpstr>Reference</vt:lpstr>
      <vt:lpstr>Advice</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1</dc:title>
  <dc:creator>Ian Sommerville</dc:creator>
  <cp:lastModifiedBy>Muhammad Arham</cp:lastModifiedBy>
  <cp:revision>137</cp:revision>
  <dcterms:created xsi:type="dcterms:W3CDTF">2009-12-29T10:39:00Z</dcterms:created>
  <dcterms:modified xsi:type="dcterms:W3CDTF">2026-02-03T06:14:03Z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D1306A2FD05A48D7B302624F1CBE0347</vt:lpwstr>
  </property>
  <property fmtid="{D5CDD505-2E9C-101B-9397-08002B2CF9AE}" pid="3" name="KSOProductBuildVer">
    <vt:lpwstr>1033-12.2.0.23155</vt:lpwstr>
  </property>
</Properties>
</file>