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2"/>
    <p:sldMasterId id="2147483684" r:id="rId3"/>
    <p:sldMasterId id="2147483696" r:id="rId4"/>
    <p:sldMasterId id="2147483852" r:id="rId5"/>
  </p:sldMasterIdLst>
  <p:notesMasterIdLst>
    <p:notesMasterId r:id="rId21"/>
  </p:notesMasterIdLst>
  <p:handoutMasterIdLst>
    <p:handoutMasterId r:id="rId22"/>
  </p:handoutMasterIdLst>
  <p:sldIdLst>
    <p:sldId id="329" r:id="rId6"/>
    <p:sldId id="430" r:id="rId7"/>
    <p:sldId id="432" r:id="rId8"/>
    <p:sldId id="507" r:id="rId9"/>
    <p:sldId id="448" r:id="rId10"/>
    <p:sldId id="508" r:id="rId11"/>
    <p:sldId id="497" r:id="rId12"/>
    <p:sldId id="498" r:id="rId13"/>
    <p:sldId id="499" r:id="rId14"/>
    <p:sldId id="500" r:id="rId15"/>
    <p:sldId id="501" r:id="rId16"/>
    <p:sldId id="502" r:id="rId17"/>
    <p:sldId id="503" r:id="rId18"/>
    <p:sldId id="496" r:id="rId19"/>
    <p:sldId id="427" r:id="rId20"/>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1pPr>
    <a:lvl2pPr marL="457200"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2pPr>
    <a:lvl3pPr marL="914400"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3pPr>
    <a:lvl4pPr marL="1371600"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4pPr>
    <a:lvl5pPr marL="1828800"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5pPr>
    <a:lvl6pPr marL="2286000" algn="l" defTabSz="457200" rtl="0" eaLnBrk="1" latinLnBrk="0" hangingPunct="1">
      <a:defRPr kern="1200">
        <a:solidFill>
          <a:schemeClr val="tx1"/>
        </a:solidFill>
        <a:latin typeface="Arial" panose="020B0604020202020204" pitchFamily="34" charset="0"/>
        <a:ea typeface="MS PGothic" panose="020B0600070205080204" charset="-128"/>
        <a:cs typeface="MS PGothic" panose="020B0600070205080204" charset="-128"/>
      </a:defRPr>
    </a:lvl6pPr>
    <a:lvl7pPr marL="2743200" algn="l" defTabSz="457200" rtl="0" eaLnBrk="1" latinLnBrk="0" hangingPunct="1">
      <a:defRPr kern="1200">
        <a:solidFill>
          <a:schemeClr val="tx1"/>
        </a:solidFill>
        <a:latin typeface="Arial" panose="020B0604020202020204" pitchFamily="34" charset="0"/>
        <a:ea typeface="MS PGothic" panose="020B0600070205080204" charset="-128"/>
        <a:cs typeface="MS PGothic" panose="020B0600070205080204" charset="-128"/>
      </a:defRPr>
    </a:lvl7pPr>
    <a:lvl8pPr marL="3200400" algn="l" defTabSz="457200" rtl="0" eaLnBrk="1" latinLnBrk="0" hangingPunct="1">
      <a:defRPr kern="1200">
        <a:solidFill>
          <a:schemeClr val="tx1"/>
        </a:solidFill>
        <a:latin typeface="Arial" panose="020B0604020202020204" pitchFamily="34" charset="0"/>
        <a:ea typeface="MS PGothic" panose="020B0600070205080204" charset="-128"/>
        <a:cs typeface="MS PGothic" panose="020B0600070205080204" charset="-128"/>
      </a:defRPr>
    </a:lvl8pPr>
    <a:lvl9pPr marL="3657600" algn="l" defTabSz="457200" rtl="0" eaLnBrk="1" latinLnBrk="0" hangingPunct="1">
      <a:defRPr kern="1200">
        <a:solidFill>
          <a:schemeClr val="tx1"/>
        </a:solidFill>
        <a:latin typeface="Arial" panose="020B0604020202020204" pitchFamily="34" charset="0"/>
        <a:ea typeface="MS PGothic" panose="020B0600070205080204" charset="-128"/>
        <a:cs typeface="MS PGothic" panose="020B0600070205080204" charset="-128"/>
      </a:defRPr>
    </a:lvl9pPr>
  </p:defaultTextStyle>
  <p:extLst>
    <p:ext uri="{EFAFB233-063F-42B5-8137-9DF3F51BA10A}">
      <p15:sldGuideLst xmlns:p15="http://schemas.microsoft.com/office/powerpoint/2012/main">
        <p15:guide id="1" orient="horz" pos="2160" userDrawn="1">
          <p15:clr>
            <a:srgbClr val="A4A3A4"/>
          </p15:clr>
        </p15:guide>
        <p15:guide id="2" pos="290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424D"/>
    <a:srgbClr val="5B86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84" autoAdjust="0"/>
    <p:restoredTop sz="92672" autoAdjust="0"/>
  </p:normalViewPr>
  <p:slideViewPr>
    <p:cSldViewPr snapToGrid="0" snapToObjects="1" showGuides="1">
      <p:cViewPr varScale="1">
        <p:scale>
          <a:sx n="68" d="100"/>
          <a:sy n="68" d="100"/>
        </p:scale>
        <p:origin x="1668" y="60"/>
      </p:cViewPr>
      <p:guideLst>
        <p:guide orient="horz" pos="2160"/>
        <p:guide pos="2904"/>
      </p:guideLst>
    </p:cSldViewPr>
  </p:slideViewPr>
  <p:notesTextViewPr>
    <p:cViewPr>
      <p:scale>
        <a:sx n="100" d="100"/>
        <a:sy n="100" d="100"/>
      </p:scale>
      <p:origin x="0" y="0"/>
    </p:cViewPr>
  </p:notesTextViewPr>
  <p:sorterViewPr>
    <p:cViewPr>
      <p:scale>
        <a:sx n="200" d="100"/>
        <a:sy n="200" d="100"/>
      </p:scale>
      <p:origin x="0" y="472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B44B6B1-5441-9644-AE1C-BB7EA5DBA264}" type="datetimeFigureOut">
              <a:rPr lang="en-US" smtClean="0"/>
              <a:t>2/14/2026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0300CC7-81E2-B842-8904-673E09748720}" type="slidenum">
              <a:rPr lang="en-US" smtClean="0"/>
              <a:t>‹#›</a:t>
            </a:fld>
            <a:endParaRPr lang="en-US"/>
          </a:p>
        </p:txBody>
      </p:sp>
    </p:spTree>
    <p:extLst>
      <p:ext uri="{BB962C8B-B14F-4D97-AF65-F5344CB8AC3E}">
        <p14:creationId xmlns:p14="http://schemas.microsoft.com/office/powerpoint/2010/main" val="324577583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878819-472C-A14B-95BF-39C94BA106B2}" type="datetimeFigureOut">
              <a:rPr lang="en-US" smtClean="0"/>
              <a:t>2/14/2026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4F38C2-4548-F541-8261-4C1D96E7A166}" type="slidenum">
              <a:rPr lang="en-US" smtClean="0"/>
              <a:t>‹#›</a:t>
            </a:fld>
            <a:endParaRPr lang="en-US"/>
          </a:p>
        </p:txBody>
      </p:sp>
    </p:spTree>
    <p:extLst>
      <p:ext uri="{BB962C8B-B14F-4D97-AF65-F5344CB8AC3E}">
        <p14:creationId xmlns:p14="http://schemas.microsoft.com/office/powerpoint/2010/main" val="809164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5.sv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image" Target="../media/image5.svg"/><Relationship Id="rId2" Type="http://schemas.openxmlformats.org/officeDocument/2006/relationships/slideLayout" Target="../slideLayouts/slideLayout13.xml"/><Relationship Id="rId16"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sv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17" Type="http://schemas.openxmlformats.org/officeDocument/2006/relationships/image" Target="../media/image5.svg"/><Relationship Id="rId2" Type="http://schemas.openxmlformats.org/officeDocument/2006/relationships/slideLayout" Target="../slideLayouts/slideLayout24.xml"/><Relationship Id="rId16" Type="http://schemas.openxmlformats.org/officeDocument/2006/relationships/image" Target="../media/image3.pn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image" Target="../media/image3.svg"/><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17" Type="http://schemas.openxmlformats.org/officeDocument/2006/relationships/image" Target="../media/image5.svg"/><Relationship Id="rId2" Type="http://schemas.openxmlformats.org/officeDocument/2006/relationships/slideLayout" Target="../slideLayouts/slideLayout35.xml"/><Relationship Id="rId16" Type="http://schemas.openxmlformats.org/officeDocument/2006/relationships/image" Target="../media/image3.png"/><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image" Target="../media/image3.svg"/><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17" Type="http://schemas.openxmlformats.org/officeDocument/2006/relationships/image" Target="../media/image10.svg"/><Relationship Id="rId2" Type="http://schemas.openxmlformats.org/officeDocument/2006/relationships/slideLayout" Target="../slideLayouts/slideLayout46.xml"/><Relationship Id="rId16" Type="http://schemas.openxmlformats.org/officeDocument/2006/relationships/image" Target="../media/image6.png"/><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image" Target="../media/image8.svg"/><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xmlns=""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xmlns=""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xmlns=""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xmlns=""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xmlns=""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3" Type="http://schemas.openxmlformats.org/officeDocument/2006/relationships/hyperlink" Target="https://www.slideshare.net/slideshow/association-rule-miningpptx/256592213#3" TargetMode="External"/><Relationship Id="rId2" Type="http://schemas.openxmlformats.org/officeDocument/2006/relationships/hyperlink" Target="https://www.slideshare.net/slideshow/association-rule-mining-4f54/264237851" TargetMode="External"/><Relationship Id="rId1" Type="http://schemas.openxmlformats.org/officeDocument/2006/relationships/slideLayout" Target="../slideLayouts/slideLayout4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ctrTitle"/>
          </p:nvPr>
        </p:nvSpPr>
        <p:spPr>
          <a:xfrm>
            <a:off x="727889" y="1229265"/>
            <a:ext cx="7688222" cy="1153160"/>
          </a:xfrm>
        </p:spPr>
        <p:txBody>
          <a:bodyPr>
            <a:noAutofit/>
          </a:bodyPr>
          <a:lstStyle/>
          <a:p>
            <a:pPr algn="ctr"/>
            <a:r>
              <a:rPr lang="en-US" sz="4000" dirty="0">
                <a:solidFill>
                  <a:schemeClr val="bg1"/>
                </a:solidFill>
                <a:latin typeface="Times New Roman" panose="02020603050405020304" pitchFamily="18" charset="0"/>
                <a:cs typeface="Times New Roman" panose="02020603050405020304" pitchFamily="18" charset="0"/>
              </a:rPr>
              <a:t>Data Mining</a:t>
            </a:r>
            <a:br>
              <a:rPr lang="en-US" sz="4000" dirty="0">
                <a:solidFill>
                  <a:schemeClr val="bg1"/>
                </a:solidFill>
                <a:latin typeface="Times New Roman" panose="02020603050405020304" pitchFamily="18" charset="0"/>
                <a:cs typeface="Times New Roman" panose="02020603050405020304" pitchFamily="18" charset="0"/>
              </a:rPr>
            </a:br>
            <a:r>
              <a:rPr lang="en-US" sz="4000" dirty="0">
                <a:solidFill>
                  <a:schemeClr val="bg1"/>
                </a:solidFill>
                <a:latin typeface="Times New Roman" panose="02020603050405020304" pitchFamily="18" charset="0"/>
                <a:cs typeface="Times New Roman" panose="02020603050405020304" pitchFamily="18" charset="0"/>
              </a:rPr>
              <a:t>DS-303</a:t>
            </a:r>
          </a:p>
        </p:txBody>
      </p:sp>
      <p:sp>
        <p:nvSpPr>
          <p:cNvPr id="3" name="Subtitle 2"/>
          <p:cNvSpPr>
            <a:spLocks noGrp="1"/>
          </p:cNvSpPr>
          <p:nvPr>
            <p:ph type="subTitle" idx="1"/>
          </p:nvPr>
        </p:nvSpPr>
        <p:spPr>
          <a:xfrm>
            <a:off x="1391233" y="3082889"/>
            <a:ext cx="6716268" cy="3181229"/>
          </a:xfrm>
        </p:spPr>
        <p:txBody>
          <a:bodyPr>
            <a:noAutofit/>
          </a:bodyPr>
          <a:lstStyle/>
          <a:p>
            <a:r>
              <a:rPr lang="en-US" sz="2800" b="1" dirty="0">
                <a:solidFill>
                  <a:schemeClr val="bg1"/>
                </a:solidFill>
                <a:latin typeface="Times New Roman" panose="02020603050405020304" pitchFamily="18" charset="0"/>
                <a:cs typeface="Times New Roman" panose="02020603050405020304" pitchFamily="18" charset="0"/>
              </a:rPr>
              <a:t>Lecture 5</a:t>
            </a:r>
            <a:endParaRPr lang="en-GB" sz="2800" b="1" dirty="0">
              <a:solidFill>
                <a:schemeClr val="bg1"/>
              </a:solidFill>
              <a:latin typeface="Times New Roman" panose="02020603050405020304" pitchFamily="18" charset="0"/>
              <a:cs typeface="Times New Roman" panose="02020603050405020304" pitchFamily="18" charset="0"/>
            </a:endParaRPr>
          </a:p>
          <a:p>
            <a:endParaRPr lang="en-GB" sz="2800" b="1" dirty="0">
              <a:solidFill>
                <a:schemeClr val="bg1"/>
              </a:solidFill>
              <a:latin typeface="Times New Roman" panose="02020603050405020304" pitchFamily="18" charset="0"/>
              <a:cs typeface="Times New Roman" panose="02020603050405020304" pitchFamily="18" charset="0"/>
            </a:endParaRPr>
          </a:p>
          <a:p>
            <a:endParaRPr lang="en-GB" sz="2800" b="1" dirty="0">
              <a:solidFill>
                <a:schemeClr val="bg1"/>
              </a:solidFill>
              <a:latin typeface="Garamond" panose="02020404030301010803" pitchFamily="18" charset="0"/>
            </a:endParaRPr>
          </a:p>
          <a:p>
            <a:pPr algn="r"/>
            <a:r>
              <a:rPr lang="en-GB" sz="2400" b="1" smtClean="0">
                <a:solidFill>
                  <a:schemeClr val="bg1"/>
                </a:solidFill>
                <a:latin typeface="Garamond" panose="02020404030301010803" pitchFamily="18" charset="0"/>
              </a:rPr>
              <a:t>Muhammad Arham</a:t>
            </a:r>
            <a:endParaRPr lang="en-GB" sz="2400" b="1" dirty="0">
              <a:solidFill>
                <a:schemeClr val="bg1"/>
              </a:solidFill>
              <a:latin typeface="Garamond" panose="02020404030301010803" pitchFamily="18" charset="0"/>
            </a:endParaRPr>
          </a:p>
          <a:p>
            <a:pPr algn="r"/>
            <a:r>
              <a:rPr lang="en-GB" sz="2400" b="1" dirty="0">
                <a:solidFill>
                  <a:schemeClr val="bg1"/>
                </a:solidFill>
                <a:latin typeface="Garamond" panose="02020404030301010803" pitchFamily="18" charset="0"/>
              </a:rPr>
              <a:t>Lecturer</a:t>
            </a:r>
          </a:p>
          <a:p>
            <a:pPr algn="r"/>
            <a:r>
              <a:rPr lang="en-GB" sz="2400" b="1" dirty="0">
                <a:solidFill>
                  <a:schemeClr val="bg1"/>
                </a:solidFill>
                <a:latin typeface="Garamond" panose="02020404030301010803" pitchFamily="18" charset="0"/>
              </a:rPr>
              <a:t>The University of Faisalabad</a:t>
            </a:r>
          </a:p>
        </p:txBody>
      </p:sp>
      <p:pic>
        <p:nvPicPr>
          <p:cNvPr id="10" name="Graphic 9"/>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6192728" y="0"/>
            <a:ext cx="2708768" cy="361169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2000"/>
                                        <p:tgtEl>
                                          <p:spTgt spid="2"/>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box(in)">
                                      <p:cBhvr>
                                        <p:cTn id="10" dur="2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box(in)">
                                      <p:cBhvr>
                                        <p:cTn id="15" dur="20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box(in)">
                                      <p:cBhvr>
                                        <p:cTn id="20" dur="20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box(in)">
                                      <p:cBhvr>
                                        <p:cTn id="25"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build="p"/>
      <p:bldP spid="3" grpId="1"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ltLang="en-US" sz="3200" dirty="0">
                <a:solidFill>
                  <a:schemeClr val="tx1"/>
                </a:solidFill>
                <a:latin typeface="Times New Roman" panose="02020603050405020304" pitchFamily="18" charset="0"/>
                <a:cs typeface="Times New Roman" panose="02020603050405020304" pitchFamily="18" charset="0"/>
              </a:rPr>
              <a:t>Association Rule Mining Basics</a:t>
            </a:r>
          </a:p>
        </p:txBody>
      </p:sp>
      <p:sp>
        <p:nvSpPr>
          <p:cNvPr id="6" name="Slide Number Placeholder 5"/>
          <p:cNvSpPr>
            <a:spLocks noGrp="1"/>
          </p:cNvSpPr>
          <p:nvPr>
            <p:ph type="sldNum" sz="quarter" idx="12"/>
          </p:nvPr>
        </p:nvSpPr>
        <p:spPr/>
        <p:txBody>
          <a:bodyPr/>
          <a:lstStyle/>
          <a:p>
            <a:fld id="{1D5CD492-2BC6-F348-9965-EC1D86DF57A8}" type="slidenum">
              <a:rPr lang="en-US" smtClean="0"/>
              <a:t>2</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Content </a:t>
            </a:r>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anim calcmode="lin" valueType="num">
                                      <p:cBhvr>
                                        <p:cTn id="8" dur="2000" fill="hold"/>
                                        <p:tgtEl>
                                          <p:spTgt spid="6"/>
                                        </p:tgtEl>
                                        <p:attrNameLst>
                                          <p:attrName>ppt_w</p:attrName>
                                        </p:attrNameLst>
                                      </p:cBhvr>
                                      <p:tavLst>
                                        <p:tav tm="0" fmla="#ppt_w*sin(2.5*pi*$)">
                                          <p:val>
                                            <p:fltVal val="0"/>
                                          </p:val>
                                        </p:tav>
                                        <p:tav tm="100000">
                                          <p:val>
                                            <p:fltVal val="1"/>
                                          </p:val>
                                        </p:tav>
                                      </p:tavLst>
                                    </p:anim>
                                    <p:anim calcmode="lin" valueType="num">
                                      <p:cBhvr>
                                        <p:cTn id="9" dur="20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500" fill="hold"/>
                                        <p:tgtEl>
                                          <p:spTgt spid="8"/>
                                        </p:tgtEl>
                                        <p:attrNameLst>
                                          <p:attrName>ppt_w</p:attrName>
                                        </p:attrNameLst>
                                      </p:cBhvr>
                                      <p:tavLst>
                                        <p:tav tm="0">
                                          <p:val>
                                            <p:fltVal val="0"/>
                                          </p:val>
                                        </p:tav>
                                        <p:tav tm="100000">
                                          <p:val>
                                            <p:strVal val="#ppt_w"/>
                                          </p:val>
                                        </p:tav>
                                      </p:tavLst>
                                    </p:anim>
                                    <p:anim calcmode="lin" valueType="num">
                                      <p:cBhvr>
                                        <p:cTn id="15" dur="500" fill="hold"/>
                                        <p:tgtEl>
                                          <p:spTgt spid="8"/>
                                        </p:tgtEl>
                                        <p:attrNameLst>
                                          <p:attrName>ppt_h</p:attrName>
                                        </p:attrNameLst>
                                      </p:cBhvr>
                                      <p:tavLst>
                                        <p:tav tm="0">
                                          <p:val>
                                            <p:fltVal val="0"/>
                                          </p:val>
                                        </p:tav>
                                        <p:tav tm="100000">
                                          <p:val>
                                            <p:strVal val="#ppt_h"/>
                                          </p:val>
                                        </p:tav>
                                      </p:tavLst>
                                    </p:anim>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43" presetClass="entr" presetSubtype="0" fill="hold"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Effect transition="in" filter="fade">
                                      <p:cBhvr>
                                        <p:cTn id="21" dur="100"/>
                                        <p:tgtEl>
                                          <p:spTgt spid="3">
                                            <p:txEl>
                                              <p:pRg st="0" end="0"/>
                                            </p:txEl>
                                          </p:spTgt>
                                        </p:tgtEl>
                                      </p:cBhvr>
                                    </p:animEffect>
                                    <p:anim calcmode="lin" valueType="num">
                                      <p:cBhvr>
                                        <p:cTn id="22" dur="4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3" dur="400" fill="hold"/>
                                        <p:tgtEl>
                                          <p:spTgt spid="3">
                                            <p:txEl>
                                              <p:pRg st="0" end="0"/>
                                            </p:txEl>
                                          </p:spTgt>
                                        </p:tgtEl>
                                        <p:attrNameLst>
                                          <p:attrName>ppt_y</p:attrName>
                                        </p:attrNameLst>
                                      </p:cBhvr>
                                      <p:tavLst>
                                        <p:tav tm="0">
                                          <p:val>
                                            <p:strVal val="#ppt_y+0.31"/>
                                          </p:val>
                                        </p:tav>
                                        <p:tav tm="100000">
                                          <p:val>
                                            <p:strVal val="#ppt_y+0.31"/>
                                          </p:val>
                                        </p:tav>
                                      </p:tavLst>
                                    </p:anim>
                                    <p:anim calcmode="lin" valueType="num">
                                      <p:cBhvr>
                                        <p:cTn id="24" dur="600" decel="50000" fill="hold">
                                          <p:stCondLst>
                                            <p:cond delay="400"/>
                                          </p:stCondLst>
                                        </p:cTn>
                                        <p:tgtEl>
                                          <p:spTgt spid="3">
                                            <p:txEl>
                                              <p:pRg st="0" end="0"/>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25" dur="600" decel="50000" fill="hold">
                                          <p:stCondLst>
                                            <p:cond delay="400"/>
                                          </p:stCondLst>
                                        </p:cTn>
                                        <p:tgtEl>
                                          <p:spTgt spid="3">
                                            <p:txEl>
                                              <p:pRg st="0" end="0"/>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P spid="6" grpId="0"/>
      <p:bldP spid="6" grpId="1"/>
      <p:bldP spid="8" grpId="0"/>
      <p:bldP spid="8"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3</a:t>
            </a:fld>
            <a:endParaRPr lang="en-US"/>
          </a:p>
        </p:txBody>
      </p:sp>
      <p:sp>
        <p:nvSpPr>
          <p:cNvPr id="8" name="Title 1"/>
          <p:cNvSpPr>
            <a:spLocks noGrp="1"/>
          </p:cNvSpPr>
          <p:nvPr>
            <p:ph type="title"/>
          </p:nvPr>
        </p:nvSpPr>
        <p:spPr>
          <a:xfrm>
            <a:off x="453390" y="3024505"/>
            <a:ext cx="8437880" cy="1143000"/>
          </a:xfrm>
        </p:spPr>
        <p:txBody>
          <a:bodyPr/>
          <a:lstStyle/>
          <a:p>
            <a:pPr algn="ctr"/>
            <a:r>
              <a:rPr lang="en-US" altLang="en-US" sz="4800" dirty="0">
                <a:solidFill>
                  <a:srgbClr val="C00000"/>
                </a:solidFill>
                <a:latin typeface="Times New Roman" panose="02020603050405020304" pitchFamily="18" charset="0"/>
                <a:cs typeface="Times New Roman" panose="02020603050405020304" pitchFamily="18" charset="0"/>
                <a:sym typeface="+mn-ea"/>
              </a:rPr>
              <a:t>Association Rule Mining</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checkerboard(across)">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8" grpId="0"/>
      <p:bldP spid="8"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4</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Introduction </a:t>
            </a:r>
          </a:p>
        </p:txBody>
      </p:sp>
      <p:sp>
        <p:nvSpPr>
          <p:cNvPr id="4" name="Content Placeholder 3"/>
          <p:cNvSpPr>
            <a:spLocks noGrp="1"/>
          </p:cNvSpPr>
          <p:nvPr>
            <p:ph idx="1"/>
          </p:nvPr>
        </p:nvSpPr>
        <p:spPr/>
        <p:txBody>
          <a:bodyPr/>
          <a:lstStyle/>
          <a:p>
            <a:r>
              <a:rPr lang="en-US" altLang="en-US" dirty="0">
                <a:solidFill>
                  <a:schemeClr val="tx1"/>
                </a:solidFill>
                <a:latin typeface="Times New Roman" panose="02020603050405020304" pitchFamily="18" charset="0"/>
                <a:cs typeface="Times New Roman" panose="02020603050405020304" pitchFamily="18" charset="0"/>
              </a:rPr>
              <a:t>There are many ways to see the similarities between items.</a:t>
            </a:r>
          </a:p>
          <a:p>
            <a:r>
              <a:rPr lang="en-US" altLang="en-US" dirty="0">
                <a:solidFill>
                  <a:schemeClr val="tx1"/>
                </a:solidFill>
                <a:latin typeface="Times New Roman" panose="02020603050405020304" pitchFamily="18" charset="0"/>
                <a:cs typeface="Times New Roman" panose="02020603050405020304" pitchFamily="18" charset="0"/>
              </a:rPr>
              <a:t>These are techniques that fall under the general umbrella of association.</a:t>
            </a:r>
          </a:p>
          <a:p>
            <a:r>
              <a:rPr lang="en-US" altLang="en-US" dirty="0">
                <a:solidFill>
                  <a:schemeClr val="tx1"/>
                </a:solidFill>
                <a:latin typeface="Times New Roman" panose="02020603050405020304" pitchFamily="18" charset="0"/>
                <a:cs typeface="Times New Roman" panose="02020603050405020304" pitchFamily="18" charset="0"/>
              </a:rPr>
              <a:t>The outcome of this type of technique, in simple terms, is a set of rules that can be understood as “if this, then that”.</a:t>
            </a:r>
          </a:p>
          <a:p>
            <a:r>
              <a:rPr lang="en-US" altLang="en-US" dirty="0">
                <a:solidFill>
                  <a:schemeClr val="tx1"/>
                </a:solidFill>
                <a:latin typeface="Times New Roman" panose="02020603050405020304" pitchFamily="18" charset="0"/>
                <a:cs typeface="Times New Roman" panose="02020603050405020304" pitchFamily="18" charset="0"/>
              </a:rPr>
              <a:t>Association Rule Mining is a Data Mining technique that finds patterns in data.</a:t>
            </a:r>
          </a:p>
          <a:p>
            <a:r>
              <a:rPr lang="en-US" altLang="en-US" dirty="0">
                <a:solidFill>
                  <a:schemeClr val="tx1"/>
                </a:solidFill>
                <a:latin typeface="Times New Roman" panose="02020603050405020304" pitchFamily="18" charset="0"/>
                <a:cs typeface="Times New Roman" panose="02020603050405020304" pitchFamily="18" charset="0"/>
              </a:rPr>
              <a:t>The patterns found by Association Rule Mining represent relationships between items. When this is used with sales data, it is referred to as Market Basket Analysis.</a:t>
            </a:r>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77861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9" dur="500"/>
                                        <p:tgtEl>
                                          <p:spTgt spid="4">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Effect transition="in" filter="randombar(horizontal)">
                                      <p:cBhvr>
                                        <p:cTn id="24" dur="500"/>
                                        <p:tgtEl>
                                          <p:spTgt spid="4">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Effect transition="in" filter="randombar(horizontal)">
                                      <p:cBhvr>
                                        <p:cTn id="29" dur="500"/>
                                        <p:tgtEl>
                                          <p:spTgt spid="4">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nodeType="clickEffect">
                                  <p:stCondLst>
                                    <p:cond delay="0"/>
                                  </p:stCondLst>
                                  <p:childTnLst>
                                    <p:set>
                                      <p:cBhvr>
                                        <p:cTn id="33" dur="1" fill="hold">
                                          <p:stCondLst>
                                            <p:cond delay="0"/>
                                          </p:stCondLst>
                                        </p:cTn>
                                        <p:tgtEl>
                                          <p:spTgt spid="4">
                                            <p:txEl>
                                              <p:pRg st="4" end="4"/>
                                            </p:txEl>
                                          </p:spTgt>
                                        </p:tgtEl>
                                        <p:attrNameLst>
                                          <p:attrName>style.visibility</p:attrName>
                                        </p:attrNameLst>
                                      </p:cBhvr>
                                      <p:to>
                                        <p:strVal val="visible"/>
                                      </p:to>
                                    </p:set>
                                    <p:animEffect transition="in" filter="randombar(horizontal)">
                                      <p:cBhvr>
                                        <p:cTn id="34"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5</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Market Basket Analysis </a:t>
            </a:r>
          </a:p>
        </p:txBody>
      </p:sp>
      <p:pic>
        <p:nvPicPr>
          <p:cNvPr id="3" name="Content Placeholder 2">
            <a:extLst>
              <a:ext uri="{FF2B5EF4-FFF2-40B4-BE49-F238E27FC236}">
                <a16:creationId xmlns:a16="http://schemas.microsoft.com/office/drawing/2014/main" id="{75FAF521-D22A-416A-972D-F21A2D2E9987}"/>
              </a:ext>
            </a:extLst>
          </p:cNvPr>
          <p:cNvPicPr>
            <a:picLocks noGrp="1" noChangeAspect="1"/>
          </p:cNvPicPr>
          <p:nvPr>
            <p:ph idx="1"/>
          </p:nvPr>
        </p:nvPicPr>
        <p:blipFill>
          <a:blip r:embed="rId2"/>
          <a:stretch>
            <a:fillRect/>
          </a:stretch>
        </p:blipFill>
        <p:spPr>
          <a:xfrm>
            <a:off x="1813547" y="1907822"/>
            <a:ext cx="5478336" cy="3883378"/>
          </a:xfrm>
        </p:spPr>
      </p:pic>
    </p:spTree>
    <p:extLst>
      <p:ext uri="{BB962C8B-B14F-4D97-AF65-F5344CB8AC3E}">
        <p14:creationId xmlns:p14="http://schemas.microsoft.com/office/powerpoint/2010/main" val="35527165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6</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Market Basket Analysis </a:t>
            </a:r>
          </a:p>
        </p:txBody>
      </p:sp>
      <p:pic>
        <p:nvPicPr>
          <p:cNvPr id="7" name="Content Placeholder 6">
            <a:extLst>
              <a:ext uri="{FF2B5EF4-FFF2-40B4-BE49-F238E27FC236}">
                <a16:creationId xmlns:a16="http://schemas.microsoft.com/office/drawing/2014/main" id="{6B626CF1-3AA5-4D63-B453-10F1BBAE7C13}"/>
              </a:ext>
            </a:extLst>
          </p:cNvPr>
          <p:cNvPicPr>
            <a:picLocks noGrp="1" noChangeAspect="1"/>
          </p:cNvPicPr>
          <p:nvPr>
            <p:ph idx="1"/>
          </p:nvPr>
        </p:nvPicPr>
        <p:blipFill>
          <a:blip r:embed="rId2"/>
          <a:stretch>
            <a:fillRect/>
          </a:stretch>
        </p:blipFill>
        <p:spPr>
          <a:xfrm>
            <a:off x="1999891" y="2396127"/>
            <a:ext cx="5144218" cy="2934109"/>
          </a:xfrm>
        </p:spPr>
      </p:pic>
    </p:spTree>
    <p:extLst>
      <p:ext uri="{BB962C8B-B14F-4D97-AF65-F5344CB8AC3E}">
        <p14:creationId xmlns:p14="http://schemas.microsoft.com/office/powerpoint/2010/main" val="11725605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7</a:t>
            </a:fld>
            <a:endParaRPr lang="en-US"/>
          </a:p>
        </p:txBody>
      </p:sp>
      <p:sp>
        <p:nvSpPr>
          <p:cNvPr id="8" name="Title 1"/>
          <p:cNvSpPr>
            <a:spLocks noGrp="1"/>
          </p:cNvSpPr>
          <p:nvPr>
            <p:ph type="title"/>
          </p:nvPr>
        </p:nvSpPr>
        <p:spPr>
          <a:xfrm>
            <a:off x="1530648" y="0"/>
            <a:ext cx="5461349" cy="1072445"/>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Application </a:t>
            </a:r>
          </a:p>
        </p:txBody>
      </p:sp>
      <p:sp>
        <p:nvSpPr>
          <p:cNvPr id="4" name="Content Placeholder 3"/>
          <p:cNvSpPr>
            <a:spLocks noGrp="1"/>
          </p:cNvSpPr>
          <p:nvPr>
            <p:ph idx="1"/>
          </p:nvPr>
        </p:nvSpPr>
        <p:spPr/>
        <p:txBody>
          <a:bodyPr/>
          <a:lstStyle/>
          <a:p>
            <a:r>
              <a:rPr lang="en-US" altLang="en-US" sz="2400" b="1" dirty="0">
                <a:solidFill>
                  <a:srgbClr val="C00000"/>
                </a:solidFill>
                <a:latin typeface="Times New Roman" panose="02020603050405020304" pitchFamily="18" charset="0"/>
                <a:cs typeface="Times New Roman" panose="02020603050405020304" pitchFamily="18" charset="0"/>
              </a:rPr>
              <a:t>Market Basket Analysis: </a:t>
            </a:r>
            <a:r>
              <a:rPr lang="en-US" altLang="en-US" sz="2400" dirty="0">
                <a:solidFill>
                  <a:schemeClr val="tx1"/>
                </a:solidFill>
                <a:latin typeface="Times New Roman" panose="02020603050405020304" pitchFamily="18" charset="0"/>
                <a:cs typeface="Times New Roman" panose="02020603050405020304" pitchFamily="18" charset="0"/>
              </a:rPr>
              <a:t>It is one of the popular examples and applications of association rule mining. The technique is commonly used by big retailers to determine the association between items. </a:t>
            </a:r>
          </a:p>
          <a:p>
            <a:r>
              <a:rPr lang="en-US" altLang="en-US" b="1" dirty="0">
                <a:solidFill>
                  <a:srgbClr val="C00000"/>
                </a:solidFill>
                <a:latin typeface="Times New Roman" panose="02020603050405020304" pitchFamily="18" charset="0"/>
                <a:cs typeface="Times New Roman" panose="02020603050405020304" pitchFamily="18" charset="0"/>
              </a:rPr>
              <a:t>Medical Diagnosis: </a:t>
            </a:r>
            <a:r>
              <a:rPr lang="en-US" altLang="en-US" dirty="0">
                <a:solidFill>
                  <a:schemeClr val="tx1"/>
                </a:solidFill>
                <a:latin typeface="Times New Roman" panose="02020603050405020304" pitchFamily="18" charset="0"/>
                <a:cs typeface="Times New Roman" panose="02020603050405020304" pitchFamily="18" charset="0"/>
              </a:rPr>
              <a:t>With the help of association rules, patients can be cured easily, as it helps in identifying the probability of illness for a particular disease.</a:t>
            </a:r>
          </a:p>
          <a:p>
            <a:r>
              <a:rPr lang="en-US" altLang="en-US" sz="2400" b="1" dirty="0">
                <a:solidFill>
                  <a:srgbClr val="C00000"/>
                </a:solidFill>
                <a:latin typeface="Times New Roman" panose="02020603050405020304" pitchFamily="18" charset="0"/>
                <a:cs typeface="Times New Roman" panose="02020603050405020304" pitchFamily="18" charset="0"/>
              </a:rPr>
              <a:t>Protein Sequence: </a:t>
            </a:r>
            <a:r>
              <a:rPr lang="en-US" altLang="en-US" sz="2400" dirty="0">
                <a:solidFill>
                  <a:schemeClr val="tx1"/>
                </a:solidFill>
                <a:latin typeface="Times New Roman" panose="02020603050405020304" pitchFamily="18" charset="0"/>
                <a:cs typeface="Times New Roman" panose="02020603050405020304" pitchFamily="18" charset="0"/>
              </a:rPr>
              <a:t>The association rules help in determining the synthesis of artificial protein.</a:t>
            </a:r>
          </a:p>
          <a:p>
            <a:r>
              <a:rPr lang="en-US" altLang="en-US" dirty="0">
                <a:solidFill>
                  <a:schemeClr val="tx1"/>
                </a:solidFill>
                <a:latin typeface="Times New Roman" panose="02020603050405020304" pitchFamily="18" charset="0"/>
                <a:cs typeface="Times New Roman" panose="02020603050405020304" pitchFamily="18" charset="0"/>
              </a:rPr>
              <a:t>Its is also used for the </a:t>
            </a:r>
            <a:r>
              <a:rPr lang="en-US" altLang="en-US" dirty="0">
                <a:solidFill>
                  <a:srgbClr val="C00000"/>
                </a:solidFill>
                <a:latin typeface="Times New Roman" panose="02020603050405020304" pitchFamily="18" charset="0"/>
                <a:cs typeface="Times New Roman" panose="02020603050405020304" pitchFamily="18" charset="0"/>
              </a:rPr>
              <a:t>catalog design</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a:solidFill>
                  <a:srgbClr val="C00000"/>
                </a:solidFill>
                <a:latin typeface="Times New Roman" panose="02020603050405020304" pitchFamily="18" charset="0"/>
                <a:cs typeface="Times New Roman" panose="02020603050405020304" pitchFamily="18" charset="0"/>
              </a:rPr>
              <a:t>loss-leader analysis </a:t>
            </a:r>
            <a:r>
              <a:rPr lang="en-US" altLang="en-US" dirty="0">
                <a:solidFill>
                  <a:schemeClr val="tx1"/>
                </a:solidFill>
                <a:latin typeface="Times New Roman" panose="02020603050405020304" pitchFamily="18" charset="0"/>
                <a:cs typeface="Times New Roman" panose="02020603050405020304" pitchFamily="18" charset="0"/>
              </a:rPr>
              <a:t>and many other applications </a:t>
            </a:r>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5106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9" dur="500"/>
                                        <p:tgtEl>
                                          <p:spTgt spid="4">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Effect transition="in" filter="randombar(horizontal)">
                                      <p:cBhvr>
                                        <p:cTn id="24" dur="500"/>
                                        <p:tgtEl>
                                          <p:spTgt spid="4">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Effect transition="in" filter="randombar(horizontal)">
                                      <p:cBhvr>
                                        <p:cTn id="29"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8</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Working </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Association rule learning works on the concepts of IF and ELSE statement, such as </a:t>
            </a:r>
            <a:r>
              <a:rPr lang="en-US" altLang="en-US" dirty="0">
                <a:solidFill>
                  <a:schemeClr val="tx1"/>
                </a:solidFill>
                <a:latin typeface="Times New Roman" panose="02020603050405020304" pitchFamily="18" charset="0"/>
                <a:cs typeface="Times New Roman" panose="02020603050405020304" pitchFamily="18" charset="0"/>
              </a:rPr>
              <a:t>if A then B.</a:t>
            </a:r>
          </a:p>
          <a:p>
            <a:r>
              <a:rPr lang="en-US" altLang="en-US" sz="2400" dirty="0">
                <a:solidFill>
                  <a:schemeClr val="tx1"/>
                </a:solidFill>
                <a:latin typeface="Times New Roman" panose="02020603050405020304" pitchFamily="18" charset="0"/>
                <a:cs typeface="Times New Roman" panose="02020603050405020304" pitchFamily="18" charset="0"/>
              </a:rPr>
              <a:t>Here, the if element is </a:t>
            </a:r>
            <a:r>
              <a:rPr lang="en-US" altLang="en-US" dirty="0">
                <a:solidFill>
                  <a:schemeClr val="tx1"/>
                </a:solidFill>
                <a:latin typeface="Times New Roman" panose="02020603050405020304" pitchFamily="18" charset="0"/>
                <a:cs typeface="Times New Roman" panose="02020603050405020304" pitchFamily="18" charset="0"/>
              </a:rPr>
              <a:t>called antecedent, and then statement is called as Consequent. These types of relationships where we can find out some association or relation between two items is known as single cardinality. It is all about creating rules, and if the number of items increases, then cardinality also increases accordingly. So, to measure the associations between thousands of data items, there are several metrics.</a:t>
            </a:r>
          </a:p>
          <a:p>
            <a:pPr lvl="1"/>
            <a:r>
              <a:rPr lang="en-US" altLang="en-US" dirty="0">
                <a:solidFill>
                  <a:schemeClr val="tx1"/>
                </a:solidFill>
                <a:latin typeface="Times New Roman" panose="02020603050405020304" pitchFamily="18" charset="0"/>
                <a:cs typeface="Times New Roman" panose="02020603050405020304" pitchFamily="18" charset="0"/>
              </a:rPr>
              <a:t>Support</a:t>
            </a:r>
          </a:p>
          <a:p>
            <a:pPr lvl="1"/>
            <a:r>
              <a:rPr lang="en-US" altLang="en-US" dirty="0">
                <a:solidFill>
                  <a:schemeClr val="tx1"/>
                </a:solidFill>
                <a:latin typeface="Times New Roman" panose="02020603050405020304" pitchFamily="18" charset="0"/>
                <a:cs typeface="Times New Roman" panose="02020603050405020304" pitchFamily="18" charset="0"/>
              </a:rPr>
              <a:t>Confidence</a:t>
            </a:r>
          </a:p>
          <a:p>
            <a:pPr lvl="1"/>
            <a:r>
              <a:rPr lang="en-US" altLang="en-US" dirty="0">
                <a:solidFill>
                  <a:schemeClr val="tx1"/>
                </a:solidFill>
                <a:latin typeface="Times New Roman" panose="02020603050405020304" pitchFamily="18" charset="0"/>
                <a:cs typeface="Times New Roman" panose="02020603050405020304" pitchFamily="18" charset="0"/>
              </a:rPr>
              <a:t>Lift</a:t>
            </a:r>
          </a:p>
        </p:txBody>
      </p:sp>
    </p:spTree>
    <p:extLst>
      <p:ext uri="{BB962C8B-B14F-4D97-AF65-F5344CB8AC3E}">
        <p14:creationId xmlns:p14="http://schemas.microsoft.com/office/powerpoint/2010/main" val="30706641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9" dur="500"/>
                                        <p:tgtEl>
                                          <p:spTgt spid="4">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Effect transition="in" filter="randombar(horizontal)">
                                      <p:cBhvr>
                                        <p:cTn id="24" dur="500"/>
                                        <p:tgtEl>
                                          <p:spTgt spid="4">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Effect transition="in" filter="randombar(horizontal)">
                                      <p:cBhvr>
                                        <p:cTn id="29" dur="500"/>
                                        <p:tgtEl>
                                          <p:spTgt spid="4">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nodeType="clickEffect">
                                  <p:stCondLst>
                                    <p:cond delay="0"/>
                                  </p:stCondLst>
                                  <p:childTnLst>
                                    <p:set>
                                      <p:cBhvr>
                                        <p:cTn id="33" dur="1" fill="hold">
                                          <p:stCondLst>
                                            <p:cond delay="0"/>
                                          </p:stCondLst>
                                        </p:cTn>
                                        <p:tgtEl>
                                          <p:spTgt spid="4">
                                            <p:txEl>
                                              <p:pRg st="4" end="4"/>
                                            </p:txEl>
                                          </p:spTgt>
                                        </p:tgtEl>
                                        <p:attrNameLst>
                                          <p:attrName>style.visibility</p:attrName>
                                        </p:attrNameLst>
                                      </p:cBhvr>
                                      <p:to>
                                        <p:strVal val="visible"/>
                                      </p:to>
                                    </p:set>
                                    <p:animEffect transition="in" filter="randombar(horizontal)">
                                      <p:cBhvr>
                                        <p:cTn id="34"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9</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Support</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Support is the frequency of A or how frequently an item appears in the dataset. It is defined as the fraction of the transaction T that contains the itemset X. If there are X datasets, then for transactions T, It can be written as </a:t>
            </a:r>
          </a:p>
        </p:txBody>
      </p:sp>
      <p:pic>
        <p:nvPicPr>
          <p:cNvPr id="3" name="Picture 2">
            <a:extLst>
              <a:ext uri="{FF2B5EF4-FFF2-40B4-BE49-F238E27FC236}">
                <a16:creationId xmlns:a16="http://schemas.microsoft.com/office/drawing/2014/main" id="{C54DB1D0-4677-46ED-BFC8-52071C22B1E2}"/>
              </a:ext>
            </a:extLst>
          </p:cNvPr>
          <p:cNvPicPr>
            <a:picLocks noChangeAspect="1"/>
          </p:cNvPicPr>
          <p:nvPr/>
        </p:nvPicPr>
        <p:blipFill>
          <a:blip r:embed="rId2"/>
          <a:stretch>
            <a:fillRect/>
          </a:stretch>
        </p:blipFill>
        <p:spPr>
          <a:xfrm>
            <a:off x="457200" y="3298737"/>
            <a:ext cx="6134956" cy="1829055"/>
          </a:xfrm>
          <a:prstGeom prst="rect">
            <a:avLst/>
          </a:prstGeom>
        </p:spPr>
      </p:pic>
      <p:pic>
        <p:nvPicPr>
          <p:cNvPr id="7" name="Picture 6">
            <a:extLst>
              <a:ext uri="{FF2B5EF4-FFF2-40B4-BE49-F238E27FC236}">
                <a16:creationId xmlns:a16="http://schemas.microsoft.com/office/drawing/2014/main" id="{D69662D9-E28D-4C72-952E-9A5D6F601408}"/>
              </a:ext>
            </a:extLst>
          </p:cNvPr>
          <p:cNvPicPr>
            <a:picLocks noChangeAspect="1"/>
          </p:cNvPicPr>
          <p:nvPr/>
        </p:nvPicPr>
        <p:blipFill>
          <a:blip r:embed="rId3"/>
          <a:stretch>
            <a:fillRect/>
          </a:stretch>
        </p:blipFill>
        <p:spPr>
          <a:xfrm>
            <a:off x="6592156" y="4346294"/>
            <a:ext cx="2295845" cy="2010056"/>
          </a:xfrm>
          <a:prstGeom prst="rect">
            <a:avLst/>
          </a:prstGeom>
        </p:spPr>
      </p:pic>
    </p:spTree>
    <p:extLst>
      <p:ext uri="{BB962C8B-B14F-4D97-AF65-F5344CB8AC3E}">
        <p14:creationId xmlns:p14="http://schemas.microsoft.com/office/powerpoint/2010/main" val="11829234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10</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Confidence </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Confidence indicates how often the rule has been found to be true. Or how often the items X and Y occur together in the dataset when the occurrence of X is already given. It is the ratio of the transactio</a:t>
            </a:r>
            <a:r>
              <a:rPr lang="en-US" altLang="en-US" dirty="0">
                <a:solidFill>
                  <a:schemeClr val="tx1"/>
                </a:solidFill>
                <a:latin typeface="Times New Roman" panose="02020603050405020304" pitchFamily="18" charset="0"/>
                <a:cs typeface="Times New Roman" panose="02020603050405020304" pitchFamily="18" charset="0"/>
              </a:rPr>
              <a:t>n that contains X and Y to be number of records that contain X. </a:t>
            </a: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66CA5D3-F791-466D-984C-8BB781D43C93}"/>
              </a:ext>
            </a:extLst>
          </p:cNvPr>
          <p:cNvPicPr>
            <a:picLocks noChangeAspect="1"/>
          </p:cNvPicPr>
          <p:nvPr/>
        </p:nvPicPr>
        <p:blipFill>
          <a:blip r:embed="rId2"/>
          <a:stretch>
            <a:fillRect/>
          </a:stretch>
        </p:blipFill>
        <p:spPr>
          <a:xfrm>
            <a:off x="1737917" y="4290877"/>
            <a:ext cx="5668166" cy="1933845"/>
          </a:xfrm>
          <a:prstGeom prst="rect">
            <a:avLst/>
          </a:prstGeom>
        </p:spPr>
      </p:pic>
      <p:pic>
        <p:nvPicPr>
          <p:cNvPr id="7" name="Picture 6">
            <a:extLst>
              <a:ext uri="{FF2B5EF4-FFF2-40B4-BE49-F238E27FC236}">
                <a16:creationId xmlns:a16="http://schemas.microsoft.com/office/drawing/2014/main" id="{E7C499A2-D749-4D34-8DB4-41D5C109D5AC}"/>
              </a:ext>
            </a:extLst>
          </p:cNvPr>
          <p:cNvPicPr>
            <a:picLocks noChangeAspect="1"/>
          </p:cNvPicPr>
          <p:nvPr/>
        </p:nvPicPr>
        <p:blipFill>
          <a:blip r:embed="rId3"/>
          <a:stretch>
            <a:fillRect/>
          </a:stretch>
        </p:blipFill>
        <p:spPr>
          <a:xfrm>
            <a:off x="4898009" y="3317636"/>
            <a:ext cx="3600953" cy="743054"/>
          </a:xfrm>
          <a:prstGeom prst="rect">
            <a:avLst/>
          </a:prstGeom>
        </p:spPr>
      </p:pic>
    </p:spTree>
    <p:extLst>
      <p:ext uri="{BB962C8B-B14F-4D97-AF65-F5344CB8AC3E}">
        <p14:creationId xmlns:p14="http://schemas.microsoft.com/office/powerpoint/2010/main" val="25507957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11</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Lift </a:t>
            </a:r>
          </a:p>
        </p:txBody>
      </p:sp>
      <p:sp>
        <p:nvSpPr>
          <p:cNvPr id="4" name="Content Placeholder 3"/>
          <p:cNvSpPr>
            <a:spLocks noGrp="1"/>
          </p:cNvSpPr>
          <p:nvPr>
            <p:ph idx="1"/>
          </p:nvPr>
        </p:nvSpPr>
        <p:spPr>
          <a:xfrm>
            <a:off x="457200" y="1476021"/>
            <a:ext cx="8229600" cy="4525963"/>
          </a:xfrm>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It is the strength of any rule, which can be defined as below formula:</a:t>
            </a:r>
          </a:p>
          <a:p>
            <a:pPr marL="0" indent="0">
              <a:buNone/>
            </a:pPr>
            <a:endParaRPr lang="en-US" altLang="en-US" dirty="0">
              <a:solidFill>
                <a:schemeClr val="tx1"/>
              </a:solidFill>
              <a:latin typeface="Times New Roman" panose="02020603050405020304" pitchFamily="18" charset="0"/>
              <a:cs typeface="Times New Roman" panose="02020603050405020304" pitchFamily="18" charset="0"/>
            </a:endParaRPr>
          </a:p>
          <a:p>
            <a:r>
              <a:rPr lang="en-US" altLang="en-US" dirty="0">
                <a:solidFill>
                  <a:schemeClr val="tx1"/>
                </a:solidFill>
                <a:latin typeface="Times New Roman" panose="02020603050405020304" pitchFamily="18" charset="0"/>
                <a:cs typeface="Times New Roman" panose="02020603050405020304" pitchFamily="18" charset="0"/>
              </a:rPr>
              <a:t>It is the ratio of the observed support measure and expected support if X and Y are independent of each other. It has three possible values:</a:t>
            </a:r>
          </a:p>
          <a:p>
            <a:r>
              <a:rPr lang="en-US" altLang="en-US" dirty="0">
                <a:solidFill>
                  <a:schemeClr val="tx1"/>
                </a:solidFill>
                <a:latin typeface="Times New Roman" panose="02020603050405020304" pitchFamily="18" charset="0"/>
                <a:cs typeface="Times New Roman" panose="02020603050405020304" pitchFamily="18" charset="0"/>
              </a:rPr>
              <a:t>If Lift =1: The probability of occurrence of antecedent and consequent is independent of each other.</a:t>
            </a:r>
          </a:p>
          <a:p>
            <a:r>
              <a:rPr lang="en-US" altLang="en-US" dirty="0">
                <a:solidFill>
                  <a:schemeClr val="tx1"/>
                </a:solidFill>
                <a:latin typeface="Times New Roman" panose="02020603050405020304" pitchFamily="18" charset="0"/>
                <a:cs typeface="Times New Roman" panose="02020603050405020304" pitchFamily="18" charset="0"/>
              </a:rPr>
              <a:t>Lift&gt;1: It determines the degree to which the two itemset are dependent to each other.</a:t>
            </a:r>
          </a:p>
          <a:p>
            <a:r>
              <a:rPr lang="en-US" altLang="en-US" dirty="0">
                <a:solidFill>
                  <a:schemeClr val="tx1"/>
                </a:solidFill>
                <a:latin typeface="Times New Roman" panose="02020603050405020304" pitchFamily="18" charset="0"/>
                <a:cs typeface="Times New Roman" panose="02020603050405020304" pitchFamily="18" charset="0"/>
              </a:rPr>
              <a:t>Lift&lt;1: It tells us that one item is a substitute for other items, which means one item has a negative effect on another.</a:t>
            </a:r>
          </a:p>
        </p:txBody>
      </p:sp>
      <p:pic>
        <p:nvPicPr>
          <p:cNvPr id="3" name="Picture 2">
            <a:extLst>
              <a:ext uri="{FF2B5EF4-FFF2-40B4-BE49-F238E27FC236}">
                <a16:creationId xmlns:a16="http://schemas.microsoft.com/office/drawing/2014/main" id="{DE4C203C-EDB1-4233-9146-5CF69406AE7E}"/>
              </a:ext>
            </a:extLst>
          </p:cNvPr>
          <p:cNvPicPr>
            <a:picLocks noChangeAspect="1"/>
          </p:cNvPicPr>
          <p:nvPr/>
        </p:nvPicPr>
        <p:blipFill>
          <a:blip r:embed="rId2"/>
          <a:stretch>
            <a:fillRect/>
          </a:stretch>
        </p:blipFill>
        <p:spPr>
          <a:xfrm>
            <a:off x="2207267" y="2108197"/>
            <a:ext cx="5572493" cy="714024"/>
          </a:xfrm>
          <a:prstGeom prst="rect">
            <a:avLst/>
          </a:prstGeom>
        </p:spPr>
      </p:pic>
      <p:pic>
        <p:nvPicPr>
          <p:cNvPr id="7" name="Picture 6">
            <a:extLst>
              <a:ext uri="{FF2B5EF4-FFF2-40B4-BE49-F238E27FC236}">
                <a16:creationId xmlns:a16="http://schemas.microsoft.com/office/drawing/2014/main" id="{B2F0CEA0-3289-478C-8E67-429C5DB9C46C}"/>
              </a:ext>
            </a:extLst>
          </p:cNvPr>
          <p:cNvPicPr>
            <a:picLocks noChangeAspect="1"/>
          </p:cNvPicPr>
          <p:nvPr/>
        </p:nvPicPr>
        <p:blipFill>
          <a:blip r:embed="rId3"/>
          <a:stretch>
            <a:fillRect/>
          </a:stretch>
        </p:blipFill>
        <p:spPr>
          <a:xfrm>
            <a:off x="4819110" y="2117498"/>
            <a:ext cx="3867690" cy="695422"/>
          </a:xfrm>
          <a:prstGeom prst="rect">
            <a:avLst/>
          </a:prstGeom>
        </p:spPr>
      </p:pic>
    </p:spTree>
    <p:extLst>
      <p:ext uri="{BB962C8B-B14F-4D97-AF65-F5344CB8AC3E}">
        <p14:creationId xmlns:p14="http://schemas.microsoft.com/office/powerpoint/2010/main" val="36906323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Effect transition="in" filter="randombar(horizontal)">
                                      <p:cBhvr>
                                        <p:cTn id="19" dur="500"/>
                                        <p:tgtEl>
                                          <p:spTgt spid="4">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Effect transition="in" filter="randombar(horizontal)">
                                      <p:cBhvr>
                                        <p:cTn id="24" dur="500"/>
                                        <p:tgtEl>
                                          <p:spTgt spid="4">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Effect transition="in" filter="randombar(horizontal)">
                                      <p:cBhvr>
                                        <p:cTn id="29" dur="500"/>
                                        <p:tgtEl>
                                          <p:spTgt spid="4">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nodeType="clickEffect">
                                  <p:stCondLst>
                                    <p:cond delay="0"/>
                                  </p:stCondLst>
                                  <p:childTnLst>
                                    <p:set>
                                      <p:cBhvr>
                                        <p:cTn id="33" dur="1" fill="hold">
                                          <p:stCondLst>
                                            <p:cond delay="0"/>
                                          </p:stCondLst>
                                        </p:cTn>
                                        <p:tgtEl>
                                          <p:spTgt spid="4">
                                            <p:txEl>
                                              <p:pRg st="4" end="4"/>
                                            </p:txEl>
                                          </p:spTgt>
                                        </p:tgtEl>
                                        <p:attrNameLst>
                                          <p:attrName>style.visibility</p:attrName>
                                        </p:attrNameLst>
                                      </p:cBhvr>
                                      <p:to>
                                        <p:strVal val="visible"/>
                                      </p:to>
                                    </p:set>
                                    <p:animEffect transition="in" filter="randombar(horizontal)">
                                      <p:cBhvr>
                                        <p:cTn id="34"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12</a:t>
            </a:fld>
            <a:endParaRPr lang="en-US"/>
          </a:p>
        </p:txBody>
      </p:sp>
      <p:sp>
        <p:nvSpPr>
          <p:cNvPr id="8" name="Title 1"/>
          <p:cNvSpPr>
            <a:spLocks noGrp="1"/>
          </p:cNvSpPr>
          <p:nvPr>
            <p:ph type="title"/>
          </p:nvPr>
        </p:nvSpPr>
        <p:spPr>
          <a:xfrm>
            <a:off x="1553226" y="0"/>
            <a:ext cx="5461349" cy="1143000"/>
          </a:xfrm>
        </p:spPr>
        <p:txBody>
          <a:bodyPr/>
          <a:lstStyle/>
          <a:p>
            <a:pPr algn="ctr"/>
            <a:endParaRPr lang="en-US" sz="3600" dirty="0">
              <a:solidFill>
                <a:schemeClr val="bg1"/>
              </a:solidFill>
              <a:latin typeface="Times New Roman" panose="02020603050405020304" pitchFamily="18" charset="0"/>
              <a:cs typeface="Times New Roman" panose="02020603050405020304" pitchFamily="18" charset="0"/>
            </a:endParaRPr>
          </a:p>
        </p:txBody>
      </p:sp>
      <p:pic>
        <p:nvPicPr>
          <p:cNvPr id="3" name="Content Placeholder 2">
            <a:extLst>
              <a:ext uri="{FF2B5EF4-FFF2-40B4-BE49-F238E27FC236}">
                <a16:creationId xmlns:a16="http://schemas.microsoft.com/office/drawing/2014/main" id="{296741CF-CDC1-4ECE-A9CB-83AD34C330AD}"/>
              </a:ext>
            </a:extLst>
          </p:cNvPr>
          <p:cNvPicPr>
            <a:picLocks noGrp="1" noChangeAspect="1"/>
          </p:cNvPicPr>
          <p:nvPr>
            <p:ph idx="1"/>
          </p:nvPr>
        </p:nvPicPr>
        <p:blipFill>
          <a:blip r:embed="rId2"/>
          <a:stretch>
            <a:fillRect/>
          </a:stretch>
        </p:blipFill>
        <p:spPr>
          <a:xfrm>
            <a:off x="764229" y="2020710"/>
            <a:ext cx="7839005" cy="3793067"/>
          </a:xfrm>
        </p:spPr>
      </p:pic>
    </p:spTree>
    <p:extLst>
      <p:ext uri="{BB962C8B-B14F-4D97-AF65-F5344CB8AC3E}">
        <p14:creationId xmlns:p14="http://schemas.microsoft.com/office/powerpoint/2010/main" val="87788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13</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Conclusion</a:t>
            </a:r>
          </a:p>
        </p:txBody>
      </p:sp>
      <p:sp>
        <p:nvSpPr>
          <p:cNvPr id="4" name="Content Placeholder 3"/>
          <p:cNvSpPr>
            <a:spLocks noGrp="1"/>
          </p:cNvSpPr>
          <p:nvPr>
            <p:ph idx="1"/>
          </p:nvPr>
        </p:nvSpPr>
        <p:spPr/>
        <p:txBody>
          <a:bodyPr/>
          <a:lstStyle/>
          <a:p>
            <a:r>
              <a:rPr lang="en-US" altLang="en-US" dirty="0">
                <a:solidFill>
                  <a:schemeClr val="tx1"/>
                </a:solidFill>
                <a:latin typeface="Times New Roman" panose="02020603050405020304" pitchFamily="18" charset="0"/>
                <a:cs typeface="Times New Roman" panose="02020603050405020304" pitchFamily="18" charset="0"/>
              </a:rPr>
              <a:t>The Association rule is very useful in analyzing datasets. The data is collected using bar-code scanners in supermarkets. Such databases consists of many transaction records which list all items bought by a customer on a single purchase. So, the manager could know if certain groups of items are consistently purchased together and use this data for adjusting store layouts, cross-selling, promotions based on statistics.</a:t>
            </a:r>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25482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14</a:t>
            </a:fld>
            <a:endParaRPr lang="en-US"/>
          </a:p>
        </p:txBody>
      </p:sp>
      <p:sp>
        <p:nvSpPr>
          <p:cNvPr id="8" name="Title 1"/>
          <p:cNvSpPr>
            <a:spLocks noGrp="1"/>
          </p:cNvSpPr>
          <p:nvPr>
            <p:ph type="title"/>
          </p:nvPr>
        </p:nvSpPr>
        <p:spPr>
          <a:xfrm>
            <a:off x="1553226" y="0"/>
            <a:ext cx="5461349" cy="1143000"/>
          </a:xfrm>
        </p:spPr>
        <p:txBody>
          <a:bodyPr/>
          <a:lstStyle/>
          <a:p>
            <a:pPr algn="ctr"/>
            <a:r>
              <a:rPr lang="en-US" altLang="en-US" sz="3600" dirty="0">
                <a:solidFill>
                  <a:schemeClr val="bg1"/>
                </a:solidFill>
                <a:latin typeface="Times New Roman" panose="02020603050405020304" pitchFamily="18" charset="0"/>
                <a:cs typeface="Times New Roman" panose="02020603050405020304" pitchFamily="18" charset="0"/>
              </a:rPr>
              <a:t>Reference</a:t>
            </a:r>
          </a:p>
        </p:txBody>
      </p:sp>
      <p:sp>
        <p:nvSpPr>
          <p:cNvPr id="4" name="Content Placeholder 3"/>
          <p:cNvSpPr>
            <a:spLocks noGrp="1"/>
          </p:cNvSpPr>
          <p:nvPr>
            <p:ph idx="1"/>
          </p:nvPr>
        </p:nvSpPr>
        <p:spPr/>
        <p:txBody>
          <a:bodyPr/>
          <a:lstStyle/>
          <a:p>
            <a:r>
              <a:rPr lang="en-US" altLang="en-US" dirty="0">
                <a:solidFill>
                  <a:schemeClr val="tx1"/>
                </a:solidFill>
                <a:latin typeface="Times New Roman" panose="02020603050405020304" pitchFamily="18" charset="0"/>
                <a:cs typeface="Times New Roman" panose="02020603050405020304" pitchFamily="18" charset="0"/>
                <a:hlinkClick r:id="rId2"/>
              </a:rPr>
              <a:t>https://www.slideshare.net/slideshow/association-rule-mining-4f54/264237851</a:t>
            </a:r>
            <a:endParaRPr lang="en-US" altLang="en-US" dirty="0">
              <a:solidFill>
                <a:schemeClr val="tx1"/>
              </a:solidFill>
              <a:latin typeface="Times New Roman" panose="02020603050405020304" pitchFamily="18" charset="0"/>
              <a:cs typeface="Times New Roman" panose="02020603050405020304" pitchFamily="18" charset="0"/>
            </a:endParaRPr>
          </a:p>
          <a:p>
            <a:r>
              <a:rPr lang="en-US" altLang="en-US" dirty="0">
                <a:solidFill>
                  <a:schemeClr val="tx1"/>
                </a:solidFill>
                <a:latin typeface="Times New Roman" panose="02020603050405020304" pitchFamily="18" charset="0"/>
                <a:cs typeface="Times New Roman" panose="02020603050405020304" pitchFamily="18" charset="0"/>
                <a:hlinkClick r:id="rId3"/>
              </a:rPr>
              <a:t>https://www.slideshare.net/slideshow/association-rule-miningpptx/256592213#3</a:t>
            </a:r>
            <a:endParaRPr lang="en-US" altLang="en-US" dirty="0">
              <a:solidFill>
                <a:schemeClr val="tx1"/>
              </a:solidFill>
              <a:latin typeface="Times New Roman" panose="02020603050405020304" pitchFamily="18" charset="0"/>
              <a:cs typeface="Times New Roman" panose="02020603050405020304" pitchFamily="18" charset="0"/>
            </a:endParaRPr>
          </a:p>
          <a:p>
            <a:r>
              <a:rPr lang="en-US" altLang="en-US" dirty="0">
                <a:solidFill>
                  <a:schemeClr val="tx1"/>
                </a:solidFill>
                <a:latin typeface="Times New Roman" panose="02020603050405020304" pitchFamily="18" charset="0"/>
                <a:cs typeface="Times New Roman" panose="02020603050405020304" pitchFamily="18" charset="0"/>
              </a:rPr>
              <a:t>https://mitu.co.in/wp-content/uploads/2021/11/10.-Association-Rule-Mining.pdf</a:t>
            </a:r>
          </a:p>
          <a:p>
            <a:endParaRPr lang="en-US" altLang="en-US"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37"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1000"/>
                                        <p:tgtEl>
                                          <p:spTgt spid="4">
                                            <p:txEl>
                                              <p:pRg st="0" end="0"/>
                                            </p:txEl>
                                          </p:spTgt>
                                        </p:tgtEl>
                                      </p:cBhvr>
                                    </p:animEffect>
                                    <p:anim calcmode="lin" valueType="num">
                                      <p:cBhvr>
                                        <p:cTn id="16"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7" dur="900" decel="100000" fill="hold"/>
                                        <p:tgtEl>
                                          <p:spTgt spid="4">
                                            <p:txEl>
                                              <p:pRg st="0" end="0"/>
                                            </p:txEl>
                                          </p:spTgt>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4">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7" presetClass="entr" presetSubtype="0" fill="hold" grpId="0"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animEffect transition="in" filter="fade">
                                      <p:cBhvr>
                                        <p:cTn id="23" dur="1000"/>
                                        <p:tgtEl>
                                          <p:spTgt spid="4">
                                            <p:txEl>
                                              <p:pRg st="1" end="1"/>
                                            </p:txEl>
                                          </p:spTgt>
                                        </p:tgtEl>
                                      </p:cBhvr>
                                    </p:animEffect>
                                    <p:anim calcmode="lin" valueType="num">
                                      <p:cBhvr>
                                        <p:cTn id="24"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5" dur="900" decel="100000" fill="hold"/>
                                        <p:tgtEl>
                                          <p:spTgt spid="4">
                                            <p:txEl>
                                              <p:pRg st="1" end="1"/>
                                            </p:txEl>
                                          </p:spTgt>
                                        </p:tgtEl>
                                        <p:attrNameLst>
                                          <p:attrName>ppt_y</p:attrName>
                                        </p:attrNameLst>
                                      </p:cBhvr>
                                      <p:tavLst>
                                        <p:tav tm="0">
                                          <p:val>
                                            <p:strVal val="#ppt_y+1"/>
                                          </p:val>
                                        </p:tav>
                                        <p:tav tm="100000">
                                          <p:val>
                                            <p:strVal val="#ppt_y-.03"/>
                                          </p:val>
                                        </p:tav>
                                      </p:tavLst>
                                    </p:anim>
                                    <p:anim calcmode="lin" valueType="num">
                                      <p:cBhvr>
                                        <p:cTn id="26" dur="100" accel="100000" fill="hold">
                                          <p:stCondLst>
                                            <p:cond delay="900"/>
                                          </p:stCondLst>
                                        </p:cTn>
                                        <p:tgtEl>
                                          <p:spTgt spid="4">
                                            <p:txEl>
                                              <p:pRg st="1" end="1"/>
                                            </p:txEl>
                                          </p:spTgt>
                                        </p:tgtEl>
                                        <p:attrNameLst>
                                          <p:attrName>ppt_y</p:attrName>
                                        </p:attrNameLst>
                                      </p:cBhvr>
                                      <p:tavLst>
                                        <p:tav tm="0">
                                          <p:val>
                                            <p:strVal val="#ppt_y-.03"/>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7" presetClass="entr" presetSubtype="0" fill="hold" grpId="0"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animEffect transition="in" filter="fade">
                                      <p:cBhvr>
                                        <p:cTn id="31" dur="1000"/>
                                        <p:tgtEl>
                                          <p:spTgt spid="4">
                                            <p:txEl>
                                              <p:pRg st="2" end="2"/>
                                            </p:txEl>
                                          </p:spTgt>
                                        </p:tgtEl>
                                      </p:cBhvr>
                                    </p:animEffect>
                                    <p:anim calcmode="lin" valueType="num">
                                      <p:cBhvr>
                                        <p:cTn id="3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3" dur="900" decel="100000" fill="hold"/>
                                        <p:tgtEl>
                                          <p:spTgt spid="4">
                                            <p:txEl>
                                              <p:pRg st="2" end="2"/>
                                            </p:txEl>
                                          </p:spTgt>
                                        </p:tgtEl>
                                        <p:attrNameLst>
                                          <p:attrName>ppt_y</p:attrName>
                                        </p:attrNameLst>
                                      </p:cBhvr>
                                      <p:tavLst>
                                        <p:tav tm="0">
                                          <p:val>
                                            <p:strVal val="#ppt_y+1"/>
                                          </p:val>
                                        </p:tav>
                                        <p:tav tm="100000">
                                          <p:val>
                                            <p:strVal val="#ppt_y-.03"/>
                                          </p:val>
                                        </p:tav>
                                      </p:tavLst>
                                    </p:anim>
                                    <p:anim calcmode="lin" valueType="num">
                                      <p:cBhvr>
                                        <p:cTn id="34" dur="100" accel="100000" fill="hold">
                                          <p:stCondLst>
                                            <p:cond delay="900"/>
                                          </p:stCondLst>
                                        </p:cTn>
                                        <p:tgtEl>
                                          <p:spTgt spid="4">
                                            <p:txEl>
                                              <p:pRg st="2" end="2"/>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4" grpId="0" build="p"/>
      <p:bldP spid="4" grpI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381000"/>
            <a:ext cx="5257800" cy="762000"/>
          </a:xfrm>
        </p:spPr>
        <p:txBody>
          <a:bodyPr>
            <a:noAutofit/>
          </a:bodyPr>
          <a:lstStyle/>
          <a:p>
            <a:pPr algn="ctr"/>
            <a:r>
              <a:rPr lang="en-US" sz="4400" b="1" dirty="0">
                <a:solidFill>
                  <a:schemeClr val="bg1"/>
                </a:solidFill>
                <a:latin typeface="Times New Roman" panose="02020603050405020304" pitchFamily="18" charset="0"/>
                <a:cs typeface="Times New Roman" panose="02020603050405020304" pitchFamily="18" charset="0"/>
                <a:sym typeface="+mn-ea"/>
              </a:rPr>
              <a:t>Advice</a:t>
            </a:r>
          </a:p>
        </p:txBody>
      </p:sp>
      <p:sp>
        <p:nvSpPr>
          <p:cNvPr id="3" name="Content Placeholder 2"/>
          <p:cNvSpPr>
            <a:spLocks noGrp="1"/>
          </p:cNvSpPr>
          <p:nvPr>
            <p:ph sz="quarter" idx="1"/>
          </p:nvPr>
        </p:nvSpPr>
        <p:spPr>
          <a:xfrm>
            <a:off x="381000" y="1219200"/>
            <a:ext cx="8458200" cy="5334000"/>
          </a:xfrm>
        </p:spPr>
        <p:txBody>
          <a:bodyPr>
            <a:normAutofit/>
          </a:bodyPr>
          <a:lstStyle/>
          <a:p>
            <a:pPr marL="0" indent="0" algn="ctr">
              <a:lnSpc>
                <a:spcPct val="120000"/>
              </a:lnSpc>
              <a:buNone/>
            </a:pPr>
            <a:endParaRPr lang="en-US" sz="2800" b="1" dirty="0">
              <a:solidFill>
                <a:srgbClr val="C00000"/>
              </a:solidFill>
              <a:latin typeface="Arial Black" panose="020B0A04020102020204" charset="0"/>
              <a:cs typeface="Arial Black" panose="020B0A04020102020204" charset="0"/>
              <a:sym typeface="+mn-ea"/>
            </a:endParaRPr>
          </a:p>
          <a:p>
            <a:pPr marL="0" indent="0" algn="ctr">
              <a:lnSpc>
                <a:spcPct val="120000"/>
              </a:lnSpc>
              <a:buNone/>
            </a:pPr>
            <a:endParaRPr lang="en-US" sz="2800" b="1" dirty="0">
              <a:solidFill>
                <a:srgbClr val="C00000"/>
              </a:solidFill>
              <a:latin typeface="Arial Black" panose="020B0A04020102020204" charset="0"/>
              <a:cs typeface="Arial Black" panose="020B0A04020102020204" charset="0"/>
              <a:sym typeface="+mn-ea"/>
            </a:endParaRPr>
          </a:p>
          <a:p>
            <a:pPr marL="0" indent="0" algn="ctr">
              <a:lnSpc>
                <a:spcPct val="120000"/>
              </a:lnSpc>
              <a:buNone/>
            </a:pPr>
            <a:r>
              <a:rPr lang="en-US" sz="2800" b="1" dirty="0">
                <a:solidFill>
                  <a:srgbClr val="C00000"/>
                </a:solidFill>
                <a:latin typeface="Arial Black" panose="020B0A04020102020204" charset="0"/>
                <a:cs typeface="Arial Black" panose="020B0A04020102020204" charset="0"/>
                <a:sym typeface="+mn-ea"/>
              </a:rPr>
              <a:t>Kindly read the book before and after the lecture, if some terms/ words are not covered in the lecture, if appear in exam it might not appear strange or out of course.</a:t>
            </a:r>
            <a:endParaRPr lang="en-US" sz="2800" b="1" dirty="0">
              <a:solidFill>
                <a:srgbClr val="C00000"/>
              </a:solidFill>
              <a:latin typeface="Arial Black" panose="020B0A04020102020204" charset="0"/>
              <a:cs typeface="Arial Black" panose="020B0A04020102020204" charset="0"/>
            </a:endParaRPr>
          </a:p>
          <a:p>
            <a:pPr algn="ctr">
              <a:lnSpc>
                <a:spcPct val="120000"/>
              </a:lnSpc>
            </a:pPr>
            <a:endParaRPr lang="en-US" sz="2800" dirty="0">
              <a:latin typeface="Arial Black" panose="020B0A04020102020204" charset="0"/>
              <a:cs typeface="Arial Black" panose="020B0A04020102020204" charset="0"/>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2"/>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17" presetClass="entr" presetSubtype="1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p:cTn id="1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2" dur="500" fill="hold"/>
                                        <p:tgtEl>
                                          <p:spTgt spid="3">
                                            <p:txEl>
                                              <p:pRg st="2" end="2"/>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5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7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6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SE10 slides.thmx</Template>
  <TotalTime>443</TotalTime>
  <Words>665</Words>
  <Application>Microsoft Office PowerPoint</Application>
  <PresentationFormat>On-screen Show (4:3)</PresentationFormat>
  <Paragraphs>63</Paragraphs>
  <Slides>15</Slides>
  <Notes>0</Notes>
  <HiddenSlides>0</HiddenSlides>
  <MMClips>0</MMClips>
  <ScaleCrop>false</ScaleCrop>
  <HeadingPairs>
    <vt:vector size="6" baseType="variant">
      <vt:variant>
        <vt:lpstr>Fonts Used</vt:lpstr>
      </vt:variant>
      <vt:variant>
        <vt:i4>7</vt:i4>
      </vt:variant>
      <vt:variant>
        <vt:lpstr>Theme</vt:lpstr>
      </vt:variant>
      <vt:variant>
        <vt:i4>5</vt:i4>
      </vt:variant>
      <vt:variant>
        <vt:lpstr>Slide Titles</vt:lpstr>
      </vt:variant>
      <vt:variant>
        <vt:i4>15</vt:i4>
      </vt:variant>
    </vt:vector>
  </HeadingPairs>
  <TitlesOfParts>
    <vt:vector size="27" baseType="lpstr">
      <vt:lpstr>MS PGothic</vt:lpstr>
      <vt:lpstr>Arial</vt:lpstr>
      <vt:lpstr>Arial Black</vt:lpstr>
      <vt:lpstr>Calibri</vt:lpstr>
      <vt:lpstr>Garamond</vt:lpstr>
      <vt:lpstr>Times New Roman</vt:lpstr>
      <vt:lpstr>Wingdings</vt:lpstr>
      <vt:lpstr>SE10 slides</vt:lpstr>
      <vt:lpstr>2_SE10 slides</vt:lpstr>
      <vt:lpstr>5_SE10 slides</vt:lpstr>
      <vt:lpstr>7_SE10 slides</vt:lpstr>
      <vt:lpstr>16_SE10 slides</vt:lpstr>
      <vt:lpstr>Data Mining DS-303</vt:lpstr>
      <vt:lpstr>Content </vt:lpstr>
      <vt:lpstr>Association Rule Mining</vt:lpstr>
      <vt:lpstr>Introduction </vt:lpstr>
      <vt:lpstr>Market Basket Analysis </vt:lpstr>
      <vt:lpstr>Market Basket Analysis </vt:lpstr>
      <vt:lpstr>Application </vt:lpstr>
      <vt:lpstr>Working </vt:lpstr>
      <vt:lpstr>Support</vt:lpstr>
      <vt:lpstr>Confidence </vt:lpstr>
      <vt:lpstr>Lift </vt:lpstr>
      <vt:lpstr>PowerPoint Presentation</vt:lpstr>
      <vt:lpstr>Conclusion</vt:lpstr>
      <vt:lpstr>Reference</vt:lpstr>
      <vt:lpstr>Advice</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1</dc:title>
  <dc:creator>Ian Sommerville</dc:creator>
  <cp:lastModifiedBy>Muhammad Arham</cp:lastModifiedBy>
  <cp:revision>190</cp:revision>
  <dcterms:created xsi:type="dcterms:W3CDTF">2009-12-29T10:39:00Z</dcterms:created>
  <dcterms:modified xsi:type="dcterms:W3CDTF">2026-02-14T05:41:25Z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D1306A2FD05A48D7B302624F1CBE0347</vt:lpwstr>
  </property>
  <property fmtid="{D5CDD505-2E9C-101B-9397-08002B2CF9AE}" pid="3" name="KSOProductBuildVer">
    <vt:lpwstr>1033-12.2.0.23155</vt:lpwstr>
  </property>
</Properties>
</file>