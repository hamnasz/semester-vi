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wmf" ContentType="image/x-w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84" r:id="rId3"/>
    <p:sldMasterId id="2147483696" r:id="rId4"/>
    <p:sldMasterId id="2147483852" r:id="rId5"/>
  </p:sldMasterIdLst>
  <p:notesMasterIdLst>
    <p:notesMasterId r:id="rId60"/>
  </p:notesMasterIdLst>
  <p:handoutMasterIdLst>
    <p:handoutMasterId r:id="rId61"/>
  </p:handoutMasterIdLst>
  <p:sldIdLst>
    <p:sldId id="329" r:id="rId6"/>
    <p:sldId id="430" r:id="rId7"/>
    <p:sldId id="528" r:id="rId8"/>
    <p:sldId id="507" r:id="rId9"/>
    <p:sldId id="588" r:id="rId10"/>
    <p:sldId id="450" r:id="rId11"/>
    <p:sldId id="486" r:id="rId12"/>
    <p:sldId id="452" r:id="rId13"/>
    <p:sldId id="465" r:id="rId14"/>
    <p:sldId id="463" r:id="rId15"/>
    <p:sldId id="464" r:id="rId16"/>
    <p:sldId id="453" r:id="rId17"/>
    <p:sldId id="466" r:id="rId18"/>
    <p:sldId id="454" r:id="rId19"/>
    <p:sldId id="467" r:id="rId20"/>
    <p:sldId id="456" r:id="rId21"/>
    <p:sldId id="455" r:id="rId22"/>
    <p:sldId id="459" r:id="rId23"/>
    <p:sldId id="469" r:id="rId24"/>
    <p:sldId id="470" r:id="rId25"/>
    <p:sldId id="471" r:id="rId26"/>
    <p:sldId id="474" r:id="rId27"/>
    <p:sldId id="475" r:id="rId28"/>
    <p:sldId id="457" r:id="rId29"/>
    <p:sldId id="476" r:id="rId30"/>
    <p:sldId id="468" r:id="rId31"/>
    <p:sldId id="477" r:id="rId32"/>
    <p:sldId id="582" r:id="rId33"/>
    <p:sldId id="432" r:id="rId34"/>
    <p:sldId id="563" r:id="rId35"/>
    <p:sldId id="564" r:id="rId36"/>
    <p:sldId id="565" r:id="rId37"/>
    <p:sldId id="566" r:id="rId38"/>
    <p:sldId id="589" r:id="rId39"/>
    <p:sldId id="590" r:id="rId40"/>
    <p:sldId id="595" r:id="rId41"/>
    <p:sldId id="596" r:id="rId42"/>
    <p:sldId id="597" r:id="rId43"/>
    <p:sldId id="598" r:id="rId44"/>
    <p:sldId id="599" r:id="rId45"/>
    <p:sldId id="601" r:id="rId46"/>
    <p:sldId id="602" r:id="rId47"/>
    <p:sldId id="603" r:id="rId48"/>
    <p:sldId id="604" r:id="rId49"/>
    <p:sldId id="605" r:id="rId50"/>
    <p:sldId id="606" r:id="rId51"/>
    <p:sldId id="607" r:id="rId52"/>
    <p:sldId id="608" r:id="rId53"/>
    <p:sldId id="600" r:id="rId54"/>
    <p:sldId id="591" r:id="rId55"/>
    <p:sldId id="592" r:id="rId56"/>
    <p:sldId id="593" r:id="rId57"/>
    <p:sldId id="496" r:id="rId58"/>
    <p:sldId id="427" r:id="rId59"/>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5pPr>
    <a:lvl6pPr marL="22860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6pPr>
    <a:lvl7pPr marL="27432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7pPr>
    <a:lvl8pPr marL="32004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8pPr>
    <a:lvl9pPr marL="36576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9pPr>
  </p:defaultTextStyle>
  <p:extLst>
    <p:ext uri="{EFAFB233-063F-42B5-8137-9DF3F51BA10A}">
      <p15:sldGuideLst xmlns:p15="http://schemas.microsoft.com/office/powerpoint/2012/main">
        <p15:guide id="1" orient="horz" pos="216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92672" autoAdjust="0"/>
  </p:normalViewPr>
  <p:slideViewPr>
    <p:cSldViewPr snapToGrid="0" snapToObjects="1" showGuides="1">
      <p:cViewPr varScale="1">
        <p:scale>
          <a:sx n="68" d="100"/>
          <a:sy n="68" d="100"/>
        </p:scale>
        <p:origin x="1668" y="66"/>
      </p:cViewPr>
      <p:guideLst>
        <p:guide orient="horz" pos="2160"/>
        <p:guide pos="2904"/>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t>3/6/2026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t>‹#›</a:t>
            </a:fld>
            <a:endParaRPr lang="en-US"/>
          </a:p>
        </p:txBody>
      </p:sp>
    </p:spTree>
    <p:extLst>
      <p:ext uri="{BB962C8B-B14F-4D97-AF65-F5344CB8AC3E}">
        <p14:creationId xmlns:p14="http://schemas.microsoft.com/office/powerpoint/2010/main" val="32457758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t>3/6/2026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t>‹#›</a:t>
            </a:fld>
            <a:endParaRPr lang="en-US"/>
          </a:p>
        </p:txBody>
      </p:sp>
    </p:spTree>
    <p:extLst>
      <p:ext uri="{BB962C8B-B14F-4D97-AF65-F5344CB8AC3E}">
        <p14:creationId xmlns:p14="http://schemas.microsoft.com/office/powerpoint/2010/main" val="809164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5.svg"/><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sv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5.svg"/><Relationship Id="rId2" Type="http://schemas.openxmlformats.org/officeDocument/2006/relationships/slideLayout" Target="../slideLayouts/slideLayout35.xml"/><Relationship Id="rId16" Type="http://schemas.openxmlformats.org/officeDocument/2006/relationships/image" Target="../media/image3.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sv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image" Target="../media/image10.svg"/><Relationship Id="rId2" Type="http://schemas.openxmlformats.org/officeDocument/2006/relationships/slideLayout" Target="../slideLayouts/slideLayout46.xml"/><Relationship Id="rId16" Type="http://schemas.openxmlformats.org/officeDocument/2006/relationships/image" Target="../media/image6.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8.sv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4.xml"/><Relationship Id="rId1" Type="http://schemas.openxmlformats.org/officeDocument/2006/relationships/vmlDrawing" Target="../drawings/vmlDrawing1.vml"/><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4.xml"/><Relationship Id="rId1" Type="http://schemas.openxmlformats.org/officeDocument/2006/relationships/vmlDrawing" Target="../drawings/vmlDrawing2.vml"/><Relationship Id="rId4" Type="http://schemas.openxmlformats.org/officeDocument/2006/relationships/image" Target="../media/image10.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4.xml"/><Relationship Id="rId1" Type="http://schemas.openxmlformats.org/officeDocument/2006/relationships/vmlDrawing" Target="../drawings/vmlDrawing3.vml"/><Relationship Id="rId4" Type="http://schemas.openxmlformats.org/officeDocument/2006/relationships/image" Target="../media/image11.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4.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hyperlink" Target="https://www.slideshare.net/slideshow/oop-in-pyhton-updated/37383033#2" TargetMode="External"/><Relationship Id="rId1" Type="http://schemas.openxmlformats.org/officeDocument/2006/relationships/slideLayout" Target="../slideLayouts/slideLayout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7889" y="1229265"/>
            <a:ext cx="7688222" cy="1153160"/>
          </a:xfrm>
        </p:spPr>
        <p:txBody>
          <a:bodyPr>
            <a:noAutofit/>
          </a:bodyPr>
          <a:lstStyle/>
          <a:p>
            <a:pPr algn="ctr"/>
            <a:r>
              <a:rPr lang="en-US" sz="4000" dirty="0">
                <a:solidFill>
                  <a:schemeClr val="bg1"/>
                </a:solidFill>
                <a:latin typeface="Times New Roman" panose="02020603050405020304" pitchFamily="18" charset="0"/>
                <a:cs typeface="Times New Roman" panose="02020603050405020304" pitchFamily="18" charset="0"/>
              </a:rPr>
              <a:t>Data Mining</a:t>
            </a:r>
            <a:br>
              <a:rPr lang="en-US" sz="4000" dirty="0">
                <a:solidFill>
                  <a:schemeClr val="bg1"/>
                </a:solidFill>
                <a:latin typeface="Times New Roman" panose="02020603050405020304" pitchFamily="18" charset="0"/>
                <a:cs typeface="Times New Roman" panose="02020603050405020304" pitchFamily="18" charset="0"/>
              </a:rPr>
            </a:br>
            <a:r>
              <a:rPr lang="en-US" sz="4000" dirty="0">
                <a:solidFill>
                  <a:schemeClr val="bg1"/>
                </a:solidFill>
                <a:latin typeface="Times New Roman" panose="02020603050405020304" pitchFamily="18" charset="0"/>
                <a:cs typeface="Times New Roman" panose="02020603050405020304" pitchFamily="18" charset="0"/>
              </a:rPr>
              <a:t>DS-303</a:t>
            </a:r>
          </a:p>
        </p:txBody>
      </p:sp>
      <p:sp>
        <p:nvSpPr>
          <p:cNvPr id="3" name="Subtitle 2"/>
          <p:cNvSpPr>
            <a:spLocks noGrp="1"/>
          </p:cNvSpPr>
          <p:nvPr>
            <p:ph type="subTitle" idx="1"/>
          </p:nvPr>
        </p:nvSpPr>
        <p:spPr>
          <a:xfrm>
            <a:off x="1391233" y="3082889"/>
            <a:ext cx="6716268" cy="3181229"/>
          </a:xfrm>
        </p:spPr>
        <p:txBody>
          <a:bodyPr>
            <a:noAutofit/>
          </a:bodyPr>
          <a:lstStyle/>
          <a:p>
            <a:r>
              <a:rPr lang="en-US" sz="2800" b="1" dirty="0">
                <a:solidFill>
                  <a:schemeClr val="bg1"/>
                </a:solidFill>
                <a:latin typeface="Times New Roman" panose="02020603050405020304" pitchFamily="18" charset="0"/>
                <a:cs typeface="Times New Roman" panose="02020603050405020304" pitchFamily="18" charset="0"/>
              </a:rPr>
              <a:t>Lecture 8</a:t>
            </a:r>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Garamond" panose="02020404030301010803" pitchFamily="18" charset="0"/>
            </a:endParaRPr>
          </a:p>
          <a:p>
            <a:pPr algn="r"/>
            <a:r>
              <a:rPr lang="en-GB" sz="2400" b="1" smtClean="0">
                <a:solidFill>
                  <a:schemeClr val="bg1"/>
                </a:solidFill>
                <a:latin typeface="Garamond" panose="02020404030301010803" pitchFamily="18" charset="0"/>
              </a:rPr>
              <a:t>Muhammad Arham</a:t>
            </a:r>
            <a:endParaRPr lang="en-GB" sz="2400" b="1" dirty="0">
              <a:solidFill>
                <a:schemeClr val="bg1"/>
              </a:solidFill>
              <a:latin typeface="Garamond" panose="02020404030301010803" pitchFamily="18" charset="0"/>
            </a:endParaRPr>
          </a:p>
          <a:p>
            <a:pPr algn="r"/>
            <a:r>
              <a:rPr lang="en-GB" sz="2400" b="1" dirty="0">
                <a:solidFill>
                  <a:schemeClr val="bg1"/>
                </a:solidFill>
                <a:latin typeface="Garamond" panose="02020404030301010803" pitchFamily="18" charset="0"/>
              </a:rPr>
              <a:t>Lecturer</a:t>
            </a:r>
          </a:p>
          <a:p>
            <a:pPr algn="r"/>
            <a:r>
              <a:rPr lang="en-GB" sz="2400" b="1" dirty="0">
                <a:solidFill>
                  <a:schemeClr val="bg1"/>
                </a:solidFill>
                <a:latin typeface="Garamond" panose="02020404030301010803" pitchFamily="18" charset="0"/>
              </a:rPr>
              <a:t>The University of Faisalabad</a:t>
            </a:r>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6192728" y="0"/>
            <a:ext cx="2708768" cy="361169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ox(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2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ox(in)">
                                      <p:cBhvr>
                                        <p:cTn id="20" dur="20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ox(in)">
                                      <p:cBhvr>
                                        <p:cTn id="25"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Content </a:t>
            </a:r>
          </a:p>
        </p:txBody>
      </p:sp>
      <p:sp>
        <p:nvSpPr>
          <p:cNvPr id="5" name="Content Placeholder 4">
            <a:extLst>
              <a:ext uri="{FF2B5EF4-FFF2-40B4-BE49-F238E27FC236}">
                <a16:creationId xmlns:a16="http://schemas.microsoft.com/office/drawing/2014/main" id="{6C1DC7E6-0994-4004-9F4B-9C1CA742EB71}"/>
              </a:ext>
            </a:extLst>
          </p:cNvPr>
          <p:cNvSpPr>
            <a:spLocks noGrp="1"/>
          </p:cNvSpPr>
          <p:nvPr>
            <p:ph idx="1"/>
          </p:nvPr>
        </p:nvSpPr>
        <p:spPr/>
        <p:txBody>
          <a:bodyPr/>
          <a:lstStyle/>
          <a:p>
            <a:r>
              <a:rPr lang="en-US" sz="2800" dirty="0">
                <a:solidFill>
                  <a:schemeClr val="tx1"/>
                </a:solidFill>
                <a:latin typeface="Times New Roman" panose="02020603050405020304" pitchFamily="18" charset="0"/>
                <a:cs typeface="Times New Roman" panose="02020603050405020304" pitchFamily="18" charset="0"/>
              </a:rPr>
              <a:t>Basics of Python &amp; OOP for Data Mining</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a:t>
            </a:fld>
            <a:endParaRPr lang="en-US"/>
          </a:p>
        </p:txBody>
      </p:sp>
      <p:sp>
        <p:nvSpPr>
          <p:cNvPr id="8" name="Title 1"/>
          <p:cNvSpPr>
            <a:spLocks noGrp="1"/>
          </p:cNvSpPr>
          <p:nvPr>
            <p:ph type="title"/>
          </p:nvPr>
        </p:nvSpPr>
        <p:spPr>
          <a:xfrm>
            <a:off x="453390" y="3024505"/>
            <a:ext cx="8437880" cy="1143000"/>
          </a:xfrm>
        </p:spPr>
        <p:txBody>
          <a:bodyPr/>
          <a:lstStyle/>
          <a:p>
            <a:pPr algn="ctr"/>
            <a:r>
              <a:rPr lang="en-US" altLang="en-US" sz="4800" dirty="0">
                <a:solidFill>
                  <a:srgbClr val="C00000"/>
                </a:solidFill>
                <a:latin typeface="Times New Roman" panose="02020603050405020304" pitchFamily="18" charset="0"/>
                <a:cs typeface="Times New Roman" panose="02020603050405020304" pitchFamily="18" charset="0"/>
                <a:sym typeface="+mn-ea"/>
              </a:rPr>
              <a:t>Basics of OOP for Data Mining</a:t>
            </a:r>
          </a:p>
        </p:txBody>
      </p:sp>
    </p:spTree>
    <p:extLst>
      <p:ext uri="{BB962C8B-B14F-4D97-AF65-F5344CB8AC3E}">
        <p14:creationId xmlns:p14="http://schemas.microsoft.com/office/powerpoint/2010/main" val="2157698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err="1">
                <a:solidFill>
                  <a:schemeClr val="bg1"/>
                </a:solidFill>
                <a:latin typeface="Times New Roman" panose="02020603050405020304" pitchFamily="18" charset="0"/>
                <a:cs typeface="Times New Roman" panose="02020603050405020304" pitchFamily="18" charset="0"/>
              </a:rPr>
              <a:t>Featuers</a:t>
            </a:r>
            <a:r>
              <a:rPr lang="en-US" sz="3600" dirty="0">
                <a:solidFill>
                  <a:schemeClr val="bg1"/>
                </a:solidFill>
                <a:latin typeface="Times New Roman" panose="02020603050405020304" pitchFamily="18" charset="0"/>
                <a:cs typeface="Times New Roman" panose="02020603050405020304" pitchFamily="18" charset="0"/>
              </a:rPr>
              <a:t> of OOP</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Ability to simulate real-world event much more effectively </a:t>
            </a:r>
          </a:p>
          <a:p>
            <a:r>
              <a:rPr lang="en-US" altLang="en-US" dirty="0">
                <a:solidFill>
                  <a:schemeClr val="tx1"/>
                </a:solidFill>
                <a:latin typeface="Times New Roman" panose="02020603050405020304" pitchFamily="18" charset="0"/>
                <a:cs typeface="Times New Roman" panose="02020603050405020304" pitchFamily="18" charset="0"/>
              </a:rPr>
              <a:t>Code is reusable thus less code may have to be written</a:t>
            </a:r>
          </a:p>
          <a:p>
            <a:r>
              <a:rPr lang="en-US" altLang="en-US" dirty="0">
                <a:solidFill>
                  <a:schemeClr val="tx1"/>
                </a:solidFill>
                <a:latin typeface="Times New Roman" panose="02020603050405020304" pitchFamily="18" charset="0"/>
                <a:cs typeface="Times New Roman" panose="02020603050405020304" pitchFamily="18" charset="0"/>
              </a:rPr>
              <a:t>Data becomes active</a:t>
            </a:r>
          </a:p>
          <a:p>
            <a:r>
              <a:rPr lang="en-US" altLang="en-US" dirty="0">
                <a:solidFill>
                  <a:schemeClr val="tx1"/>
                </a:solidFill>
                <a:latin typeface="Times New Roman" panose="02020603050405020304" pitchFamily="18" charset="0"/>
                <a:cs typeface="Times New Roman" panose="02020603050405020304" pitchFamily="18" charset="0"/>
              </a:rPr>
              <a:t>Better able to create GUI (graphical user interface) applications </a:t>
            </a:r>
          </a:p>
          <a:p>
            <a:r>
              <a:rPr lang="en-US" altLang="en-US" dirty="0">
                <a:solidFill>
                  <a:schemeClr val="tx1"/>
                </a:solidFill>
                <a:latin typeface="Times New Roman" panose="02020603050405020304" pitchFamily="18" charset="0"/>
                <a:cs typeface="Times New Roman" panose="02020603050405020304" pitchFamily="18" charset="0"/>
              </a:rPr>
              <a:t>Programmers are able to produce faster, more accurate and better- written applications</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778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mn-lt"/>
                <a:cs typeface="+mn-lt"/>
                <a:sym typeface="+mn-ea"/>
              </a:rPr>
              <a:t>Principles of Object Technology.</a:t>
            </a:r>
          </a:p>
        </p:txBody>
      </p:sp>
      <p:pic>
        <p:nvPicPr>
          <p:cNvPr id="4" name="Content Placeholder 3" descr="Types-of-OOPS-2"/>
          <p:cNvPicPr>
            <a:picLocks noGrp="1" noChangeAspect="1"/>
          </p:cNvPicPr>
          <p:nvPr>
            <p:ph idx="1"/>
          </p:nvPr>
        </p:nvPicPr>
        <p:blipFill>
          <a:blip r:embed="rId2"/>
          <a:stretch>
            <a:fillRect/>
          </a:stretch>
        </p:blipFill>
        <p:spPr>
          <a:xfrm>
            <a:off x="2308860" y="1600200"/>
            <a:ext cx="4526280" cy="4526280"/>
          </a:xfrm>
          <a:prstGeom prst="rect">
            <a:avLst/>
          </a:prstGeom>
        </p:spPr>
      </p:pic>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6</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mn-lt"/>
              <a:cs typeface="+mn-lt"/>
              <a:sym typeface="+mn-ea"/>
            </a:endParaRPr>
          </a:p>
        </p:txBody>
      </p:sp>
      <p:sp>
        <p:nvSpPr>
          <p:cNvPr id="3" name="Content Placeholder 2"/>
          <p:cNvSpPr>
            <a:spLocks noGrp="1"/>
          </p:cNvSpPr>
          <p:nvPr>
            <p:ph idx="1"/>
          </p:nvPr>
        </p:nvSpPr>
        <p:spPr/>
        <p:txBody>
          <a:bodyPr/>
          <a:lstStyle/>
          <a:p>
            <a:pPr marL="0" indent="0" algn="ctr">
              <a:buNone/>
            </a:pPr>
            <a:endParaRPr lang="en-US" sz="5400" b="1" dirty="0">
              <a:solidFill>
                <a:srgbClr val="FF0000"/>
              </a:solidFill>
              <a:latin typeface="+mn-lt"/>
              <a:cs typeface="+mn-lt"/>
              <a:sym typeface="+mn-ea"/>
            </a:endParaRPr>
          </a:p>
          <a:p>
            <a:pPr marL="0" indent="0" algn="ctr">
              <a:buNone/>
            </a:pPr>
            <a:r>
              <a:rPr lang="en-US" sz="5400" b="1" dirty="0">
                <a:solidFill>
                  <a:srgbClr val="FF0000"/>
                </a:solidFill>
                <a:latin typeface="+mn-lt"/>
                <a:cs typeface="+mn-lt"/>
                <a:sym typeface="+mn-ea"/>
              </a:rPr>
              <a:t>Core Concepts (</a:t>
            </a:r>
            <a:r>
              <a:rPr lang="en-US" sz="5400" b="1" dirty="0">
                <a:solidFill>
                  <a:srgbClr val="FF0000"/>
                </a:solidFill>
                <a:highlight>
                  <a:srgbClr val="FFFF00"/>
                </a:highlight>
                <a:latin typeface="+mn-lt"/>
                <a:cs typeface="+mn-lt"/>
                <a:sym typeface="+mn-ea"/>
              </a:rPr>
              <a:t>Objects, Classes, Attributes</a:t>
            </a:r>
            <a:r>
              <a:rPr lang="en-US" sz="5400" b="1" dirty="0">
                <a:solidFill>
                  <a:srgbClr val="FF0000"/>
                </a:solidFill>
                <a:latin typeface="+mn-lt"/>
                <a:cs typeface="+mn-lt"/>
                <a:sym typeface="+mn-ea"/>
              </a:rPr>
              <a:t>)</a:t>
            </a:r>
          </a:p>
          <a:p>
            <a:pPr algn="ctr"/>
            <a:endParaRPr lang="en-US" sz="5400" b="1" dirty="0">
              <a:solidFill>
                <a:srgbClr val="FF0000"/>
              </a:solidFill>
              <a:latin typeface="+mn-lt"/>
              <a:cs typeface="+mn-lt"/>
              <a:sym typeface="+mn-ea"/>
            </a:endParaRPr>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Objects </a:t>
            </a:r>
          </a:p>
        </p:txBody>
      </p:sp>
      <p:sp>
        <p:nvSpPr>
          <p:cNvPr id="3" name="Content Placeholder 2"/>
          <p:cNvSpPr>
            <a:spLocks noGrp="1"/>
          </p:cNvSpPr>
          <p:nvPr>
            <p:ph idx="1"/>
          </p:nvPr>
        </p:nvSpPr>
        <p:spPr/>
        <p:txBody>
          <a:bodyPr/>
          <a:lstStyle/>
          <a:p>
            <a:r>
              <a:rPr lang="en-US" sz="3600">
                <a:solidFill>
                  <a:schemeClr val="tx1"/>
                </a:solidFill>
                <a:latin typeface="+mn-lt"/>
                <a:cs typeface="+mn-lt"/>
              </a:rPr>
              <a:t>Object is an instance of the class which has all the properties of its respective class.</a:t>
            </a:r>
          </a:p>
          <a:p>
            <a:r>
              <a:rPr lang="en-US" sz="3600">
                <a:solidFill>
                  <a:schemeClr val="tx1"/>
                </a:solidFill>
                <a:latin typeface="+mn-lt"/>
                <a:cs typeface="+mn-lt"/>
              </a:rPr>
              <a:t>Methods (functions), data variables </a:t>
            </a:r>
          </a:p>
          <a:p>
            <a:endParaRPr lang="en-US" sz="3600">
              <a:solidFill>
                <a:schemeClr val="tx1"/>
              </a:solidFill>
              <a:latin typeface="+mn-lt"/>
              <a:cs typeface="+mn-lt"/>
            </a:endParaRPr>
          </a:p>
          <a:p>
            <a:endParaRPr lang="en-US" sz="3600">
              <a:solidFill>
                <a:schemeClr val="tx1"/>
              </a:solidFill>
              <a:latin typeface="+mn-lt"/>
              <a:cs typeface="+mn-lt"/>
            </a:endParaRPr>
          </a:p>
        </p:txBody>
      </p:sp>
      <p:sp>
        <p:nvSpPr>
          <p:cNvPr id="2" name="Rectangles 1"/>
          <p:cNvSpPr/>
          <p:nvPr/>
        </p:nvSpPr>
        <p:spPr>
          <a:xfrm>
            <a:off x="295275" y="4796790"/>
            <a:ext cx="2190115" cy="805180"/>
          </a:xfrm>
          <a:prstGeom prst="rect">
            <a:avLst/>
          </a:prstGeom>
        </p:spPr>
        <p:style>
          <a:lnRef idx="1">
            <a:schemeClr val="accent3"/>
          </a:lnRef>
          <a:fillRef idx="2">
            <a:schemeClr val="accent3"/>
          </a:fillRef>
          <a:effectRef idx="1">
            <a:schemeClr val="accent3"/>
          </a:effectRef>
          <a:fontRef idx="minor">
            <a:schemeClr val="dk1"/>
          </a:fontRef>
        </p:style>
        <p:txBody>
          <a:bodyPr/>
          <a:lstStyle/>
          <a:p>
            <a:pPr algn="ctr"/>
            <a:r>
              <a:rPr lang="en-US" sz="4400" b="1"/>
              <a:t>Cricket </a:t>
            </a:r>
          </a:p>
        </p:txBody>
      </p:sp>
      <p:sp>
        <p:nvSpPr>
          <p:cNvPr id="4" name="Rounded Rectangle 3"/>
          <p:cNvSpPr/>
          <p:nvPr/>
        </p:nvSpPr>
        <p:spPr>
          <a:xfrm>
            <a:off x="3190240" y="4222115"/>
            <a:ext cx="1949450" cy="864235"/>
          </a:xfrm>
          <a:prstGeom prst="roundRect">
            <a:avLst/>
          </a:prstGeom>
        </p:spPr>
        <p:style>
          <a:lnRef idx="1">
            <a:schemeClr val="accent4"/>
          </a:lnRef>
          <a:fillRef idx="2">
            <a:schemeClr val="accent4"/>
          </a:fillRef>
          <a:effectRef idx="1">
            <a:schemeClr val="accent4"/>
          </a:effectRef>
          <a:fontRef idx="minor">
            <a:schemeClr val="dk1"/>
          </a:fontRef>
        </p:style>
        <p:txBody>
          <a:bodyPr/>
          <a:lstStyle/>
          <a:p>
            <a:pPr algn="ctr"/>
            <a:r>
              <a:rPr lang="en-US" sz="3600" b="1">
                <a:cs typeface="+mn-lt"/>
              </a:rPr>
              <a:t>Runs</a:t>
            </a:r>
          </a:p>
        </p:txBody>
      </p:sp>
      <p:sp>
        <p:nvSpPr>
          <p:cNvPr id="5" name="Rounded Rectangle 4"/>
          <p:cNvSpPr/>
          <p:nvPr/>
        </p:nvSpPr>
        <p:spPr>
          <a:xfrm>
            <a:off x="6560185" y="4163060"/>
            <a:ext cx="1949450" cy="864235"/>
          </a:xfrm>
          <a:prstGeom prst="roundRect">
            <a:avLst/>
          </a:prstGeom>
        </p:spPr>
        <p:style>
          <a:lnRef idx="1">
            <a:schemeClr val="accent4"/>
          </a:lnRef>
          <a:fillRef idx="2">
            <a:schemeClr val="accent4"/>
          </a:fillRef>
          <a:effectRef idx="1">
            <a:schemeClr val="accent4"/>
          </a:effectRef>
          <a:fontRef idx="minor">
            <a:schemeClr val="dk1"/>
          </a:fontRef>
        </p:style>
        <p:txBody>
          <a:bodyPr/>
          <a:lstStyle/>
          <a:p>
            <a:pPr algn="ctr"/>
            <a:r>
              <a:rPr lang="en-US" sz="3600" b="1"/>
              <a:t>Wickets </a:t>
            </a:r>
          </a:p>
        </p:txBody>
      </p:sp>
      <p:sp>
        <p:nvSpPr>
          <p:cNvPr id="7" name="Rounded Rectangle 6"/>
          <p:cNvSpPr/>
          <p:nvPr/>
        </p:nvSpPr>
        <p:spPr>
          <a:xfrm>
            <a:off x="3309620" y="5857240"/>
            <a:ext cx="1949450" cy="864235"/>
          </a:xfrm>
          <a:prstGeom prst="roundRect">
            <a:avLst/>
          </a:prstGeom>
        </p:spPr>
        <p:style>
          <a:lnRef idx="1">
            <a:schemeClr val="accent5"/>
          </a:lnRef>
          <a:fillRef idx="2">
            <a:schemeClr val="accent5"/>
          </a:fillRef>
          <a:effectRef idx="1">
            <a:schemeClr val="accent5"/>
          </a:effectRef>
          <a:fontRef idx="minor">
            <a:schemeClr val="dk1"/>
          </a:fontRef>
        </p:style>
        <p:txBody>
          <a:bodyPr/>
          <a:lstStyle/>
          <a:p>
            <a:pPr algn="ctr"/>
            <a:r>
              <a:rPr lang="en-US" sz="2800" b="1">
                <a:cs typeface="+mn-lt"/>
              </a:rPr>
              <a:t>ShowRuns</a:t>
            </a:r>
          </a:p>
        </p:txBody>
      </p:sp>
      <p:sp>
        <p:nvSpPr>
          <p:cNvPr id="9" name="Rounded Rectangle 8"/>
          <p:cNvSpPr/>
          <p:nvPr/>
        </p:nvSpPr>
        <p:spPr>
          <a:xfrm>
            <a:off x="6560185" y="5857240"/>
            <a:ext cx="1949450" cy="864235"/>
          </a:xfrm>
          <a:prstGeom prst="roundRect">
            <a:avLst/>
          </a:prstGeom>
        </p:spPr>
        <p:style>
          <a:lnRef idx="1">
            <a:schemeClr val="accent5"/>
          </a:lnRef>
          <a:fillRef idx="2">
            <a:schemeClr val="accent5"/>
          </a:fillRef>
          <a:effectRef idx="1">
            <a:schemeClr val="accent5"/>
          </a:effectRef>
          <a:fontRef idx="minor">
            <a:schemeClr val="dk1"/>
          </a:fontRef>
        </p:style>
        <p:txBody>
          <a:bodyPr/>
          <a:lstStyle/>
          <a:p>
            <a:pPr algn="ctr"/>
            <a:r>
              <a:rPr lang="en-US" sz="2800" b="1"/>
              <a:t>Show Wickets </a:t>
            </a:r>
          </a:p>
        </p:txBody>
      </p:sp>
      <p:cxnSp>
        <p:nvCxnSpPr>
          <p:cNvPr id="10" name="Straight Arrow Connector 9"/>
          <p:cNvCxnSpPr>
            <a:stCxn id="2" idx="3"/>
            <a:endCxn id="4" idx="1"/>
          </p:cNvCxnSpPr>
          <p:nvPr/>
        </p:nvCxnSpPr>
        <p:spPr>
          <a:xfrm flipV="1">
            <a:off x="2485390" y="4654550"/>
            <a:ext cx="704850" cy="544830"/>
          </a:xfrm>
          <a:prstGeom prst="straightConnector1">
            <a:avLst/>
          </a:prstGeom>
          <a:ln>
            <a:tailEnd type="arrow" w="med" len="med"/>
          </a:ln>
        </p:spPr>
        <p:style>
          <a:lnRef idx="2">
            <a:schemeClr val="dk1"/>
          </a:lnRef>
          <a:fillRef idx="0">
            <a:schemeClr val="dk1"/>
          </a:fillRef>
          <a:effectRef idx="1">
            <a:schemeClr val="dk1"/>
          </a:effectRef>
          <a:fontRef idx="minor">
            <a:schemeClr val="tx1"/>
          </a:fontRef>
        </p:style>
      </p:cxnSp>
      <p:cxnSp>
        <p:nvCxnSpPr>
          <p:cNvPr id="11" name="Straight Arrow Connector 10"/>
          <p:cNvCxnSpPr>
            <a:endCxn id="7" idx="1"/>
          </p:cNvCxnSpPr>
          <p:nvPr/>
        </p:nvCxnSpPr>
        <p:spPr>
          <a:xfrm>
            <a:off x="2485390" y="5326380"/>
            <a:ext cx="824230" cy="963295"/>
          </a:xfrm>
          <a:prstGeom prst="straightConnector1">
            <a:avLst/>
          </a:prstGeom>
          <a:ln>
            <a:tailEnd type="arrow"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Class </a:t>
            </a:r>
          </a:p>
        </p:txBody>
      </p:sp>
      <p:sp>
        <p:nvSpPr>
          <p:cNvPr id="3" name="Content Placeholder 2"/>
          <p:cNvSpPr>
            <a:spLocks noGrp="1"/>
          </p:cNvSpPr>
          <p:nvPr>
            <p:ph idx="1"/>
          </p:nvPr>
        </p:nvSpPr>
        <p:spPr/>
        <p:txBody>
          <a:bodyPr/>
          <a:lstStyle/>
          <a:p>
            <a:r>
              <a:rPr lang="en-US" sz="3600">
                <a:solidFill>
                  <a:schemeClr val="tx1"/>
                </a:solidFill>
                <a:latin typeface="+mn-lt"/>
                <a:cs typeface="+mn-lt"/>
              </a:rPr>
              <a:t>A class is a templte or blueprint, from objects are created.</a:t>
            </a:r>
          </a:p>
          <a:p>
            <a:r>
              <a:rPr lang="en-US" sz="3600">
                <a:solidFill>
                  <a:schemeClr val="tx1"/>
                </a:solidFill>
                <a:latin typeface="+mn-lt"/>
                <a:cs typeface="+mn-lt"/>
              </a:rPr>
              <a:t>Objects are used to implement the classes.</a:t>
            </a:r>
          </a:p>
          <a:p>
            <a:endParaRPr lang="en-US" sz="3600">
              <a:solidFill>
                <a:schemeClr val="tx1"/>
              </a:solidFill>
              <a:latin typeface="+mn-lt"/>
              <a:cs typeface="+mn-lt"/>
            </a:endParaRPr>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Class </a:t>
            </a:r>
          </a:p>
        </p:txBody>
      </p:sp>
      <p:sp>
        <p:nvSpPr>
          <p:cNvPr id="3" name="Content Placeholder 2"/>
          <p:cNvSpPr>
            <a:spLocks noGrp="1"/>
          </p:cNvSpPr>
          <p:nvPr>
            <p:ph idx="1"/>
          </p:nvPr>
        </p:nvSpPr>
        <p:spPr/>
        <p:txBody>
          <a:bodyPr/>
          <a:lstStyle/>
          <a:p>
            <a:r>
              <a:rPr lang="en-US" sz="3600">
                <a:solidFill>
                  <a:schemeClr val="tx1"/>
                </a:solidFill>
                <a:latin typeface="+mn-lt"/>
                <a:cs typeface="+mn-lt"/>
              </a:rPr>
              <a:t>A class is a group of objects with same attributes and behavior</a:t>
            </a:r>
          </a:p>
          <a:p>
            <a:r>
              <a:rPr lang="en-US" sz="3600">
                <a:solidFill>
                  <a:schemeClr val="tx1"/>
                </a:solidFill>
                <a:latin typeface="+mn-lt"/>
                <a:cs typeface="+mn-lt"/>
              </a:rPr>
              <a:t>A class is user define derived class that conmbines both data and function and manipulate the data.</a:t>
            </a:r>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Attributes</a:t>
            </a:r>
          </a:p>
        </p:txBody>
      </p:sp>
      <p:sp>
        <p:nvSpPr>
          <p:cNvPr id="3" name="Content Placeholder 2"/>
          <p:cNvSpPr>
            <a:spLocks noGrp="1"/>
          </p:cNvSpPr>
          <p:nvPr>
            <p:ph idx="1"/>
          </p:nvPr>
        </p:nvSpPr>
        <p:spPr/>
        <p:txBody>
          <a:bodyPr/>
          <a:lstStyle/>
          <a:p>
            <a:r>
              <a:rPr lang="en-US" sz="3600">
                <a:solidFill>
                  <a:schemeClr val="tx1"/>
                </a:solidFill>
                <a:latin typeface="+mn-lt"/>
                <a:cs typeface="+mn-lt"/>
              </a:rPr>
              <a:t>Field or properties</a:t>
            </a:r>
          </a:p>
          <a:p>
            <a:r>
              <a:rPr lang="en-US" sz="3600">
                <a:solidFill>
                  <a:schemeClr val="tx1"/>
                </a:solidFill>
                <a:latin typeface="+mn-lt"/>
                <a:cs typeface="+mn-lt"/>
              </a:rPr>
              <a:t>Variables that hold data about the objects.</a:t>
            </a:r>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Methods</a:t>
            </a:r>
          </a:p>
        </p:txBody>
      </p:sp>
      <p:sp>
        <p:nvSpPr>
          <p:cNvPr id="3" name="Content Placeholder 2"/>
          <p:cNvSpPr>
            <a:spLocks noGrp="1"/>
          </p:cNvSpPr>
          <p:nvPr>
            <p:ph idx="1"/>
          </p:nvPr>
        </p:nvSpPr>
        <p:spPr/>
        <p:txBody>
          <a:bodyPr/>
          <a:lstStyle/>
          <a:p>
            <a:r>
              <a:rPr lang="en-US" sz="3600">
                <a:solidFill>
                  <a:schemeClr val="tx1"/>
                </a:solidFill>
                <a:latin typeface="+mn-lt"/>
                <a:cs typeface="+mn-lt"/>
              </a:rPr>
              <a:t>Functions</a:t>
            </a:r>
          </a:p>
          <a:p>
            <a:r>
              <a:rPr lang="en-US" sz="3600">
                <a:solidFill>
                  <a:schemeClr val="tx1"/>
                </a:solidFill>
                <a:latin typeface="+mn-lt"/>
                <a:cs typeface="+mn-lt"/>
              </a:rPr>
              <a:t>Action or behaviour that an object can perform </a:t>
            </a:r>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Method</a:t>
            </a:r>
          </a:p>
        </p:txBody>
      </p:sp>
      <p:sp>
        <p:nvSpPr>
          <p:cNvPr id="3" name="Content Placeholder 2"/>
          <p:cNvSpPr>
            <a:spLocks noGrp="1"/>
          </p:cNvSpPr>
          <p:nvPr>
            <p:ph idx="1"/>
          </p:nvPr>
        </p:nvSpPr>
        <p:spPr/>
        <p:txBody>
          <a:bodyPr/>
          <a:lstStyle/>
          <a:p>
            <a:r>
              <a:rPr lang="en-US" sz="3600">
                <a:solidFill>
                  <a:schemeClr val="tx1"/>
                </a:solidFill>
                <a:latin typeface="+mn-lt"/>
                <a:cs typeface="+mn-lt"/>
              </a:rPr>
              <a:t>A- method is a set of code which is refered to by name and can be called at any point in a program simply by utilization the method’s name.</a:t>
            </a:r>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Examples of Attribute and Methods</a:t>
            </a:r>
          </a:p>
        </p:txBody>
      </p:sp>
      <p:sp>
        <p:nvSpPr>
          <p:cNvPr id="3" name="Content Placeholder 2"/>
          <p:cNvSpPr>
            <a:spLocks noGrp="1"/>
          </p:cNvSpPr>
          <p:nvPr>
            <p:ph idx="1"/>
          </p:nvPr>
        </p:nvSpPr>
        <p:spPr/>
        <p:txBody>
          <a:bodyPr/>
          <a:lstStyle/>
          <a:p>
            <a:r>
              <a:rPr lang="en-US" sz="3600">
                <a:solidFill>
                  <a:schemeClr val="tx1"/>
                </a:solidFill>
                <a:latin typeface="+mn-lt"/>
                <a:cs typeface="+mn-lt"/>
              </a:rPr>
              <a:t>Attribute</a:t>
            </a:r>
          </a:p>
          <a:p>
            <a:pPr lvl="1"/>
            <a:r>
              <a:rPr lang="en-US" sz="3000">
                <a:solidFill>
                  <a:schemeClr val="tx1"/>
                </a:solidFill>
                <a:latin typeface="+mn-lt"/>
                <a:cs typeface="+mn-lt"/>
              </a:rPr>
              <a:t>car.color=”red”</a:t>
            </a:r>
          </a:p>
          <a:p>
            <a:r>
              <a:rPr lang="en-US" sz="3600">
                <a:solidFill>
                  <a:schemeClr val="tx1"/>
                </a:solidFill>
                <a:latin typeface="+mn-lt"/>
                <a:cs typeface="+mn-lt"/>
              </a:rPr>
              <a:t>Method</a:t>
            </a:r>
          </a:p>
          <a:p>
            <a:pPr lvl="1"/>
            <a:r>
              <a:rPr lang="en-US" sz="3000">
                <a:solidFill>
                  <a:schemeClr val="tx1"/>
                </a:solidFill>
                <a:latin typeface="+mn-lt"/>
                <a:cs typeface="+mn-lt"/>
              </a:rPr>
              <a:t>car.drive()</a:t>
            </a:r>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Instances</a:t>
            </a:r>
          </a:p>
        </p:txBody>
      </p:sp>
      <p:sp>
        <p:nvSpPr>
          <p:cNvPr id="3" name="Content Placeholder 2"/>
          <p:cNvSpPr>
            <a:spLocks noGrp="1"/>
          </p:cNvSpPr>
          <p:nvPr>
            <p:ph idx="1"/>
          </p:nvPr>
        </p:nvSpPr>
        <p:spPr/>
        <p:txBody>
          <a:bodyPr/>
          <a:lstStyle/>
          <a:p>
            <a:r>
              <a:rPr lang="en-US" sz="3600">
                <a:solidFill>
                  <a:schemeClr val="tx1"/>
                </a:solidFill>
                <a:latin typeface="+mn-lt"/>
                <a:cs typeface="+mn-lt"/>
              </a:rPr>
              <a:t>An instance is a specific realization of any object</a:t>
            </a:r>
          </a:p>
          <a:p>
            <a:r>
              <a:rPr lang="en-US" sz="3600">
                <a:solidFill>
                  <a:schemeClr val="tx1"/>
                </a:solidFill>
                <a:latin typeface="+mn-lt"/>
                <a:cs typeface="+mn-lt"/>
              </a:rPr>
              <a:t>The creation of a realization instance is called instantiation.</a:t>
            </a:r>
          </a:p>
          <a:p>
            <a:r>
              <a:rPr lang="en-US" sz="3600">
                <a:solidFill>
                  <a:schemeClr val="tx1"/>
                </a:solidFill>
                <a:latin typeface="+mn-lt"/>
                <a:cs typeface="+mn-lt"/>
              </a:rPr>
              <a:t>Each time a program runs, it is an instance of that program</a:t>
            </a:r>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15</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endParaRPr>
          </a:p>
        </p:txBody>
      </p:sp>
      <p:sp>
        <p:nvSpPr>
          <p:cNvPr id="3" name="Content Placeholder 2"/>
          <p:cNvSpPr>
            <a:spLocks noGrp="1"/>
          </p:cNvSpPr>
          <p:nvPr>
            <p:ph idx="1"/>
          </p:nvPr>
        </p:nvSpPr>
        <p:spPr/>
        <p:txBody>
          <a:bodyPr/>
          <a:lstStyle/>
          <a:p>
            <a:pPr marL="0" indent="0" algn="ctr">
              <a:buNone/>
            </a:pPr>
            <a:endParaRPr lang="en-US" sz="4800" b="1">
              <a:solidFill>
                <a:schemeClr val="tx1"/>
              </a:solidFill>
              <a:latin typeface="+mn-lt"/>
              <a:cs typeface="+mn-lt"/>
            </a:endParaRPr>
          </a:p>
          <a:p>
            <a:pPr marL="0" indent="0" algn="ctr">
              <a:buNone/>
            </a:pPr>
            <a:r>
              <a:rPr lang="en-US" sz="4800" b="1">
                <a:solidFill>
                  <a:srgbClr val="FF0000"/>
                </a:solidFill>
                <a:latin typeface="+mn-lt"/>
                <a:cs typeface="+mn-lt"/>
              </a:rPr>
              <a:t>Key Principles(</a:t>
            </a:r>
            <a:r>
              <a:rPr lang="en-US" sz="4800" b="1">
                <a:solidFill>
                  <a:srgbClr val="FF0000"/>
                </a:solidFill>
                <a:highlight>
                  <a:srgbClr val="FFFF00"/>
                </a:highlight>
                <a:latin typeface="+mn-lt"/>
                <a:cs typeface="+mn-lt"/>
              </a:rPr>
              <a:t>Encapsulation, Inheritance, Polymorphism, Abstraction</a:t>
            </a:r>
            <a:r>
              <a:rPr lang="en-US" sz="4800" b="1">
                <a:solidFill>
                  <a:srgbClr val="FF0000"/>
                </a:solidFill>
                <a:latin typeface="+mn-lt"/>
                <a:cs typeface="+mn-lt"/>
              </a:rPr>
              <a:t>)</a:t>
            </a:r>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Encapsulation</a:t>
            </a:r>
          </a:p>
        </p:txBody>
      </p:sp>
      <p:sp>
        <p:nvSpPr>
          <p:cNvPr id="3" name="Content Placeholder 2"/>
          <p:cNvSpPr>
            <a:spLocks noGrp="1"/>
          </p:cNvSpPr>
          <p:nvPr>
            <p:ph idx="1"/>
          </p:nvPr>
        </p:nvSpPr>
        <p:spPr/>
        <p:txBody>
          <a:bodyPr/>
          <a:lstStyle/>
          <a:p>
            <a:r>
              <a:rPr lang="en-US"/>
              <a:t>Encapsulation is an object oriented programming concepts that binds together the data and function that manipulate the data and that keep both safe from outside interference and misuse.</a:t>
            </a:r>
          </a:p>
          <a:p>
            <a:r>
              <a:rPr lang="en-US"/>
              <a:t>In easy wording you can say that Encapsulation in OOP means wrapping data (variables) and functions (methods) into a single unit (class), and controlling who can access them.</a:t>
            </a:r>
          </a:p>
          <a:p>
            <a:endParaRPr lang="en-US"/>
          </a:p>
        </p:txBody>
      </p:sp>
      <p:graphicFrame>
        <p:nvGraphicFramePr>
          <p:cNvPr id="2" name="Object 1"/>
          <p:cNvGraphicFramePr/>
          <p:nvPr/>
        </p:nvGraphicFramePr>
        <p:xfrm>
          <a:off x="4376420" y="4572000"/>
          <a:ext cx="2882900" cy="2149475"/>
        </p:xfrm>
        <a:graphic>
          <a:graphicData uri="http://schemas.openxmlformats.org/presentationml/2006/ole">
            <mc:AlternateContent xmlns:mc="http://schemas.openxmlformats.org/markup-compatibility/2006">
              <mc:Choice xmlns:v="urn:schemas-microsoft-com:vml" Requires="v">
                <p:oleObj spid="_x0000_s8208" r:id="rId3" imgW="2857500" imgH="1819275" progId="Paint.Picture">
                  <p:embed/>
                </p:oleObj>
              </mc:Choice>
              <mc:Fallback>
                <p:oleObj r:id="rId3" imgW="2857500" imgH="1819275" progId="Paint.Picture">
                  <p:embed/>
                  <p:pic>
                    <p:nvPicPr>
                      <p:cNvPr id="2" name="Object 1"/>
                      <p:cNvPicPr/>
                      <p:nvPr/>
                    </p:nvPicPr>
                    <p:blipFill>
                      <a:blip r:embed="rId4"/>
                      <a:stretch>
                        <a:fillRect/>
                      </a:stretch>
                    </p:blipFill>
                    <p:spPr>
                      <a:xfrm>
                        <a:off x="4376420" y="4572000"/>
                        <a:ext cx="2882900" cy="2149475"/>
                      </a:xfrm>
                      <a:prstGeom prst="rect">
                        <a:avLst/>
                      </a:prstGeom>
                    </p:spPr>
                  </p:pic>
                </p:oleObj>
              </mc:Fallback>
            </mc:AlternateContent>
          </a:graphicData>
        </a:graphic>
      </p:graphicFrame>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Inheritance </a:t>
            </a:r>
          </a:p>
        </p:txBody>
      </p:sp>
      <p:sp>
        <p:nvSpPr>
          <p:cNvPr id="3" name="Content Placeholder 2"/>
          <p:cNvSpPr>
            <a:spLocks noGrp="1"/>
          </p:cNvSpPr>
          <p:nvPr>
            <p:ph idx="1"/>
          </p:nvPr>
        </p:nvSpPr>
        <p:spPr/>
        <p:txBody>
          <a:bodyPr/>
          <a:lstStyle/>
          <a:p>
            <a:r>
              <a:rPr lang="en-US" sz="3600">
                <a:solidFill>
                  <a:schemeClr val="tx1"/>
                </a:solidFill>
                <a:latin typeface="+mn-lt"/>
                <a:cs typeface="+mn-lt"/>
              </a:rPr>
              <a:t>Inheritance is the machanism that allow us to reuse the attributes and methods of one class in the implementation of another class.</a:t>
            </a:r>
          </a:p>
          <a:p>
            <a:endParaRPr lang="en-US" sz="3600">
              <a:solidFill>
                <a:schemeClr val="tx1"/>
              </a:solidFill>
              <a:latin typeface="+mn-lt"/>
              <a:cs typeface="+mn-lt"/>
            </a:endParaRPr>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Inheritance </a:t>
            </a:r>
          </a:p>
        </p:txBody>
      </p:sp>
      <p:sp>
        <p:nvSpPr>
          <p:cNvPr id="2" name="Rectangles 1"/>
          <p:cNvSpPr/>
          <p:nvPr/>
        </p:nvSpPr>
        <p:spPr>
          <a:xfrm>
            <a:off x="863600" y="1630045"/>
            <a:ext cx="1607820" cy="702945"/>
          </a:xfrm>
          <a:prstGeom prst="rect">
            <a:avLst/>
          </a:prstGeom>
          <a:noFill/>
          <a:ln>
            <a:solidFill>
              <a:schemeClr val="tx1"/>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pPr algn="ctr"/>
            <a:r>
              <a:rPr lang="en-US" sz="3200">
                <a:solidFill>
                  <a:schemeClr val="tx1"/>
                </a:solidFill>
                <a:highlight>
                  <a:srgbClr val="FFFF00"/>
                </a:highlight>
              </a:rPr>
              <a:t>Class A</a:t>
            </a:r>
          </a:p>
        </p:txBody>
      </p:sp>
      <p:sp>
        <p:nvSpPr>
          <p:cNvPr id="4" name="Rectangles 3"/>
          <p:cNvSpPr/>
          <p:nvPr/>
        </p:nvSpPr>
        <p:spPr>
          <a:xfrm>
            <a:off x="852805" y="3253105"/>
            <a:ext cx="1607820" cy="702945"/>
          </a:xfrm>
          <a:prstGeom prst="rect">
            <a:avLst/>
          </a:prstGeom>
          <a:noFill/>
          <a:ln>
            <a:solidFill>
              <a:schemeClr val="tx1"/>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pPr algn="ctr"/>
            <a:r>
              <a:rPr lang="en-US" sz="3200">
                <a:solidFill>
                  <a:schemeClr val="tx1"/>
                </a:solidFill>
                <a:highlight>
                  <a:srgbClr val="00FF00"/>
                </a:highlight>
                <a:sym typeface="+mn-ea"/>
              </a:rPr>
              <a:t>Class B</a:t>
            </a:r>
          </a:p>
        </p:txBody>
      </p:sp>
      <p:sp>
        <p:nvSpPr>
          <p:cNvPr id="5" name="Rectangles 4"/>
          <p:cNvSpPr/>
          <p:nvPr/>
        </p:nvSpPr>
        <p:spPr>
          <a:xfrm>
            <a:off x="3411855" y="1619250"/>
            <a:ext cx="1607820" cy="702945"/>
          </a:xfrm>
          <a:prstGeom prst="rect">
            <a:avLst/>
          </a:prstGeom>
          <a:noFill/>
          <a:ln>
            <a:solidFill>
              <a:schemeClr val="tx1"/>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pPr algn="ctr"/>
            <a:r>
              <a:rPr lang="en-US" sz="3200">
                <a:solidFill>
                  <a:schemeClr val="tx1"/>
                </a:solidFill>
                <a:highlight>
                  <a:srgbClr val="FFFF00"/>
                </a:highlight>
                <a:sym typeface="+mn-ea"/>
              </a:rPr>
              <a:t>Class A</a:t>
            </a:r>
          </a:p>
        </p:txBody>
      </p:sp>
      <p:sp>
        <p:nvSpPr>
          <p:cNvPr id="7" name="Rectangles 6"/>
          <p:cNvSpPr/>
          <p:nvPr/>
        </p:nvSpPr>
        <p:spPr>
          <a:xfrm>
            <a:off x="6038850" y="1628140"/>
            <a:ext cx="1607820" cy="702945"/>
          </a:xfrm>
          <a:prstGeom prst="rect">
            <a:avLst/>
          </a:prstGeom>
          <a:noFill/>
          <a:ln>
            <a:solidFill>
              <a:schemeClr val="tx1"/>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pPr algn="ctr"/>
            <a:r>
              <a:rPr lang="en-US" sz="3200">
                <a:solidFill>
                  <a:schemeClr val="tx1"/>
                </a:solidFill>
                <a:highlight>
                  <a:srgbClr val="FFFF00"/>
                </a:highlight>
                <a:sym typeface="+mn-ea"/>
              </a:rPr>
              <a:t>Class A</a:t>
            </a:r>
          </a:p>
        </p:txBody>
      </p:sp>
      <p:sp>
        <p:nvSpPr>
          <p:cNvPr id="9" name="Rectangles 8"/>
          <p:cNvSpPr/>
          <p:nvPr/>
        </p:nvSpPr>
        <p:spPr>
          <a:xfrm>
            <a:off x="3420745" y="3242310"/>
            <a:ext cx="1607820" cy="702945"/>
          </a:xfrm>
          <a:prstGeom prst="rect">
            <a:avLst/>
          </a:prstGeom>
          <a:noFill/>
          <a:ln>
            <a:solidFill>
              <a:schemeClr val="tx1"/>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pPr algn="ctr"/>
            <a:r>
              <a:rPr lang="en-US" sz="3200">
                <a:solidFill>
                  <a:schemeClr val="tx1"/>
                </a:solidFill>
                <a:highlight>
                  <a:srgbClr val="00FF00"/>
                </a:highlight>
                <a:sym typeface="+mn-ea"/>
              </a:rPr>
              <a:t>Class B</a:t>
            </a:r>
          </a:p>
        </p:txBody>
      </p:sp>
      <p:sp>
        <p:nvSpPr>
          <p:cNvPr id="10" name="Rectangles 9"/>
          <p:cNvSpPr/>
          <p:nvPr/>
        </p:nvSpPr>
        <p:spPr>
          <a:xfrm>
            <a:off x="5319395" y="3251200"/>
            <a:ext cx="1607820" cy="702945"/>
          </a:xfrm>
          <a:prstGeom prst="rect">
            <a:avLst/>
          </a:prstGeom>
          <a:noFill/>
          <a:ln>
            <a:solidFill>
              <a:schemeClr val="tx1"/>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pPr algn="ctr"/>
            <a:r>
              <a:rPr lang="en-US" sz="3200">
                <a:solidFill>
                  <a:schemeClr val="tx1"/>
                </a:solidFill>
                <a:highlight>
                  <a:srgbClr val="00FF00"/>
                </a:highlight>
                <a:sym typeface="+mn-ea"/>
              </a:rPr>
              <a:t>Class B</a:t>
            </a:r>
          </a:p>
        </p:txBody>
      </p:sp>
      <p:sp>
        <p:nvSpPr>
          <p:cNvPr id="11" name="Rectangles 10"/>
          <p:cNvSpPr/>
          <p:nvPr/>
        </p:nvSpPr>
        <p:spPr>
          <a:xfrm>
            <a:off x="7257415" y="3240405"/>
            <a:ext cx="1607820" cy="702945"/>
          </a:xfrm>
          <a:prstGeom prst="rect">
            <a:avLst/>
          </a:prstGeom>
          <a:noFill/>
          <a:ln>
            <a:solidFill>
              <a:schemeClr val="tx1"/>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pPr algn="ctr"/>
            <a:r>
              <a:rPr lang="en-US" sz="3200">
                <a:solidFill>
                  <a:schemeClr val="tx1"/>
                </a:solidFill>
                <a:highlight>
                  <a:srgbClr val="00FFFF"/>
                </a:highlight>
                <a:sym typeface="+mn-ea"/>
              </a:rPr>
              <a:t>Class C</a:t>
            </a:r>
          </a:p>
          <a:p>
            <a:pPr algn="ctr"/>
            <a:endParaRPr lang="en-US" sz="3200">
              <a:solidFill>
                <a:schemeClr val="tx1"/>
              </a:solidFill>
              <a:highlight>
                <a:srgbClr val="00FFFF"/>
              </a:highlight>
              <a:sym typeface="+mn-ea"/>
            </a:endParaRPr>
          </a:p>
        </p:txBody>
      </p:sp>
      <p:sp>
        <p:nvSpPr>
          <p:cNvPr id="12" name="Rectangles 11"/>
          <p:cNvSpPr/>
          <p:nvPr/>
        </p:nvSpPr>
        <p:spPr>
          <a:xfrm>
            <a:off x="3429635" y="4865370"/>
            <a:ext cx="1607820" cy="702945"/>
          </a:xfrm>
          <a:prstGeom prst="rect">
            <a:avLst/>
          </a:prstGeom>
          <a:noFill/>
          <a:ln>
            <a:solidFill>
              <a:schemeClr val="tx1"/>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pPr algn="ctr"/>
            <a:r>
              <a:rPr lang="en-US" sz="3200">
                <a:solidFill>
                  <a:schemeClr val="tx1"/>
                </a:solidFill>
                <a:highlight>
                  <a:srgbClr val="00FFFF"/>
                </a:highlight>
                <a:sym typeface="+mn-ea"/>
              </a:rPr>
              <a:t>Class C</a:t>
            </a:r>
          </a:p>
        </p:txBody>
      </p:sp>
      <p:cxnSp>
        <p:nvCxnSpPr>
          <p:cNvPr id="13" name="Straight Arrow Connector 12"/>
          <p:cNvCxnSpPr>
            <a:stCxn id="4" idx="0"/>
          </p:cNvCxnSpPr>
          <p:nvPr/>
        </p:nvCxnSpPr>
        <p:spPr>
          <a:xfrm flipV="1">
            <a:off x="1656715" y="2332990"/>
            <a:ext cx="0" cy="92011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V="1">
            <a:off x="4284345" y="2332990"/>
            <a:ext cx="0" cy="92011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endCxn id="7" idx="2"/>
          </p:cNvCxnSpPr>
          <p:nvPr/>
        </p:nvCxnSpPr>
        <p:spPr>
          <a:xfrm flipV="1">
            <a:off x="6123305" y="2331085"/>
            <a:ext cx="719455" cy="92202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11" idx="0"/>
            <a:endCxn id="7" idx="2"/>
          </p:cNvCxnSpPr>
          <p:nvPr/>
        </p:nvCxnSpPr>
        <p:spPr>
          <a:xfrm flipH="1" flipV="1">
            <a:off x="6842760" y="2331085"/>
            <a:ext cx="1218565" cy="90932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4284345" y="3945255"/>
            <a:ext cx="0" cy="92011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horizontal)">
                                      <p:cBhvr>
                                        <p:cTn id="16" dur="500"/>
                                        <p:tgtEl>
                                          <p:spTgt spid="4"/>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linds(horizontal)">
                                      <p:cBhvr>
                                        <p:cTn id="28" dur="500"/>
                                        <p:tgtEl>
                                          <p:spTgt spid="1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linds(horizontal)">
                                      <p:cBhvr>
                                        <p:cTn id="31" dur="500"/>
                                        <p:tgtEl>
                                          <p:spTgt spid="1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linds(horizontal)">
                                      <p:cBhvr>
                                        <p:cTn id="34" dur="500"/>
                                        <p:tgtEl>
                                          <p:spTgt spid="12"/>
                                        </p:tgtEl>
                                      </p:cBhvr>
                                    </p:animEffect>
                                  </p:childTnLst>
                                </p:cTn>
                              </p:par>
                              <p:par>
                                <p:cTn id="35" presetID="3" presetClass="entr" presetSubtype="1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cTn>
                              </p:par>
                              <p:par>
                                <p:cTn id="38" presetID="3" presetClass="entr" presetSubtype="1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blinds(horizontal)">
                                      <p:cBhvr>
                                        <p:cTn id="40" dur="500"/>
                                        <p:tgtEl>
                                          <p:spTgt spid="14"/>
                                        </p:tgtEl>
                                      </p:cBhvr>
                                    </p:animEffect>
                                  </p:childTnLst>
                                </p:cTn>
                              </p:par>
                              <p:par>
                                <p:cTn id="41" presetID="3" presetClass="entr" presetSubtype="1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linds(horizontal)">
                                      <p:cBhvr>
                                        <p:cTn id="43" dur="500"/>
                                        <p:tgtEl>
                                          <p:spTgt spid="15"/>
                                        </p:tgtEl>
                                      </p:cBhvr>
                                    </p:animEffect>
                                  </p:childTnLst>
                                </p:cTn>
                              </p:par>
                              <p:par>
                                <p:cTn id="44" presetID="3" presetClass="entr" presetSubtype="1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linds(horizontal)">
                                      <p:cBhvr>
                                        <p:cTn id="46" dur="500"/>
                                        <p:tgtEl>
                                          <p:spTgt spid="16"/>
                                        </p:tgtEl>
                                      </p:cBhvr>
                                    </p:animEffect>
                                  </p:childTnLst>
                                </p:cTn>
                              </p:par>
                              <p:par>
                                <p:cTn id="47" presetID="3" presetClass="entr" presetSubtype="1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blinds(horizontal)">
                                      <p:cBhvr>
                                        <p:cTn id="4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P spid="2" grpId="0" animBg="1"/>
      <p:bldP spid="2" grpId="1" animBg="1"/>
      <p:bldP spid="4" grpId="0" animBg="1"/>
      <p:bldP spid="4" grpId="1" animBg="1"/>
      <p:bldP spid="5" grpId="0" animBg="1"/>
      <p:bldP spid="5" grpId="1" animBg="1"/>
      <p:bldP spid="7" grpId="0" animBg="1"/>
      <p:bldP spid="7" grpId="1" animBg="1"/>
      <p:bldP spid="9" grpId="0" animBg="1"/>
      <p:bldP spid="9" grpId="1" animBg="1"/>
      <p:bldP spid="10" grpId="0" animBg="1"/>
      <p:bldP spid="10" grpId="1" animBg="1"/>
      <p:bldP spid="11" grpId="0" animBg="1"/>
      <p:bldP spid="11" grpId="1" animBg="1"/>
      <p:bldP spid="12" grpId="0" animBg="1"/>
      <p:bldP spid="12"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Inheritance </a:t>
            </a:r>
          </a:p>
        </p:txBody>
      </p:sp>
      <p:sp>
        <p:nvSpPr>
          <p:cNvPr id="3" name="Content Placeholder 2"/>
          <p:cNvSpPr>
            <a:spLocks noGrp="1"/>
          </p:cNvSpPr>
          <p:nvPr>
            <p:ph idx="1"/>
          </p:nvPr>
        </p:nvSpPr>
        <p:spPr/>
        <p:txBody>
          <a:bodyPr/>
          <a:lstStyle/>
          <a:p>
            <a:pPr marL="0" indent="0" algn="ctr">
              <a:buNone/>
            </a:pPr>
            <a:r>
              <a:rPr lang="en-US" sz="3600" b="1">
                <a:solidFill>
                  <a:srgbClr val="FF0000"/>
                </a:solidFill>
                <a:latin typeface="+mn-lt"/>
                <a:cs typeface="+mn-lt"/>
              </a:rPr>
              <a:t>Categories of inheritence </a:t>
            </a:r>
          </a:p>
          <a:p>
            <a:r>
              <a:rPr lang="en-US" sz="3600">
                <a:solidFill>
                  <a:schemeClr val="tx1"/>
                </a:solidFill>
                <a:latin typeface="+mn-lt"/>
                <a:cs typeface="+mn-lt"/>
              </a:rPr>
              <a:t>Single inheritence </a:t>
            </a:r>
          </a:p>
          <a:p>
            <a:pPr lvl="1"/>
            <a:r>
              <a:rPr lang="en-US" sz="3000">
                <a:solidFill>
                  <a:schemeClr val="tx1"/>
                </a:solidFill>
                <a:latin typeface="+mn-lt"/>
                <a:cs typeface="+mn-lt"/>
              </a:rPr>
              <a:t>In </a:t>
            </a:r>
            <a:r>
              <a:rPr lang="en-US" sz="3000" b="1">
                <a:solidFill>
                  <a:schemeClr val="tx1"/>
                </a:solidFill>
                <a:highlight>
                  <a:srgbClr val="FFFF00"/>
                </a:highlight>
                <a:latin typeface="+mn-lt"/>
                <a:cs typeface="+mn-lt"/>
              </a:rPr>
              <a:t>single inheritence</a:t>
            </a:r>
            <a:r>
              <a:rPr lang="en-US" sz="3000">
                <a:solidFill>
                  <a:schemeClr val="tx1"/>
                </a:solidFill>
                <a:latin typeface="+mn-lt"/>
                <a:cs typeface="+mn-lt"/>
              </a:rPr>
              <a:t>, the child class inherits all data members and memberls functions of the base class.</a:t>
            </a:r>
          </a:p>
          <a:p>
            <a:r>
              <a:rPr lang="en-US" sz="3600">
                <a:solidFill>
                  <a:schemeClr val="tx1"/>
                </a:solidFill>
                <a:latin typeface="+mn-lt"/>
                <a:cs typeface="+mn-lt"/>
              </a:rPr>
              <a:t>Multiple inheritance </a:t>
            </a:r>
          </a:p>
          <a:p>
            <a:pPr lvl="1"/>
            <a:r>
              <a:rPr lang="en-US" sz="3000">
                <a:solidFill>
                  <a:schemeClr val="tx1"/>
                </a:solidFill>
                <a:latin typeface="+mn-lt"/>
                <a:cs typeface="+mn-lt"/>
              </a:rPr>
              <a:t>In </a:t>
            </a:r>
            <a:r>
              <a:rPr lang="en-US" sz="3000" b="1">
                <a:solidFill>
                  <a:schemeClr val="tx1"/>
                </a:solidFill>
                <a:highlight>
                  <a:srgbClr val="FFFF00"/>
                </a:highlight>
                <a:latin typeface="+mn-lt"/>
                <a:cs typeface="+mn-lt"/>
              </a:rPr>
              <a:t>multiple inheritance</a:t>
            </a:r>
            <a:r>
              <a:rPr lang="en-US" sz="3000">
                <a:solidFill>
                  <a:schemeClr val="tx1"/>
                </a:solidFill>
                <a:latin typeface="+mn-lt"/>
                <a:cs typeface="+mn-lt"/>
              </a:rPr>
              <a:t>, the child class inherits all data member and member function of base class, </a:t>
            </a:r>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Inheritance </a:t>
            </a:r>
          </a:p>
        </p:txBody>
      </p:sp>
      <p:sp>
        <p:nvSpPr>
          <p:cNvPr id="3" name="Content Placeholder 2"/>
          <p:cNvSpPr>
            <a:spLocks noGrp="1"/>
          </p:cNvSpPr>
          <p:nvPr>
            <p:ph idx="1"/>
          </p:nvPr>
        </p:nvSpPr>
        <p:spPr/>
        <p:txBody>
          <a:bodyPr/>
          <a:lstStyle/>
          <a:p>
            <a:r>
              <a:rPr lang="en-US" sz="3600">
                <a:solidFill>
                  <a:schemeClr val="tx1"/>
                </a:solidFill>
                <a:latin typeface="+mn-lt"/>
                <a:cs typeface="+mn-lt"/>
              </a:rPr>
              <a:t>Types of inheritance </a:t>
            </a:r>
          </a:p>
          <a:p>
            <a:pPr lvl="1"/>
            <a:r>
              <a:rPr lang="en-US" sz="3000">
                <a:solidFill>
                  <a:schemeClr val="tx1"/>
                </a:solidFill>
                <a:latin typeface="+mn-lt"/>
                <a:cs typeface="+mn-lt"/>
              </a:rPr>
              <a:t>Public inheritance </a:t>
            </a:r>
          </a:p>
          <a:p>
            <a:pPr lvl="1"/>
            <a:r>
              <a:rPr lang="en-US" sz="3000">
                <a:solidFill>
                  <a:schemeClr val="tx1"/>
                </a:solidFill>
                <a:latin typeface="+mn-lt"/>
                <a:cs typeface="+mn-lt"/>
              </a:rPr>
              <a:t>Private inheritance </a:t>
            </a:r>
          </a:p>
          <a:p>
            <a:pPr lvl="1"/>
            <a:r>
              <a:rPr lang="en-US" sz="3000">
                <a:solidFill>
                  <a:schemeClr val="tx1"/>
                </a:solidFill>
                <a:latin typeface="+mn-lt"/>
                <a:cs typeface="+mn-lt"/>
              </a:rPr>
              <a:t>Protected inheritance </a:t>
            </a:r>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Inheritance </a:t>
            </a:r>
          </a:p>
        </p:txBody>
      </p:sp>
      <p:sp>
        <p:nvSpPr>
          <p:cNvPr id="3" name="Content Placeholder 2"/>
          <p:cNvSpPr>
            <a:spLocks noGrp="1"/>
          </p:cNvSpPr>
          <p:nvPr>
            <p:ph idx="1"/>
          </p:nvPr>
        </p:nvSpPr>
        <p:spPr>
          <a:xfrm>
            <a:off x="457200" y="1363980"/>
            <a:ext cx="8229600" cy="4525963"/>
          </a:xfrm>
        </p:spPr>
        <p:txBody>
          <a:bodyPr/>
          <a:lstStyle/>
          <a:p>
            <a:pPr marL="0" indent="0">
              <a:buNone/>
            </a:pPr>
            <a:r>
              <a:rPr lang="en-US" sz="3600" b="1">
                <a:solidFill>
                  <a:srgbClr val="FF0000"/>
                </a:solidFill>
                <a:latin typeface="+mn-lt"/>
                <a:cs typeface="+mn-lt"/>
              </a:rPr>
              <a:t>Public Inheritance </a:t>
            </a:r>
            <a:endParaRPr lang="en-US" sz="3600">
              <a:solidFill>
                <a:srgbClr val="FF0000"/>
              </a:solidFill>
              <a:latin typeface="+mn-lt"/>
              <a:cs typeface="+mn-lt"/>
            </a:endParaRPr>
          </a:p>
          <a:p>
            <a:r>
              <a:rPr lang="en-US" sz="3600">
                <a:solidFill>
                  <a:schemeClr val="tx1"/>
                </a:solidFill>
                <a:latin typeface="+mn-lt"/>
                <a:cs typeface="+mn-lt"/>
              </a:rPr>
              <a:t>In Public inheritance , the access status of parent class member in the derived class remain the same.</a:t>
            </a:r>
          </a:p>
          <a:p>
            <a:pPr lvl="1"/>
            <a:r>
              <a:rPr lang="en-US" sz="3000">
                <a:solidFill>
                  <a:schemeClr val="tx1"/>
                </a:solidFill>
                <a:latin typeface="+mn-lt"/>
                <a:cs typeface="+mn-lt"/>
              </a:rPr>
              <a:t>The </a:t>
            </a:r>
            <a:r>
              <a:rPr lang="en-US" sz="3000" b="1">
                <a:solidFill>
                  <a:schemeClr val="tx1"/>
                </a:solidFill>
                <a:highlight>
                  <a:srgbClr val="FFFF00"/>
                </a:highlight>
                <a:latin typeface="+mn-lt"/>
                <a:cs typeface="+mn-lt"/>
              </a:rPr>
              <a:t>public</a:t>
            </a:r>
            <a:r>
              <a:rPr lang="en-US" sz="3000">
                <a:solidFill>
                  <a:schemeClr val="tx1"/>
                </a:solidFill>
                <a:latin typeface="+mn-lt"/>
                <a:cs typeface="+mn-lt"/>
              </a:rPr>
              <a:t> member of parents class become public member of derived class.</a:t>
            </a:r>
          </a:p>
          <a:p>
            <a:pPr lvl="1"/>
            <a:r>
              <a:rPr lang="en-US" sz="3000">
                <a:solidFill>
                  <a:schemeClr val="tx1"/>
                </a:solidFill>
                <a:latin typeface="+mn-lt"/>
                <a:cs typeface="+mn-lt"/>
              </a:rPr>
              <a:t>The </a:t>
            </a:r>
            <a:r>
              <a:rPr lang="en-US" sz="3000" b="1">
                <a:solidFill>
                  <a:schemeClr val="tx1"/>
                </a:solidFill>
                <a:highlight>
                  <a:srgbClr val="FFFF00"/>
                </a:highlight>
                <a:latin typeface="+mn-lt"/>
                <a:cs typeface="+mn-lt"/>
              </a:rPr>
              <a:t>private</a:t>
            </a:r>
            <a:r>
              <a:rPr lang="en-US" sz="3000">
                <a:solidFill>
                  <a:schemeClr val="tx1"/>
                </a:solidFill>
                <a:latin typeface="+mn-lt"/>
                <a:cs typeface="+mn-lt"/>
              </a:rPr>
              <a:t> members of parents class become private member of derived class.</a:t>
            </a:r>
          </a:p>
          <a:p>
            <a:pPr lvl="1"/>
            <a:r>
              <a:rPr lang="en-US" sz="3000">
                <a:solidFill>
                  <a:schemeClr val="tx1"/>
                </a:solidFill>
                <a:latin typeface="+mn-lt"/>
                <a:cs typeface="+mn-lt"/>
              </a:rPr>
              <a:t>The </a:t>
            </a:r>
            <a:r>
              <a:rPr lang="en-US" sz="3000" b="1">
                <a:solidFill>
                  <a:schemeClr val="tx1"/>
                </a:solidFill>
                <a:highlight>
                  <a:srgbClr val="FFFF00"/>
                </a:highlight>
                <a:latin typeface="+mn-lt"/>
                <a:cs typeface="+mn-lt"/>
              </a:rPr>
              <a:t>protected</a:t>
            </a:r>
            <a:r>
              <a:rPr lang="en-US" sz="3000">
                <a:solidFill>
                  <a:schemeClr val="tx1"/>
                </a:solidFill>
                <a:latin typeface="+mn-lt"/>
                <a:cs typeface="+mn-lt"/>
              </a:rPr>
              <a:t> members ofparent class become protected member of derived class. </a:t>
            </a:r>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Inheritance </a:t>
            </a:r>
          </a:p>
        </p:txBody>
      </p:sp>
      <p:sp>
        <p:nvSpPr>
          <p:cNvPr id="3" name="Content Placeholder 2"/>
          <p:cNvSpPr>
            <a:spLocks noGrp="1"/>
          </p:cNvSpPr>
          <p:nvPr>
            <p:ph idx="1"/>
          </p:nvPr>
        </p:nvSpPr>
        <p:spPr>
          <a:xfrm>
            <a:off x="457200" y="1363980"/>
            <a:ext cx="8229600" cy="4525963"/>
          </a:xfrm>
        </p:spPr>
        <p:txBody>
          <a:bodyPr/>
          <a:lstStyle/>
          <a:p>
            <a:pPr marL="0" indent="0">
              <a:buNone/>
            </a:pPr>
            <a:r>
              <a:rPr lang="en-US" sz="3600" b="1">
                <a:solidFill>
                  <a:srgbClr val="FF0000"/>
                </a:solidFill>
                <a:latin typeface="+mn-lt"/>
                <a:cs typeface="+mn-lt"/>
              </a:rPr>
              <a:t>Protected Inheritance </a:t>
            </a:r>
            <a:endParaRPr lang="en-US" sz="3600">
              <a:solidFill>
                <a:srgbClr val="FF0000"/>
              </a:solidFill>
              <a:latin typeface="+mn-lt"/>
              <a:cs typeface="+mn-lt"/>
            </a:endParaRPr>
          </a:p>
          <a:p>
            <a:r>
              <a:rPr lang="en-US" sz="3600">
                <a:solidFill>
                  <a:schemeClr val="tx1"/>
                </a:solidFill>
                <a:latin typeface="+mn-lt"/>
                <a:cs typeface="+mn-lt"/>
              </a:rPr>
              <a:t>In Protected inheritance , the access status of parent class member in the derived class is restricted.</a:t>
            </a:r>
          </a:p>
          <a:p>
            <a:pPr lvl="1"/>
            <a:r>
              <a:rPr lang="en-US" sz="3000">
                <a:solidFill>
                  <a:schemeClr val="tx1"/>
                </a:solidFill>
                <a:latin typeface="+mn-lt"/>
                <a:cs typeface="+mn-lt"/>
              </a:rPr>
              <a:t>The </a:t>
            </a:r>
            <a:r>
              <a:rPr lang="en-US" sz="3000" b="1">
                <a:solidFill>
                  <a:schemeClr val="tx1"/>
                </a:solidFill>
                <a:highlight>
                  <a:srgbClr val="FFFF00"/>
                </a:highlight>
                <a:latin typeface="+mn-lt"/>
                <a:cs typeface="+mn-lt"/>
              </a:rPr>
              <a:t>public</a:t>
            </a:r>
            <a:r>
              <a:rPr lang="en-US" sz="3000">
                <a:solidFill>
                  <a:schemeClr val="tx1"/>
                </a:solidFill>
                <a:latin typeface="+mn-lt"/>
                <a:cs typeface="+mn-lt"/>
              </a:rPr>
              <a:t> member of parents class become protected members of derived class.</a:t>
            </a:r>
          </a:p>
          <a:p>
            <a:pPr lvl="1"/>
            <a:r>
              <a:rPr lang="en-US" sz="3000">
                <a:solidFill>
                  <a:schemeClr val="tx1"/>
                </a:solidFill>
                <a:latin typeface="+mn-lt"/>
                <a:cs typeface="+mn-lt"/>
              </a:rPr>
              <a:t>The </a:t>
            </a:r>
            <a:r>
              <a:rPr lang="en-US" sz="3000" b="1">
                <a:solidFill>
                  <a:schemeClr val="tx1"/>
                </a:solidFill>
                <a:highlight>
                  <a:srgbClr val="FFFF00"/>
                </a:highlight>
                <a:latin typeface="+mn-lt"/>
                <a:cs typeface="+mn-lt"/>
              </a:rPr>
              <a:t>private</a:t>
            </a:r>
            <a:r>
              <a:rPr lang="en-US" sz="3000">
                <a:solidFill>
                  <a:schemeClr val="tx1"/>
                </a:solidFill>
                <a:latin typeface="+mn-lt"/>
                <a:cs typeface="+mn-lt"/>
              </a:rPr>
              <a:t> members of parents class become private member of derived class.</a:t>
            </a:r>
          </a:p>
          <a:p>
            <a:pPr lvl="1"/>
            <a:r>
              <a:rPr lang="en-US" sz="3000">
                <a:solidFill>
                  <a:schemeClr val="tx1"/>
                </a:solidFill>
                <a:latin typeface="+mn-lt"/>
                <a:cs typeface="+mn-lt"/>
              </a:rPr>
              <a:t>The </a:t>
            </a:r>
            <a:r>
              <a:rPr lang="en-US" sz="3000" b="1">
                <a:solidFill>
                  <a:schemeClr val="tx1"/>
                </a:solidFill>
                <a:highlight>
                  <a:srgbClr val="FFFF00"/>
                </a:highlight>
                <a:latin typeface="+mn-lt"/>
                <a:cs typeface="+mn-lt"/>
              </a:rPr>
              <a:t>protected</a:t>
            </a:r>
            <a:r>
              <a:rPr lang="en-US" sz="3000">
                <a:solidFill>
                  <a:schemeClr val="tx1"/>
                </a:solidFill>
                <a:latin typeface="+mn-lt"/>
                <a:cs typeface="+mn-lt"/>
              </a:rPr>
              <a:t> members ofparent class become protected member of derived class. </a:t>
            </a:r>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Inheritance </a:t>
            </a:r>
          </a:p>
        </p:txBody>
      </p:sp>
      <p:sp>
        <p:nvSpPr>
          <p:cNvPr id="3" name="Content Placeholder 2"/>
          <p:cNvSpPr>
            <a:spLocks noGrp="1"/>
          </p:cNvSpPr>
          <p:nvPr>
            <p:ph idx="1"/>
          </p:nvPr>
        </p:nvSpPr>
        <p:spPr>
          <a:xfrm>
            <a:off x="457200" y="1363980"/>
            <a:ext cx="8229600" cy="4525963"/>
          </a:xfrm>
        </p:spPr>
        <p:txBody>
          <a:bodyPr/>
          <a:lstStyle/>
          <a:p>
            <a:pPr marL="0" indent="0">
              <a:buNone/>
            </a:pPr>
            <a:r>
              <a:rPr lang="en-US" sz="3600" b="1">
                <a:solidFill>
                  <a:srgbClr val="FF0000"/>
                </a:solidFill>
                <a:latin typeface="+mn-lt"/>
                <a:cs typeface="+mn-lt"/>
              </a:rPr>
              <a:t>Private Inheritance </a:t>
            </a:r>
            <a:endParaRPr lang="en-US" sz="3600">
              <a:solidFill>
                <a:srgbClr val="FF0000"/>
              </a:solidFill>
              <a:latin typeface="+mn-lt"/>
              <a:cs typeface="+mn-lt"/>
            </a:endParaRPr>
          </a:p>
          <a:p>
            <a:r>
              <a:rPr lang="en-US" sz="3600">
                <a:solidFill>
                  <a:schemeClr val="tx1"/>
                </a:solidFill>
                <a:latin typeface="+mn-lt"/>
                <a:cs typeface="+mn-lt"/>
              </a:rPr>
              <a:t>In Public inheritance , the access status of parent class member in the derived class remain the same.</a:t>
            </a:r>
          </a:p>
          <a:p>
            <a:pPr lvl="1"/>
            <a:r>
              <a:rPr lang="en-US" sz="3000">
                <a:solidFill>
                  <a:schemeClr val="tx1"/>
                </a:solidFill>
                <a:latin typeface="+mn-lt"/>
                <a:cs typeface="+mn-lt"/>
              </a:rPr>
              <a:t>The </a:t>
            </a:r>
            <a:r>
              <a:rPr lang="en-US" sz="3000" b="1">
                <a:solidFill>
                  <a:schemeClr val="tx1"/>
                </a:solidFill>
                <a:highlight>
                  <a:srgbClr val="FFFF00"/>
                </a:highlight>
                <a:latin typeface="+mn-lt"/>
                <a:cs typeface="+mn-lt"/>
              </a:rPr>
              <a:t>public</a:t>
            </a:r>
            <a:r>
              <a:rPr lang="en-US" sz="3000">
                <a:solidFill>
                  <a:schemeClr val="tx1"/>
                </a:solidFill>
                <a:latin typeface="+mn-lt"/>
                <a:cs typeface="+mn-lt"/>
              </a:rPr>
              <a:t> member of parents class become private member of derived class.</a:t>
            </a:r>
          </a:p>
          <a:p>
            <a:pPr lvl="1"/>
            <a:r>
              <a:rPr lang="en-US" sz="3000">
                <a:solidFill>
                  <a:schemeClr val="tx1"/>
                </a:solidFill>
                <a:latin typeface="+mn-lt"/>
                <a:cs typeface="+mn-lt"/>
              </a:rPr>
              <a:t>The </a:t>
            </a:r>
            <a:r>
              <a:rPr lang="en-US" sz="3000" b="1">
                <a:solidFill>
                  <a:schemeClr val="tx1"/>
                </a:solidFill>
                <a:highlight>
                  <a:srgbClr val="FFFF00"/>
                </a:highlight>
                <a:latin typeface="+mn-lt"/>
                <a:cs typeface="+mn-lt"/>
              </a:rPr>
              <a:t>private</a:t>
            </a:r>
            <a:r>
              <a:rPr lang="en-US" sz="3000">
                <a:solidFill>
                  <a:schemeClr val="tx1"/>
                </a:solidFill>
                <a:latin typeface="+mn-lt"/>
                <a:cs typeface="+mn-lt"/>
              </a:rPr>
              <a:t> members of parents class become private member of derived class.</a:t>
            </a:r>
          </a:p>
          <a:p>
            <a:pPr lvl="1"/>
            <a:r>
              <a:rPr lang="en-US" sz="3000">
                <a:solidFill>
                  <a:schemeClr val="tx1"/>
                </a:solidFill>
                <a:latin typeface="+mn-lt"/>
                <a:cs typeface="+mn-lt"/>
              </a:rPr>
              <a:t>The </a:t>
            </a:r>
            <a:r>
              <a:rPr lang="en-US" sz="3000" b="1">
                <a:solidFill>
                  <a:schemeClr val="tx1"/>
                </a:solidFill>
                <a:highlight>
                  <a:srgbClr val="FFFF00"/>
                </a:highlight>
                <a:latin typeface="+mn-lt"/>
                <a:cs typeface="+mn-lt"/>
              </a:rPr>
              <a:t>protected</a:t>
            </a:r>
            <a:r>
              <a:rPr lang="en-US" sz="3000">
                <a:solidFill>
                  <a:schemeClr val="tx1"/>
                </a:solidFill>
                <a:latin typeface="+mn-lt"/>
                <a:cs typeface="+mn-lt"/>
              </a:rPr>
              <a:t> members ofparent class become private members of derived class. </a:t>
            </a:r>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Polymorphism </a:t>
            </a:r>
          </a:p>
        </p:txBody>
      </p:sp>
      <p:sp>
        <p:nvSpPr>
          <p:cNvPr id="3" name="Content Placeholder 2"/>
          <p:cNvSpPr>
            <a:spLocks noGrp="1"/>
          </p:cNvSpPr>
          <p:nvPr>
            <p:ph idx="1"/>
          </p:nvPr>
        </p:nvSpPr>
        <p:spPr>
          <a:xfrm>
            <a:off x="457200" y="1462405"/>
            <a:ext cx="8229600" cy="4525963"/>
          </a:xfrm>
        </p:spPr>
        <p:txBody>
          <a:bodyPr/>
          <a:lstStyle/>
          <a:p>
            <a:r>
              <a:rPr lang="en-US">
                <a:solidFill>
                  <a:schemeClr val="tx1"/>
                </a:solidFill>
              </a:rPr>
              <a:t>The word </a:t>
            </a:r>
            <a:r>
              <a:rPr lang="en-US" b="1">
                <a:solidFill>
                  <a:schemeClr val="tx1"/>
                </a:solidFill>
              </a:rPr>
              <a:t>polymorphism</a:t>
            </a:r>
            <a:r>
              <a:rPr lang="en-US">
                <a:solidFill>
                  <a:schemeClr val="tx1"/>
                </a:solidFill>
              </a:rPr>
              <a:t> is a combination of two words </a:t>
            </a:r>
            <a:r>
              <a:rPr lang="en-US" b="1">
                <a:solidFill>
                  <a:schemeClr val="tx1"/>
                </a:solidFill>
              </a:rPr>
              <a:t>poly </a:t>
            </a:r>
            <a:r>
              <a:rPr lang="en-US">
                <a:solidFill>
                  <a:schemeClr val="tx1"/>
                </a:solidFill>
              </a:rPr>
              <a:t>and </a:t>
            </a:r>
            <a:r>
              <a:rPr lang="en-US" b="1">
                <a:solidFill>
                  <a:schemeClr val="tx1"/>
                </a:solidFill>
              </a:rPr>
              <a:t>morphism</a:t>
            </a:r>
            <a:r>
              <a:rPr lang="en-US">
                <a:solidFill>
                  <a:schemeClr val="tx1"/>
                </a:solidFill>
              </a:rPr>
              <a:t>. </a:t>
            </a:r>
            <a:r>
              <a:rPr lang="en-US" b="1">
                <a:solidFill>
                  <a:schemeClr val="tx1"/>
                </a:solidFill>
              </a:rPr>
              <a:t>Poly</a:t>
            </a:r>
            <a:r>
              <a:rPr lang="en-US">
                <a:solidFill>
                  <a:schemeClr val="tx1"/>
                </a:solidFill>
              </a:rPr>
              <a:t> means </a:t>
            </a:r>
            <a:r>
              <a:rPr lang="en-US">
                <a:solidFill>
                  <a:schemeClr val="tx1"/>
                </a:solidFill>
                <a:highlight>
                  <a:srgbClr val="FFFF00"/>
                </a:highlight>
              </a:rPr>
              <a:t>many</a:t>
            </a:r>
            <a:r>
              <a:rPr lang="en-US">
                <a:solidFill>
                  <a:schemeClr val="tx1"/>
                </a:solidFill>
              </a:rPr>
              <a:t> and </a:t>
            </a:r>
            <a:r>
              <a:rPr lang="en-US" b="1">
                <a:solidFill>
                  <a:schemeClr val="tx1"/>
                </a:solidFill>
              </a:rPr>
              <a:t>morphism </a:t>
            </a:r>
            <a:r>
              <a:rPr lang="en-US">
                <a:solidFill>
                  <a:schemeClr val="tx1"/>
                </a:solidFill>
              </a:rPr>
              <a:t>means </a:t>
            </a:r>
            <a:r>
              <a:rPr lang="en-US">
                <a:solidFill>
                  <a:schemeClr val="tx1"/>
                </a:solidFill>
                <a:highlight>
                  <a:srgbClr val="FFFF00"/>
                </a:highlight>
              </a:rPr>
              <a:t>form</a:t>
            </a:r>
            <a:r>
              <a:rPr lang="en-US">
                <a:solidFill>
                  <a:schemeClr val="tx1"/>
                </a:solidFill>
              </a:rPr>
              <a:t>.</a:t>
            </a:r>
          </a:p>
          <a:p>
            <a:r>
              <a:rPr lang="en-US">
                <a:solidFill>
                  <a:schemeClr val="tx1"/>
                </a:solidFill>
              </a:rPr>
              <a:t>Polymorphism is the ability of objects of differents types to respond to functions of the same name. The user does not have to know the exact type of the object in advance. The behavior of the object can be implemented at run time</a:t>
            </a:r>
            <a:r>
              <a:rPr lang="en-US"/>
              <a:t>.</a:t>
            </a:r>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Polymorphism </a:t>
            </a:r>
          </a:p>
        </p:txBody>
      </p:sp>
      <p:sp>
        <p:nvSpPr>
          <p:cNvPr id="3" name="Content Placeholder 2"/>
          <p:cNvSpPr>
            <a:spLocks noGrp="1"/>
          </p:cNvSpPr>
          <p:nvPr>
            <p:ph idx="1"/>
          </p:nvPr>
        </p:nvSpPr>
        <p:spPr>
          <a:xfrm>
            <a:off x="457200" y="1462405"/>
            <a:ext cx="8229600" cy="4525963"/>
          </a:xfrm>
        </p:spPr>
        <p:txBody>
          <a:bodyPr/>
          <a:lstStyle/>
          <a:p>
            <a:r>
              <a:rPr lang="en-US" b="1">
                <a:solidFill>
                  <a:srgbClr val="FF0000"/>
                </a:solidFill>
              </a:rPr>
              <a:t>Types of polymorphism </a:t>
            </a:r>
          </a:p>
          <a:p>
            <a:pPr lvl="1"/>
            <a:r>
              <a:rPr lang="en-US">
                <a:solidFill>
                  <a:schemeClr val="tx1"/>
                </a:solidFill>
              </a:rPr>
              <a:t>Virtual functions </a:t>
            </a:r>
          </a:p>
          <a:p>
            <a:pPr lvl="1"/>
            <a:r>
              <a:rPr lang="en-US">
                <a:solidFill>
                  <a:schemeClr val="tx1"/>
                </a:solidFill>
              </a:rPr>
              <a:t>Operator overloading </a:t>
            </a:r>
          </a:p>
          <a:p>
            <a:pPr lvl="1"/>
            <a:r>
              <a:rPr lang="en-US">
                <a:solidFill>
                  <a:schemeClr val="tx1"/>
                </a:solidFill>
              </a:rPr>
              <a:t>Function overloading </a:t>
            </a:r>
          </a:p>
          <a:p>
            <a:pPr lvl="1"/>
            <a:endParaRPr lang="en-US">
              <a:solidFill>
                <a:schemeClr val="tx1"/>
              </a:solidFill>
            </a:endParaRPr>
          </a:p>
          <a:p>
            <a:pPr lvl="1"/>
            <a:endParaRPr lang="en-US">
              <a:solidFill>
                <a:schemeClr val="tx1"/>
              </a:solidFill>
            </a:endParaRPr>
          </a:p>
        </p:txBody>
      </p:sp>
      <p:graphicFrame>
        <p:nvGraphicFramePr>
          <p:cNvPr id="2" name="Object 1"/>
          <p:cNvGraphicFramePr/>
          <p:nvPr/>
        </p:nvGraphicFramePr>
        <p:xfrm>
          <a:off x="3648710" y="3277235"/>
          <a:ext cx="4196715" cy="2879090"/>
        </p:xfrm>
        <a:graphic>
          <a:graphicData uri="http://schemas.openxmlformats.org/presentationml/2006/ole">
            <mc:AlternateContent xmlns:mc="http://schemas.openxmlformats.org/markup-compatibility/2006">
              <mc:Choice xmlns:v="urn:schemas-microsoft-com:vml" Requires="v">
                <p:oleObj spid="_x0000_s7184" r:id="rId3" imgW="2286000" imgH="1628775" progId="Paint.Picture">
                  <p:embed/>
                </p:oleObj>
              </mc:Choice>
              <mc:Fallback>
                <p:oleObj r:id="rId3" imgW="2286000" imgH="1628775" progId="Paint.Picture">
                  <p:embed/>
                  <p:pic>
                    <p:nvPicPr>
                      <p:cNvPr id="2" name="Object 1"/>
                      <p:cNvPicPr/>
                      <p:nvPr/>
                    </p:nvPicPr>
                    <p:blipFill>
                      <a:blip r:embed="rId4"/>
                      <a:stretch>
                        <a:fillRect/>
                      </a:stretch>
                    </p:blipFill>
                    <p:spPr>
                      <a:xfrm>
                        <a:off x="3648710" y="3277235"/>
                        <a:ext cx="4196715" cy="2879090"/>
                      </a:xfrm>
                      <a:prstGeom prst="rect">
                        <a:avLst/>
                      </a:prstGeom>
                    </p:spPr>
                  </p:pic>
                </p:oleObj>
              </mc:Fallback>
            </mc:AlternateContent>
          </a:graphicData>
        </a:graphic>
      </p:graphicFrame>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Abstraction </a:t>
            </a:r>
          </a:p>
        </p:txBody>
      </p:sp>
      <p:sp>
        <p:nvSpPr>
          <p:cNvPr id="3" name="Content Placeholder 2"/>
          <p:cNvSpPr>
            <a:spLocks noGrp="1"/>
          </p:cNvSpPr>
          <p:nvPr>
            <p:ph idx="1"/>
          </p:nvPr>
        </p:nvSpPr>
        <p:spPr/>
        <p:txBody>
          <a:bodyPr/>
          <a:lstStyle/>
          <a:p>
            <a:r>
              <a:rPr lang="en-US">
                <a:solidFill>
                  <a:schemeClr val="tx1"/>
                </a:solidFill>
              </a:rPr>
              <a:t>Data abstraction or information hiding refers to providing only essential information to the outside world and hiding their background details </a:t>
            </a:r>
          </a:p>
          <a:p>
            <a:endParaRPr lang="en-US">
              <a:solidFill>
                <a:schemeClr val="tx1"/>
              </a:solidFill>
            </a:endParaRPr>
          </a:p>
          <a:p>
            <a:endParaRPr lang="en-US">
              <a:solidFill>
                <a:schemeClr val="tx1"/>
              </a:solidFill>
            </a:endParaRPr>
          </a:p>
        </p:txBody>
      </p:sp>
      <p:graphicFrame>
        <p:nvGraphicFramePr>
          <p:cNvPr id="2" name="Object 1"/>
          <p:cNvGraphicFramePr/>
          <p:nvPr/>
        </p:nvGraphicFramePr>
        <p:xfrm>
          <a:off x="1553210" y="3185795"/>
          <a:ext cx="5431155" cy="2941320"/>
        </p:xfrm>
        <a:graphic>
          <a:graphicData uri="http://schemas.openxmlformats.org/presentationml/2006/ole">
            <mc:AlternateContent xmlns:mc="http://schemas.openxmlformats.org/markup-compatibility/2006">
              <mc:Choice xmlns:v="urn:schemas-microsoft-com:vml" Requires="v">
                <p:oleObj spid="_x0000_s6160" r:id="rId3" imgW="2895600" imgH="1971675" progId="Paint.Picture">
                  <p:embed/>
                </p:oleObj>
              </mc:Choice>
              <mc:Fallback>
                <p:oleObj r:id="rId3" imgW="2895600" imgH="1971675" progId="Paint.Picture">
                  <p:embed/>
                  <p:pic>
                    <p:nvPicPr>
                      <p:cNvPr id="2" name="Object 1"/>
                      <p:cNvPicPr/>
                      <p:nvPr/>
                    </p:nvPicPr>
                    <p:blipFill>
                      <a:blip r:embed="rId4"/>
                      <a:stretch>
                        <a:fillRect/>
                      </a:stretch>
                    </p:blipFill>
                    <p:spPr>
                      <a:xfrm>
                        <a:off x="1553210" y="3185795"/>
                        <a:ext cx="5431155" cy="2941320"/>
                      </a:xfrm>
                      <a:prstGeom prst="rect">
                        <a:avLst/>
                      </a:prstGeom>
                    </p:spPr>
                  </p:pic>
                </p:oleObj>
              </mc:Fallback>
            </mc:AlternateContent>
          </a:graphicData>
        </a:graphic>
      </p:graphicFrame>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rPr>
              <a:t>Abstraction </a:t>
            </a:r>
          </a:p>
        </p:txBody>
      </p:sp>
      <p:sp>
        <p:nvSpPr>
          <p:cNvPr id="3" name="Content Placeholder 2"/>
          <p:cNvSpPr>
            <a:spLocks noGrp="1"/>
          </p:cNvSpPr>
          <p:nvPr>
            <p:ph idx="1"/>
          </p:nvPr>
        </p:nvSpPr>
        <p:spPr/>
        <p:txBody>
          <a:bodyPr/>
          <a:lstStyle/>
          <a:p>
            <a:pPr marL="0" indent="0" algn="ctr">
              <a:buNone/>
            </a:pPr>
            <a:r>
              <a:rPr lang="en-US" b="1">
                <a:solidFill>
                  <a:srgbClr val="FF0000"/>
                </a:solidFill>
              </a:rPr>
              <a:t>Advantages of data abstraction </a:t>
            </a:r>
          </a:p>
          <a:p>
            <a:r>
              <a:rPr lang="en-US">
                <a:solidFill>
                  <a:schemeClr val="tx1"/>
                </a:solidFill>
              </a:rPr>
              <a:t>Simplification of software development</a:t>
            </a:r>
          </a:p>
          <a:p>
            <a:r>
              <a:rPr lang="en-US">
                <a:solidFill>
                  <a:schemeClr val="tx1"/>
                </a:solidFill>
              </a:rPr>
              <a:t>Testing and debugging </a:t>
            </a:r>
          </a:p>
          <a:p>
            <a:r>
              <a:rPr lang="en-US">
                <a:solidFill>
                  <a:schemeClr val="tx1"/>
                </a:solidFill>
              </a:rPr>
              <a:t>Reusability</a:t>
            </a:r>
          </a:p>
          <a:p>
            <a:r>
              <a:rPr lang="en-US">
                <a:solidFill>
                  <a:schemeClr val="tx1"/>
                </a:solidFill>
              </a:rPr>
              <a:t>Security</a:t>
            </a:r>
          </a:p>
          <a:p>
            <a:r>
              <a:rPr lang="en-US">
                <a:solidFill>
                  <a:schemeClr val="tx1"/>
                </a:solidFill>
              </a:rPr>
              <a:t>Modifications to the representation of a data type.</a:t>
            </a:r>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Advantages of OOP</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Code reusability</a:t>
            </a:r>
          </a:p>
          <a:p>
            <a:r>
              <a:rPr lang="en-US" altLang="en-US" dirty="0">
                <a:solidFill>
                  <a:schemeClr val="tx1"/>
                </a:solidFill>
                <a:latin typeface="Times New Roman" panose="02020603050405020304" pitchFamily="18" charset="0"/>
                <a:cs typeface="Times New Roman" panose="02020603050405020304" pitchFamily="18" charset="0"/>
              </a:rPr>
              <a:t>Easy maintenance</a:t>
            </a:r>
          </a:p>
          <a:p>
            <a:r>
              <a:rPr lang="en-US" altLang="en-US" dirty="0">
                <a:solidFill>
                  <a:schemeClr val="tx1"/>
                </a:solidFill>
                <a:latin typeface="Times New Roman" panose="02020603050405020304" pitchFamily="18" charset="0"/>
                <a:cs typeface="Times New Roman" panose="02020603050405020304" pitchFamily="18" charset="0"/>
              </a:rPr>
              <a:t>Better organization</a:t>
            </a:r>
          </a:p>
          <a:p>
            <a:r>
              <a:rPr lang="en-US" altLang="en-US" dirty="0">
                <a:solidFill>
                  <a:schemeClr val="tx1"/>
                </a:solidFill>
                <a:latin typeface="Times New Roman" panose="02020603050405020304" pitchFamily="18" charset="0"/>
                <a:cs typeface="Times New Roman" panose="02020603050405020304" pitchFamily="18" charset="0"/>
              </a:rPr>
              <a:t>Real-world modeling</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42898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29</a:t>
            </a:fld>
            <a:endParaRPr lang="en-US"/>
          </a:p>
        </p:txBody>
      </p:sp>
      <p:sp>
        <p:nvSpPr>
          <p:cNvPr id="8" name="Title 1"/>
          <p:cNvSpPr>
            <a:spLocks noGrp="1"/>
          </p:cNvSpPr>
          <p:nvPr>
            <p:ph type="title"/>
          </p:nvPr>
        </p:nvSpPr>
        <p:spPr>
          <a:xfrm>
            <a:off x="453390" y="3024505"/>
            <a:ext cx="8437880" cy="1143000"/>
          </a:xfrm>
        </p:spPr>
        <p:txBody>
          <a:bodyPr/>
          <a:lstStyle/>
          <a:p>
            <a:pPr algn="ctr"/>
            <a:r>
              <a:rPr lang="en-US" altLang="en-US" sz="4800" dirty="0">
                <a:solidFill>
                  <a:srgbClr val="C00000"/>
                </a:solidFill>
                <a:latin typeface="Times New Roman" panose="02020603050405020304" pitchFamily="18" charset="0"/>
                <a:cs typeface="Times New Roman" panose="02020603050405020304" pitchFamily="18" charset="0"/>
                <a:sym typeface="+mn-ea"/>
              </a:rPr>
              <a:t>Basics of Python for Data Mining</a:t>
            </a:r>
          </a:p>
        </p:txBody>
      </p:sp>
    </p:spTree>
    <p:extLst>
      <p:ext uri="{BB962C8B-B14F-4D97-AF65-F5344CB8AC3E}">
        <p14:creationId xmlns:p14="http://schemas.microsoft.com/office/powerpoint/2010/main" val="32135281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Python?</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Python is a general-purpose, high-level programming language</a:t>
            </a:r>
          </a:p>
          <a:p>
            <a:r>
              <a:rPr lang="en-US" altLang="en-US" dirty="0">
                <a:solidFill>
                  <a:schemeClr val="tx1"/>
                </a:solidFill>
                <a:latin typeface="Times New Roman" panose="02020603050405020304" pitchFamily="18" charset="0"/>
                <a:cs typeface="Times New Roman" panose="02020603050405020304" pitchFamily="18" charset="0"/>
              </a:rPr>
              <a:t>Created by Guido van Rossum in 1991</a:t>
            </a:r>
          </a:p>
          <a:p>
            <a:r>
              <a:rPr lang="en-US" altLang="en-US" dirty="0">
                <a:solidFill>
                  <a:schemeClr val="tx1"/>
                </a:solidFill>
                <a:latin typeface="Times New Roman" panose="02020603050405020304" pitchFamily="18" charset="0"/>
                <a:cs typeface="Times New Roman" panose="02020603050405020304" pitchFamily="18" charset="0"/>
              </a:rPr>
              <a:t>Easy to learn and readable syntax</a:t>
            </a:r>
          </a:p>
          <a:p>
            <a:r>
              <a:rPr lang="en-US" altLang="en-US" dirty="0">
                <a:solidFill>
                  <a:schemeClr val="tx1"/>
                </a:solidFill>
                <a:latin typeface="Times New Roman" panose="02020603050405020304" pitchFamily="18" charset="0"/>
                <a:cs typeface="Times New Roman" panose="02020603050405020304" pitchFamily="18" charset="0"/>
              </a:rPr>
              <a:t>Supports multiple programming paradigms, including object-oriented.</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1673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Python Features</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High-level language</a:t>
            </a:r>
          </a:p>
          <a:p>
            <a:r>
              <a:rPr lang="en-US" altLang="en-US" dirty="0">
                <a:solidFill>
                  <a:schemeClr val="tx1"/>
                </a:solidFill>
                <a:latin typeface="Times New Roman" panose="02020603050405020304" pitchFamily="18" charset="0"/>
                <a:cs typeface="Times New Roman" panose="02020603050405020304" pitchFamily="18" charset="0"/>
              </a:rPr>
              <a:t>Interpreted — no compile step</a:t>
            </a:r>
          </a:p>
          <a:p>
            <a:r>
              <a:rPr lang="en-US" altLang="en-US" dirty="0">
                <a:solidFill>
                  <a:schemeClr val="tx1"/>
                </a:solidFill>
                <a:latin typeface="Times New Roman" panose="02020603050405020304" pitchFamily="18" charset="0"/>
                <a:cs typeface="Times New Roman" panose="02020603050405020304" pitchFamily="18" charset="0"/>
              </a:rPr>
              <a:t>Dynamic typing</a:t>
            </a:r>
          </a:p>
          <a:p>
            <a:r>
              <a:rPr lang="en-US" altLang="en-US" dirty="0">
                <a:solidFill>
                  <a:schemeClr val="tx1"/>
                </a:solidFill>
                <a:latin typeface="Times New Roman" panose="02020603050405020304" pitchFamily="18" charset="0"/>
                <a:cs typeface="Times New Roman" panose="02020603050405020304" pitchFamily="18" charset="0"/>
              </a:rPr>
              <a:t>Supports OOP, functional &amp; </a:t>
            </a:r>
            <a:r>
              <a:rPr lang="en-US" altLang="en-US">
                <a:solidFill>
                  <a:schemeClr val="tx1"/>
                </a:solidFill>
                <a:latin typeface="Times New Roman" panose="02020603050405020304" pitchFamily="18" charset="0"/>
                <a:cs typeface="Times New Roman" panose="02020603050405020304" pitchFamily="18" charset="0"/>
              </a:rPr>
              <a:t>procedural styles</a:t>
            </a:r>
          </a:p>
          <a:p>
            <a:r>
              <a:rPr lang="en-US" altLang="en-US">
                <a:solidFill>
                  <a:schemeClr val="tx1"/>
                </a:solidFill>
                <a:latin typeface="Times New Roman" panose="02020603050405020304" pitchFamily="18" charset="0"/>
                <a:cs typeface="Times New Roman" panose="02020603050405020304" pitchFamily="18" charset="0"/>
              </a:rPr>
              <a:t>Large </a:t>
            </a:r>
            <a:r>
              <a:rPr lang="en-US" altLang="en-US" dirty="0">
                <a:solidFill>
                  <a:schemeClr val="tx1"/>
                </a:solidFill>
                <a:latin typeface="Times New Roman" panose="02020603050405020304" pitchFamily="18" charset="0"/>
                <a:cs typeface="Times New Roman" panose="02020603050405020304" pitchFamily="18" charset="0"/>
              </a:rPr>
              <a:t>standard library</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91968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Reason to learn Python </a:t>
            </a:r>
          </a:p>
        </p:txBody>
      </p:sp>
      <p:pic>
        <p:nvPicPr>
          <p:cNvPr id="3" name="Content Placeholder 2">
            <a:extLst>
              <a:ext uri="{FF2B5EF4-FFF2-40B4-BE49-F238E27FC236}">
                <a16:creationId xmlns:a16="http://schemas.microsoft.com/office/drawing/2014/main" id="{00E3E818-2272-4CBF-9254-1FF32686326B}"/>
              </a:ext>
            </a:extLst>
          </p:cNvPr>
          <p:cNvPicPr>
            <a:picLocks noGrp="1" noChangeAspect="1"/>
          </p:cNvPicPr>
          <p:nvPr>
            <p:ph idx="1"/>
          </p:nvPr>
        </p:nvPicPr>
        <p:blipFill>
          <a:blip r:embed="rId2"/>
          <a:stretch>
            <a:fillRect/>
          </a:stretch>
        </p:blipFill>
        <p:spPr>
          <a:xfrm>
            <a:off x="369102" y="1828800"/>
            <a:ext cx="8442601" cy="4086578"/>
          </a:xfrm>
        </p:spPr>
      </p:pic>
    </p:spTree>
    <p:extLst>
      <p:ext uri="{BB962C8B-B14F-4D97-AF65-F5344CB8AC3E}">
        <p14:creationId xmlns:p14="http://schemas.microsoft.com/office/powerpoint/2010/main" val="4758697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Reason to learn Python </a:t>
            </a:r>
          </a:p>
        </p:txBody>
      </p:sp>
      <p:pic>
        <p:nvPicPr>
          <p:cNvPr id="3" name="Content Placeholder 2">
            <a:extLst>
              <a:ext uri="{FF2B5EF4-FFF2-40B4-BE49-F238E27FC236}">
                <a16:creationId xmlns:a16="http://schemas.microsoft.com/office/drawing/2014/main" id="{A63ECACE-8697-477A-9BFF-A134D37455D7}"/>
              </a:ext>
            </a:extLst>
          </p:cNvPr>
          <p:cNvPicPr>
            <a:picLocks noGrp="1" noChangeAspect="1"/>
          </p:cNvPicPr>
          <p:nvPr>
            <p:ph idx="1"/>
          </p:nvPr>
        </p:nvPicPr>
        <p:blipFill>
          <a:blip r:embed="rId2"/>
          <a:stretch>
            <a:fillRect/>
          </a:stretch>
        </p:blipFill>
        <p:spPr>
          <a:xfrm>
            <a:off x="509486" y="1749778"/>
            <a:ext cx="7725270" cy="4018844"/>
          </a:xfrm>
        </p:spPr>
      </p:pic>
    </p:spTree>
    <p:extLst>
      <p:ext uri="{BB962C8B-B14F-4D97-AF65-F5344CB8AC3E}">
        <p14:creationId xmlns:p14="http://schemas.microsoft.com/office/powerpoint/2010/main" val="15185500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Reason to learn Python </a:t>
            </a:r>
          </a:p>
        </p:txBody>
      </p:sp>
      <p:pic>
        <p:nvPicPr>
          <p:cNvPr id="3" name="Content Placeholder 2">
            <a:extLst>
              <a:ext uri="{FF2B5EF4-FFF2-40B4-BE49-F238E27FC236}">
                <a16:creationId xmlns:a16="http://schemas.microsoft.com/office/drawing/2014/main" id="{7A788146-5EC4-4A0B-B6D6-5EED369BB41D}"/>
              </a:ext>
            </a:extLst>
          </p:cNvPr>
          <p:cNvPicPr>
            <a:picLocks noGrp="1" noChangeAspect="1"/>
          </p:cNvPicPr>
          <p:nvPr>
            <p:ph idx="1"/>
          </p:nvPr>
        </p:nvPicPr>
        <p:blipFill>
          <a:blip r:embed="rId2"/>
          <a:stretch>
            <a:fillRect/>
          </a:stretch>
        </p:blipFill>
        <p:spPr>
          <a:xfrm>
            <a:off x="847766" y="1975556"/>
            <a:ext cx="7750890" cy="3928533"/>
          </a:xfrm>
        </p:spPr>
      </p:pic>
    </p:spTree>
    <p:extLst>
      <p:ext uri="{BB962C8B-B14F-4D97-AF65-F5344CB8AC3E}">
        <p14:creationId xmlns:p14="http://schemas.microsoft.com/office/powerpoint/2010/main" val="36347855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Reason to learn Python </a:t>
            </a:r>
          </a:p>
        </p:txBody>
      </p:sp>
      <p:pic>
        <p:nvPicPr>
          <p:cNvPr id="3" name="Content Placeholder 2">
            <a:extLst>
              <a:ext uri="{FF2B5EF4-FFF2-40B4-BE49-F238E27FC236}">
                <a16:creationId xmlns:a16="http://schemas.microsoft.com/office/drawing/2014/main" id="{A629F9E3-8D61-4091-8296-2214D0EC525B}"/>
              </a:ext>
            </a:extLst>
          </p:cNvPr>
          <p:cNvPicPr>
            <a:picLocks noGrp="1" noChangeAspect="1"/>
          </p:cNvPicPr>
          <p:nvPr>
            <p:ph idx="1"/>
          </p:nvPr>
        </p:nvPicPr>
        <p:blipFill>
          <a:blip r:embed="rId2"/>
          <a:stretch>
            <a:fillRect/>
          </a:stretch>
        </p:blipFill>
        <p:spPr>
          <a:xfrm>
            <a:off x="535968" y="1896533"/>
            <a:ext cx="8178127" cy="3984978"/>
          </a:xfrm>
        </p:spPr>
      </p:pic>
    </p:spTree>
    <p:extLst>
      <p:ext uri="{BB962C8B-B14F-4D97-AF65-F5344CB8AC3E}">
        <p14:creationId xmlns:p14="http://schemas.microsoft.com/office/powerpoint/2010/main" val="1567417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Reason to learn Python </a:t>
            </a:r>
          </a:p>
        </p:txBody>
      </p:sp>
      <p:pic>
        <p:nvPicPr>
          <p:cNvPr id="3" name="Content Placeholder 2">
            <a:extLst>
              <a:ext uri="{FF2B5EF4-FFF2-40B4-BE49-F238E27FC236}">
                <a16:creationId xmlns:a16="http://schemas.microsoft.com/office/drawing/2014/main" id="{86C6772F-14DD-42EB-83B2-4A6EEFC40D43}"/>
              </a:ext>
            </a:extLst>
          </p:cNvPr>
          <p:cNvPicPr>
            <a:picLocks noGrp="1" noChangeAspect="1"/>
          </p:cNvPicPr>
          <p:nvPr>
            <p:ph idx="1"/>
          </p:nvPr>
        </p:nvPicPr>
        <p:blipFill>
          <a:blip r:embed="rId2"/>
          <a:stretch>
            <a:fillRect/>
          </a:stretch>
        </p:blipFill>
        <p:spPr>
          <a:xfrm>
            <a:off x="597954" y="1851379"/>
            <a:ext cx="7913555" cy="3770488"/>
          </a:xfrm>
        </p:spPr>
      </p:pic>
    </p:spTree>
    <p:extLst>
      <p:ext uri="{BB962C8B-B14F-4D97-AF65-F5344CB8AC3E}">
        <p14:creationId xmlns:p14="http://schemas.microsoft.com/office/powerpoint/2010/main" val="31481395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Application Area </a:t>
            </a:r>
          </a:p>
        </p:txBody>
      </p:sp>
      <p:pic>
        <p:nvPicPr>
          <p:cNvPr id="3" name="Content Placeholder 2">
            <a:extLst>
              <a:ext uri="{FF2B5EF4-FFF2-40B4-BE49-F238E27FC236}">
                <a16:creationId xmlns:a16="http://schemas.microsoft.com/office/drawing/2014/main" id="{DED86149-4855-4606-9B8B-2ACC74A295F9}"/>
              </a:ext>
            </a:extLst>
          </p:cNvPr>
          <p:cNvPicPr>
            <a:picLocks noGrp="1" noChangeAspect="1"/>
          </p:cNvPicPr>
          <p:nvPr>
            <p:ph idx="1"/>
          </p:nvPr>
        </p:nvPicPr>
        <p:blipFill>
          <a:blip r:embed="rId2"/>
          <a:stretch>
            <a:fillRect/>
          </a:stretch>
        </p:blipFill>
        <p:spPr>
          <a:xfrm>
            <a:off x="1750645" y="1761325"/>
            <a:ext cx="6219641" cy="3894408"/>
          </a:xfrm>
        </p:spPr>
      </p:pic>
    </p:spTree>
    <p:extLst>
      <p:ext uri="{BB962C8B-B14F-4D97-AF65-F5344CB8AC3E}">
        <p14:creationId xmlns:p14="http://schemas.microsoft.com/office/powerpoint/2010/main" val="39443531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Getting Started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Writing our first program </a:t>
            </a:r>
          </a:p>
          <a:p>
            <a:pPr lvl="1"/>
            <a:r>
              <a:rPr lang="en-US" altLang="en-US" dirty="0">
                <a:solidFill>
                  <a:schemeClr val="tx1"/>
                </a:solidFill>
                <a:latin typeface="Times New Roman" panose="02020603050405020304" pitchFamily="18" charset="0"/>
                <a:cs typeface="Times New Roman" panose="02020603050405020304" pitchFamily="18" charset="0"/>
              </a:rPr>
              <a:t>Print(“Hello world”)</a:t>
            </a:r>
          </a:p>
        </p:txBody>
      </p:sp>
    </p:spTree>
    <p:extLst>
      <p:ext uri="{BB962C8B-B14F-4D97-AF65-F5344CB8AC3E}">
        <p14:creationId xmlns:p14="http://schemas.microsoft.com/office/powerpoint/2010/main" val="21717956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Python Comments </a:t>
            </a:r>
          </a:p>
          <a:p>
            <a:pPr lvl="1"/>
            <a:r>
              <a:rPr lang="en-US" altLang="en-US" dirty="0">
                <a:solidFill>
                  <a:schemeClr val="tx1"/>
                </a:solidFill>
                <a:latin typeface="Times New Roman" panose="02020603050405020304" pitchFamily="18" charset="0"/>
                <a:cs typeface="Times New Roman" panose="02020603050405020304" pitchFamily="18" charset="0"/>
              </a:rPr>
              <a:t>Comments are useful information that the developers provide to make the reader understand the source code. It explains the logic or </a:t>
            </a:r>
            <a:r>
              <a:rPr lang="en-US" altLang="en-US" dirty="0" err="1">
                <a:solidFill>
                  <a:schemeClr val="tx1"/>
                </a:solidFill>
                <a:latin typeface="Times New Roman" panose="02020603050405020304" pitchFamily="18" charset="0"/>
                <a:cs typeface="Times New Roman" panose="02020603050405020304" pitchFamily="18" charset="0"/>
              </a:rPr>
              <a:t>aprat</a:t>
            </a:r>
            <a:r>
              <a:rPr lang="en-US" altLang="en-US" dirty="0">
                <a:solidFill>
                  <a:schemeClr val="tx1"/>
                </a:solidFill>
                <a:latin typeface="Times New Roman" panose="02020603050405020304" pitchFamily="18" charset="0"/>
                <a:cs typeface="Times New Roman" panose="02020603050405020304" pitchFamily="18" charset="0"/>
              </a:rPr>
              <a:t> of its used in the code. There are two types of comments in Python:</a:t>
            </a:r>
          </a:p>
          <a:p>
            <a:pPr lvl="2"/>
            <a:r>
              <a:rPr lang="en-US" altLang="en-US" b="1" dirty="0">
                <a:solidFill>
                  <a:schemeClr val="tx1"/>
                </a:solidFill>
                <a:latin typeface="Times New Roman" panose="02020603050405020304" pitchFamily="18" charset="0"/>
                <a:cs typeface="Times New Roman" panose="02020603050405020304" pitchFamily="18" charset="0"/>
              </a:rPr>
              <a:t>Single line comments: </a:t>
            </a:r>
            <a:r>
              <a:rPr lang="en-US" altLang="en-US" dirty="0">
                <a:solidFill>
                  <a:schemeClr val="tx1"/>
                </a:solidFill>
                <a:latin typeface="Times New Roman" panose="02020603050405020304" pitchFamily="18" charset="0"/>
                <a:cs typeface="Times New Roman" panose="02020603050405020304" pitchFamily="18" charset="0"/>
              </a:rPr>
              <a:t>Python single line comment starts with the hashtag symbol with no white spaces.</a:t>
            </a:r>
          </a:p>
          <a:p>
            <a:pPr marL="914400" lvl="2" indent="0">
              <a:buNone/>
            </a:pPr>
            <a:r>
              <a:rPr lang="en-US" altLang="en-US" dirty="0">
                <a:solidFill>
                  <a:srgbClr val="00B050"/>
                </a:solidFill>
                <a:latin typeface="Times New Roman" panose="02020603050405020304" pitchFamily="18" charset="0"/>
                <a:cs typeface="Times New Roman" panose="02020603050405020304" pitchFamily="18" charset="0"/>
              </a:rPr>
              <a:t>			#this is comment</a:t>
            </a:r>
          </a:p>
          <a:p>
            <a:pPr lvl="2"/>
            <a:r>
              <a:rPr lang="en-US" altLang="en-US" b="1" dirty="0">
                <a:solidFill>
                  <a:schemeClr val="tx1"/>
                </a:solidFill>
                <a:latin typeface="Times New Roman" panose="02020603050405020304" pitchFamily="18" charset="0"/>
                <a:cs typeface="Times New Roman" panose="02020603050405020304" pitchFamily="18" charset="0"/>
              </a:rPr>
              <a:t>Multi-line string as comment: </a:t>
            </a:r>
            <a:r>
              <a:rPr lang="en-US" altLang="en-US" dirty="0" err="1">
                <a:solidFill>
                  <a:schemeClr val="tx1"/>
                </a:solidFill>
                <a:latin typeface="Times New Roman" panose="02020603050405020304" pitchFamily="18" charset="0"/>
                <a:cs typeface="Times New Roman" panose="02020603050405020304" pitchFamily="18" charset="0"/>
              </a:rPr>
              <a:t>Pyhton</a:t>
            </a:r>
            <a:r>
              <a:rPr lang="en-US" altLang="en-US" dirty="0">
                <a:solidFill>
                  <a:schemeClr val="tx1"/>
                </a:solidFill>
                <a:latin typeface="Times New Roman" panose="02020603050405020304" pitchFamily="18" charset="0"/>
                <a:cs typeface="Times New Roman" panose="02020603050405020304" pitchFamily="18" charset="0"/>
              </a:rPr>
              <a:t> multi-line comment is a piece of text enclosed in a delimiter (“””) on each end of the comment.</a:t>
            </a:r>
          </a:p>
          <a:p>
            <a:pPr marL="2286000" lvl="5" indent="0">
              <a:buNone/>
            </a:pPr>
            <a:r>
              <a:rPr lang="en-US" altLang="en-US" dirty="0">
                <a:solidFill>
                  <a:srgbClr val="00B050"/>
                </a:solidFill>
                <a:latin typeface="Times New Roman" panose="02020603050405020304" pitchFamily="18" charset="0"/>
                <a:cs typeface="Times New Roman" panose="02020603050405020304" pitchFamily="18" charset="0"/>
              </a:rPr>
              <a:t>“”” </a:t>
            </a:r>
            <a:br>
              <a:rPr lang="en-US" altLang="en-US" dirty="0">
                <a:solidFill>
                  <a:srgbClr val="00B050"/>
                </a:solidFill>
                <a:latin typeface="Times New Roman" panose="02020603050405020304" pitchFamily="18" charset="0"/>
                <a:cs typeface="Times New Roman" panose="02020603050405020304" pitchFamily="18" charset="0"/>
              </a:rPr>
            </a:br>
            <a:r>
              <a:rPr lang="en-US" altLang="en-US" dirty="0">
                <a:solidFill>
                  <a:srgbClr val="00B050"/>
                </a:solidFill>
                <a:latin typeface="Times New Roman" panose="02020603050405020304" pitchFamily="18" charset="0"/>
                <a:cs typeface="Times New Roman" panose="02020603050405020304" pitchFamily="18" charset="0"/>
              </a:rPr>
              <a:t>this would be a multi line comment </a:t>
            </a:r>
          </a:p>
          <a:p>
            <a:pPr marL="2286000" lvl="5" indent="0">
              <a:buNone/>
            </a:pPr>
            <a:r>
              <a:rPr lang="en-US" altLang="en-US" dirty="0">
                <a:solidFill>
                  <a:srgbClr val="00B050"/>
                </a:solidFill>
                <a:latin typeface="Times New Roman" panose="02020603050405020304" pitchFamily="18" charset="0"/>
                <a:cs typeface="Times New Roman" panose="02020603050405020304" pitchFamily="18" charset="0"/>
              </a:rPr>
              <a:t>In Python that spans several lines,</a:t>
            </a:r>
          </a:p>
          <a:p>
            <a:pPr marL="2286000" lvl="5" indent="0">
              <a:buNone/>
            </a:pPr>
            <a:r>
              <a:rPr lang="en-US" altLang="en-US" dirty="0">
                <a:solidFill>
                  <a:srgbClr val="00B050"/>
                </a:solidFill>
                <a:latin typeface="Times New Roman" panose="02020603050405020304" pitchFamily="18" charset="0"/>
                <a:cs typeface="Times New Roman" panose="02020603050405020304" pitchFamily="18" charset="0"/>
              </a:rPr>
              <a:t>“””</a:t>
            </a:r>
            <a:endParaRPr lang="en-US" altLang="en-US" dirty="0">
              <a:solidFill>
                <a:schemeClr val="tx1"/>
              </a:solidFill>
              <a:latin typeface="Times New Roman" panose="02020603050405020304" pitchFamily="18" charset="0"/>
              <a:cs typeface="Times New Roman" panose="02020603050405020304" pitchFamily="18" charset="0"/>
            </a:endParaRPr>
          </a:p>
          <a:p>
            <a:pPr lvl="2"/>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99236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animEffect transition="in" filter="randombar(horizontal)">
                                      <p:cBhvr>
                                        <p:cTn id="39" dur="500"/>
                                        <p:tgtEl>
                                          <p:spTgt spid="4">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animEffect transition="in" filter="randombar(horizontal)">
                                      <p:cBhvr>
                                        <p:cTn id="44" dur="500"/>
                                        <p:tgtEl>
                                          <p:spTgt spid="4">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Effect transition="in" filter="randombar(horizontal)">
                                      <p:cBhvr>
                                        <p:cTn id="49"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D2687AAF-3358-4F29-95BA-9B2EEDC5A4BD}"/>
              </a:ext>
            </a:extLst>
          </p:cNvPr>
          <p:cNvPicPr>
            <a:picLocks noGrp="1" noChangeAspect="1"/>
          </p:cNvPicPr>
          <p:nvPr>
            <p:ph idx="1"/>
          </p:nvPr>
        </p:nvPicPr>
        <p:blipFill>
          <a:blip r:embed="rId2"/>
          <a:stretch>
            <a:fillRect/>
          </a:stretch>
        </p:blipFill>
        <p:spPr>
          <a:xfrm>
            <a:off x="698754" y="1896533"/>
            <a:ext cx="7603714" cy="3860800"/>
          </a:xfrm>
        </p:spPr>
      </p:pic>
    </p:spTree>
    <p:extLst>
      <p:ext uri="{BB962C8B-B14F-4D97-AF65-F5344CB8AC3E}">
        <p14:creationId xmlns:p14="http://schemas.microsoft.com/office/powerpoint/2010/main" val="10078568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10" name="Content Placeholder 9">
            <a:extLst>
              <a:ext uri="{FF2B5EF4-FFF2-40B4-BE49-F238E27FC236}">
                <a16:creationId xmlns:a16="http://schemas.microsoft.com/office/drawing/2014/main" id="{C264C5B8-E944-43F8-92F2-E58EC673708A}"/>
              </a:ext>
            </a:extLst>
          </p:cNvPr>
          <p:cNvPicPr>
            <a:picLocks noGrp="1" noChangeAspect="1"/>
          </p:cNvPicPr>
          <p:nvPr>
            <p:ph idx="1"/>
          </p:nvPr>
        </p:nvPicPr>
        <p:blipFill>
          <a:blip r:embed="rId2"/>
          <a:stretch>
            <a:fillRect/>
          </a:stretch>
        </p:blipFill>
        <p:spPr>
          <a:xfrm>
            <a:off x="568342" y="1695629"/>
            <a:ext cx="6080611" cy="1544282"/>
          </a:xfrm>
        </p:spPr>
      </p:pic>
      <p:pic>
        <p:nvPicPr>
          <p:cNvPr id="12" name="Picture 11">
            <a:extLst>
              <a:ext uri="{FF2B5EF4-FFF2-40B4-BE49-F238E27FC236}">
                <a16:creationId xmlns:a16="http://schemas.microsoft.com/office/drawing/2014/main" id="{0C6D07B3-11B1-46F7-A868-A5931DA623B6}"/>
              </a:ext>
            </a:extLst>
          </p:cNvPr>
          <p:cNvPicPr>
            <a:picLocks noChangeAspect="1"/>
          </p:cNvPicPr>
          <p:nvPr/>
        </p:nvPicPr>
        <p:blipFill>
          <a:blip r:embed="rId3"/>
          <a:stretch>
            <a:fillRect/>
          </a:stretch>
        </p:blipFill>
        <p:spPr>
          <a:xfrm>
            <a:off x="568342" y="3144661"/>
            <a:ext cx="6534482" cy="1544282"/>
          </a:xfrm>
          <a:prstGeom prst="rect">
            <a:avLst/>
          </a:prstGeom>
        </p:spPr>
      </p:pic>
      <p:pic>
        <p:nvPicPr>
          <p:cNvPr id="14" name="Picture 13">
            <a:extLst>
              <a:ext uri="{FF2B5EF4-FFF2-40B4-BE49-F238E27FC236}">
                <a16:creationId xmlns:a16="http://schemas.microsoft.com/office/drawing/2014/main" id="{FD441924-3F14-4299-9958-79A1FD4FD3CF}"/>
              </a:ext>
            </a:extLst>
          </p:cNvPr>
          <p:cNvPicPr>
            <a:picLocks noChangeAspect="1"/>
          </p:cNvPicPr>
          <p:nvPr/>
        </p:nvPicPr>
        <p:blipFill>
          <a:blip r:embed="rId4"/>
          <a:stretch>
            <a:fillRect/>
          </a:stretch>
        </p:blipFill>
        <p:spPr>
          <a:xfrm>
            <a:off x="674181" y="4479465"/>
            <a:ext cx="5879019" cy="1896458"/>
          </a:xfrm>
          <a:prstGeom prst="rect">
            <a:avLst/>
          </a:prstGeom>
        </p:spPr>
      </p:pic>
    </p:spTree>
    <p:extLst>
      <p:ext uri="{BB962C8B-B14F-4D97-AF65-F5344CB8AC3E}">
        <p14:creationId xmlns:p14="http://schemas.microsoft.com/office/powerpoint/2010/main" val="17586932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7" name="Picture 6">
            <a:extLst>
              <a:ext uri="{FF2B5EF4-FFF2-40B4-BE49-F238E27FC236}">
                <a16:creationId xmlns:a16="http://schemas.microsoft.com/office/drawing/2014/main" id="{9A456A48-3F79-40EB-9A75-2D0A567A9E3D}"/>
              </a:ext>
            </a:extLst>
          </p:cNvPr>
          <p:cNvPicPr>
            <a:picLocks noChangeAspect="1"/>
          </p:cNvPicPr>
          <p:nvPr/>
        </p:nvPicPr>
        <p:blipFill>
          <a:blip r:embed="rId2"/>
          <a:stretch>
            <a:fillRect/>
          </a:stretch>
        </p:blipFill>
        <p:spPr>
          <a:xfrm>
            <a:off x="974145" y="2688744"/>
            <a:ext cx="6401971" cy="2797807"/>
          </a:xfrm>
          <a:prstGeom prst="rect">
            <a:avLst/>
          </a:prstGeom>
        </p:spPr>
      </p:pic>
      <p:pic>
        <p:nvPicPr>
          <p:cNvPr id="11" name="Content Placeholder 2">
            <a:extLst>
              <a:ext uri="{FF2B5EF4-FFF2-40B4-BE49-F238E27FC236}">
                <a16:creationId xmlns:a16="http://schemas.microsoft.com/office/drawing/2014/main" id="{9FBC381B-6232-4B30-B2A1-2C09C632C5FA}"/>
              </a:ext>
            </a:extLst>
          </p:cNvPr>
          <p:cNvPicPr>
            <a:picLocks noGrp="1" noChangeAspect="1"/>
          </p:cNvPicPr>
          <p:nvPr>
            <p:ph idx="1"/>
          </p:nvPr>
        </p:nvPicPr>
        <p:blipFill>
          <a:blip r:embed="rId3"/>
          <a:stretch>
            <a:fillRect/>
          </a:stretch>
        </p:blipFill>
        <p:spPr>
          <a:xfrm>
            <a:off x="897300" y="1818945"/>
            <a:ext cx="6555659" cy="2896686"/>
          </a:xfrm>
        </p:spPr>
      </p:pic>
    </p:spTree>
    <p:extLst>
      <p:ext uri="{BB962C8B-B14F-4D97-AF65-F5344CB8AC3E}">
        <p14:creationId xmlns:p14="http://schemas.microsoft.com/office/powerpoint/2010/main" val="17521372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752A9C01-59D5-4FEB-B6DC-F0A5209FB89B}"/>
              </a:ext>
            </a:extLst>
          </p:cNvPr>
          <p:cNvPicPr>
            <a:picLocks noGrp="1" noChangeAspect="1"/>
          </p:cNvPicPr>
          <p:nvPr>
            <p:ph idx="1"/>
          </p:nvPr>
        </p:nvPicPr>
        <p:blipFill>
          <a:blip r:embed="rId2"/>
          <a:stretch>
            <a:fillRect/>
          </a:stretch>
        </p:blipFill>
        <p:spPr>
          <a:xfrm>
            <a:off x="928159" y="1794333"/>
            <a:ext cx="7327811" cy="3330823"/>
          </a:xfrm>
        </p:spPr>
      </p:pic>
    </p:spTree>
    <p:extLst>
      <p:ext uri="{BB962C8B-B14F-4D97-AF65-F5344CB8AC3E}">
        <p14:creationId xmlns:p14="http://schemas.microsoft.com/office/powerpoint/2010/main" val="15173387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147791E6-6F07-4849-88D3-A6D4636DDB7C}"/>
              </a:ext>
            </a:extLst>
          </p:cNvPr>
          <p:cNvPicPr>
            <a:picLocks noGrp="1" noChangeAspect="1"/>
          </p:cNvPicPr>
          <p:nvPr>
            <p:ph idx="1"/>
          </p:nvPr>
        </p:nvPicPr>
        <p:blipFill>
          <a:blip r:embed="rId2"/>
          <a:stretch>
            <a:fillRect/>
          </a:stretch>
        </p:blipFill>
        <p:spPr>
          <a:xfrm>
            <a:off x="881766" y="1753563"/>
            <a:ext cx="7269569" cy="3777993"/>
          </a:xfrm>
        </p:spPr>
      </p:pic>
    </p:spTree>
    <p:extLst>
      <p:ext uri="{BB962C8B-B14F-4D97-AF65-F5344CB8AC3E}">
        <p14:creationId xmlns:p14="http://schemas.microsoft.com/office/powerpoint/2010/main" val="35267924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338A928D-D1CE-45BE-AFB1-B0502F01616A}"/>
              </a:ext>
            </a:extLst>
          </p:cNvPr>
          <p:cNvPicPr>
            <a:picLocks noGrp="1" noChangeAspect="1"/>
          </p:cNvPicPr>
          <p:nvPr>
            <p:ph idx="1"/>
          </p:nvPr>
        </p:nvPicPr>
        <p:blipFill>
          <a:blip r:embed="rId2"/>
          <a:stretch>
            <a:fillRect/>
          </a:stretch>
        </p:blipFill>
        <p:spPr>
          <a:xfrm>
            <a:off x="324562" y="1598792"/>
            <a:ext cx="6866460" cy="1670576"/>
          </a:xfrm>
        </p:spPr>
      </p:pic>
      <p:pic>
        <p:nvPicPr>
          <p:cNvPr id="7" name="Picture 6">
            <a:extLst>
              <a:ext uri="{FF2B5EF4-FFF2-40B4-BE49-F238E27FC236}">
                <a16:creationId xmlns:a16="http://schemas.microsoft.com/office/drawing/2014/main" id="{37F6B607-0B1F-499B-A329-7D9498B8EAD9}"/>
              </a:ext>
            </a:extLst>
          </p:cNvPr>
          <p:cNvPicPr>
            <a:picLocks noChangeAspect="1"/>
          </p:cNvPicPr>
          <p:nvPr/>
        </p:nvPicPr>
        <p:blipFill>
          <a:blip r:embed="rId3"/>
          <a:stretch>
            <a:fillRect/>
          </a:stretch>
        </p:blipFill>
        <p:spPr>
          <a:xfrm>
            <a:off x="1039330" y="3269367"/>
            <a:ext cx="5736954" cy="3452107"/>
          </a:xfrm>
          <a:prstGeom prst="rect">
            <a:avLst/>
          </a:prstGeom>
        </p:spPr>
      </p:pic>
    </p:spTree>
    <p:extLst>
      <p:ext uri="{BB962C8B-B14F-4D97-AF65-F5344CB8AC3E}">
        <p14:creationId xmlns:p14="http://schemas.microsoft.com/office/powerpoint/2010/main" val="18881115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9FC1762C-4370-4A0B-8618-662F31E85B6F}"/>
              </a:ext>
            </a:extLst>
          </p:cNvPr>
          <p:cNvPicPr>
            <a:picLocks noGrp="1" noChangeAspect="1"/>
          </p:cNvPicPr>
          <p:nvPr>
            <p:ph idx="1"/>
          </p:nvPr>
        </p:nvPicPr>
        <p:blipFill>
          <a:blip r:embed="rId2"/>
          <a:stretch>
            <a:fillRect/>
          </a:stretch>
        </p:blipFill>
        <p:spPr>
          <a:xfrm>
            <a:off x="1296943" y="1722622"/>
            <a:ext cx="6414915" cy="4192756"/>
          </a:xfrm>
        </p:spPr>
      </p:pic>
    </p:spTree>
    <p:extLst>
      <p:ext uri="{BB962C8B-B14F-4D97-AF65-F5344CB8AC3E}">
        <p14:creationId xmlns:p14="http://schemas.microsoft.com/office/powerpoint/2010/main" val="39996969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707FB7D6-568A-4465-BCE1-AC9FBE146324}"/>
              </a:ext>
            </a:extLst>
          </p:cNvPr>
          <p:cNvPicPr>
            <a:picLocks noGrp="1" noChangeAspect="1"/>
          </p:cNvPicPr>
          <p:nvPr>
            <p:ph idx="1"/>
          </p:nvPr>
        </p:nvPicPr>
        <p:blipFill>
          <a:blip r:embed="rId2"/>
          <a:stretch>
            <a:fillRect/>
          </a:stretch>
        </p:blipFill>
        <p:spPr>
          <a:xfrm>
            <a:off x="1306470" y="1688524"/>
            <a:ext cx="6042035" cy="4023654"/>
          </a:xfrm>
        </p:spPr>
      </p:pic>
    </p:spTree>
    <p:extLst>
      <p:ext uri="{BB962C8B-B14F-4D97-AF65-F5344CB8AC3E}">
        <p14:creationId xmlns:p14="http://schemas.microsoft.com/office/powerpoint/2010/main" val="10741133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76B7E72A-3267-4316-A3BE-087A6A86A890}"/>
              </a:ext>
            </a:extLst>
          </p:cNvPr>
          <p:cNvPicPr>
            <a:picLocks noGrp="1" noChangeAspect="1"/>
          </p:cNvPicPr>
          <p:nvPr>
            <p:ph idx="1"/>
          </p:nvPr>
        </p:nvPicPr>
        <p:blipFill>
          <a:blip r:embed="rId2"/>
          <a:stretch>
            <a:fillRect/>
          </a:stretch>
        </p:blipFill>
        <p:spPr>
          <a:xfrm>
            <a:off x="1117600" y="1940976"/>
            <a:ext cx="6959817" cy="3872802"/>
          </a:xfrm>
        </p:spPr>
      </p:pic>
    </p:spTree>
    <p:extLst>
      <p:ext uri="{BB962C8B-B14F-4D97-AF65-F5344CB8AC3E}">
        <p14:creationId xmlns:p14="http://schemas.microsoft.com/office/powerpoint/2010/main" val="18006239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B53758FA-2551-42C7-851C-D33ADFF97B1E}"/>
              </a:ext>
            </a:extLst>
          </p:cNvPr>
          <p:cNvPicPr>
            <a:picLocks noGrp="1" noChangeAspect="1"/>
          </p:cNvPicPr>
          <p:nvPr>
            <p:ph idx="1"/>
          </p:nvPr>
        </p:nvPicPr>
        <p:blipFill>
          <a:blip r:embed="rId2"/>
          <a:stretch>
            <a:fillRect/>
          </a:stretch>
        </p:blipFill>
        <p:spPr>
          <a:xfrm>
            <a:off x="1639892" y="2336800"/>
            <a:ext cx="6531362" cy="2656825"/>
          </a:xfrm>
        </p:spPr>
      </p:pic>
    </p:spTree>
    <p:extLst>
      <p:ext uri="{BB962C8B-B14F-4D97-AF65-F5344CB8AC3E}">
        <p14:creationId xmlns:p14="http://schemas.microsoft.com/office/powerpoint/2010/main" val="38951777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097C66D0-04A9-41C7-B9B4-2C078022AB83}"/>
              </a:ext>
            </a:extLst>
          </p:cNvPr>
          <p:cNvPicPr>
            <a:picLocks noGrp="1" noChangeAspect="1"/>
          </p:cNvPicPr>
          <p:nvPr>
            <p:ph idx="1"/>
          </p:nvPr>
        </p:nvPicPr>
        <p:blipFill>
          <a:blip r:embed="rId2"/>
          <a:stretch>
            <a:fillRect/>
          </a:stretch>
        </p:blipFill>
        <p:spPr>
          <a:xfrm>
            <a:off x="941744" y="2336866"/>
            <a:ext cx="7388308" cy="2697977"/>
          </a:xfrm>
        </p:spPr>
      </p:pic>
    </p:spTree>
    <p:extLst>
      <p:ext uri="{BB962C8B-B14F-4D97-AF65-F5344CB8AC3E}">
        <p14:creationId xmlns:p14="http://schemas.microsoft.com/office/powerpoint/2010/main" val="1756319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0552B38C-F662-4E1C-91C0-C70996440CBC}"/>
              </a:ext>
            </a:extLst>
          </p:cNvPr>
          <p:cNvPicPr>
            <a:picLocks noGrp="1" noChangeAspect="1"/>
          </p:cNvPicPr>
          <p:nvPr>
            <p:ph idx="1"/>
          </p:nvPr>
        </p:nvPicPr>
        <p:blipFill>
          <a:blip r:embed="rId2"/>
          <a:stretch>
            <a:fillRect/>
          </a:stretch>
        </p:blipFill>
        <p:spPr>
          <a:xfrm>
            <a:off x="990674" y="1989050"/>
            <a:ext cx="7397808" cy="3644106"/>
          </a:xfrm>
        </p:spPr>
      </p:pic>
    </p:spTree>
    <p:extLst>
      <p:ext uri="{BB962C8B-B14F-4D97-AF65-F5344CB8AC3E}">
        <p14:creationId xmlns:p14="http://schemas.microsoft.com/office/powerpoint/2010/main" val="12943134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Fundamental of Python </a:t>
            </a:r>
          </a:p>
        </p:txBody>
      </p:sp>
      <p:pic>
        <p:nvPicPr>
          <p:cNvPr id="3" name="Content Placeholder 2">
            <a:extLst>
              <a:ext uri="{FF2B5EF4-FFF2-40B4-BE49-F238E27FC236}">
                <a16:creationId xmlns:a16="http://schemas.microsoft.com/office/drawing/2014/main" id="{F70958A5-8DD8-45D7-B2E9-A2AFBF29D4CC}"/>
              </a:ext>
            </a:extLst>
          </p:cNvPr>
          <p:cNvPicPr>
            <a:picLocks noGrp="1" noChangeAspect="1"/>
          </p:cNvPicPr>
          <p:nvPr>
            <p:ph idx="1"/>
          </p:nvPr>
        </p:nvPicPr>
        <p:blipFill>
          <a:blip r:embed="rId2"/>
          <a:stretch>
            <a:fillRect/>
          </a:stretch>
        </p:blipFill>
        <p:spPr>
          <a:xfrm>
            <a:off x="856247" y="2077156"/>
            <a:ext cx="7237886" cy="3478984"/>
          </a:xfrm>
        </p:spPr>
      </p:pic>
    </p:spTree>
    <p:extLst>
      <p:ext uri="{BB962C8B-B14F-4D97-AF65-F5344CB8AC3E}">
        <p14:creationId xmlns:p14="http://schemas.microsoft.com/office/powerpoint/2010/main" val="1173229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53</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Reference</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hlinkClick r:id="rId2"/>
              </a:rPr>
              <a:t>https://www.slideshare.net/slideshow/oop-in-pyhton-updated/37383033#2</a:t>
            </a:r>
            <a:r>
              <a:rPr lang="en-US" altLang="en-US" dirty="0">
                <a:solidFill>
                  <a:schemeClr val="tx1"/>
                </a:solidFill>
                <a:latin typeface="Times New Roman" panose="02020603050405020304" pitchFamily="18" charset="0"/>
                <a:cs typeface="Times New Roman" panose="02020603050405020304" pitchFamily="18" charset="0"/>
              </a:rPr>
              <a:t> </a:t>
            </a:r>
          </a:p>
          <a:p>
            <a:r>
              <a:rPr lang="en-US" altLang="en-US" dirty="0">
                <a:solidFill>
                  <a:schemeClr val="tx1"/>
                </a:solidFill>
                <a:latin typeface="Times New Roman" panose="02020603050405020304" pitchFamily="18" charset="0"/>
                <a:cs typeface="Times New Roman" panose="02020603050405020304" pitchFamily="18" charset="0"/>
              </a:rPr>
              <a:t>https://www.slideshare.net/slideshow/python-basics-260043993/260043993#2</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5257800" cy="762000"/>
          </a:xfrm>
        </p:spPr>
        <p:txBody>
          <a:bodyPr>
            <a:noAutofit/>
          </a:bodyPr>
          <a:lstStyle/>
          <a:p>
            <a:pPr algn="ctr"/>
            <a:r>
              <a:rPr lang="en-US" sz="4400" b="1" dirty="0">
                <a:solidFill>
                  <a:schemeClr val="bg1"/>
                </a:solidFill>
                <a:latin typeface="Times New Roman" panose="02020603050405020304" pitchFamily="18" charset="0"/>
                <a:cs typeface="Times New Roman" panose="02020603050405020304" pitchFamily="18" charset="0"/>
                <a:sym typeface="+mn-ea"/>
              </a:rPr>
              <a:t>Advice</a:t>
            </a:r>
          </a:p>
        </p:txBody>
      </p:sp>
      <p:sp>
        <p:nvSpPr>
          <p:cNvPr id="3" name="Content Placeholder 2"/>
          <p:cNvSpPr>
            <a:spLocks noGrp="1"/>
          </p:cNvSpPr>
          <p:nvPr>
            <p:ph sz="quarter" idx="1"/>
          </p:nvPr>
        </p:nvSpPr>
        <p:spPr>
          <a:xfrm>
            <a:off x="381000" y="1219200"/>
            <a:ext cx="8458200" cy="5334000"/>
          </a:xfrm>
        </p:spPr>
        <p:txBody>
          <a:bodyPr>
            <a:normAutofit/>
          </a:bodyPr>
          <a:lstStyle/>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r>
              <a:rPr lang="en-US" sz="2800" b="1" dirty="0">
                <a:solidFill>
                  <a:srgbClr val="C00000"/>
                </a:solidFill>
                <a:latin typeface="Arial Black" panose="020B0A04020102020204" charset="0"/>
                <a:cs typeface="Arial Black" panose="020B0A04020102020204" charset="0"/>
                <a:sym typeface="+mn-ea"/>
              </a:rPr>
              <a:t>Kindly read the book before and after the lecture, if some terms/ words are not covered in the lecture, if appear in exam it might not appear strange or out of course.</a:t>
            </a:r>
            <a:endParaRPr lang="en-US" sz="2800" b="1" dirty="0">
              <a:solidFill>
                <a:srgbClr val="C00000"/>
              </a:solidFill>
              <a:latin typeface="Arial Black" panose="020B0A04020102020204" charset="0"/>
              <a:cs typeface="Arial Black" panose="020B0A04020102020204" charset="0"/>
            </a:endParaRPr>
          </a:p>
          <a:p>
            <a:pPr algn="ctr">
              <a:lnSpc>
                <a:spcPct val="120000"/>
              </a:lnSpc>
            </a:pPr>
            <a:endParaRPr lang="en-US" sz="2800" dirty="0">
              <a:latin typeface="Arial Black" panose="020B0A04020102020204" charset="0"/>
              <a:cs typeface="Arial Black" panose="020B0A040201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17" presetClass="entr" presetSubtype="1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p:cTn id="1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6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SE10 slides.thmx</Template>
  <TotalTime>590</TotalTime>
  <Words>1043</Words>
  <Application>Microsoft Office PowerPoint</Application>
  <PresentationFormat>On-screen Show (4:3)</PresentationFormat>
  <Paragraphs>219</Paragraphs>
  <Slides>54</Slides>
  <Notes>0</Notes>
  <HiddenSlides>0</HiddenSlides>
  <MMClips>0</MMClips>
  <ScaleCrop>false</ScaleCrop>
  <HeadingPairs>
    <vt:vector size="8" baseType="variant">
      <vt:variant>
        <vt:lpstr>Fonts Used</vt:lpstr>
      </vt:variant>
      <vt:variant>
        <vt:i4>7</vt:i4>
      </vt:variant>
      <vt:variant>
        <vt:lpstr>Theme</vt:lpstr>
      </vt:variant>
      <vt:variant>
        <vt:i4>5</vt:i4>
      </vt:variant>
      <vt:variant>
        <vt:lpstr>Embedded OLE Servers</vt:lpstr>
      </vt:variant>
      <vt:variant>
        <vt:i4>1</vt:i4>
      </vt:variant>
      <vt:variant>
        <vt:lpstr>Slide Titles</vt:lpstr>
      </vt:variant>
      <vt:variant>
        <vt:i4>54</vt:i4>
      </vt:variant>
    </vt:vector>
  </HeadingPairs>
  <TitlesOfParts>
    <vt:vector size="67" baseType="lpstr">
      <vt:lpstr>MS PGothic</vt:lpstr>
      <vt:lpstr>Arial</vt:lpstr>
      <vt:lpstr>Arial Black</vt:lpstr>
      <vt:lpstr>Calibri</vt:lpstr>
      <vt:lpstr>Garamond</vt:lpstr>
      <vt:lpstr>Times New Roman</vt:lpstr>
      <vt:lpstr>Wingdings</vt:lpstr>
      <vt:lpstr>SE10 slides</vt:lpstr>
      <vt:lpstr>2_SE10 slides</vt:lpstr>
      <vt:lpstr>5_SE10 slides</vt:lpstr>
      <vt:lpstr>7_SE10 slides</vt:lpstr>
      <vt:lpstr>16_SE10 slides</vt:lpstr>
      <vt:lpstr>Bitmap Image</vt:lpstr>
      <vt:lpstr>Data Mining DS-303</vt:lpstr>
      <vt:lpstr>Content </vt:lpstr>
      <vt:lpstr>Basics of OOP for Data Mining</vt:lpstr>
      <vt:lpstr>Featuers of OOP</vt:lpstr>
      <vt:lpstr>Principles of Object Technology.</vt:lpstr>
      <vt:lpstr>PowerPoint Presentation</vt:lpstr>
      <vt:lpstr>Objects </vt:lpstr>
      <vt:lpstr>Class </vt:lpstr>
      <vt:lpstr>Class </vt:lpstr>
      <vt:lpstr>Attributes</vt:lpstr>
      <vt:lpstr>Methods</vt:lpstr>
      <vt:lpstr>Method</vt:lpstr>
      <vt:lpstr>Examples of Attribute and Methods</vt:lpstr>
      <vt:lpstr>Instances</vt:lpstr>
      <vt:lpstr>PowerPoint Presentation</vt:lpstr>
      <vt:lpstr>Encapsulation</vt:lpstr>
      <vt:lpstr>Inheritance </vt:lpstr>
      <vt:lpstr>Inheritance </vt:lpstr>
      <vt:lpstr>Inheritance </vt:lpstr>
      <vt:lpstr>Inheritance </vt:lpstr>
      <vt:lpstr>Inheritance </vt:lpstr>
      <vt:lpstr>Inheritance </vt:lpstr>
      <vt:lpstr>Inheritance </vt:lpstr>
      <vt:lpstr>Polymorphism </vt:lpstr>
      <vt:lpstr>Polymorphism </vt:lpstr>
      <vt:lpstr>Abstraction </vt:lpstr>
      <vt:lpstr>Abstraction </vt:lpstr>
      <vt:lpstr>Advantages of OOP</vt:lpstr>
      <vt:lpstr>Basics of Python for Data Mining</vt:lpstr>
      <vt:lpstr>What is Python?</vt:lpstr>
      <vt:lpstr>Python Features</vt:lpstr>
      <vt:lpstr>Reason to learn Python </vt:lpstr>
      <vt:lpstr>Reason to learn Python </vt:lpstr>
      <vt:lpstr>Reason to learn Python </vt:lpstr>
      <vt:lpstr>Reason to learn Python </vt:lpstr>
      <vt:lpstr>Reason to learn Python </vt:lpstr>
      <vt:lpstr>Application Area </vt:lpstr>
      <vt:lpstr>Getting Started </vt:lpstr>
      <vt:lpstr>Fundamental of Python </vt:lpstr>
      <vt:lpstr>Fundamental of Python </vt:lpstr>
      <vt:lpstr>Fundamental of Python </vt:lpstr>
      <vt:lpstr>Fundamental of Python </vt:lpstr>
      <vt:lpstr>Fundamental of Python </vt:lpstr>
      <vt:lpstr>Fundamental of Python </vt:lpstr>
      <vt:lpstr>Fundamental of Python </vt:lpstr>
      <vt:lpstr>Fundamental of Python </vt:lpstr>
      <vt:lpstr>Fundamental of Python </vt:lpstr>
      <vt:lpstr>Fundamental of Python </vt:lpstr>
      <vt:lpstr>Fundamental of Python </vt:lpstr>
      <vt:lpstr>Fundamental of Python </vt:lpstr>
      <vt:lpstr>Fundamental of Python </vt:lpstr>
      <vt:lpstr>Fundamental of Python </vt:lpstr>
      <vt:lpstr>Reference</vt:lpstr>
      <vt:lpstr>Advice</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Muhammad Arham</cp:lastModifiedBy>
  <cp:revision>232</cp:revision>
  <dcterms:created xsi:type="dcterms:W3CDTF">2009-12-29T10:39:00Z</dcterms:created>
  <dcterms:modified xsi:type="dcterms:W3CDTF">2026-03-06T10:24:05Z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D1306A2FD05A48D7B302624F1CBE0347</vt:lpwstr>
  </property>
  <property fmtid="{D5CDD505-2E9C-101B-9397-08002B2CF9AE}" pid="3" name="KSOProductBuildVer">
    <vt:lpwstr>1033-12.2.0.23155</vt:lpwstr>
  </property>
</Properties>
</file>