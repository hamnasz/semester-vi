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01" r:id="rId1"/>
  </p:sldMasterIdLst>
  <p:notesMasterIdLst>
    <p:notesMasterId r:id="rId34"/>
  </p:notesMasterIdLst>
  <p:handoutMasterIdLst>
    <p:handoutMasterId r:id="rId35"/>
  </p:handoutMasterIdLst>
  <p:sldIdLst>
    <p:sldId id="256" r:id="rId2"/>
    <p:sldId id="257" r:id="rId3"/>
    <p:sldId id="284" r:id="rId4"/>
    <p:sldId id="285" r:id="rId5"/>
    <p:sldId id="286" r:id="rId6"/>
    <p:sldId id="259" r:id="rId7"/>
    <p:sldId id="260" r:id="rId8"/>
    <p:sldId id="287" r:id="rId9"/>
    <p:sldId id="261" r:id="rId10"/>
    <p:sldId id="262" r:id="rId11"/>
    <p:sldId id="263" r:id="rId12"/>
    <p:sldId id="288"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7562850" cy="10688638"/>
  <p:notesSz cx="10688638" cy="7562850"/>
  <p:embeddedFontLst>
    <p:embeddedFont>
      <p:font typeface="Consolas" panose="020B0609020204030204" pitchFamily="49" charset="0"/>
      <p:regular r:id="rId36"/>
      <p:bold r:id="rId37"/>
      <p:italic r:id="rId38"/>
      <p:boldItalic r:id="rId39"/>
    </p:embeddedFont>
    <p:embeddedFont>
      <p:font typeface="Outfit Bold" pitchFamily="2" charset="0"/>
      <p:bold r:id="rId40"/>
    </p:embeddedFont>
    <p:embeddedFont>
      <p:font typeface="Ovo" panose="02020502070400060406" pitchFamily="18" charset="0"/>
      <p:regular r:id="rId4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75D3"/>
    <a:srgbClr val="0160B7"/>
    <a:srgbClr val="CEE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2" d="100"/>
          <a:sy n="82" d="100"/>
        </p:scale>
        <p:origin x="1228" y="-14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font" Target="fonts/font6.fntdata"/></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E6E80F-86EE-4F3F-BAA6-B215FD855D51}" type="doc">
      <dgm:prSet loTypeId="urn:microsoft.com/office/officeart/2005/8/layout/cycle2" loCatId="cycle" qsTypeId="urn:microsoft.com/office/officeart/2005/8/quickstyle/simple1" qsCatId="simple" csTypeId="urn:microsoft.com/office/officeart/2005/8/colors/accent3_2" csCatId="accent3" phldr="1"/>
      <dgm:spPr/>
      <dgm:t>
        <a:bodyPr/>
        <a:lstStyle/>
        <a:p>
          <a:endParaRPr lang="en-PK"/>
        </a:p>
      </dgm:t>
    </dgm:pt>
    <dgm:pt modelId="{0C98937B-19BE-407C-84A4-89C8D66376D5}">
      <dgm:prSet phldrT="[Text]" phldr="0"/>
      <dgm:spPr/>
      <dgm:t>
        <a:bodyPr/>
        <a:lstStyle/>
        <a:p>
          <a:r>
            <a:rPr lang="en-US" dirty="0"/>
            <a:t>1</a:t>
          </a:r>
          <a:endParaRPr lang="en-PK" dirty="0"/>
        </a:p>
      </dgm:t>
    </dgm:pt>
    <dgm:pt modelId="{1D9A02D5-0F9D-4310-82E8-8A8C4F4DB6B0}" type="parTrans" cxnId="{7E0C65FB-A08D-4515-9979-B07017D8B0D6}">
      <dgm:prSet/>
      <dgm:spPr/>
      <dgm:t>
        <a:bodyPr/>
        <a:lstStyle/>
        <a:p>
          <a:endParaRPr lang="en-PK"/>
        </a:p>
      </dgm:t>
    </dgm:pt>
    <dgm:pt modelId="{3BC32278-EB14-43CA-AC63-3F7B890A9D22}" type="sibTrans" cxnId="{7E0C65FB-A08D-4515-9979-B07017D8B0D6}">
      <dgm:prSet/>
      <dgm:spPr/>
      <dgm:t>
        <a:bodyPr/>
        <a:lstStyle/>
        <a:p>
          <a:endParaRPr lang="en-PK"/>
        </a:p>
      </dgm:t>
    </dgm:pt>
    <dgm:pt modelId="{B1B018E9-1155-46F0-A487-DF96A569F938}">
      <dgm:prSet phldrT="[Text]" phldr="0"/>
      <dgm:spPr/>
      <dgm:t>
        <a:bodyPr/>
        <a:lstStyle/>
        <a:p>
          <a:r>
            <a:rPr lang="en-US" dirty="0"/>
            <a:t>2</a:t>
          </a:r>
          <a:endParaRPr lang="en-PK" dirty="0"/>
        </a:p>
      </dgm:t>
    </dgm:pt>
    <dgm:pt modelId="{881EBF0C-22A5-481A-824F-D7A2D8A77C90}" type="parTrans" cxnId="{4CAA8C9F-915E-4C42-A6F6-58350F1EE5D1}">
      <dgm:prSet/>
      <dgm:spPr/>
      <dgm:t>
        <a:bodyPr/>
        <a:lstStyle/>
        <a:p>
          <a:endParaRPr lang="en-PK"/>
        </a:p>
      </dgm:t>
    </dgm:pt>
    <dgm:pt modelId="{996EC057-652D-42E9-A250-C60CF1EC37A9}" type="sibTrans" cxnId="{4CAA8C9F-915E-4C42-A6F6-58350F1EE5D1}">
      <dgm:prSet/>
      <dgm:spPr/>
      <dgm:t>
        <a:bodyPr/>
        <a:lstStyle/>
        <a:p>
          <a:endParaRPr lang="en-PK"/>
        </a:p>
      </dgm:t>
    </dgm:pt>
    <dgm:pt modelId="{73557CF7-19C6-47A0-A47D-42937779F36A}">
      <dgm:prSet phldrT="[Text]" phldr="0"/>
      <dgm:spPr/>
      <dgm:t>
        <a:bodyPr/>
        <a:lstStyle/>
        <a:p>
          <a:r>
            <a:rPr lang="en-US" dirty="0"/>
            <a:t>3</a:t>
          </a:r>
          <a:endParaRPr lang="en-PK" dirty="0"/>
        </a:p>
      </dgm:t>
    </dgm:pt>
    <dgm:pt modelId="{849905D5-D594-429A-89F5-5B60F6037BA8}" type="parTrans" cxnId="{0121EA13-B99F-4899-8265-E5B6CD561A96}">
      <dgm:prSet/>
      <dgm:spPr/>
      <dgm:t>
        <a:bodyPr/>
        <a:lstStyle/>
        <a:p>
          <a:endParaRPr lang="en-PK"/>
        </a:p>
      </dgm:t>
    </dgm:pt>
    <dgm:pt modelId="{244C7B18-E802-47F9-B287-9D5ACD239A6F}" type="sibTrans" cxnId="{0121EA13-B99F-4899-8265-E5B6CD561A96}">
      <dgm:prSet/>
      <dgm:spPr/>
      <dgm:t>
        <a:bodyPr/>
        <a:lstStyle/>
        <a:p>
          <a:endParaRPr lang="en-PK"/>
        </a:p>
      </dgm:t>
    </dgm:pt>
    <dgm:pt modelId="{E7ABB5C9-5F5A-4BCE-B0E8-E8D808A151BA}">
      <dgm:prSet phldrT="[Text]" phldr="0"/>
      <dgm:spPr/>
      <dgm:t>
        <a:bodyPr/>
        <a:lstStyle/>
        <a:p>
          <a:r>
            <a:rPr lang="en-US" dirty="0"/>
            <a:t>4</a:t>
          </a:r>
          <a:endParaRPr lang="en-PK" dirty="0"/>
        </a:p>
      </dgm:t>
    </dgm:pt>
    <dgm:pt modelId="{938EA2E6-286D-4E52-BD50-60B8CC89E3A2}" type="parTrans" cxnId="{9BE79ED4-1A3D-4386-BBBE-96052CCE4C8B}">
      <dgm:prSet/>
      <dgm:spPr/>
      <dgm:t>
        <a:bodyPr/>
        <a:lstStyle/>
        <a:p>
          <a:endParaRPr lang="en-PK"/>
        </a:p>
      </dgm:t>
    </dgm:pt>
    <dgm:pt modelId="{98A9D807-E39A-4A6B-BA5B-9E6D4A00C4CB}" type="sibTrans" cxnId="{9BE79ED4-1A3D-4386-BBBE-96052CCE4C8B}">
      <dgm:prSet/>
      <dgm:spPr/>
      <dgm:t>
        <a:bodyPr/>
        <a:lstStyle/>
        <a:p>
          <a:endParaRPr lang="en-PK"/>
        </a:p>
      </dgm:t>
    </dgm:pt>
    <dgm:pt modelId="{1F02CE22-6630-4B9E-A2D0-0076DA2B94B6}">
      <dgm:prSet phldrT="[Text]" phldr="0"/>
      <dgm:spPr/>
      <dgm:t>
        <a:bodyPr/>
        <a:lstStyle/>
        <a:p>
          <a:r>
            <a:rPr lang="en-US" dirty="0"/>
            <a:t>5</a:t>
          </a:r>
          <a:endParaRPr lang="en-PK" dirty="0"/>
        </a:p>
      </dgm:t>
    </dgm:pt>
    <dgm:pt modelId="{958C7D1F-3E81-40F8-AA5C-77D7D6CAA2F9}" type="parTrans" cxnId="{1C540055-7292-43B5-9294-A9FC526AFD0D}">
      <dgm:prSet/>
      <dgm:spPr/>
      <dgm:t>
        <a:bodyPr/>
        <a:lstStyle/>
        <a:p>
          <a:endParaRPr lang="en-PK"/>
        </a:p>
      </dgm:t>
    </dgm:pt>
    <dgm:pt modelId="{18092C51-E328-4A7A-80F2-0E4D156B2535}" type="sibTrans" cxnId="{1C540055-7292-43B5-9294-A9FC526AFD0D}">
      <dgm:prSet/>
      <dgm:spPr/>
      <dgm:t>
        <a:bodyPr/>
        <a:lstStyle/>
        <a:p>
          <a:endParaRPr lang="en-PK"/>
        </a:p>
      </dgm:t>
    </dgm:pt>
    <dgm:pt modelId="{03A24509-45F7-45E5-9FED-6520A8DCC75F}" type="pres">
      <dgm:prSet presAssocID="{3CE6E80F-86EE-4F3F-BAA6-B215FD855D51}" presName="cycle" presStyleCnt="0">
        <dgm:presLayoutVars>
          <dgm:dir/>
          <dgm:resizeHandles val="exact"/>
        </dgm:presLayoutVars>
      </dgm:prSet>
      <dgm:spPr/>
    </dgm:pt>
    <dgm:pt modelId="{0C3FFDD5-691B-4BA5-B8C7-816E7856E375}" type="pres">
      <dgm:prSet presAssocID="{0C98937B-19BE-407C-84A4-89C8D66376D5}" presName="node" presStyleLbl="node1" presStyleIdx="0" presStyleCnt="5">
        <dgm:presLayoutVars>
          <dgm:bulletEnabled val="1"/>
        </dgm:presLayoutVars>
      </dgm:prSet>
      <dgm:spPr/>
    </dgm:pt>
    <dgm:pt modelId="{533F32A5-73F9-410D-AB12-30FCEE3EF88F}" type="pres">
      <dgm:prSet presAssocID="{3BC32278-EB14-43CA-AC63-3F7B890A9D22}" presName="sibTrans" presStyleLbl="sibTrans2D1" presStyleIdx="0" presStyleCnt="5"/>
      <dgm:spPr/>
    </dgm:pt>
    <dgm:pt modelId="{3CCF5AC5-B0D1-4EE0-A3CA-F9BF6E8A4866}" type="pres">
      <dgm:prSet presAssocID="{3BC32278-EB14-43CA-AC63-3F7B890A9D22}" presName="connectorText" presStyleLbl="sibTrans2D1" presStyleIdx="0" presStyleCnt="5"/>
      <dgm:spPr/>
    </dgm:pt>
    <dgm:pt modelId="{AF80A6B2-A444-4037-9516-C5B713B99336}" type="pres">
      <dgm:prSet presAssocID="{B1B018E9-1155-46F0-A487-DF96A569F938}" presName="node" presStyleLbl="node1" presStyleIdx="1" presStyleCnt="5">
        <dgm:presLayoutVars>
          <dgm:bulletEnabled val="1"/>
        </dgm:presLayoutVars>
      </dgm:prSet>
      <dgm:spPr/>
    </dgm:pt>
    <dgm:pt modelId="{E592CC9A-DADA-4AAE-80A4-C84E08EA6577}" type="pres">
      <dgm:prSet presAssocID="{996EC057-652D-42E9-A250-C60CF1EC37A9}" presName="sibTrans" presStyleLbl="sibTrans2D1" presStyleIdx="1" presStyleCnt="5"/>
      <dgm:spPr/>
    </dgm:pt>
    <dgm:pt modelId="{AA549ED3-53BB-4ACD-8C5B-7D90D95FA75C}" type="pres">
      <dgm:prSet presAssocID="{996EC057-652D-42E9-A250-C60CF1EC37A9}" presName="connectorText" presStyleLbl="sibTrans2D1" presStyleIdx="1" presStyleCnt="5"/>
      <dgm:spPr/>
    </dgm:pt>
    <dgm:pt modelId="{1DB232C5-2001-44B1-8701-4F42FE50657F}" type="pres">
      <dgm:prSet presAssocID="{73557CF7-19C6-47A0-A47D-42937779F36A}" presName="node" presStyleLbl="node1" presStyleIdx="2" presStyleCnt="5">
        <dgm:presLayoutVars>
          <dgm:bulletEnabled val="1"/>
        </dgm:presLayoutVars>
      </dgm:prSet>
      <dgm:spPr/>
    </dgm:pt>
    <dgm:pt modelId="{2DDB4BFE-3B9B-4298-B4FA-425917683C88}" type="pres">
      <dgm:prSet presAssocID="{244C7B18-E802-47F9-B287-9D5ACD239A6F}" presName="sibTrans" presStyleLbl="sibTrans2D1" presStyleIdx="2" presStyleCnt="5"/>
      <dgm:spPr/>
    </dgm:pt>
    <dgm:pt modelId="{BD11F2DB-18A3-47E3-8751-E471C89B5EEF}" type="pres">
      <dgm:prSet presAssocID="{244C7B18-E802-47F9-B287-9D5ACD239A6F}" presName="connectorText" presStyleLbl="sibTrans2D1" presStyleIdx="2" presStyleCnt="5"/>
      <dgm:spPr/>
    </dgm:pt>
    <dgm:pt modelId="{64E98467-6F3D-4C24-9C3F-05651DAED5FA}" type="pres">
      <dgm:prSet presAssocID="{E7ABB5C9-5F5A-4BCE-B0E8-E8D808A151BA}" presName="node" presStyleLbl="node1" presStyleIdx="3" presStyleCnt="5">
        <dgm:presLayoutVars>
          <dgm:bulletEnabled val="1"/>
        </dgm:presLayoutVars>
      </dgm:prSet>
      <dgm:spPr/>
    </dgm:pt>
    <dgm:pt modelId="{D17F933C-A250-437A-A226-AC88E34FA6E8}" type="pres">
      <dgm:prSet presAssocID="{98A9D807-E39A-4A6B-BA5B-9E6D4A00C4CB}" presName="sibTrans" presStyleLbl="sibTrans2D1" presStyleIdx="3" presStyleCnt="5"/>
      <dgm:spPr/>
    </dgm:pt>
    <dgm:pt modelId="{4B7938AC-2E6B-407F-9050-C3B08EC29043}" type="pres">
      <dgm:prSet presAssocID="{98A9D807-E39A-4A6B-BA5B-9E6D4A00C4CB}" presName="connectorText" presStyleLbl="sibTrans2D1" presStyleIdx="3" presStyleCnt="5"/>
      <dgm:spPr/>
    </dgm:pt>
    <dgm:pt modelId="{4A82B58B-9515-43AE-AB74-CC037A1E9E6C}" type="pres">
      <dgm:prSet presAssocID="{1F02CE22-6630-4B9E-A2D0-0076DA2B94B6}" presName="node" presStyleLbl="node1" presStyleIdx="4" presStyleCnt="5">
        <dgm:presLayoutVars>
          <dgm:bulletEnabled val="1"/>
        </dgm:presLayoutVars>
      </dgm:prSet>
      <dgm:spPr/>
    </dgm:pt>
    <dgm:pt modelId="{DDF53C86-F556-4647-A8A6-9472A867398F}" type="pres">
      <dgm:prSet presAssocID="{18092C51-E328-4A7A-80F2-0E4D156B2535}" presName="sibTrans" presStyleLbl="sibTrans2D1" presStyleIdx="4" presStyleCnt="5"/>
      <dgm:spPr/>
    </dgm:pt>
    <dgm:pt modelId="{B6132861-4387-4996-A2FB-49D4DFAA4C6B}" type="pres">
      <dgm:prSet presAssocID="{18092C51-E328-4A7A-80F2-0E4D156B2535}" presName="connectorText" presStyleLbl="sibTrans2D1" presStyleIdx="4" presStyleCnt="5"/>
      <dgm:spPr/>
    </dgm:pt>
  </dgm:ptLst>
  <dgm:cxnLst>
    <dgm:cxn modelId="{0121EA13-B99F-4899-8265-E5B6CD561A96}" srcId="{3CE6E80F-86EE-4F3F-BAA6-B215FD855D51}" destId="{73557CF7-19C6-47A0-A47D-42937779F36A}" srcOrd="2" destOrd="0" parTransId="{849905D5-D594-429A-89F5-5B60F6037BA8}" sibTransId="{244C7B18-E802-47F9-B287-9D5ACD239A6F}"/>
    <dgm:cxn modelId="{DE4BCE36-C34A-4746-9D36-EC4257308ECA}" type="presOf" srcId="{B1B018E9-1155-46F0-A487-DF96A569F938}" destId="{AF80A6B2-A444-4037-9516-C5B713B99336}" srcOrd="0" destOrd="0" presId="urn:microsoft.com/office/officeart/2005/8/layout/cycle2"/>
    <dgm:cxn modelId="{21B6A45D-0397-45AD-AD60-EFBE8820493E}" type="presOf" srcId="{18092C51-E328-4A7A-80F2-0E4D156B2535}" destId="{B6132861-4387-4996-A2FB-49D4DFAA4C6B}" srcOrd="1" destOrd="0" presId="urn:microsoft.com/office/officeart/2005/8/layout/cycle2"/>
    <dgm:cxn modelId="{2959215F-FCD0-403C-BB51-3D0411A7DDD1}" type="presOf" srcId="{3BC32278-EB14-43CA-AC63-3F7B890A9D22}" destId="{533F32A5-73F9-410D-AB12-30FCEE3EF88F}" srcOrd="0" destOrd="0" presId="urn:microsoft.com/office/officeart/2005/8/layout/cycle2"/>
    <dgm:cxn modelId="{6D4D2767-E366-4675-8DDC-C94850BD4F13}" type="presOf" srcId="{996EC057-652D-42E9-A250-C60CF1EC37A9}" destId="{AA549ED3-53BB-4ACD-8C5B-7D90D95FA75C}" srcOrd="1" destOrd="0" presId="urn:microsoft.com/office/officeart/2005/8/layout/cycle2"/>
    <dgm:cxn modelId="{2BEE626B-E1F4-4352-A9FB-0885E87D1F34}" type="presOf" srcId="{98A9D807-E39A-4A6B-BA5B-9E6D4A00C4CB}" destId="{D17F933C-A250-437A-A226-AC88E34FA6E8}" srcOrd="0" destOrd="0" presId="urn:microsoft.com/office/officeart/2005/8/layout/cycle2"/>
    <dgm:cxn modelId="{10464752-F4DF-4C1C-8AB9-C13A252E21F6}" type="presOf" srcId="{18092C51-E328-4A7A-80F2-0E4D156B2535}" destId="{DDF53C86-F556-4647-A8A6-9472A867398F}" srcOrd="0" destOrd="0" presId="urn:microsoft.com/office/officeart/2005/8/layout/cycle2"/>
    <dgm:cxn modelId="{1C540055-7292-43B5-9294-A9FC526AFD0D}" srcId="{3CE6E80F-86EE-4F3F-BAA6-B215FD855D51}" destId="{1F02CE22-6630-4B9E-A2D0-0076DA2B94B6}" srcOrd="4" destOrd="0" parTransId="{958C7D1F-3E81-40F8-AA5C-77D7D6CAA2F9}" sibTransId="{18092C51-E328-4A7A-80F2-0E4D156B2535}"/>
    <dgm:cxn modelId="{26A4D884-1953-42B0-A5C4-E77F7101EB6A}" type="presOf" srcId="{73557CF7-19C6-47A0-A47D-42937779F36A}" destId="{1DB232C5-2001-44B1-8701-4F42FE50657F}" srcOrd="0" destOrd="0" presId="urn:microsoft.com/office/officeart/2005/8/layout/cycle2"/>
    <dgm:cxn modelId="{BE040188-77A3-4430-A870-C83542DD4E46}" type="presOf" srcId="{244C7B18-E802-47F9-B287-9D5ACD239A6F}" destId="{BD11F2DB-18A3-47E3-8751-E471C89B5EEF}" srcOrd="1" destOrd="0" presId="urn:microsoft.com/office/officeart/2005/8/layout/cycle2"/>
    <dgm:cxn modelId="{617F8896-3FCC-4634-809F-BE9282553D68}" type="presOf" srcId="{E7ABB5C9-5F5A-4BCE-B0E8-E8D808A151BA}" destId="{64E98467-6F3D-4C24-9C3F-05651DAED5FA}" srcOrd="0" destOrd="0" presId="urn:microsoft.com/office/officeart/2005/8/layout/cycle2"/>
    <dgm:cxn modelId="{4CAA8C9F-915E-4C42-A6F6-58350F1EE5D1}" srcId="{3CE6E80F-86EE-4F3F-BAA6-B215FD855D51}" destId="{B1B018E9-1155-46F0-A487-DF96A569F938}" srcOrd="1" destOrd="0" parTransId="{881EBF0C-22A5-481A-824F-D7A2D8A77C90}" sibTransId="{996EC057-652D-42E9-A250-C60CF1EC37A9}"/>
    <dgm:cxn modelId="{D9C89DA2-8848-4792-8A21-367F0C42CA1F}" type="presOf" srcId="{3CE6E80F-86EE-4F3F-BAA6-B215FD855D51}" destId="{03A24509-45F7-45E5-9FED-6520A8DCC75F}" srcOrd="0" destOrd="0" presId="urn:microsoft.com/office/officeart/2005/8/layout/cycle2"/>
    <dgm:cxn modelId="{6F3115B6-262F-4EE4-81AB-2463E6F97356}" type="presOf" srcId="{244C7B18-E802-47F9-B287-9D5ACD239A6F}" destId="{2DDB4BFE-3B9B-4298-B4FA-425917683C88}" srcOrd="0" destOrd="0" presId="urn:microsoft.com/office/officeart/2005/8/layout/cycle2"/>
    <dgm:cxn modelId="{9F9C7DBF-3205-40EC-B178-E8202FCA973D}" type="presOf" srcId="{3BC32278-EB14-43CA-AC63-3F7B890A9D22}" destId="{3CCF5AC5-B0D1-4EE0-A3CA-F9BF6E8A4866}" srcOrd="1" destOrd="0" presId="urn:microsoft.com/office/officeart/2005/8/layout/cycle2"/>
    <dgm:cxn modelId="{92ED64CE-DACB-44AD-AA28-54C60D998344}" type="presOf" srcId="{996EC057-652D-42E9-A250-C60CF1EC37A9}" destId="{E592CC9A-DADA-4AAE-80A4-C84E08EA6577}" srcOrd="0" destOrd="0" presId="urn:microsoft.com/office/officeart/2005/8/layout/cycle2"/>
    <dgm:cxn modelId="{9BE79ED4-1A3D-4386-BBBE-96052CCE4C8B}" srcId="{3CE6E80F-86EE-4F3F-BAA6-B215FD855D51}" destId="{E7ABB5C9-5F5A-4BCE-B0E8-E8D808A151BA}" srcOrd="3" destOrd="0" parTransId="{938EA2E6-286D-4E52-BD50-60B8CC89E3A2}" sibTransId="{98A9D807-E39A-4A6B-BA5B-9E6D4A00C4CB}"/>
    <dgm:cxn modelId="{BE8E25E8-54D7-47DF-AB6E-E50E76739624}" type="presOf" srcId="{0C98937B-19BE-407C-84A4-89C8D66376D5}" destId="{0C3FFDD5-691B-4BA5-B8C7-816E7856E375}" srcOrd="0" destOrd="0" presId="urn:microsoft.com/office/officeart/2005/8/layout/cycle2"/>
    <dgm:cxn modelId="{1C37ECEA-254D-47D9-A1C7-5A143A982CCC}" type="presOf" srcId="{1F02CE22-6630-4B9E-A2D0-0076DA2B94B6}" destId="{4A82B58B-9515-43AE-AB74-CC037A1E9E6C}" srcOrd="0" destOrd="0" presId="urn:microsoft.com/office/officeart/2005/8/layout/cycle2"/>
    <dgm:cxn modelId="{357769F1-65BE-478C-8416-626E3313CE52}" type="presOf" srcId="{98A9D807-E39A-4A6B-BA5B-9E6D4A00C4CB}" destId="{4B7938AC-2E6B-407F-9050-C3B08EC29043}" srcOrd="1" destOrd="0" presId="urn:microsoft.com/office/officeart/2005/8/layout/cycle2"/>
    <dgm:cxn modelId="{7E0C65FB-A08D-4515-9979-B07017D8B0D6}" srcId="{3CE6E80F-86EE-4F3F-BAA6-B215FD855D51}" destId="{0C98937B-19BE-407C-84A4-89C8D66376D5}" srcOrd="0" destOrd="0" parTransId="{1D9A02D5-0F9D-4310-82E8-8A8C4F4DB6B0}" sibTransId="{3BC32278-EB14-43CA-AC63-3F7B890A9D22}"/>
    <dgm:cxn modelId="{9BC29A4C-E504-4770-B79F-BDB423472FD1}" type="presParOf" srcId="{03A24509-45F7-45E5-9FED-6520A8DCC75F}" destId="{0C3FFDD5-691B-4BA5-B8C7-816E7856E375}" srcOrd="0" destOrd="0" presId="urn:microsoft.com/office/officeart/2005/8/layout/cycle2"/>
    <dgm:cxn modelId="{B849EE76-EA95-4DD6-888B-E3426032B499}" type="presParOf" srcId="{03A24509-45F7-45E5-9FED-6520A8DCC75F}" destId="{533F32A5-73F9-410D-AB12-30FCEE3EF88F}" srcOrd="1" destOrd="0" presId="urn:microsoft.com/office/officeart/2005/8/layout/cycle2"/>
    <dgm:cxn modelId="{6CB24241-0AC4-4EEA-B1D6-00DB6CF51024}" type="presParOf" srcId="{533F32A5-73F9-410D-AB12-30FCEE3EF88F}" destId="{3CCF5AC5-B0D1-4EE0-A3CA-F9BF6E8A4866}" srcOrd="0" destOrd="0" presId="urn:microsoft.com/office/officeart/2005/8/layout/cycle2"/>
    <dgm:cxn modelId="{9C2205D3-4A91-40D3-A81B-43FF085DA10A}" type="presParOf" srcId="{03A24509-45F7-45E5-9FED-6520A8DCC75F}" destId="{AF80A6B2-A444-4037-9516-C5B713B99336}" srcOrd="2" destOrd="0" presId="urn:microsoft.com/office/officeart/2005/8/layout/cycle2"/>
    <dgm:cxn modelId="{E70E083B-540A-4B1B-8761-C6CB15AD673A}" type="presParOf" srcId="{03A24509-45F7-45E5-9FED-6520A8DCC75F}" destId="{E592CC9A-DADA-4AAE-80A4-C84E08EA6577}" srcOrd="3" destOrd="0" presId="urn:microsoft.com/office/officeart/2005/8/layout/cycle2"/>
    <dgm:cxn modelId="{0345B6AB-A8C4-4B29-BE16-79DBA105C28F}" type="presParOf" srcId="{E592CC9A-DADA-4AAE-80A4-C84E08EA6577}" destId="{AA549ED3-53BB-4ACD-8C5B-7D90D95FA75C}" srcOrd="0" destOrd="0" presId="urn:microsoft.com/office/officeart/2005/8/layout/cycle2"/>
    <dgm:cxn modelId="{73DC3F39-8C2E-4642-A8C9-B267BE52D5EE}" type="presParOf" srcId="{03A24509-45F7-45E5-9FED-6520A8DCC75F}" destId="{1DB232C5-2001-44B1-8701-4F42FE50657F}" srcOrd="4" destOrd="0" presId="urn:microsoft.com/office/officeart/2005/8/layout/cycle2"/>
    <dgm:cxn modelId="{FD344C5E-CB1C-49BF-84F9-9F780A8FE008}" type="presParOf" srcId="{03A24509-45F7-45E5-9FED-6520A8DCC75F}" destId="{2DDB4BFE-3B9B-4298-B4FA-425917683C88}" srcOrd="5" destOrd="0" presId="urn:microsoft.com/office/officeart/2005/8/layout/cycle2"/>
    <dgm:cxn modelId="{3E7263D6-D4C3-4371-A2A2-59A111149780}" type="presParOf" srcId="{2DDB4BFE-3B9B-4298-B4FA-425917683C88}" destId="{BD11F2DB-18A3-47E3-8751-E471C89B5EEF}" srcOrd="0" destOrd="0" presId="urn:microsoft.com/office/officeart/2005/8/layout/cycle2"/>
    <dgm:cxn modelId="{07FBCD32-CF23-480A-BE91-573314575684}" type="presParOf" srcId="{03A24509-45F7-45E5-9FED-6520A8DCC75F}" destId="{64E98467-6F3D-4C24-9C3F-05651DAED5FA}" srcOrd="6" destOrd="0" presId="urn:microsoft.com/office/officeart/2005/8/layout/cycle2"/>
    <dgm:cxn modelId="{D49AD2D6-88D6-44AC-9C42-0EDF26FB3A6C}" type="presParOf" srcId="{03A24509-45F7-45E5-9FED-6520A8DCC75F}" destId="{D17F933C-A250-437A-A226-AC88E34FA6E8}" srcOrd="7" destOrd="0" presId="urn:microsoft.com/office/officeart/2005/8/layout/cycle2"/>
    <dgm:cxn modelId="{2E15C005-611C-40E3-9CC1-6F7D8B4FD880}" type="presParOf" srcId="{D17F933C-A250-437A-A226-AC88E34FA6E8}" destId="{4B7938AC-2E6B-407F-9050-C3B08EC29043}" srcOrd="0" destOrd="0" presId="urn:microsoft.com/office/officeart/2005/8/layout/cycle2"/>
    <dgm:cxn modelId="{D53777AA-D67A-4083-A76C-CFD520DCEE82}" type="presParOf" srcId="{03A24509-45F7-45E5-9FED-6520A8DCC75F}" destId="{4A82B58B-9515-43AE-AB74-CC037A1E9E6C}" srcOrd="8" destOrd="0" presId="urn:microsoft.com/office/officeart/2005/8/layout/cycle2"/>
    <dgm:cxn modelId="{2F53897F-1EC8-47DA-AA59-743ABF5BA54F}" type="presParOf" srcId="{03A24509-45F7-45E5-9FED-6520A8DCC75F}" destId="{DDF53C86-F556-4647-A8A6-9472A867398F}" srcOrd="9" destOrd="0" presId="urn:microsoft.com/office/officeart/2005/8/layout/cycle2"/>
    <dgm:cxn modelId="{05A7225C-B208-43B9-8107-B44EE1B8F396}" type="presParOf" srcId="{DDF53C86-F556-4647-A8A6-9472A867398F}" destId="{B6132861-4387-4996-A2FB-49D4DFAA4C6B}" srcOrd="0" destOrd="0" presId="urn:microsoft.com/office/officeart/2005/8/layout/cycle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3FFDD5-691B-4BA5-B8C7-816E7856E375}">
      <dsp:nvSpPr>
        <dsp:cNvPr id="0" name=""/>
        <dsp:cNvSpPr/>
      </dsp:nvSpPr>
      <dsp:spPr>
        <a:xfrm>
          <a:off x="1204657" y="259"/>
          <a:ext cx="725549" cy="725549"/>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en-US" sz="3100" kern="1200" dirty="0"/>
            <a:t>1</a:t>
          </a:r>
          <a:endParaRPr lang="en-PK" sz="3100" kern="1200" dirty="0"/>
        </a:p>
      </dsp:txBody>
      <dsp:txXfrm>
        <a:off x="1310911" y="106513"/>
        <a:ext cx="513041" cy="513041"/>
      </dsp:txXfrm>
    </dsp:sp>
    <dsp:sp modelId="{533F32A5-73F9-410D-AB12-30FCEE3EF88F}">
      <dsp:nvSpPr>
        <dsp:cNvPr id="0" name=""/>
        <dsp:cNvSpPr/>
      </dsp:nvSpPr>
      <dsp:spPr>
        <a:xfrm rot="2160000">
          <a:off x="1907162" y="557321"/>
          <a:ext cx="192403" cy="24487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PK" sz="1000" kern="1200"/>
        </a:p>
      </dsp:txBody>
      <dsp:txXfrm>
        <a:off x="1912674" y="589331"/>
        <a:ext cx="134682" cy="146924"/>
      </dsp:txXfrm>
    </dsp:sp>
    <dsp:sp modelId="{AF80A6B2-A444-4037-9516-C5B713B99336}">
      <dsp:nvSpPr>
        <dsp:cNvPr id="0" name=""/>
        <dsp:cNvSpPr/>
      </dsp:nvSpPr>
      <dsp:spPr>
        <a:xfrm>
          <a:off x="2085332" y="640107"/>
          <a:ext cx="725549" cy="725549"/>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en-US" sz="3100" kern="1200" dirty="0"/>
            <a:t>2</a:t>
          </a:r>
          <a:endParaRPr lang="en-PK" sz="3100" kern="1200" dirty="0"/>
        </a:p>
      </dsp:txBody>
      <dsp:txXfrm>
        <a:off x="2191586" y="746361"/>
        <a:ext cx="513041" cy="513041"/>
      </dsp:txXfrm>
    </dsp:sp>
    <dsp:sp modelId="{E592CC9A-DADA-4AAE-80A4-C84E08EA6577}">
      <dsp:nvSpPr>
        <dsp:cNvPr id="0" name=""/>
        <dsp:cNvSpPr/>
      </dsp:nvSpPr>
      <dsp:spPr>
        <a:xfrm rot="6480000">
          <a:off x="2185394" y="1392915"/>
          <a:ext cx="192403" cy="24487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PK" sz="1000" kern="1200"/>
        </a:p>
      </dsp:txBody>
      <dsp:txXfrm rot="10800000">
        <a:off x="2223173" y="1414441"/>
        <a:ext cx="134682" cy="146924"/>
      </dsp:txXfrm>
    </dsp:sp>
    <dsp:sp modelId="{1DB232C5-2001-44B1-8701-4F42FE50657F}">
      <dsp:nvSpPr>
        <dsp:cNvPr id="0" name=""/>
        <dsp:cNvSpPr/>
      </dsp:nvSpPr>
      <dsp:spPr>
        <a:xfrm>
          <a:off x="1748944" y="1675404"/>
          <a:ext cx="725549" cy="725549"/>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en-US" sz="3100" kern="1200" dirty="0"/>
            <a:t>3</a:t>
          </a:r>
          <a:endParaRPr lang="en-PK" sz="3100" kern="1200" dirty="0"/>
        </a:p>
      </dsp:txBody>
      <dsp:txXfrm>
        <a:off x="1855198" y="1781658"/>
        <a:ext cx="513041" cy="513041"/>
      </dsp:txXfrm>
    </dsp:sp>
    <dsp:sp modelId="{2DDB4BFE-3B9B-4298-B4FA-425917683C88}">
      <dsp:nvSpPr>
        <dsp:cNvPr id="0" name=""/>
        <dsp:cNvSpPr/>
      </dsp:nvSpPr>
      <dsp:spPr>
        <a:xfrm rot="10800000">
          <a:off x="1476675" y="1915742"/>
          <a:ext cx="192403" cy="24487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PK" sz="1000" kern="1200"/>
        </a:p>
      </dsp:txBody>
      <dsp:txXfrm rot="10800000">
        <a:off x="1534396" y="1964716"/>
        <a:ext cx="134682" cy="146924"/>
      </dsp:txXfrm>
    </dsp:sp>
    <dsp:sp modelId="{64E98467-6F3D-4C24-9C3F-05651DAED5FA}">
      <dsp:nvSpPr>
        <dsp:cNvPr id="0" name=""/>
        <dsp:cNvSpPr/>
      </dsp:nvSpPr>
      <dsp:spPr>
        <a:xfrm>
          <a:off x="660369" y="1675404"/>
          <a:ext cx="725549" cy="725549"/>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en-US" sz="3100" kern="1200" dirty="0"/>
            <a:t>4</a:t>
          </a:r>
          <a:endParaRPr lang="en-PK" sz="3100" kern="1200" dirty="0"/>
        </a:p>
      </dsp:txBody>
      <dsp:txXfrm>
        <a:off x="766623" y="1781658"/>
        <a:ext cx="513041" cy="513041"/>
      </dsp:txXfrm>
    </dsp:sp>
    <dsp:sp modelId="{D17F933C-A250-437A-A226-AC88E34FA6E8}">
      <dsp:nvSpPr>
        <dsp:cNvPr id="0" name=""/>
        <dsp:cNvSpPr/>
      </dsp:nvSpPr>
      <dsp:spPr>
        <a:xfrm rot="15120000">
          <a:off x="760431" y="1403273"/>
          <a:ext cx="192403" cy="24487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PK" sz="1000" kern="1200"/>
        </a:p>
      </dsp:txBody>
      <dsp:txXfrm rot="10800000">
        <a:off x="798210" y="1479695"/>
        <a:ext cx="134682" cy="146924"/>
      </dsp:txXfrm>
    </dsp:sp>
    <dsp:sp modelId="{4A82B58B-9515-43AE-AB74-CC037A1E9E6C}">
      <dsp:nvSpPr>
        <dsp:cNvPr id="0" name=""/>
        <dsp:cNvSpPr/>
      </dsp:nvSpPr>
      <dsp:spPr>
        <a:xfrm>
          <a:off x="323981" y="640107"/>
          <a:ext cx="725549" cy="725549"/>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en-US" sz="3100" kern="1200" dirty="0"/>
            <a:t>5</a:t>
          </a:r>
          <a:endParaRPr lang="en-PK" sz="3100" kern="1200" dirty="0"/>
        </a:p>
      </dsp:txBody>
      <dsp:txXfrm>
        <a:off x="430235" y="746361"/>
        <a:ext cx="513041" cy="513041"/>
      </dsp:txXfrm>
    </dsp:sp>
    <dsp:sp modelId="{DDF53C86-F556-4647-A8A6-9472A867398F}">
      <dsp:nvSpPr>
        <dsp:cNvPr id="0" name=""/>
        <dsp:cNvSpPr/>
      </dsp:nvSpPr>
      <dsp:spPr>
        <a:xfrm rot="19440000">
          <a:off x="1026486" y="563722"/>
          <a:ext cx="192403" cy="244872"/>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PK" sz="1000" kern="1200"/>
        </a:p>
      </dsp:txBody>
      <dsp:txXfrm>
        <a:off x="1031998" y="629660"/>
        <a:ext cx="134682" cy="146924"/>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807921-88D9-0963-A3CF-C39DB61750E7}"/>
              </a:ext>
            </a:extLst>
          </p:cNvPr>
          <p:cNvSpPr>
            <a:spLocks noGrp="1"/>
          </p:cNvSpPr>
          <p:nvPr>
            <p:ph type="hdr" sz="quarter"/>
          </p:nvPr>
        </p:nvSpPr>
        <p:spPr>
          <a:xfrm>
            <a:off x="0" y="0"/>
            <a:ext cx="4632325" cy="379413"/>
          </a:xfrm>
          <a:prstGeom prst="rect">
            <a:avLst/>
          </a:prstGeom>
        </p:spPr>
        <p:txBody>
          <a:bodyPr vert="horz" lIns="91440" tIns="45720" rIns="91440" bIns="45720" rtlCol="0"/>
          <a:lstStyle>
            <a:lvl1pPr algn="l">
              <a:defRPr sz="1200"/>
            </a:lvl1pPr>
          </a:lstStyle>
          <a:p>
            <a:endParaRPr lang="en-PK"/>
          </a:p>
        </p:txBody>
      </p:sp>
      <p:sp>
        <p:nvSpPr>
          <p:cNvPr id="3" name="Date Placeholder 2">
            <a:extLst>
              <a:ext uri="{FF2B5EF4-FFF2-40B4-BE49-F238E27FC236}">
                <a16:creationId xmlns:a16="http://schemas.microsoft.com/office/drawing/2014/main" id="{362AA6C1-9A64-1D92-F866-9896A006A68F}"/>
              </a:ext>
            </a:extLst>
          </p:cNvPr>
          <p:cNvSpPr>
            <a:spLocks noGrp="1"/>
          </p:cNvSpPr>
          <p:nvPr>
            <p:ph type="dt" sz="quarter" idx="1"/>
          </p:nvPr>
        </p:nvSpPr>
        <p:spPr>
          <a:xfrm>
            <a:off x="6054725" y="0"/>
            <a:ext cx="4630738" cy="379413"/>
          </a:xfrm>
          <a:prstGeom prst="rect">
            <a:avLst/>
          </a:prstGeom>
        </p:spPr>
        <p:txBody>
          <a:bodyPr vert="horz" lIns="91440" tIns="45720" rIns="91440" bIns="45720" rtlCol="0"/>
          <a:lstStyle>
            <a:lvl1pPr algn="r">
              <a:defRPr sz="1200"/>
            </a:lvl1pPr>
          </a:lstStyle>
          <a:p>
            <a:fld id="{1D3E9117-7DE6-4EC1-ADF4-EF5657C03702}" type="datetimeFigureOut">
              <a:rPr lang="en-PK" smtClean="0"/>
              <a:t>17/05/2026</a:t>
            </a:fld>
            <a:endParaRPr lang="en-PK"/>
          </a:p>
        </p:txBody>
      </p:sp>
      <p:sp>
        <p:nvSpPr>
          <p:cNvPr id="4" name="Footer Placeholder 3">
            <a:extLst>
              <a:ext uri="{FF2B5EF4-FFF2-40B4-BE49-F238E27FC236}">
                <a16:creationId xmlns:a16="http://schemas.microsoft.com/office/drawing/2014/main" id="{47EB5741-250E-F775-EF47-EE7838A3F10E}"/>
              </a:ext>
            </a:extLst>
          </p:cNvPr>
          <p:cNvSpPr>
            <a:spLocks noGrp="1"/>
          </p:cNvSpPr>
          <p:nvPr>
            <p:ph type="ftr" sz="quarter" idx="2"/>
          </p:nvPr>
        </p:nvSpPr>
        <p:spPr>
          <a:xfrm>
            <a:off x="0" y="7183438"/>
            <a:ext cx="4632325" cy="379412"/>
          </a:xfrm>
          <a:prstGeom prst="rect">
            <a:avLst/>
          </a:prstGeom>
        </p:spPr>
        <p:txBody>
          <a:bodyPr vert="horz" lIns="91440" tIns="45720" rIns="91440" bIns="45720" rtlCol="0" anchor="b"/>
          <a:lstStyle>
            <a:lvl1pPr algn="l">
              <a:defRPr sz="1200"/>
            </a:lvl1pPr>
          </a:lstStyle>
          <a:p>
            <a:endParaRPr lang="en-PK"/>
          </a:p>
        </p:txBody>
      </p:sp>
      <p:sp>
        <p:nvSpPr>
          <p:cNvPr id="5" name="Slide Number Placeholder 4">
            <a:extLst>
              <a:ext uri="{FF2B5EF4-FFF2-40B4-BE49-F238E27FC236}">
                <a16:creationId xmlns:a16="http://schemas.microsoft.com/office/drawing/2014/main" id="{74F4E86A-6FE0-76B2-4583-06D048371681}"/>
              </a:ext>
            </a:extLst>
          </p:cNvPr>
          <p:cNvSpPr>
            <a:spLocks noGrp="1"/>
          </p:cNvSpPr>
          <p:nvPr>
            <p:ph type="sldNum" sz="quarter" idx="3"/>
          </p:nvPr>
        </p:nvSpPr>
        <p:spPr>
          <a:xfrm>
            <a:off x="6054725" y="7183438"/>
            <a:ext cx="4630738" cy="379412"/>
          </a:xfrm>
          <a:prstGeom prst="rect">
            <a:avLst/>
          </a:prstGeom>
        </p:spPr>
        <p:txBody>
          <a:bodyPr vert="horz" lIns="91440" tIns="45720" rIns="91440" bIns="45720" rtlCol="0" anchor="b"/>
          <a:lstStyle>
            <a:lvl1pPr algn="r">
              <a:defRPr sz="1200"/>
            </a:lvl1pPr>
          </a:lstStyle>
          <a:p>
            <a:fld id="{71C55CD1-14E7-43E1-A628-3D5E7737AC50}" type="slidenum">
              <a:rPr lang="en-PK" smtClean="0"/>
              <a:t>‹#›</a:t>
            </a:fld>
            <a:endParaRPr lang="en-PK"/>
          </a:p>
        </p:txBody>
      </p:sp>
    </p:spTree>
    <p:extLst>
      <p:ext uri="{BB962C8B-B14F-4D97-AF65-F5344CB8AC3E}">
        <p14:creationId xmlns:p14="http://schemas.microsoft.com/office/powerpoint/2010/main" val="291749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1015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93E79-7F22-F0F6-3343-F3C1C70D6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4F2B12-3435-DD97-A4AF-9739A21500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10A5A0-9F10-237C-316E-3AA46AF70C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584F8F-51A8-529C-59CF-24B10906A0A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6556007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3D565-23A9-7EF4-52EA-D2A7E2C1F9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88FAEC-0D24-2736-EE9A-32D9F641C7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39D8D6-199A-1EDD-7D5B-CAAD9D09D0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8C1617-A407-3642-CBF2-DE0B1075C57D}"/>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612396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F3053-C013-E1CE-CA31-C2404FAA3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F069B7-2644-EFC1-0AAB-15BFD34273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B5D4DD-075B-DA3B-52ED-4348B3578C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A674A5-88B5-F790-AED7-07145DB6FC7E}"/>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598003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7A6FE-D3A3-18AE-C63C-390AB2798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4224AA-6D8F-6771-D54D-79AD4B88D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FAE29A-654A-BD3F-90D9-360074FAB8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2C293E-7BAD-C745-B235-023AD62BC588}"/>
              </a:ext>
            </a:extLst>
          </p:cNvPr>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546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242BB-DAC3-E63E-BAF5-1E6D2EC6C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66562-BF8B-FFAD-120F-ADD6E855AC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88A53-BBB1-7874-CAF9-008A62AB67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49FA0D-78DA-E022-B58E-16A94E2A9AF6}"/>
              </a:ext>
            </a:extLst>
          </p:cNvPr>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316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7214" y="1749275"/>
            <a:ext cx="6428423" cy="3721230"/>
          </a:xfrm>
        </p:spPr>
        <p:txBody>
          <a:bodyPr anchor="b"/>
          <a:lstStyle>
            <a:lvl1pPr algn="ctr">
              <a:defRPr sz="4963"/>
            </a:lvl1pPr>
          </a:lstStyle>
          <a:p>
            <a:r>
              <a:rPr lang="en-US"/>
              <a:t>Click to edit Master title style</a:t>
            </a:r>
            <a:endParaRPr lang="en-US" dirty="0"/>
          </a:p>
        </p:txBody>
      </p:sp>
      <p:sp>
        <p:nvSpPr>
          <p:cNvPr id="3" name="Subtitle 2"/>
          <p:cNvSpPr>
            <a:spLocks noGrp="1"/>
          </p:cNvSpPr>
          <p:nvPr>
            <p:ph type="subTitle" idx="1"/>
          </p:nvPr>
        </p:nvSpPr>
        <p:spPr>
          <a:xfrm>
            <a:off x="945356" y="5614010"/>
            <a:ext cx="5672138" cy="2580613"/>
          </a:xfrm>
        </p:spPr>
        <p:txBody>
          <a:bodyPr/>
          <a:lstStyle>
            <a:lvl1pPr marL="0" indent="0" algn="ctr">
              <a:buNone/>
              <a:defRPr sz="1985"/>
            </a:lvl1pPr>
            <a:lvl2pPr marL="378150" indent="0" algn="ctr">
              <a:buNone/>
              <a:defRPr sz="1654"/>
            </a:lvl2pPr>
            <a:lvl3pPr marL="756300" indent="0" algn="ctr">
              <a:buNone/>
              <a:defRPr sz="1489"/>
            </a:lvl3pPr>
            <a:lvl4pPr marL="1134450" indent="0" algn="ctr">
              <a:buNone/>
              <a:defRPr sz="1323"/>
            </a:lvl4pPr>
            <a:lvl5pPr marL="1512600" indent="0" algn="ctr">
              <a:buNone/>
              <a:defRPr sz="1323"/>
            </a:lvl5pPr>
            <a:lvl6pPr marL="1890751" indent="0" algn="ctr">
              <a:buNone/>
              <a:defRPr sz="1323"/>
            </a:lvl6pPr>
            <a:lvl7pPr marL="2268901" indent="0" algn="ctr">
              <a:buNone/>
              <a:defRPr sz="1323"/>
            </a:lvl7pPr>
            <a:lvl8pPr marL="2647051" indent="0" algn="ctr">
              <a:buNone/>
              <a:defRPr sz="1323"/>
            </a:lvl8pPr>
            <a:lvl9pPr marL="3025201"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84272555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9641867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6007" y="2664740"/>
            <a:ext cx="6522958" cy="4446176"/>
          </a:xfrm>
        </p:spPr>
        <p:txBody>
          <a:bodyPr anchor="b"/>
          <a:lstStyle>
            <a:lvl1pPr>
              <a:defRPr sz="4963"/>
            </a:lvl1pPr>
          </a:lstStyle>
          <a:p>
            <a:r>
              <a:rPr lang="en-US"/>
              <a:t>Click to edit Master title style</a:t>
            </a:r>
            <a:endParaRPr lang="en-US" dirty="0"/>
          </a:p>
        </p:txBody>
      </p:sp>
      <p:sp>
        <p:nvSpPr>
          <p:cNvPr id="3" name="Text Placeholder 2"/>
          <p:cNvSpPr>
            <a:spLocks noGrp="1"/>
          </p:cNvSpPr>
          <p:nvPr>
            <p:ph type="body" idx="1"/>
          </p:nvPr>
        </p:nvSpPr>
        <p:spPr>
          <a:xfrm>
            <a:off x="516007" y="7152978"/>
            <a:ext cx="6522958" cy="2338139"/>
          </a:xfrm>
        </p:spPr>
        <p:txBody>
          <a:bodyPr/>
          <a:lstStyle>
            <a:lvl1pPr marL="0" indent="0">
              <a:buNone/>
              <a:defRPr sz="1985">
                <a:solidFill>
                  <a:schemeClr val="tx1"/>
                </a:solidFill>
              </a:defRPr>
            </a:lvl1pPr>
            <a:lvl2pPr marL="378150" indent="0">
              <a:buNone/>
              <a:defRPr sz="1654">
                <a:solidFill>
                  <a:schemeClr val="tx1">
                    <a:tint val="75000"/>
                  </a:schemeClr>
                </a:solidFill>
              </a:defRPr>
            </a:lvl2pPr>
            <a:lvl3pPr marL="756300" indent="0">
              <a:buNone/>
              <a:defRPr sz="1489">
                <a:solidFill>
                  <a:schemeClr val="tx1">
                    <a:tint val="75000"/>
                  </a:schemeClr>
                </a:solidFill>
              </a:defRPr>
            </a:lvl3pPr>
            <a:lvl4pPr marL="1134450" indent="0">
              <a:buNone/>
              <a:defRPr sz="1323">
                <a:solidFill>
                  <a:schemeClr val="tx1">
                    <a:tint val="75000"/>
                  </a:schemeClr>
                </a:solidFill>
              </a:defRPr>
            </a:lvl4pPr>
            <a:lvl5pPr marL="1512600" indent="0">
              <a:buNone/>
              <a:defRPr sz="1323">
                <a:solidFill>
                  <a:schemeClr val="tx1">
                    <a:tint val="75000"/>
                  </a:schemeClr>
                </a:solidFill>
              </a:defRPr>
            </a:lvl5pPr>
            <a:lvl6pPr marL="1890751" indent="0">
              <a:buNone/>
              <a:defRPr sz="1323">
                <a:solidFill>
                  <a:schemeClr val="tx1">
                    <a:tint val="75000"/>
                  </a:schemeClr>
                </a:solidFill>
              </a:defRPr>
            </a:lvl6pPr>
            <a:lvl7pPr marL="2268901" indent="0">
              <a:buNone/>
              <a:defRPr sz="1323">
                <a:solidFill>
                  <a:schemeClr val="tx1">
                    <a:tint val="75000"/>
                  </a:schemeClr>
                </a:solidFill>
              </a:defRPr>
            </a:lvl7pPr>
            <a:lvl8pPr marL="2647051" indent="0">
              <a:buNone/>
              <a:defRPr sz="1323">
                <a:solidFill>
                  <a:schemeClr val="tx1">
                    <a:tint val="75000"/>
                  </a:schemeClr>
                </a:solidFill>
              </a:defRPr>
            </a:lvl8pPr>
            <a:lvl9pPr marL="3025201" indent="0">
              <a:buNone/>
              <a:defRPr sz="132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2964257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946" y="2845355"/>
            <a:ext cx="3214211" cy="6781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8693" y="2845355"/>
            <a:ext cx="3214211" cy="6781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5/17/2026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0364382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931" y="569073"/>
            <a:ext cx="6522958" cy="20659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932" y="2620202"/>
            <a:ext cx="3199440" cy="1284120"/>
          </a:xfrm>
        </p:spPr>
        <p:txBody>
          <a:bodyPr anchor="b"/>
          <a:lstStyle>
            <a:lvl1pPr marL="0" indent="0">
              <a:buNone/>
              <a:defRPr sz="1985" b="1"/>
            </a:lvl1pPr>
            <a:lvl2pPr marL="378150" indent="0">
              <a:buNone/>
              <a:defRPr sz="1654" b="1"/>
            </a:lvl2pPr>
            <a:lvl3pPr marL="756300" indent="0">
              <a:buNone/>
              <a:defRPr sz="1489" b="1"/>
            </a:lvl3pPr>
            <a:lvl4pPr marL="1134450" indent="0">
              <a:buNone/>
              <a:defRPr sz="1323" b="1"/>
            </a:lvl4pPr>
            <a:lvl5pPr marL="1512600" indent="0">
              <a:buNone/>
              <a:defRPr sz="1323" b="1"/>
            </a:lvl5pPr>
            <a:lvl6pPr marL="1890751" indent="0">
              <a:buNone/>
              <a:defRPr sz="1323" b="1"/>
            </a:lvl6pPr>
            <a:lvl7pPr marL="2268901" indent="0">
              <a:buNone/>
              <a:defRPr sz="1323" b="1"/>
            </a:lvl7pPr>
            <a:lvl8pPr marL="2647051" indent="0">
              <a:buNone/>
              <a:defRPr sz="1323" b="1"/>
            </a:lvl8pPr>
            <a:lvl9pPr marL="3025201" indent="0">
              <a:buNone/>
              <a:defRPr sz="1323" b="1"/>
            </a:lvl9pPr>
          </a:lstStyle>
          <a:p>
            <a:pPr lvl="0"/>
            <a:r>
              <a:rPr lang="en-US"/>
              <a:t>Click to edit Master text styles</a:t>
            </a:r>
          </a:p>
        </p:txBody>
      </p:sp>
      <p:sp>
        <p:nvSpPr>
          <p:cNvPr id="4" name="Content Placeholder 3"/>
          <p:cNvSpPr>
            <a:spLocks noGrp="1"/>
          </p:cNvSpPr>
          <p:nvPr>
            <p:ph sz="half" idx="2"/>
          </p:nvPr>
        </p:nvSpPr>
        <p:spPr>
          <a:xfrm>
            <a:off x="520932" y="3904322"/>
            <a:ext cx="3199440" cy="57426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8693" y="2620202"/>
            <a:ext cx="3215196" cy="1284120"/>
          </a:xfrm>
        </p:spPr>
        <p:txBody>
          <a:bodyPr anchor="b"/>
          <a:lstStyle>
            <a:lvl1pPr marL="0" indent="0">
              <a:buNone/>
              <a:defRPr sz="1985" b="1"/>
            </a:lvl1pPr>
            <a:lvl2pPr marL="378150" indent="0">
              <a:buNone/>
              <a:defRPr sz="1654" b="1"/>
            </a:lvl2pPr>
            <a:lvl3pPr marL="756300" indent="0">
              <a:buNone/>
              <a:defRPr sz="1489" b="1"/>
            </a:lvl3pPr>
            <a:lvl4pPr marL="1134450" indent="0">
              <a:buNone/>
              <a:defRPr sz="1323" b="1"/>
            </a:lvl4pPr>
            <a:lvl5pPr marL="1512600" indent="0">
              <a:buNone/>
              <a:defRPr sz="1323" b="1"/>
            </a:lvl5pPr>
            <a:lvl6pPr marL="1890751" indent="0">
              <a:buNone/>
              <a:defRPr sz="1323" b="1"/>
            </a:lvl6pPr>
            <a:lvl7pPr marL="2268901" indent="0">
              <a:buNone/>
              <a:defRPr sz="1323" b="1"/>
            </a:lvl7pPr>
            <a:lvl8pPr marL="2647051" indent="0">
              <a:buNone/>
              <a:defRPr sz="1323" b="1"/>
            </a:lvl8pPr>
            <a:lvl9pPr marL="3025201"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8693" y="3904322"/>
            <a:ext cx="3215196" cy="57426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5/17/2026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8240551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5/17/2026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3406361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5/17/2026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6342118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931" y="712576"/>
            <a:ext cx="2439216" cy="2494016"/>
          </a:xfrm>
        </p:spPr>
        <p:txBody>
          <a:bodyPr anchor="b"/>
          <a:lstStyle>
            <a:lvl1pPr>
              <a:defRPr sz="2647"/>
            </a:lvl1pPr>
          </a:lstStyle>
          <a:p>
            <a:r>
              <a:rPr lang="en-US"/>
              <a:t>Click to edit Master title style</a:t>
            </a:r>
            <a:endParaRPr lang="en-US" dirty="0"/>
          </a:p>
        </p:txBody>
      </p:sp>
      <p:sp>
        <p:nvSpPr>
          <p:cNvPr id="3" name="Content Placeholder 2"/>
          <p:cNvSpPr>
            <a:spLocks noGrp="1"/>
          </p:cNvSpPr>
          <p:nvPr>
            <p:ph idx="1"/>
          </p:nvPr>
        </p:nvSpPr>
        <p:spPr>
          <a:xfrm>
            <a:off x="3215196" y="1538968"/>
            <a:ext cx="3828693" cy="7595861"/>
          </a:xfrm>
        </p:spPr>
        <p:txBody>
          <a:bodyPr/>
          <a:lstStyle>
            <a:lvl1pPr>
              <a:defRPr sz="2647"/>
            </a:lvl1pPr>
            <a:lvl2pPr>
              <a:defRPr sz="2316"/>
            </a:lvl2pPr>
            <a:lvl3pPr>
              <a:defRPr sz="1985"/>
            </a:lvl3pPr>
            <a:lvl4pPr>
              <a:defRPr sz="1654"/>
            </a:lvl4pPr>
            <a:lvl5pPr>
              <a:defRPr sz="1654"/>
            </a:lvl5pPr>
            <a:lvl6pPr>
              <a:defRPr sz="1654"/>
            </a:lvl6pPr>
            <a:lvl7pPr>
              <a:defRPr sz="1654"/>
            </a:lvl7pPr>
            <a:lvl8pPr>
              <a:defRPr sz="1654"/>
            </a:lvl8pPr>
            <a:lvl9pPr>
              <a:defRPr sz="16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931" y="3206592"/>
            <a:ext cx="2439216" cy="5940607"/>
          </a:xfrm>
        </p:spPr>
        <p:txBody>
          <a:bodyPr/>
          <a:lstStyle>
            <a:lvl1pPr marL="0" indent="0">
              <a:buNone/>
              <a:defRPr sz="1323"/>
            </a:lvl1pPr>
            <a:lvl2pPr marL="378150" indent="0">
              <a:buNone/>
              <a:defRPr sz="1158"/>
            </a:lvl2pPr>
            <a:lvl3pPr marL="756300" indent="0">
              <a:buNone/>
              <a:defRPr sz="993"/>
            </a:lvl3pPr>
            <a:lvl4pPr marL="1134450" indent="0">
              <a:buNone/>
              <a:defRPr sz="827"/>
            </a:lvl4pPr>
            <a:lvl5pPr marL="1512600" indent="0">
              <a:buNone/>
              <a:defRPr sz="827"/>
            </a:lvl5pPr>
            <a:lvl6pPr marL="1890751" indent="0">
              <a:buNone/>
              <a:defRPr sz="827"/>
            </a:lvl6pPr>
            <a:lvl7pPr marL="2268901" indent="0">
              <a:buNone/>
              <a:defRPr sz="827"/>
            </a:lvl7pPr>
            <a:lvl8pPr marL="2647051" indent="0">
              <a:buNone/>
              <a:defRPr sz="827"/>
            </a:lvl8pPr>
            <a:lvl9pPr marL="3025201"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5156451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931" y="712576"/>
            <a:ext cx="2439216" cy="2494016"/>
          </a:xfrm>
        </p:spPr>
        <p:txBody>
          <a:bodyPr anchor="b"/>
          <a:lstStyle>
            <a:lvl1pPr>
              <a:defRPr sz="2647"/>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5196" y="1538968"/>
            <a:ext cx="3828693" cy="7595861"/>
          </a:xfrm>
        </p:spPr>
        <p:txBody>
          <a:bodyPr anchor="t"/>
          <a:lstStyle>
            <a:lvl1pPr marL="0" indent="0">
              <a:buNone/>
              <a:defRPr sz="2647"/>
            </a:lvl1pPr>
            <a:lvl2pPr marL="378150" indent="0">
              <a:buNone/>
              <a:defRPr sz="2316"/>
            </a:lvl2pPr>
            <a:lvl3pPr marL="756300" indent="0">
              <a:buNone/>
              <a:defRPr sz="1985"/>
            </a:lvl3pPr>
            <a:lvl4pPr marL="1134450" indent="0">
              <a:buNone/>
              <a:defRPr sz="1654"/>
            </a:lvl4pPr>
            <a:lvl5pPr marL="1512600" indent="0">
              <a:buNone/>
              <a:defRPr sz="1654"/>
            </a:lvl5pPr>
            <a:lvl6pPr marL="1890751" indent="0">
              <a:buNone/>
              <a:defRPr sz="1654"/>
            </a:lvl6pPr>
            <a:lvl7pPr marL="2268901" indent="0">
              <a:buNone/>
              <a:defRPr sz="1654"/>
            </a:lvl7pPr>
            <a:lvl8pPr marL="2647051" indent="0">
              <a:buNone/>
              <a:defRPr sz="1654"/>
            </a:lvl8pPr>
            <a:lvl9pPr marL="3025201" indent="0">
              <a:buNone/>
              <a:defRPr sz="1654"/>
            </a:lvl9pPr>
          </a:lstStyle>
          <a:p>
            <a:r>
              <a:rPr lang="en-US"/>
              <a:t>Click icon to add picture</a:t>
            </a:r>
            <a:endParaRPr lang="en-US" dirty="0"/>
          </a:p>
        </p:txBody>
      </p:sp>
      <p:sp>
        <p:nvSpPr>
          <p:cNvPr id="4" name="Text Placeholder 3"/>
          <p:cNvSpPr>
            <a:spLocks noGrp="1"/>
          </p:cNvSpPr>
          <p:nvPr>
            <p:ph type="body" sz="half" idx="2"/>
          </p:nvPr>
        </p:nvSpPr>
        <p:spPr>
          <a:xfrm>
            <a:off x="520931" y="3206592"/>
            <a:ext cx="2439216" cy="5940607"/>
          </a:xfrm>
        </p:spPr>
        <p:txBody>
          <a:bodyPr/>
          <a:lstStyle>
            <a:lvl1pPr marL="0" indent="0">
              <a:buNone/>
              <a:defRPr sz="1323"/>
            </a:lvl1pPr>
            <a:lvl2pPr marL="378150" indent="0">
              <a:buNone/>
              <a:defRPr sz="1158"/>
            </a:lvl2pPr>
            <a:lvl3pPr marL="756300" indent="0">
              <a:buNone/>
              <a:defRPr sz="993"/>
            </a:lvl3pPr>
            <a:lvl4pPr marL="1134450" indent="0">
              <a:buNone/>
              <a:defRPr sz="827"/>
            </a:lvl4pPr>
            <a:lvl5pPr marL="1512600" indent="0">
              <a:buNone/>
              <a:defRPr sz="827"/>
            </a:lvl5pPr>
            <a:lvl6pPr marL="1890751" indent="0">
              <a:buNone/>
              <a:defRPr sz="827"/>
            </a:lvl6pPr>
            <a:lvl7pPr marL="2268901" indent="0">
              <a:buNone/>
              <a:defRPr sz="827"/>
            </a:lvl7pPr>
            <a:lvl8pPr marL="2647051" indent="0">
              <a:buNone/>
              <a:defRPr sz="827"/>
            </a:lvl8pPr>
            <a:lvl9pPr marL="3025201"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2959691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5602771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12165" y="569071"/>
            <a:ext cx="1630740" cy="905812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946" y="569071"/>
            <a:ext cx="4797683" cy="90581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2A75247-29FF-DE8E-A614-26B8089AD509}"/>
              </a:ext>
            </a:extLst>
          </p:cNvPr>
          <p:cNvSpPr>
            <a:spLocks noGrp="1"/>
          </p:cNvSpPr>
          <p:nvPr>
            <p:ph type="dt" sz="half" idx="10"/>
          </p:nvPr>
        </p:nvSpPr>
        <p:spPr/>
        <p:txBody>
          <a:bodyPr/>
          <a:lstStyle/>
          <a:p>
            <a:fld id="{C764DE79-268F-4C1A-8933-263129D2AF90}" type="datetimeFigureOut">
              <a:rPr lang="en-US" smtClean="0"/>
              <a:t>5/17/2026</a:t>
            </a:fld>
            <a:endParaRPr lang="en-US" dirty="0"/>
          </a:p>
        </p:txBody>
      </p:sp>
      <p:sp>
        <p:nvSpPr>
          <p:cNvPr id="8" name="Footer Placeholder 7">
            <a:extLst>
              <a:ext uri="{FF2B5EF4-FFF2-40B4-BE49-F238E27FC236}">
                <a16:creationId xmlns:a16="http://schemas.microsoft.com/office/drawing/2014/main" id="{5C63069B-C024-EC87-60DB-DCBB184CCA8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5F6B8A4-E685-4AF8-9CA3-0C1D688EAA02}"/>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782860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6448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5246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6445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3760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946" y="569073"/>
            <a:ext cx="6522958" cy="20659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946" y="2845355"/>
            <a:ext cx="6522958" cy="67818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946" y="9906786"/>
            <a:ext cx="1701641" cy="569071"/>
          </a:xfrm>
          <a:prstGeom prst="rect">
            <a:avLst/>
          </a:prstGeom>
        </p:spPr>
        <p:txBody>
          <a:bodyPr vert="horz" lIns="91440" tIns="45720" rIns="91440" bIns="45720" rtlCol="0" anchor="ctr"/>
          <a:lstStyle>
            <a:lvl1pPr algn="l">
              <a:defRPr sz="993">
                <a:solidFill>
                  <a:schemeClr val="tx1">
                    <a:tint val="75000"/>
                  </a:schemeClr>
                </a:solidFill>
              </a:defRPr>
            </a:lvl1pPr>
          </a:lstStyle>
          <a:p>
            <a:fld id="{C764DE79-268F-4C1A-8933-263129D2AF90}" type="datetimeFigureOut">
              <a:rPr lang="en-US" smtClean="0"/>
              <a:t>5/17/2026</a:t>
            </a:fld>
            <a:endParaRPr lang="en-US" dirty="0"/>
          </a:p>
        </p:txBody>
      </p:sp>
      <p:sp>
        <p:nvSpPr>
          <p:cNvPr id="5" name="Footer Placeholder 4"/>
          <p:cNvSpPr>
            <a:spLocks noGrp="1"/>
          </p:cNvSpPr>
          <p:nvPr>
            <p:ph type="ftr" sz="quarter" idx="3"/>
          </p:nvPr>
        </p:nvSpPr>
        <p:spPr>
          <a:xfrm>
            <a:off x="2505194" y="9906786"/>
            <a:ext cx="2552462" cy="569071"/>
          </a:xfrm>
          <a:prstGeom prst="rect">
            <a:avLst/>
          </a:prstGeom>
        </p:spPr>
        <p:txBody>
          <a:bodyPr vert="horz" lIns="91440" tIns="45720" rIns="91440" bIns="45720" rtlCol="0" anchor="ctr"/>
          <a:lstStyle>
            <a:lvl1pPr algn="ctr">
              <a:defRPr sz="993">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41263" y="9906786"/>
            <a:ext cx="1701641" cy="569071"/>
          </a:xfrm>
          <a:prstGeom prst="rect">
            <a:avLst/>
          </a:prstGeom>
        </p:spPr>
        <p:txBody>
          <a:bodyPr vert="horz" lIns="91440" tIns="45720" rIns="91440" bIns="45720" rtlCol="0" anchor="ctr"/>
          <a:lstStyle>
            <a:lvl1pPr algn="r">
              <a:defRPr sz="993">
                <a:solidFill>
                  <a:schemeClr val="tx1">
                    <a:tint val="75000"/>
                  </a:schemeClr>
                </a:solidFill>
              </a:defRPr>
            </a:lvl1pPr>
          </a:lstStyle>
          <a:p>
            <a:fld id="{48F63A3B-78C7-47BE-AE5E-E10140E04643}" type="slidenum">
              <a:rPr lang="en-US" smtClean="0"/>
              <a:t>‹#›</a:t>
            </a:fld>
            <a:endParaRPr lang="en-US" dirty="0"/>
          </a:p>
        </p:txBody>
      </p:sp>
      <p:grpSp>
        <p:nvGrpSpPr>
          <p:cNvPr id="14" name="Group 13">
            <a:extLst>
              <a:ext uri="{FF2B5EF4-FFF2-40B4-BE49-F238E27FC236}">
                <a16:creationId xmlns:a16="http://schemas.microsoft.com/office/drawing/2014/main" id="{4A151D5A-E804-1AEC-2D89-07C9335C2075}"/>
              </a:ext>
            </a:extLst>
          </p:cNvPr>
          <p:cNvGrpSpPr/>
          <p:nvPr userDrawn="1"/>
        </p:nvGrpSpPr>
        <p:grpSpPr>
          <a:xfrm>
            <a:off x="485262" y="112865"/>
            <a:ext cx="6813495" cy="273475"/>
            <a:chOff x="485262" y="112865"/>
            <a:chExt cx="6813495" cy="273475"/>
          </a:xfrm>
        </p:grpSpPr>
        <p:sp>
          <p:nvSpPr>
            <p:cNvPr id="15" name="Shape 1">
              <a:extLst>
                <a:ext uri="{FF2B5EF4-FFF2-40B4-BE49-F238E27FC236}">
                  <a16:creationId xmlns:a16="http://schemas.microsoft.com/office/drawing/2014/main" id="{407CAE2C-4E4E-2F5E-3BB6-BD97BECE1CAE}"/>
                </a:ext>
              </a:extLst>
            </p:cNvPr>
            <p:cNvSpPr/>
            <p:nvPr/>
          </p:nvSpPr>
          <p:spPr>
            <a:xfrm>
              <a:off x="6275833" y="112865"/>
              <a:ext cx="1022924" cy="268686"/>
            </a:xfrm>
            <a:prstGeom prst="roundRect">
              <a:avLst>
                <a:gd name="adj" fmla="val 37182"/>
              </a:avLst>
            </a:prstGeom>
            <a:noFill/>
            <a:ln w="3939">
              <a:solidFill>
                <a:srgbClr val="2A75D3"/>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2">
              <a:extLst>
                <a:ext uri="{FF2B5EF4-FFF2-40B4-BE49-F238E27FC236}">
                  <a16:creationId xmlns:a16="http://schemas.microsoft.com/office/drawing/2014/main" id="{5AC18C56-8C26-B75D-2F93-F5CCDC06B32D}"/>
                </a:ext>
              </a:extLst>
            </p:cNvPr>
            <p:cNvSpPr/>
            <p:nvPr/>
          </p:nvSpPr>
          <p:spPr>
            <a:xfrm>
              <a:off x="6453407" y="153446"/>
              <a:ext cx="667775" cy="177606"/>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lang="en-US" sz="850" dirty="0">
                  <a:solidFill>
                    <a:srgbClr val="2A75D3"/>
                  </a:solidFill>
                  <a:latin typeface="Ovo" pitchFamily="34" charset="0"/>
                </a:rPr>
                <a:t>Humna Imran</a:t>
              </a:r>
              <a:endParaRPr kumimoji="0" lang="en-US" sz="850" b="0" i="0" u="none" strike="noStrike" kern="1200" cap="none" spc="0" normalizeH="0" baseline="0" noProof="0" dirty="0">
                <a:ln>
                  <a:noFill/>
                </a:ln>
                <a:solidFill>
                  <a:srgbClr val="2A75D3"/>
                </a:solidFill>
                <a:effectLst/>
                <a:uLnTx/>
                <a:uFillTx/>
                <a:latin typeface="Calibri" panose="020F0502020204030204"/>
                <a:ea typeface="+mn-ea"/>
                <a:cs typeface="+mn-cs"/>
              </a:endParaRPr>
            </a:p>
          </p:txBody>
        </p:sp>
        <p:sp>
          <p:nvSpPr>
            <p:cNvPr id="17" name="Shape 1">
              <a:extLst>
                <a:ext uri="{FF2B5EF4-FFF2-40B4-BE49-F238E27FC236}">
                  <a16:creationId xmlns:a16="http://schemas.microsoft.com/office/drawing/2014/main" id="{BC8EA3FD-2A20-BF97-AED2-B7AFCD21CAA8}"/>
                </a:ext>
              </a:extLst>
            </p:cNvPr>
            <p:cNvSpPr/>
            <p:nvPr/>
          </p:nvSpPr>
          <p:spPr>
            <a:xfrm>
              <a:off x="485262" y="112865"/>
              <a:ext cx="1022924" cy="268686"/>
            </a:xfrm>
            <a:prstGeom prst="roundRect">
              <a:avLst>
                <a:gd name="adj" fmla="val 37182"/>
              </a:avLst>
            </a:prstGeom>
            <a:noFill/>
            <a:ln w="3939">
              <a:solidFill>
                <a:srgbClr val="2A75D3"/>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2">
              <a:extLst>
                <a:ext uri="{FF2B5EF4-FFF2-40B4-BE49-F238E27FC236}">
                  <a16:creationId xmlns:a16="http://schemas.microsoft.com/office/drawing/2014/main" id="{260AA48A-D101-3B57-5BD1-DEAC069ACFA8}"/>
                </a:ext>
              </a:extLst>
            </p:cNvPr>
            <p:cNvSpPr/>
            <p:nvPr/>
          </p:nvSpPr>
          <p:spPr>
            <a:xfrm>
              <a:off x="622926" y="153446"/>
              <a:ext cx="747595" cy="177606"/>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lang="en-US" sz="850" dirty="0">
                  <a:solidFill>
                    <a:srgbClr val="2A75D3"/>
                  </a:solidFill>
                  <a:latin typeface="Ovo" pitchFamily="34" charset="0"/>
                </a:rPr>
                <a:t>2023-BS-AI-017</a:t>
              </a:r>
              <a:endParaRPr kumimoji="0" lang="en-US" sz="850" b="0" i="0" u="none" strike="noStrike" kern="1200" cap="none" spc="0" normalizeH="0" baseline="0" noProof="0" dirty="0">
                <a:ln>
                  <a:noFill/>
                </a:ln>
                <a:solidFill>
                  <a:srgbClr val="2A75D3"/>
                </a:solidFill>
                <a:effectLst/>
                <a:uLnTx/>
                <a:uFillTx/>
                <a:latin typeface="Calibri" panose="020F0502020204030204"/>
                <a:ea typeface="+mn-ea"/>
                <a:cs typeface="+mn-cs"/>
              </a:endParaRPr>
            </a:p>
          </p:txBody>
        </p:sp>
        <p:sp>
          <p:nvSpPr>
            <p:cNvPr id="19" name="Shape 1">
              <a:extLst>
                <a:ext uri="{FF2B5EF4-FFF2-40B4-BE49-F238E27FC236}">
                  <a16:creationId xmlns:a16="http://schemas.microsoft.com/office/drawing/2014/main" id="{68C59AF1-9C25-8FBD-D9F6-7A2E14A3B5EB}"/>
                </a:ext>
              </a:extLst>
            </p:cNvPr>
            <p:cNvSpPr/>
            <p:nvPr/>
          </p:nvSpPr>
          <p:spPr>
            <a:xfrm>
              <a:off x="3315098" y="117654"/>
              <a:ext cx="1153823" cy="268686"/>
            </a:xfrm>
            <a:prstGeom prst="roundRect">
              <a:avLst>
                <a:gd name="adj" fmla="val 37182"/>
              </a:avLst>
            </a:prstGeom>
            <a:noFill/>
            <a:ln w="3939">
              <a:solidFill>
                <a:srgbClr val="2A75D3"/>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2">
              <a:extLst>
                <a:ext uri="{FF2B5EF4-FFF2-40B4-BE49-F238E27FC236}">
                  <a16:creationId xmlns:a16="http://schemas.microsoft.com/office/drawing/2014/main" id="{762E304E-8434-2BA9-976D-656A6433F865}"/>
                </a:ext>
              </a:extLst>
            </p:cNvPr>
            <p:cNvSpPr/>
            <p:nvPr/>
          </p:nvSpPr>
          <p:spPr>
            <a:xfrm>
              <a:off x="3402965" y="157287"/>
              <a:ext cx="978087" cy="177606"/>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2A75D3"/>
                  </a:solidFill>
                  <a:effectLst/>
                  <a:uLnTx/>
                  <a:uFillTx/>
                  <a:latin typeface="Ovo" pitchFamily="34" charset="0"/>
                  <a:ea typeface="+mn-ea"/>
                  <a:cs typeface="+mn-cs"/>
                </a:rPr>
                <a:t>Computer Networks</a:t>
              </a:r>
              <a:endParaRPr kumimoji="0" lang="en-US" sz="850" b="0" i="0" u="none" strike="noStrike" kern="1200" cap="none" spc="0" normalizeH="0" baseline="0" noProof="0" dirty="0">
                <a:ln>
                  <a:noFill/>
                </a:ln>
                <a:solidFill>
                  <a:srgbClr val="2A75D3"/>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482541314"/>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Lst>
  <p:hf sldNum="0" hdr="0" ftr="0" dt="0"/>
  <p:txStyles>
    <p:titleStyle>
      <a:lvl1pPr algn="l" defTabSz="756300" rtl="0" eaLnBrk="1" latinLnBrk="0" hangingPunct="1">
        <a:lnSpc>
          <a:spcPct val="90000"/>
        </a:lnSpc>
        <a:spcBef>
          <a:spcPct val="0"/>
        </a:spcBef>
        <a:buNone/>
        <a:defRPr sz="3639" kern="1200">
          <a:solidFill>
            <a:schemeClr val="tx1"/>
          </a:solidFill>
          <a:latin typeface="+mj-lt"/>
          <a:ea typeface="+mj-ea"/>
          <a:cs typeface="+mj-cs"/>
        </a:defRPr>
      </a:lvl1pPr>
    </p:titleStyle>
    <p:bodyStyle>
      <a:lvl1pPr marL="189075" indent="-189075" algn="l" defTabSz="756300" rtl="0" eaLnBrk="1" latinLnBrk="0" hangingPunct="1">
        <a:lnSpc>
          <a:spcPct val="90000"/>
        </a:lnSpc>
        <a:spcBef>
          <a:spcPts val="827"/>
        </a:spcBef>
        <a:buFont typeface="Arial" panose="020B0604020202020204" pitchFamily="34" charset="0"/>
        <a:buChar char="•"/>
        <a:defRPr sz="2316" kern="1200">
          <a:solidFill>
            <a:schemeClr val="tx1"/>
          </a:solidFill>
          <a:latin typeface="+mn-lt"/>
          <a:ea typeface="+mn-ea"/>
          <a:cs typeface="+mn-cs"/>
        </a:defRPr>
      </a:lvl1pPr>
      <a:lvl2pPr marL="567225" indent="-189075" algn="l" defTabSz="756300" rtl="0" eaLnBrk="1" latinLnBrk="0" hangingPunct="1">
        <a:lnSpc>
          <a:spcPct val="90000"/>
        </a:lnSpc>
        <a:spcBef>
          <a:spcPts val="414"/>
        </a:spcBef>
        <a:buFont typeface="Arial" panose="020B0604020202020204" pitchFamily="34" charset="0"/>
        <a:buChar char="•"/>
        <a:defRPr sz="1985" kern="1200">
          <a:solidFill>
            <a:schemeClr val="tx1"/>
          </a:solidFill>
          <a:latin typeface="+mn-lt"/>
          <a:ea typeface="+mn-ea"/>
          <a:cs typeface="+mn-cs"/>
        </a:defRPr>
      </a:lvl2pPr>
      <a:lvl3pPr marL="945375" indent="-189075" algn="l" defTabSz="756300" rtl="0" eaLnBrk="1" latinLnBrk="0" hangingPunct="1">
        <a:lnSpc>
          <a:spcPct val="90000"/>
        </a:lnSpc>
        <a:spcBef>
          <a:spcPts val="414"/>
        </a:spcBef>
        <a:buFont typeface="Arial" panose="020B0604020202020204" pitchFamily="34" charset="0"/>
        <a:buChar char="•"/>
        <a:defRPr sz="1654" kern="1200">
          <a:solidFill>
            <a:schemeClr val="tx1"/>
          </a:solidFill>
          <a:latin typeface="+mn-lt"/>
          <a:ea typeface="+mn-ea"/>
          <a:cs typeface="+mn-cs"/>
        </a:defRPr>
      </a:lvl3pPr>
      <a:lvl4pPr marL="1323525"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4pPr>
      <a:lvl5pPr marL="170167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5pPr>
      <a:lvl6pPr marL="207982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6pPr>
      <a:lvl7pPr marL="245797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7pPr>
      <a:lvl8pPr marL="283612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8pPr>
      <a:lvl9pPr marL="321427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9pPr>
    </p:bodyStyle>
    <p:otherStyle>
      <a:defPPr>
        <a:defRPr lang="en-US"/>
      </a:defPPr>
      <a:lvl1pPr marL="0" algn="l" defTabSz="756300" rtl="0" eaLnBrk="1" latinLnBrk="0" hangingPunct="1">
        <a:defRPr sz="1489" kern="1200">
          <a:solidFill>
            <a:schemeClr val="tx1"/>
          </a:solidFill>
          <a:latin typeface="+mn-lt"/>
          <a:ea typeface="+mn-ea"/>
          <a:cs typeface="+mn-cs"/>
        </a:defRPr>
      </a:lvl1pPr>
      <a:lvl2pPr marL="378150" algn="l" defTabSz="756300" rtl="0" eaLnBrk="1" latinLnBrk="0" hangingPunct="1">
        <a:defRPr sz="1489" kern="1200">
          <a:solidFill>
            <a:schemeClr val="tx1"/>
          </a:solidFill>
          <a:latin typeface="+mn-lt"/>
          <a:ea typeface="+mn-ea"/>
          <a:cs typeface="+mn-cs"/>
        </a:defRPr>
      </a:lvl2pPr>
      <a:lvl3pPr marL="756300" algn="l" defTabSz="756300" rtl="0" eaLnBrk="1" latinLnBrk="0" hangingPunct="1">
        <a:defRPr sz="1489" kern="1200">
          <a:solidFill>
            <a:schemeClr val="tx1"/>
          </a:solidFill>
          <a:latin typeface="+mn-lt"/>
          <a:ea typeface="+mn-ea"/>
          <a:cs typeface="+mn-cs"/>
        </a:defRPr>
      </a:lvl3pPr>
      <a:lvl4pPr marL="1134450" algn="l" defTabSz="756300" rtl="0" eaLnBrk="1" latinLnBrk="0" hangingPunct="1">
        <a:defRPr sz="1489" kern="1200">
          <a:solidFill>
            <a:schemeClr val="tx1"/>
          </a:solidFill>
          <a:latin typeface="+mn-lt"/>
          <a:ea typeface="+mn-ea"/>
          <a:cs typeface="+mn-cs"/>
        </a:defRPr>
      </a:lvl4pPr>
      <a:lvl5pPr marL="1512600" algn="l" defTabSz="756300" rtl="0" eaLnBrk="1" latinLnBrk="0" hangingPunct="1">
        <a:defRPr sz="1489" kern="1200">
          <a:solidFill>
            <a:schemeClr val="tx1"/>
          </a:solidFill>
          <a:latin typeface="+mn-lt"/>
          <a:ea typeface="+mn-ea"/>
          <a:cs typeface="+mn-cs"/>
        </a:defRPr>
      </a:lvl5pPr>
      <a:lvl6pPr marL="1890751" algn="l" defTabSz="756300" rtl="0" eaLnBrk="1" latinLnBrk="0" hangingPunct="1">
        <a:defRPr sz="1489" kern="1200">
          <a:solidFill>
            <a:schemeClr val="tx1"/>
          </a:solidFill>
          <a:latin typeface="+mn-lt"/>
          <a:ea typeface="+mn-ea"/>
          <a:cs typeface="+mn-cs"/>
        </a:defRPr>
      </a:lvl6pPr>
      <a:lvl7pPr marL="2268901" algn="l" defTabSz="756300" rtl="0" eaLnBrk="1" latinLnBrk="0" hangingPunct="1">
        <a:defRPr sz="1489" kern="1200">
          <a:solidFill>
            <a:schemeClr val="tx1"/>
          </a:solidFill>
          <a:latin typeface="+mn-lt"/>
          <a:ea typeface="+mn-ea"/>
          <a:cs typeface="+mn-cs"/>
        </a:defRPr>
      </a:lvl7pPr>
      <a:lvl8pPr marL="2647051" algn="l" defTabSz="756300" rtl="0" eaLnBrk="1" latinLnBrk="0" hangingPunct="1">
        <a:defRPr sz="1489" kern="1200">
          <a:solidFill>
            <a:schemeClr val="tx1"/>
          </a:solidFill>
          <a:latin typeface="+mn-lt"/>
          <a:ea typeface="+mn-ea"/>
          <a:cs typeface="+mn-cs"/>
        </a:defRPr>
      </a:lvl8pPr>
      <a:lvl9pPr marL="3025201" algn="l" defTabSz="756300" rtl="0" eaLnBrk="1" latinLnBrk="0" hangingPunct="1">
        <a:defRPr sz="148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sv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8.png"/><Relationship Id="rId7" Type="http://schemas.openxmlformats.org/officeDocument/2006/relationships/diagramColors" Target="../diagrams/colors1.xm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33.png"/><Relationship Id="rId4" Type="http://schemas.openxmlformats.org/officeDocument/2006/relationships/hyperlink" Target="https://pxhere.com/ko/photo/1053142"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sv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svg"/><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1.sv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51.svg"/><Relationship Id="rId5" Type="http://schemas.openxmlformats.org/officeDocument/2006/relationships/image" Target="../media/image50.svg"/><Relationship Id="rId4" Type="http://schemas.openxmlformats.org/officeDocument/2006/relationships/image" Target="../media/image49.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54.png"/><Relationship Id="rId7" Type="http://schemas.openxmlformats.org/officeDocument/2006/relationships/image" Target="../media/image56.svg"/><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image" Target="../media/image55.svg"/><Relationship Id="rId5" Type="http://schemas.openxmlformats.org/officeDocument/2006/relationships/image" Target="../media/image44.svg"/><Relationship Id="rId4" Type="http://schemas.openxmlformats.org/officeDocument/2006/relationships/image" Target="../media/image46.svg"/></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85616" y="634628"/>
            <a:ext cx="6590795" cy="867229"/>
          </a:xfrm>
          <a:prstGeom prst="rect">
            <a:avLst/>
          </a:prstGeom>
          <a:noFill/>
          <a:ln/>
        </p:spPr>
        <p:txBody>
          <a:bodyPr wrap="square" lIns="0" tIns="0" rIns="0" bIns="0" rtlCol="0" anchor="t">
            <a:normAutofit/>
          </a:bodyPr>
          <a:lstStyle/>
          <a:p>
            <a:pPr marL="0" indent="0" algn="l">
              <a:lnSpc>
                <a:spcPct val="104000"/>
              </a:lnSpc>
              <a:buNone/>
            </a:pPr>
            <a:r>
              <a:rPr lang="en-US" sz="2700" dirty="0">
                <a:solidFill>
                  <a:srgbClr val="000000"/>
                </a:solidFill>
                <a:latin typeface="Outfit Bold" pitchFamily="2" charset="0"/>
                <a:ea typeface="Outfit Semi Bold" pitchFamily="34" charset="-122"/>
                <a:cs typeface="Outfit Semi Bold" pitchFamily="34" charset="-120"/>
              </a:rPr>
              <a:t>Lab #1: Introduction to Cisco Packet Tracer</a:t>
            </a:r>
            <a:endParaRPr lang="en-US" sz="2700" dirty="0">
              <a:solidFill>
                <a:srgbClr val="000000"/>
              </a:solidFill>
            </a:endParaRPr>
          </a:p>
        </p:txBody>
      </p:sp>
      <p:sp>
        <p:nvSpPr>
          <p:cNvPr id="3" name="Text 1"/>
          <p:cNvSpPr/>
          <p:nvPr/>
        </p:nvSpPr>
        <p:spPr>
          <a:xfrm>
            <a:off x="485616" y="1571213"/>
            <a:ext cx="6590795" cy="444076"/>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000000"/>
                </a:solidFill>
                <a:latin typeface="Ovo" pitchFamily="34" charset="0"/>
                <a:ea typeface="Ovo" pitchFamily="34" charset="-122"/>
                <a:cs typeface="Ovo" pitchFamily="34" charset="-120"/>
              </a:rPr>
              <a:t>This lab introduces the fundamentals of IP addressing, subnetting, and the Cisco Packet Tracer tool — essential skills for any aspiring network engineer.</a:t>
            </a:r>
            <a:endParaRPr lang="en-US" sz="1050" dirty="0">
              <a:solidFill>
                <a:srgbClr val="000000"/>
              </a:solidFill>
            </a:endParaRPr>
          </a:p>
        </p:txBody>
      </p:sp>
      <p:sp>
        <p:nvSpPr>
          <p:cNvPr id="4" name="Text 2"/>
          <p:cNvSpPr/>
          <p:nvPr/>
        </p:nvSpPr>
        <p:spPr>
          <a:xfrm>
            <a:off x="485616" y="2223419"/>
            <a:ext cx="3153147" cy="346842"/>
          </a:xfrm>
          <a:prstGeom prst="rect">
            <a:avLst/>
          </a:prstGeom>
          <a:noFill/>
          <a:ln/>
        </p:spPr>
        <p:txBody>
          <a:bodyPr wrap="none" lIns="0" tIns="0" rIns="0" bIns="0" rtlCol="0" anchor="t"/>
          <a:lstStyle/>
          <a:p>
            <a:pPr marL="0" indent="0" algn="l">
              <a:lnSpc>
                <a:spcPct val="104000"/>
              </a:lnSpc>
              <a:buNone/>
            </a:pPr>
            <a:r>
              <a:rPr lang="en-US" sz="2150" dirty="0">
                <a:solidFill>
                  <a:srgbClr val="000000"/>
                </a:solidFill>
                <a:latin typeface="Outfit Bold" pitchFamily="2" charset="0"/>
                <a:ea typeface="Outfit Semi Bold" pitchFamily="34" charset="-122"/>
                <a:cs typeface="Outfit Semi Bold" pitchFamily="34" charset="-120"/>
              </a:rPr>
              <a:t>Lab Outcomes</a:t>
            </a:r>
            <a:endParaRPr lang="en-US" sz="2150" dirty="0">
              <a:solidFill>
                <a:srgbClr val="000000"/>
              </a:solidFill>
            </a:endParaRPr>
          </a:p>
        </p:txBody>
      </p:sp>
      <p:sp>
        <p:nvSpPr>
          <p:cNvPr id="5" name="Text 3"/>
          <p:cNvSpPr/>
          <p:nvPr/>
        </p:nvSpPr>
        <p:spPr>
          <a:xfrm>
            <a:off x="485616" y="2778392"/>
            <a:ext cx="6968900" cy="222038"/>
          </a:xfrm>
          <a:prstGeom prst="rect">
            <a:avLst/>
          </a:prstGeom>
          <a:noFill/>
          <a:ln/>
        </p:spPr>
        <p:txBody>
          <a:bodyPr wrap="none" lIns="0" tIns="0" rIns="0" bIns="0" rtlCol="0" anchor="t"/>
          <a:lstStyle/>
          <a:p>
            <a:pPr marL="0" indent="0" algn="l">
              <a:lnSpc>
                <a:spcPct val="133000"/>
              </a:lnSpc>
              <a:buNone/>
            </a:pPr>
            <a:r>
              <a:rPr lang="en-US" sz="1050" dirty="0">
                <a:solidFill>
                  <a:srgbClr val="000000"/>
                </a:solidFill>
                <a:latin typeface="Ovo" pitchFamily="34" charset="0"/>
                <a:ea typeface="Ovo" pitchFamily="34" charset="-122"/>
                <a:cs typeface="Ovo" pitchFamily="34" charset="-120"/>
              </a:rPr>
              <a:t>By the end of this lab, you will be able to:</a:t>
            </a:r>
            <a:endParaRPr lang="en-US" sz="1050" dirty="0">
              <a:solidFill>
                <a:srgbClr val="000000"/>
              </a:solidFill>
            </a:endParaRPr>
          </a:p>
        </p:txBody>
      </p:sp>
      <p:sp>
        <p:nvSpPr>
          <p:cNvPr id="6" name="Shape 4"/>
          <p:cNvSpPr/>
          <p:nvPr/>
        </p:nvSpPr>
        <p:spPr>
          <a:xfrm>
            <a:off x="485616" y="3156496"/>
            <a:ext cx="3226011" cy="1274996"/>
          </a:xfrm>
          <a:prstGeom prst="roundRect">
            <a:avLst>
              <a:gd name="adj" fmla="val 5931"/>
            </a:avLst>
          </a:prstGeom>
          <a:solidFill>
            <a:srgbClr val="FFFFFF"/>
          </a:solidFill>
          <a:ln w="15754">
            <a:solidFill>
              <a:srgbClr val="BADBEA"/>
            </a:solidFill>
            <a:prstDash val="solid"/>
          </a:ln>
        </p:spPr>
        <p:txBody>
          <a:bodyPr/>
          <a:lstStyle/>
          <a:p>
            <a:endParaRPr lang="en-PK"/>
          </a:p>
        </p:txBody>
      </p:sp>
      <p:sp>
        <p:nvSpPr>
          <p:cNvPr id="7" name="Shape 5"/>
          <p:cNvSpPr/>
          <p:nvPr/>
        </p:nvSpPr>
        <p:spPr>
          <a:xfrm>
            <a:off x="469861" y="3156496"/>
            <a:ext cx="63017" cy="1274996"/>
          </a:xfrm>
          <a:prstGeom prst="roundRect">
            <a:avLst>
              <a:gd name="adj" fmla="val 198166"/>
            </a:avLst>
          </a:prstGeom>
          <a:solidFill>
            <a:srgbClr val="2A75D3"/>
          </a:solidFill>
          <a:ln/>
        </p:spPr>
        <p:txBody>
          <a:bodyPr/>
          <a:lstStyle/>
          <a:p>
            <a:endParaRPr lang="en-PK"/>
          </a:p>
        </p:txBody>
      </p:sp>
      <p:sp>
        <p:nvSpPr>
          <p:cNvPr id="8" name="Text 6"/>
          <p:cNvSpPr/>
          <p:nvPr/>
        </p:nvSpPr>
        <p:spPr>
          <a:xfrm>
            <a:off x="687345" y="3310963"/>
            <a:ext cx="2112498" cy="21674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Outfit Bold" pitchFamily="2" charset="0"/>
                <a:ea typeface="Outfit Semi Bold" pitchFamily="34" charset="-122"/>
                <a:cs typeface="Outfit Semi Bold" pitchFamily="34" charset="-120"/>
              </a:rPr>
              <a:t>IP Addressing</a:t>
            </a:r>
            <a:endParaRPr lang="en-US" sz="1350" dirty="0">
              <a:solidFill>
                <a:srgbClr val="000000"/>
              </a:solidFill>
            </a:endParaRPr>
          </a:p>
        </p:txBody>
      </p:sp>
      <p:sp>
        <p:nvSpPr>
          <p:cNvPr id="9" name="Text 7"/>
          <p:cNvSpPr/>
          <p:nvPr/>
        </p:nvSpPr>
        <p:spPr>
          <a:xfrm>
            <a:off x="687345" y="3610911"/>
            <a:ext cx="2869815" cy="666114"/>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000000"/>
                </a:solidFill>
                <a:latin typeface="Ovo" pitchFamily="34" charset="0"/>
                <a:ea typeface="Ovo" pitchFamily="34" charset="-122"/>
                <a:cs typeface="Ovo" pitchFamily="34" charset="-120"/>
              </a:rPr>
              <a:t>Understand what an IP address is and how it acts as a logical address for devices on a network.</a:t>
            </a:r>
            <a:endParaRPr lang="en-US" sz="1050" dirty="0">
              <a:solidFill>
                <a:srgbClr val="000000"/>
              </a:solidFill>
            </a:endParaRPr>
          </a:p>
        </p:txBody>
      </p:sp>
      <p:sp>
        <p:nvSpPr>
          <p:cNvPr id="10" name="Shape 8"/>
          <p:cNvSpPr/>
          <p:nvPr/>
        </p:nvSpPr>
        <p:spPr>
          <a:xfrm>
            <a:off x="3850339" y="3156496"/>
            <a:ext cx="3226072" cy="1274996"/>
          </a:xfrm>
          <a:prstGeom prst="roundRect">
            <a:avLst>
              <a:gd name="adj" fmla="val 5931"/>
            </a:avLst>
          </a:prstGeom>
          <a:solidFill>
            <a:srgbClr val="FFFFFF"/>
          </a:solidFill>
          <a:ln w="15754">
            <a:solidFill>
              <a:srgbClr val="BADBEA"/>
            </a:solidFill>
            <a:prstDash val="solid"/>
          </a:ln>
        </p:spPr>
        <p:txBody>
          <a:bodyPr/>
          <a:lstStyle/>
          <a:p>
            <a:endParaRPr lang="en-PK"/>
          </a:p>
        </p:txBody>
      </p:sp>
      <p:sp>
        <p:nvSpPr>
          <p:cNvPr id="11" name="Shape 9"/>
          <p:cNvSpPr/>
          <p:nvPr/>
        </p:nvSpPr>
        <p:spPr>
          <a:xfrm>
            <a:off x="3834584" y="3156496"/>
            <a:ext cx="63017" cy="1274996"/>
          </a:xfrm>
          <a:prstGeom prst="roundRect">
            <a:avLst>
              <a:gd name="adj" fmla="val 198166"/>
            </a:avLst>
          </a:prstGeom>
          <a:solidFill>
            <a:srgbClr val="2A75D3"/>
          </a:solidFill>
          <a:ln/>
        </p:spPr>
        <p:txBody>
          <a:bodyPr/>
          <a:lstStyle/>
          <a:p>
            <a:endParaRPr lang="en-PK"/>
          </a:p>
        </p:txBody>
      </p:sp>
      <p:sp>
        <p:nvSpPr>
          <p:cNvPr id="12" name="Text 10"/>
          <p:cNvSpPr/>
          <p:nvPr/>
        </p:nvSpPr>
        <p:spPr>
          <a:xfrm>
            <a:off x="4052068" y="3310963"/>
            <a:ext cx="2112498" cy="21674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Outfit Bold" pitchFamily="2" charset="0"/>
                <a:ea typeface="Outfit Semi Bold" pitchFamily="34" charset="-122"/>
                <a:cs typeface="Outfit Semi Bold" pitchFamily="34" charset="-120"/>
              </a:rPr>
              <a:t>IP Address Classes</a:t>
            </a:r>
            <a:endParaRPr lang="en-US" sz="1350" dirty="0">
              <a:solidFill>
                <a:srgbClr val="000000"/>
              </a:solidFill>
            </a:endParaRPr>
          </a:p>
        </p:txBody>
      </p:sp>
      <p:sp>
        <p:nvSpPr>
          <p:cNvPr id="13" name="Text 11"/>
          <p:cNvSpPr/>
          <p:nvPr/>
        </p:nvSpPr>
        <p:spPr>
          <a:xfrm>
            <a:off x="4052068" y="3610911"/>
            <a:ext cx="2869876" cy="666114"/>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000000"/>
                </a:solidFill>
                <a:latin typeface="Ovo" pitchFamily="34" charset="0"/>
                <a:ea typeface="Ovo" pitchFamily="34" charset="-122"/>
                <a:cs typeface="Ovo" pitchFamily="34" charset="-120"/>
              </a:rPr>
              <a:t>Identify the different classes of IP addresses (Class A, B, C, D, and E) and know which ones are used for different network sizes.</a:t>
            </a:r>
            <a:endParaRPr lang="en-US" sz="1050" dirty="0">
              <a:solidFill>
                <a:srgbClr val="000000"/>
              </a:solidFill>
            </a:endParaRPr>
          </a:p>
        </p:txBody>
      </p:sp>
      <p:sp>
        <p:nvSpPr>
          <p:cNvPr id="14" name="Shape 12"/>
          <p:cNvSpPr/>
          <p:nvPr/>
        </p:nvSpPr>
        <p:spPr>
          <a:xfrm>
            <a:off x="485616" y="4570204"/>
            <a:ext cx="3226011" cy="1274996"/>
          </a:xfrm>
          <a:prstGeom prst="roundRect">
            <a:avLst>
              <a:gd name="adj" fmla="val 5931"/>
            </a:avLst>
          </a:prstGeom>
          <a:solidFill>
            <a:srgbClr val="FFFFFF"/>
          </a:solidFill>
          <a:ln w="15754">
            <a:solidFill>
              <a:srgbClr val="BADBEA"/>
            </a:solidFill>
            <a:prstDash val="solid"/>
          </a:ln>
        </p:spPr>
        <p:txBody>
          <a:bodyPr/>
          <a:lstStyle/>
          <a:p>
            <a:endParaRPr lang="en-PK"/>
          </a:p>
        </p:txBody>
      </p:sp>
      <p:sp>
        <p:nvSpPr>
          <p:cNvPr id="15" name="Shape 13"/>
          <p:cNvSpPr/>
          <p:nvPr/>
        </p:nvSpPr>
        <p:spPr>
          <a:xfrm>
            <a:off x="469861" y="4570204"/>
            <a:ext cx="63017" cy="1274996"/>
          </a:xfrm>
          <a:prstGeom prst="roundRect">
            <a:avLst>
              <a:gd name="adj" fmla="val 198166"/>
            </a:avLst>
          </a:prstGeom>
          <a:solidFill>
            <a:srgbClr val="2A75D3"/>
          </a:solidFill>
          <a:ln/>
        </p:spPr>
        <p:txBody>
          <a:bodyPr/>
          <a:lstStyle/>
          <a:p>
            <a:endParaRPr lang="en-PK"/>
          </a:p>
        </p:txBody>
      </p:sp>
      <p:sp>
        <p:nvSpPr>
          <p:cNvPr id="16" name="Text 14"/>
          <p:cNvSpPr/>
          <p:nvPr/>
        </p:nvSpPr>
        <p:spPr>
          <a:xfrm>
            <a:off x="687345" y="4724671"/>
            <a:ext cx="2112498" cy="21674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Outfit Bold" pitchFamily="2" charset="0"/>
                <a:ea typeface="Outfit Semi Bold" pitchFamily="34" charset="-122"/>
                <a:cs typeface="Outfit Semi Bold" pitchFamily="34" charset="-120"/>
              </a:rPr>
              <a:t>Subnetting</a:t>
            </a:r>
            <a:endParaRPr lang="en-US" sz="1350" dirty="0">
              <a:solidFill>
                <a:srgbClr val="000000"/>
              </a:solidFill>
            </a:endParaRPr>
          </a:p>
        </p:txBody>
      </p:sp>
      <p:sp>
        <p:nvSpPr>
          <p:cNvPr id="17" name="Text 15"/>
          <p:cNvSpPr/>
          <p:nvPr/>
        </p:nvSpPr>
        <p:spPr>
          <a:xfrm>
            <a:off x="687345" y="5024619"/>
            <a:ext cx="2869815" cy="666114"/>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000000"/>
                </a:solidFill>
                <a:latin typeface="Ovo" pitchFamily="34" charset="0"/>
                <a:ea typeface="Ovo" pitchFamily="34" charset="-122"/>
                <a:cs typeface="Ovo" pitchFamily="34" charset="-120"/>
              </a:rPr>
              <a:t>Explain the concept of subnetting and how it divides large networks into smaller, more secure, and efficient pieces.</a:t>
            </a:r>
            <a:endParaRPr lang="en-US" sz="1050" dirty="0">
              <a:solidFill>
                <a:srgbClr val="000000"/>
              </a:solidFill>
            </a:endParaRPr>
          </a:p>
        </p:txBody>
      </p:sp>
      <p:sp>
        <p:nvSpPr>
          <p:cNvPr id="18" name="Shape 16"/>
          <p:cNvSpPr/>
          <p:nvPr/>
        </p:nvSpPr>
        <p:spPr>
          <a:xfrm>
            <a:off x="3850339" y="4570204"/>
            <a:ext cx="3226072" cy="1274996"/>
          </a:xfrm>
          <a:prstGeom prst="roundRect">
            <a:avLst>
              <a:gd name="adj" fmla="val 5931"/>
            </a:avLst>
          </a:prstGeom>
          <a:solidFill>
            <a:srgbClr val="FFFFFF"/>
          </a:solidFill>
          <a:ln w="15754">
            <a:solidFill>
              <a:srgbClr val="BADBEA"/>
            </a:solidFill>
            <a:prstDash val="solid"/>
          </a:ln>
        </p:spPr>
        <p:txBody>
          <a:bodyPr/>
          <a:lstStyle/>
          <a:p>
            <a:endParaRPr lang="en-PK"/>
          </a:p>
        </p:txBody>
      </p:sp>
      <p:sp>
        <p:nvSpPr>
          <p:cNvPr id="19" name="Shape 17"/>
          <p:cNvSpPr/>
          <p:nvPr/>
        </p:nvSpPr>
        <p:spPr>
          <a:xfrm>
            <a:off x="3834584" y="4570204"/>
            <a:ext cx="63017" cy="1274996"/>
          </a:xfrm>
          <a:prstGeom prst="roundRect">
            <a:avLst>
              <a:gd name="adj" fmla="val 198166"/>
            </a:avLst>
          </a:prstGeom>
          <a:solidFill>
            <a:srgbClr val="2A75D3"/>
          </a:solidFill>
          <a:ln/>
        </p:spPr>
        <p:txBody>
          <a:bodyPr/>
          <a:lstStyle/>
          <a:p>
            <a:endParaRPr lang="en-PK"/>
          </a:p>
        </p:txBody>
      </p:sp>
      <p:sp>
        <p:nvSpPr>
          <p:cNvPr id="20" name="Text 18"/>
          <p:cNvSpPr/>
          <p:nvPr/>
        </p:nvSpPr>
        <p:spPr>
          <a:xfrm>
            <a:off x="4052068" y="4724671"/>
            <a:ext cx="2112498" cy="21674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Outfit Bold" pitchFamily="2" charset="0"/>
                <a:ea typeface="Outfit Semi Bold" pitchFamily="34" charset="-122"/>
                <a:cs typeface="Outfit Semi Bold" pitchFamily="34" charset="-120"/>
              </a:rPr>
              <a:t>Cisco Packet Tracer</a:t>
            </a:r>
            <a:endParaRPr lang="en-US" sz="1350" dirty="0">
              <a:solidFill>
                <a:srgbClr val="000000"/>
              </a:solidFill>
            </a:endParaRPr>
          </a:p>
        </p:txBody>
      </p:sp>
      <p:sp>
        <p:nvSpPr>
          <p:cNvPr id="21" name="Text 19"/>
          <p:cNvSpPr/>
          <p:nvPr/>
        </p:nvSpPr>
        <p:spPr>
          <a:xfrm>
            <a:off x="4052068" y="5024619"/>
            <a:ext cx="2869876" cy="666114"/>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000000"/>
                </a:solidFill>
                <a:latin typeface="Ovo" pitchFamily="34" charset="0"/>
                <a:ea typeface="Ovo" pitchFamily="34" charset="-122"/>
                <a:cs typeface="Ovo" pitchFamily="34" charset="-120"/>
              </a:rPr>
              <a:t>Successfully download, install, and launch the Cisco Packet Tracer software on your computer.</a:t>
            </a:r>
            <a:endParaRPr lang="en-US" sz="1050" dirty="0">
              <a:solidFill>
                <a:srgbClr val="000000"/>
              </a:solidFill>
            </a:endParaRPr>
          </a:p>
        </p:txBody>
      </p:sp>
      <p:grpSp>
        <p:nvGrpSpPr>
          <p:cNvPr id="28" name="Group 27">
            <a:extLst>
              <a:ext uri="{FF2B5EF4-FFF2-40B4-BE49-F238E27FC236}">
                <a16:creationId xmlns:a16="http://schemas.microsoft.com/office/drawing/2014/main" id="{1DB3B15F-9060-DB4D-E99E-5E835B073E74}"/>
              </a:ext>
            </a:extLst>
          </p:cNvPr>
          <p:cNvGrpSpPr/>
          <p:nvPr/>
        </p:nvGrpSpPr>
        <p:grpSpPr>
          <a:xfrm>
            <a:off x="485262" y="112865"/>
            <a:ext cx="6813495" cy="273475"/>
            <a:chOff x="485262" y="112865"/>
            <a:chExt cx="6813495" cy="273475"/>
          </a:xfrm>
        </p:grpSpPr>
        <p:sp>
          <p:nvSpPr>
            <p:cNvPr id="22" name="Shape 1">
              <a:extLst>
                <a:ext uri="{FF2B5EF4-FFF2-40B4-BE49-F238E27FC236}">
                  <a16:creationId xmlns:a16="http://schemas.microsoft.com/office/drawing/2014/main" id="{E926AA65-FC7B-F94B-7E78-F8680D6A316A}"/>
                </a:ext>
              </a:extLst>
            </p:cNvPr>
            <p:cNvSpPr/>
            <p:nvPr/>
          </p:nvSpPr>
          <p:spPr>
            <a:xfrm>
              <a:off x="6275833" y="112865"/>
              <a:ext cx="1022924" cy="268686"/>
            </a:xfrm>
            <a:prstGeom prst="roundRect">
              <a:avLst>
                <a:gd name="adj" fmla="val 37182"/>
              </a:avLst>
            </a:prstGeom>
            <a:noFill/>
            <a:ln w="3939">
              <a:solidFill>
                <a:srgbClr val="2A75D3"/>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
              <a:extLst>
                <a:ext uri="{FF2B5EF4-FFF2-40B4-BE49-F238E27FC236}">
                  <a16:creationId xmlns:a16="http://schemas.microsoft.com/office/drawing/2014/main" id="{E7327829-20C7-AE24-49F4-181A4E5C79A4}"/>
                </a:ext>
              </a:extLst>
            </p:cNvPr>
            <p:cNvSpPr/>
            <p:nvPr/>
          </p:nvSpPr>
          <p:spPr>
            <a:xfrm>
              <a:off x="6453407" y="153446"/>
              <a:ext cx="667775" cy="177606"/>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lang="en-US" sz="850" dirty="0">
                  <a:solidFill>
                    <a:srgbClr val="2A75D3"/>
                  </a:solidFill>
                  <a:latin typeface="Ovo" pitchFamily="34" charset="0"/>
                </a:rPr>
                <a:t>Humna Imran</a:t>
              </a:r>
              <a:endParaRPr kumimoji="0" lang="en-US" sz="850" b="0" i="0" u="none" strike="noStrike" kern="1200" cap="none" spc="0" normalizeH="0" baseline="0" noProof="0" dirty="0">
                <a:ln>
                  <a:noFill/>
                </a:ln>
                <a:solidFill>
                  <a:srgbClr val="2A75D3"/>
                </a:solidFill>
                <a:effectLst/>
                <a:uLnTx/>
                <a:uFillTx/>
                <a:latin typeface="Calibri" panose="020F0502020204030204"/>
                <a:ea typeface="+mn-ea"/>
                <a:cs typeface="+mn-cs"/>
              </a:endParaRPr>
            </a:p>
          </p:txBody>
        </p:sp>
        <p:sp>
          <p:nvSpPr>
            <p:cNvPr id="24" name="Shape 1">
              <a:extLst>
                <a:ext uri="{FF2B5EF4-FFF2-40B4-BE49-F238E27FC236}">
                  <a16:creationId xmlns:a16="http://schemas.microsoft.com/office/drawing/2014/main" id="{001BC161-984A-BD88-AC2B-47BFBD449679}"/>
                </a:ext>
              </a:extLst>
            </p:cNvPr>
            <p:cNvSpPr/>
            <p:nvPr/>
          </p:nvSpPr>
          <p:spPr>
            <a:xfrm>
              <a:off x="485262" y="112865"/>
              <a:ext cx="1022924" cy="268686"/>
            </a:xfrm>
            <a:prstGeom prst="roundRect">
              <a:avLst>
                <a:gd name="adj" fmla="val 37182"/>
              </a:avLst>
            </a:prstGeom>
            <a:noFill/>
            <a:ln w="3939">
              <a:solidFill>
                <a:srgbClr val="2A75D3"/>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
              <a:extLst>
                <a:ext uri="{FF2B5EF4-FFF2-40B4-BE49-F238E27FC236}">
                  <a16:creationId xmlns:a16="http://schemas.microsoft.com/office/drawing/2014/main" id="{6B569331-FEC9-42F3-832E-5BEE0DD0C940}"/>
                </a:ext>
              </a:extLst>
            </p:cNvPr>
            <p:cNvSpPr/>
            <p:nvPr/>
          </p:nvSpPr>
          <p:spPr>
            <a:xfrm>
              <a:off x="622926" y="153446"/>
              <a:ext cx="747595" cy="177606"/>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lang="en-US" sz="850" dirty="0">
                  <a:solidFill>
                    <a:srgbClr val="2A75D3"/>
                  </a:solidFill>
                  <a:latin typeface="Ovo" pitchFamily="34" charset="0"/>
                </a:rPr>
                <a:t>2023-BS-AI-017</a:t>
              </a:r>
              <a:endParaRPr kumimoji="0" lang="en-US" sz="850" b="0" i="0" u="none" strike="noStrike" kern="1200" cap="none" spc="0" normalizeH="0" baseline="0" noProof="0" dirty="0">
                <a:ln>
                  <a:noFill/>
                </a:ln>
                <a:solidFill>
                  <a:srgbClr val="2A75D3"/>
                </a:solidFill>
                <a:effectLst/>
                <a:uLnTx/>
                <a:uFillTx/>
                <a:latin typeface="Calibri" panose="020F0502020204030204"/>
                <a:ea typeface="+mn-ea"/>
                <a:cs typeface="+mn-cs"/>
              </a:endParaRPr>
            </a:p>
          </p:txBody>
        </p:sp>
        <p:sp>
          <p:nvSpPr>
            <p:cNvPr id="26" name="Shape 1">
              <a:extLst>
                <a:ext uri="{FF2B5EF4-FFF2-40B4-BE49-F238E27FC236}">
                  <a16:creationId xmlns:a16="http://schemas.microsoft.com/office/drawing/2014/main" id="{A9F22B1B-6F4D-B45C-54CC-3A0DF716E893}"/>
                </a:ext>
              </a:extLst>
            </p:cNvPr>
            <p:cNvSpPr/>
            <p:nvPr/>
          </p:nvSpPr>
          <p:spPr>
            <a:xfrm>
              <a:off x="3315098" y="117654"/>
              <a:ext cx="1153823" cy="268686"/>
            </a:xfrm>
            <a:prstGeom prst="roundRect">
              <a:avLst>
                <a:gd name="adj" fmla="val 37182"/>
              </a:avLst>
            </a:prstGeom>
            <a:noFill/>
            <a:ln w="3939">
              <a:solidFill>
                <a:srgbClr val="2A75D3"/>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
              <a:extLst>
                <a:ext uri="{FF2B5EF4-FFF2-40B4-BE49-F238E27FC236}">
                  <a16:creationId xmlns:a16="http://schemas.microsoft.com/office/drawing/2014/main" id="{A94C40BD-B6E6-FF60-4951-9CB7270CB1C6}"/>
                </a:ext>
              </a:extLst>
            </p:cNvPr>
            <p:cNvSpPr/>
            <p:nvPr/>
          </p:nvSpPr>
          <p:spPr>
            <a:xfrm>
              <a:off x="3402965" y="157287"/>
              <a:ext cx="978087" cy="177606"/>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2A75D3"/>
                  </a:solidFill>
                  <a:effectLst/>
                  <a:uLnTx/>
                  <a:uFillTx/>
                  <a:latin typeface="Ovo" pitchFamily="34" charset="0"/>
                  <a:ea typeface="+mn-ea"/>
                  <a:cs typeface="+mn-cs"/>
                </a:rPr>
                <a:t>Computer Networks</a:t>
              </a:r>
              <a:endParaRPr kumimoji="0" lang="en-US" sz="850" b="0" i="0" u="none" strike="noStrike" kern="1200" cap="none" spc="0" normalizeH="0" baseline="0" noProof="0" dirty="0">
                <a:ln>
                  <a:noFill/>
                </a:ln>
                <a:solidFill>
                  <a:srgbClr val="2A75D3"/>
                </a:solidFill>
                <a:effectLst/>
                <a:uLnTx/>
                <a:uFillTx/>
                <a:latin typeface="Calibri" panose="020F0502020204030204"/>
                <a:ea typeface="+mn-ea"/>
                <a:cs typeface="+mn-c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5276" y="587097"/>
            <a:ext cx="5436297" cy="406475"/>
          </a:xfrm>
          <a:prstGeom prst="rect">
            <a:avLst/>
          </a:prstGeom>
          <a:noFill/>
          <a:ln/>
        </p:spPr>
        <p:txBody>
          <a:bodyPr wrap="none" lIns="0" tIns="0" rIns="0" bIns="0" rtlCol="0" anchor="t"/>
          <a:lstStyle/>
          <a:p>
            <a:pPr marL="0" indent="0" algn="l">
              <a:lnSpc>
                <a:spcPct val="104000"/>
              </a:lnSpc>
              <a:buNone/>
            </a:pPr>
            <a:r>
              <a:rPr lang="en-US" sz="2550" dirty="0">
                <a:solidFill>
                  <a:srgbClr val="000000"/>
                </a:solidFill>
                <a:latin typeface="Outfit Bold" pitchFamily="2" charset="0"/>
                <a:ea typeface="Outfit Semi Bold" pitchFamily="34" charset="-122"/>
                <a:cs typeface="Outfit Semi Bold" pitchFamily="34" charset="-120"/>
              </a:rPr>
              <a:t>IP Addresses, Classes &amp; Subnetting</a:t>
            </a:r>
            <a:endParaRPr lang="en-US" sz="2550" dirty="0">
              <a:solidFill>
                <a:srgbClr val="000000"/>
              </a:solidFill>
            </a:endParaRPr>
          </a:p>
        </p:txBody>
      </p:sp>
      <p:sp>
        <p:nvSpPr>
          <p:cNvPr id="3" name="Shape 1"/>
          <p:cNvSpPr/>
          <p:nvPr/>
        </p:nvSpPr>
        <p:spPr>
          <a:xfrm>
            <a:off x="455276" y="1084960"/>
            <a:ext cx="3354384" cy="6563354"/>
          </a:xfrm>
          <a:prstGeom prst="roundRect">
            <a:avLst>
              <a:gd name="adj" fmla="val 5584"/>
            </a:avLst>
          </a:prstGeom>
          <a:solidFill>
            <a:srgbClr val="2A75D3"/>
          </a:solidFill>
          <a:ln/>
        </p:spPr>
        <p:txBody>
          <a:bodyPr/>
          <a:lstStyle/>
          <a:p>
            <a:endParaRPr lang="en-PK"/>
          </a:p>
        </p:txBody>
      </p:sp>
      <p:sp>
        <p:nvSpPr>
          <p:cNvPr id="4" name="Text 2"/>
          <p:cNvSpPr/>
          <p:nvPr/>
        </p:nvSpPr>
        <p:spPr>
          <a:xfrm>
            <a:off x="585310" y="1206871"/>
            <a:ext cx="2036434" cy="203207"/>
          </a:xfrm>
          <a:prstGeom prst="rect">
            <a:avLst/>
          </a:prstGeom>
          <a:noFill/>
          <a:ln/>
        </p:spPr>
        <p:txBody>
          <a:bodyPr wrap="none" lIns="0" tIns="0" rIns="0" bIns="0" rtlCol="0" anchor="t"/>
          <a:lstStyle/>
          <a:p>
            <a:pPr marL="0" indent="0" algn="l">
              <a:lnSpc>
                <a:spcPct val="104000"/>
              </a:lnSpc>
              <a:buNone/>
            </a:pPr>
            <a:r>
              <a:rPr lang="en-US" sz="1250" dirty="0">
                <a:solidFill>
                  <a:srgbClr val="FFFFFF"/>
                </a:solidFill>
                <a:latin typeface="Outfit Bold" pitchFamily="2" charset="0"/>
                <a:ea typeface="Outfit Semi Bold" pitchFamily="34" charset="-122"/>
                <a:cs typeface="Outfit Semi Bold" pitchFamily="34" charset="-120"/>
              </a:rPr>
              <a:t>What is an IP Address?</a:t>
            </a:r>
            <a:endParaRPr lang="en-US" sz="1250" dirty="0">
              <a:solidFill>
                <a:srgbClr val="FFFFFF"/>
              </a:solidFill>
            </a:endParaRPr>
          </a:p>
        </p:txBody>
      </p:sp>
      <p:sp>
        <p:nvSpPr>
          <p:cNvPr id="5" name="Text 3"/>
          <p:cNvSpPr/>
          <p:nvPr/>
        </p:nvSpPr>
        <p:spPr>
          <a:xfrm>
            <a:off x="585310" y="1531990"/>
            <a:ext cx="3094314" cy="806427"/>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FFFFFF"/>
                </a:solidFill>
                <a:latin typeface="Ovo" pitchFamily="34" charset="0"/>
                <a:ea typeface="Ovo" pitchFamily="34" charset="-122"/>
                <a:cs typeface="Ovo" pitchFamily="34" charset="-120"/>
              </a:rPr>
              <a:t>Think of an IP address like a house address, but for your computer or phone. It is a unique number given to any device on a network so they can find and talk to each other.</a:t>
            </a:r>
            <a:endParaRPr lang="en-US" sz="1000" dirty="0">
              <a:solidFill>
                <a:srgbClr val="FFFFFF"/>
              </a:solidFill>
            </a:endParaRPr>
          </a:p>
        </p:txBody>
      </p:sp>
      <p:sp>
        <p:nvSpPr>
          <p:cNvPr id="6" name="Text 4"/>
          <p:cNvSpPr/>
          <p:nvPr/>
        </p:nvSpPr>
        <p:spPr>
          <a:xfrm>
            <a:off x="585310" y="2448143"/>
            <a:ext cx="3094314" cy="3194690"/>
          </a:xfrm>
          <a:prstGeom prst="rect">
            <a:avLst/>
          </a:prstGeom>
          <a:noFill/>
          <a:ln/>
        </p:spPr>
        <p:txBody>
          <a:bodyPr wrap="square" lIns="0" tIns="0" rIns="0" bIns="0" rtlCol="0" anchor="t">
            <a:normAutofit/>
          </a:bodyPr>
          <a:lstStyle/>
          <a:p>
            <a:pPr marL="342900" indent="-342900" algn="l">
              <a:lnSpc>
                <a:spcPct val="129000"/>
              </a:lnSpc>
              <a:buSzPct val="100000"/>
              <a:buChar char="•"/>
            </a:pPr>
            <a:r>
              <a:rPr lang="en-US" sz="1000" b="1" dirty="0">
                <a:solidFill>
                  <a:srgbClr val="FFFFFF"/>
                </a:solidFill>
                <a:latin typeface="Ovo" pitchFamily="34" charset="0"/>
                <a:ea typeface="Ovo" pitchFamily="34" charset="-122"/>
                <a:cs typeface="Ovo" pitchFamily="34" charset="-120"/>
              </a:rPr>
              <a:t>Logical vs. Physical:</a:t>
            </a:r>
            <a:r>
              <a:rPr lang="en-US" sz="1000" dirty="0">
                <a:solidFill>
                  <a:srgbClr val="FFFFFF"/>
                </a:solidFill>
                <a:latin typeface="Ovo" pitchFamily="34" charset="0"/>
                <a:ea typeface="Ovo" pitchFamily="34" charset="-122"/>
                <a:cs typeface="Ovo" pitchFamily="34" charset="-120"/>
              </a:rPr>
              <a:t> An IP address is "logical" (it can change depending on what network you connect to), while a MAC address is "physical" and tied to the device's actual hardware.</a:t>
            </a:r>
            <a:endParaRPr lang="en-US" sz="1000" dirty="0">
              <a:solidFill>
                <a:srgbClr val="FFFFFF"/>
              </a:solidFill>
            </a:endParaRPr>
          </a:p>
          <a:p>
            <a:pPr marL="342900" indent="-342900" algn="l">
              <a:lnSpc>
                <a:spcPct val="129000"/>
              </a:lnSpc>
              <a:buSzPct val="100000"/>
              <a:buChar char="•"/>
            </a:pPr>
            <a:r>
              <a:rPr lang="en-US" sz="1000" b="1" dirty="0">
                <a:solidFill>
                  <a:srgbClr val="FFFFFF"/>
                </a:solidFill>
                <a:latin typeface="Ovo" pitchFamily="34" charset="0"/>
                <a:ea typeface="Ovo" pitchFamily="34" charset="-122"/>
                <a:cs typeface="Ovo" pitchFamily="34" charset="-120"/>
              </a:rPr>
              <a:t>IPv4:</a:t>
            </a:r>
            <a:r>
              <a:rPr lang="en-US" sz="1000" dirty="0">
                <a:solidFill>
                  <a:srgbClr val="FFFFFF"/>
                </a:solidFill>
                <a:latin typeface="Ovo" pitchFamily="34" charset="0"/>
                <a:ea typeface="Ovo" pitchFamily="34" charset="-122"/>
                <a:cs typeface="Ovo" pitchFamily="34" charset="-120"/>
              </a:rPr>
              <a:t> The standard 32-bit IP address that most devices use today.</a:t>
            </a:r>
            <a:endParaRPr lang="en-US" sz="1000" dirty="0">
              <a:solidFill>
                <a:srgbClr val="FFFFFF"/>
              </a:solidFill>
            </a:endParaRPr>
          </a:p>
          <a:p>
            <a:pPr marL="342900" indent="-342900" algn="l">
              <a:lnSpc>
                <a:spcPct val="129000"/>
              </a:lnSpc>
              <a:buSzPct val="100000"/>
              <a:buChar char="•"/>
            </a:pPr>
            <a:r>
              <a:rPr lang="en-US" sz="1000" b="1" dirty="0">
                <a:solidFill>
                  <a:srgbClr val="FFFFFF"/>
                </a:solidFill>
                <a:latin typeface="Ovo" pitchFamily="34" charset="0"/>
                <a:ea typeface="Ovo" pitchFamily="34" charset="-122"/>
                <a:cs typeface="Ovo" pitchFamily="34" charset="-120"/>
              </a:rPr>
              <a:t>IPv6:</a:t>
            </a:r>
            <a:r>
              <a:rPr lang="en-US" sz="1000" dirty="0">
                <a:solidFill>
                  <a:srgbClr val="FFFFFF"/>
                </a:solidFill>
                <a:latin typeface="Ovo" pitchFamily="34" charset="0"/>
                <a:ea typeface="Ovo" pitchFamily="34" charset="-122"/>
                <a:cs typeface="Ovo" pitchFamily="34" charset="-120"/>
              </a:rPr>
              <a:t> Because the world is running out of IPv4 addresses, we created IPv6, which is much longer (128-bit) and provides way more addresses.</a:t>
            </a:r>
            <a:endParaRPr lang="en-US" sz="1000" dirty="0">
              <a:solidFill>
                <a:srgbClr val="FFFFFF"/>
              </a:solidFill>
            </a:endParaRPr>
          </a:p>
          <a:p>
            <a:pPr marL="342900" indent="-342900" algn="l">
              <a:lnSpc>
                <a:spcPct val="129000"/>
              </a:lnSpc>
              <a:buSzPct val="100000"/>
              <a:buChar char="•"/>
            </a:pPr>
            <a:r>
              <a:rPr lang="en-US" sz="1000" b="1" dirty="0">
                <a:solidFill>
                  <a:srgbClr val="FFFFFF"/>
                </a:solidFill>
                <a:latin typeface="Ovo" pitchFamily="34" charset="0"/>
                <a:ea typeface="Ovo" pitchFamily="34" charset="-122"/>
                <a:cs typeface="Ovo" pitchFamily="34" charset="-120"/>
              </a:rPr>
              <a:t>Public IP:</a:t>
            </a:r>
            <a:r>
              <a:rPr lang="en-US" sz="1000" dirty="0">
                <a:solidFill>
                  <a:srgbClr val="FFFFFF"/>
                </a:solidFill>
                <a:latin typeface="Ovo" pitchFamily="34" charset="0"/>
                <a:ea typeface="Ovo" pitchFamily="34" charset="-122"/>
                <a:cs typeface="Ovo" pitchFamily="34" charset="-120"/>
              </a:rPr>
              <a:t> Your global address given by your internet provider, used to talk to the wider internet.</a:t>
            </a:r>
            <a:endParaRPr lang="en-US" sz="1000" dirty="0">
              <a:solidFill>
                <a:srgbClr val="FFFFFF"/>
              </a:solidFill>
            </a:endParaRPr>
          </a:p>
          <a:p>
            <a:pPr marL="342900" indent="-342900" algn="l">
              <a:lnSpc>
                <a:spcPct val="129000"/>
              </a:lnSpc>
              <a:buSzPct val="100000"/>
              <a:buChar char="•"/>
            </a:pPr>
            <a:r>
              <a:rPr lang="en-US" sz="1000" b="1" dirty="0">
                <a:solidFill>
                  <a:srgbClr val="FFFFFF"/>
                </a:solidFill>
                <a:latin typeface="Ovo" pitchFamily="34" charset="0"/>
                <a:ea typeface="Ovo" pitchFamily="34" charset="-122"/>
                <a:cs typeface="Ovo" pitchFamily="34" charset="-120"/>
              </a:rPr>
              <a:t>Private IP:</a:t>
            </a:r>
            <a:r>
              <a:rPr lang="en-US" sz="1000" dirty="0">
                <a:solidFill>
                  <a:srgbClr val="FFFFFF"/>
                </a:solidFill>
                <a:latin typeface="Ovo" pitchFamily="34" charset="0"/>
                <a:ea typeface="Ovo" pitchFamily="34" charset="-122"/>
                <a:cs typeface="Ovo" pitchFamily="34" charset="-120"/>
              </a:rPr>
              <a:t> A local address used only inside your home or school network, keeping devices hidden from the outside internet.</a:t>
            </a:r>
            <a:endParaRPr lang="en-US" sz="1000" dirty="0">
              <a:solidFill>
                <a:srgbClr val="FFFFFF"/>
              </a:solidFill>
            </a:endParaRPr>
          </a:p>
        </p:txBody>
      </p:sp>
      <p:sp>
        <p:nvSpPr>
          <p:cNvPr id="7" name="Text 5"/>
          <p:cNvSpPr/>
          <p:nvPr/>
        </p:nvSpPr>
        <p:spPr>
          <a:xfrm>
            <a:off x="4037236" y="1206871"/>
            <a:ext cx="2395769" cy="203207"/>
          </a:xfrm>
          <a:prstGeom prst="rect">
            <a:avLst/>
          </a:prstGeom>
          <a:noFill/>
          <a:ln/>
        </p:spPr>
        <p:txBody>
          <a:bodyPr wrap="none" lIns="0" tIns="0" rIns="0" bIns="0" rtlCol="0" anchor="t"/>
          <a:lstStyle/>
          <a:p>
            <a:pPr marL="0" indent="0" algn="l">
              <a:lnSpc>
                <a:spcPct val="104000"/>
              </a:lnSpc>
              <a:buNone/>
            </a:pPr>
            <a:r>
              <a:rPr lang="en-US" sz="1250" dirty="0">
                <a:solidFill>
                  <a:srgbClr val="000000"/>
                </a:solidFill>
                <a:latin typeface="Outfit Bold" pitchFamily="2" charset="0"/>
                <a:ea typeface="Outfit Semi Bold" pitchFamily="34" charset="-122"/>
                <a:cs typeface="Outfit Semi Bold" pitchFamily="34" charset="-120"/>
              </a:rPr>
              <a:t>The Classes of IP Addresses</a:t>
            </a:r>
            <a:endParaRPr lang="en-US" sz="1250" dirty="0">
              <a:solidFill>
                <a:srgbClr val="000000"/>
              </a:solidFill>
            </a:endParaRPr>
          </a:p>
        </p:txBody>
      </p:sp>
      <p:sp>
        <p:nvSpPr>
          <p:cNvPr id="8" name="Text 6"/>
          <p:cNvSpPr/>
          <p:nvPr/>
        </p:nvSpPr>
        <p:spPr>
          <a:xfrm>
            <a:off x="4037236" y="1531990"/>
            <a:ext cx="3167055" cy="403213"/>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000000"/>
                </a:solidFill>
                <a:latin typeface="Ovo" pitchFamily="34" charset="0"/>
                <a:ea typeface="Ovo" pitchFamily="34" charset="-122"/>
                <a:cs typeface="Ovo" pitchFamily="34" charset="-120"/>
              </a:rPr>
              <a:t>IP addresses are grouped into "Classes" based on the size of the network. Here is how they are divided:</a:t>
            </a:r>
            <a:endParaRPr lang="en-US" sz="1000" dirty="0">
              <a:solidFill>
                <a:srgbClr val="000000"/>
              </a:solidFill>
            </a:endParaRPr>
          </a:p>
        </p:txBody>
      </p:sp>
      <p:sp>
        <p:nvSpPr>
          <p:cNvPr id="9" name="Shape 7"/>
          <p:cNvSpPr/>
          <p:nvPr/>
        </p:nvSpPr>
        <p:spPr>
          <a:xfrm>
            <a:off x="4037236" y="2072377"/>
            <a:ext cx="3167055" cy="4166045"/>
          </a:xfrm>
          <a:prstGeom prst="roundRect">
            <a:avLst>
              <a:gd name="adj" fmla="val 3697"/>
            </a:avLst>
          </a:prstGeom>
          <a:noFill/>
          <a:ln w="7877">
            <a:solidFill>
              <a:srgbClr val="000000">
                <a:alpha val="8000"/>
              </a:srgbClr>
            </a:solidFill>
            <a:prstDash val="solid"/>
          </a:ln>
        </p:spPr>
        <p:txBody>
          <a:bodyPr/>
          <a:lstStyle/>
          <a:p>
            <a:endParaRPr lang="en-PK"/>
          </a:p>
        </p:txBody>
      </p:sp>
      <p:sp>
        <p:nvSpPr>
          <p:cNvPr id="10" name="Shape 8"/>
          <p:cNvSpPr/>
          <p:nvPr/>
        </p:nvSpPr>
        <p:spPr>
          <a:xfrm>
            <a:off x="4045113" y="2080254"/>
            <a:ext cx="3151301" cy="557311"/>
          </a:xfrm>
          <a:prstGeom prst="rect">
            <a:avLst/>
          </a:prstGeom>
          <a:solidFill>
            <a:srgbClr val="FFFFFF">
              <a:alpha val="4000"/>
            </a:srgbClr>
          </a:solidFill>
          <a:ln/>
        </p:spPr>
        <p:txBody>
          <a:bodyPr/>
          <a:lstStyle/>
          <a:p>
            <a:endParaRPr lang="en-PK"/>
          </a:p>
        </p:txBody>
      </p:sp>
      <p:sp>
        <p:nvSpPr>
          <p:cNvPr id="11" name="Text 9"/>
          <p:cNvSpPr/>
          <p:nvPr/>
        </p:nvSpPr>
        <p:spPr>
          <a:xfrm>
            <a:off x="4175210" y="2157302"/>
            <a:ext cx="305179" cy="403213"/>
          </a:xfrm>
          <a:prstGeom prst="rect">
            <a:avLst/>
          </a:prstGeom>
          <a:noFill/>
          <a:ln/>
        </p:spPr>
        <p:txBody>
          <a:bodyPr wrap="square" lIns="0" tIns="0" rIns="0" bIns="0" rtlCol="0" anchor="t">
            <a:normAutofit/>
          </a:bodyPr>
          <a:lstStyle/>
          <a:p>
            <a:pPr marL="0" indent="0" algn="l">
              <a:lnSpc>
                <a:spcPct val="129000"/>
              </a:lnSpc>
              <a:buNone/>
            </a:pPr>
            <a:r>
              <a:rPr lang="en-US" sz="1000" b="1" dirty="0">
                <a:solidFill>
                  <a:srgbClr val="000000"/>
                </a:solidFill>
                <a:latin typeface="Ovo" pitchFamily="34" charset="0"/>
                <a:ea typeface="Ovo" pitchFamily="34" charset="-122"/>
                <a:cs typeface="Ovo" pitchFamily="34" charset="-120"/>
              </a:rPr>
              <a:t>Class</a:t>
            </a:r>
            <a:endParaRPr lang="en-US" sz="1000" dirty="0">
              <a:solidFill>
                <a:srgbClr val="000000"/>
              </a:solidFill>
            </a:endParaRPr>
          </a:p>
        </p:txBody>
      </p:sp>
      <p:sp>
        <p:nvSpPr>
          <p:cNvPr id="12" name="Text 10"/>
          <p:cNvSpPr/>
          <p:nvPr/>
        </p:nvSpPr>
        <p:spPr>
          <a:xfrm>
            <a:off x="4744397" y="2157302"/>
            <a:ext cx="1280041" cy="201607"/>
          </a:xfrm>
          <a:prstGeom prst="rect">
            <a:avLst/>
          </a:prstGeom>
          <a:noFill/>
          <a:ln/>
        </p:spPr>
        <p:txBody>
          <a:bodyPr wrap="none" lIns="0" tIns="0" rIns="0" bIns="0" rtlCol="0" anchor="t"/>
          <a:lstStyle/>
          <a:p>
            <a:pPr marL="0" indent="0" algn="l">
              <a:lnSpc>
                <a:spcPct val="129000"/>
              </a:lnSpc>
              <a:buNone/>
            </a:pPr>
            <a:r>
              <a:rPr lang="en-US" sz="1000" b="1" dirty="0">
                <a:solidFill>
                  <a:srgbClr val="000000"/>
                </a:solidFill>
                <a:latin typeface="Ovo" pitchFamily="34" charset="0"/>
                <a:ea typeface="Ovo" pitchFamily="34" charset="-122"/>
                <a:cs typeface="Ovo" pitchFamily="34" charset="-120"/>
              </a:rPr>
              <a:t>Range</a:t>
            </a:r>
            <a:endParaRPr lang="en-US" sz="1000" dirty="0">
              <a:solidFill>
                <a:srgbClr val="000000"/>
              </a:solidFill>
            </a:endParaRPr>
          </a:p>
        </p:txBody>
      </p:sp>
      <p:sp>
        <p:nvSpPr>
          <p:cNvPr id="13" name="Text 11"/>
          <p:cNvSpPr/>
          <p:nvPr/>
        </p:nvSpPr>
        <p:spPr>
          <a:xfrm>
            <a:off x="5910342" y="2157302"/>
            <a:ext cx="1534141" cy="201607"/>
          </a:xfrm>
          <a:prstGeom prst="rect">
            <a:avLst/>
          </a:prstGeom>
          <a:noFill/>
          <a:ln/>
        </p:spPr>
        <p:txBody>
          <a:bodyPr wrap="none" lIns="0" tIns="0" rIns="0" bIns="0" rtlCol="0" anchor="t"/>
          <a:lstStyle/>
          <a:p>
            <a:pPr marL="0" indent="0" algn="l">
              <a:lnSpc>
                <a:spcPct val="129000"/>
              </a:lnSpc>
              <a:buNone/>
            </a:pPr>
            <a:r>
              <a:rPr lang="en-US" sz="1000" b="1" dirty="0">
                <a:solidFill>
                  <a:srgbClr val="000000"/>
                </a:solidFill>
                <a:latin typeface="Ovo" pitchFamily="34" charset="0"/>
                <a:ea typeface="Ovo" pitchFamily="34" charset="-122"/>
                <a:cs typeface="Ovo" pitchFamily="34" charset="-120"/>
              </a:rPr>
              <a:t>Capacity</a:t>
            </a:r>
            <a:endParaRPr lang="en-US" sz="1000" dirty="0">
              <a:solidFill>
                <a:srgbClr val="000000"/>
              </a:solidFill>
            </a:endParaRPr>
          </a:p>
        </p:txBody>
      </p:sp>
      <p:sp>
        <p:nvSpPr>
          <p:cNvPr id="14" name="Shape 12"/>
          <p:cNvSpPr/>
          <p:nvPr/>
        </p:nvSpPr>
        <p:spPr>
          <a:xfrm>
            <a:off x="4045113" y="2637564"/>
            <a:ext cx="3151301" cy="758917"/>
          </a:xfrm>
          <a:prstGeom prst="rect">
            <a:avLst/>
          </a:prstGeom>
          <a:solidFill>
            <a:srgbClr val="000000">
              <a:alpha val="4000"/>
            </a:srgbClr>
          </a:solidFill>
          <a:ln/>
        </p:spPr>
        <p:txBody>
          <a:bodyPr/>
          <a:lstStyle/>
          <a:p>
            <a:endParaRPr lang="en-PK"/>
          </a:p>
        </p:txBody>
      </p:sp>
      <p:sp>
        <p:nvSpPr>
          <p:cNvPr id="15" name="Text 13"/>
          <p:cNvSpPr/>
          <p:nvPr/>
        </p:nvSpPr>
        <p:spPr>
          <a:xfrm>
            <a:off x="4175210" y="2714613"/>
            <a:ext cx="683283" cy="201607"/>
          </a:xfrm>
          <a:prstGeom prst="rect">
            <a:avLst/>
          </a:prstGeom>
          <a:noFill/>
          <a:ln/>
        </p:spPr>
        <p:txBody>
          <a:bodyPr wrap="none" lIns="0" tIns="0" rIns="0" bIns="0" rtlCol="0" anchor="t"/>
          <a:lstStyle/>
          <a:p>
            <a:pPr marL="0" indent="0" algn="l">
              <a:lnSpc>
                <a:spcPct val="129000"/>
              </a:lnSpc>
              <a:buNone/>
            </a:pPr>
            <a:r>
              <a:rPr lang="en-US" sz="1000" b="1" dirty="0">
                <a:solidFill>
                  <a:srgbClr val="2A75D3"/>
                </a:solidFill>
                <a:latin typeface="Ovo" pitchFamily="34" charset="0"/>
                <a:ea typeface="Ovo" pitchFamily="34" charset="-122"/>
                <a:cs typeface="Ovo" pitchFamily="34" charset="-120"/>
              </a:rPr>
              <a:t>A</a:t>
            </a:r>
            <a:endParaRPr lang="en-US" sz="1000" dirty="0">
              <a:solidFill>
                <a:srgbClr val="2A75D3"/>
              </a:solidFill>
            </a:endParaRPr>
          </a:p>
        </p:txBody>
      </p:sp>
      <p:sp>
        <p:nvSpPr>
          <p:cNvPr id="16" name="Text 14"/>
          <p:cNvSpPr/>
          <p:nvPr/>
        </p:nvSpPr>
        <p:spPr>
          <a:xfrm>
            <a:off x="4744397" y="2714613"/>
            <a:ext cx="901937" cy="604820"/>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000000"/>
                </a:solidFill>
                <a:latin typeface="Ovo" pitchFamily="34" charset="0"/>
                <a:ea typeface="Ovo" pitchFamily="34" charset="-122"/>
                <a:cs typeface="Ovo" pitchFamily="34" charset="-120"/>
              </a:rPr>
              <a:t>1.0.0.0 – 126.255.255.254</a:t>
            </a:r>
            <a:endParaRPr lang="en-US" sz="1000" dirty="0">
              <a:solidFill>
                <a:srgbClr val="000000"/>
              </a:solidFill>
            </a:endParaRPr>
          </a:p>
        </p:txBody>
      </p:sp>
      <p:sp>
        <p:nvSpPr>
          <p:cNvPr id="17" name="Text 15"/>
          <p:cNvSpPr/>
          <p:nvPr/>
        </p:nvSpPr>
        <p:spPr>
          <a:xfrm>
            <a:off x="5910342" y="2714613"/>
            <a:ext cx="1156037" cy="403213"/>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000000"/>
                </a:solidFill>
                <a:latin typeface="Ovo" pitchFamily="34" charset="0"/>
                <a:ea typeface="Ovo" pitchFamily="34" charset="-122"/>
                <a:cs typeface="Ovo" pitchFamily="34" charset="-120"/>
              </a:rPr>
              <a:t>Up to 16 million devices</a:t>
            </a:r>
            <a:endParaRPr lang="en-US" sz="1000" dirty="0">
              <a:solidFill>
                <a:srgbClr val="000000"/>
              </a:solidFill>
            </a:endParaRPr>
          </a:p>
        </p:txBody>
      </p:sp>
      <p:sp>
        <p:nvSpPr>
          <p:cNvPr id="18" name="Shape 16"/>
          <p:cNvSpPr/>
          <p:nvPr/>
        </p:nvSpPr>
        <p:spPr>
          <a:xfrm>
            <a:off x="4045113" y="3396482"/>
            <a:ext cx="3151301" cy="557311"/>
          </a:xfrm>
          <a:prstGeom prst="rect">
            <a:avLst/>
          </a:prstGeom>
          <a:solidFill>
            <a:srgbClr val="FFFFFF">
              <a:alpha val="4000"/>
            </a:srgbClr>
          </a:solidFill>
          <a:ln/>
        </p:spPr>
        <p:txBody>
          <a:bodyPr/>
          <a:lstStyle/>
          <a:p>
            <a:endParaRPr lang="en-PK"/>
          </a:p>
        </p:txBody>
      </p:sp>
      <p:sp>
        <p:nvSpPr>
          <p:cNvPr id="19" name="Text 17"/>
          <p:cNvSpPr/>
          <p:nvPr/>
        </p:nvSpPr>
        <p:spPr>
          <a:xfrm>
            <a:off x="4175210" y="3473530"/>
            <a:ext cx="683283" cy="201607"/>
          </a:xfrm>
          <a:prstGeom prst="rect">
            <a:avLst/>
          </a:prstGeom>
          <a:noFill/>
          <a:ln/>
        </p:spPr>
        <p:txBody>
          <a:bodyPr wrap="none" lIns="0" tIns="0" rIns="0" bIns="0" rtlCol="0" anchor="t"/>
          <a:lstStyle/>
          <a:p>
            <a:pPr marL="0" indent="0" algn="l">
              <a:lnSpc>
                <a:spcPct val="129000"/>
              </a:lnSpc>
              <a:buNone/>
            </a:pPr>
            <a:r>
              <a:rPr lang="en-US" sz="1000" b="1" dirty="0">
                <a:solidFill>
                  <a:srgbClr val="2A75D3"/>
                </a:solidFill>
                <a:latin typeface="Ovo" pitchFamily="34" charset="0"/>
                <a:ea typeface="Ovo" pitchFamily="34" charset="-122"/>
                <a:cs typeface="Ovo" pitchFamily="34" charset="-120"/>
              </a:rPr>
              <a:t>B</a:t>
            </a:r>
            <a:endParaRPr lang="en-US" sz="1000" dirty="0">
              <a:solidFill>
                <a:srgbClr val="2A75D3"/>
              </a:solidFill>
            </a:endParaRPr>
          </a:p>
        </p:txBody>
      </p:sp>
      <p:sp>
        <p:nvSpPr>
          <p:cNvPr id="20" name="Text 18"/>
          <p:cNvSpPr/>
          <p:nvPr/>
        </p:nvSpPr>
        <p:spPr>
          <a:xfrm>
            <a:off x="4744397" y="3473530"/>
            <a:ext cx="901937" cy="403213"/>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000000"/>
                </a:solidFill>
                <a:latin typeface="Ovo" pitchFamily="34" charset="0"/>
                <a:ea typeface="Ovo" pitchFamily="34" charset="-122"/>
                <a:cs typeface="Ovo" pitchFamily="34" charset="-120"/>
              </a:rPr>
              <a:t>128.1.0.1 – 191.255.255.254</a:t>
            </a:r>
            <a:endParaRPr lang="en-US" sz="1000" dirty="0">
              <a:solidFill>
                <a:srgbClr val="000000"/>
              </a:solidFill>
            </a:endParaRPr>
          </a:p>
        </p:txBody>
      </p:sp>
      <p:sp>
        <p:nvSpPr>
          <p:cNvPr id="21" name="Text 19"/>
          <p:cNvSpPr/>
          <p:nvPr/>
        </p:nvSpPr>
        <p:spPr>
          <a:xfrm>
            <a:off x="5910342" y="3473530"/>
            <a:ext cx="1156037" cy="403213"/>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000000"/>
                </a:solidFill>
                <a:latin typeface="Ovo" pitchFamily="34" charset="0"/>
                <a:ea typeface="Ovo" pitchFamily="34" charset="-122"/>
                <a:cs typeface="Ovo" pitchFamily="34" charset="-120"/>
              </a:rPr>
              <a:t>Up to 65,000 devices</a:t>
            </a:r>
            <a:endParaRPr lang="en-US" sz="1000" dirty="0">
              <a:solidFill>
                <a:srgbClr val="000000"/>
              </a:solidFill>
            </a:endParaRPr>
          </a:p>
        </p:txBody>
      </p:sp>
      <p:sp>
        <p:nvSpPr>
          <p:cNvPr id="22" name="Shape 20"/>
          <p:cNvSpPr/>
          <p:nvPr/>
        </p:nvSpPr>
        <p:spPr>
          <a:xfrm>
            <a:off x="4045113" y="3953792"/>
            <a:ext cx="3151301" cy="758917"/>
          </a:xfrm>
          <a:prstGeom prst="rect">
            <a:avLst/>
          </a:prstGeom>
          <a:solidFill>
            <a:srgbClr val="000000">
              <a:alpha val="4000"/>
            </a:srgbClr>
          </a:solidFill>
          <a:ln/>
        </p:spPr>
        <p:txBody>
          <a:bodyPr/>
          <a:lstStyle/>
          <a:p>
            <a:endParaRPr lang="en-PK"/>
          </a:p>
        </p:txBody>
      </p:sp>
      <p:sp>
        <p:nvSpPr>
          <p:cNvPr id="23" name="Text 21"/>
          <p:cNvSpPr/>
          <p:nvPr/>
        </p:nvSpPr>
        <p:spPr>
          <a:xfrm>
            <a:off x="4175210" y="4030841"/>
            <a:ext cx="683283" cy="201607"/>
          </a:xfrm>
          <a:prstGeom prst="rect">
            <a:avLst/>
          </a:prstGeom>
          <a:noFill/>
          <a:ln/>
        </p:spPr>
        <p:txBody>
          <a:bodyPr wrap="none" lIns="0" tIns="0" rIns="0" bIns="0" rtlCol="0" anchor="t"/>
          <a:lstStyle/>
          <a:p>
            <a:pPr marL="0" indent="0" algn="l">
              <a:lnSpc>
                <a:spcPct val="129000"/>
              </a:lnSpc>
              <a:buNone/>
            </a:pPr>
            <a:r>
              <a:rPr lang="en-US" sz="1000" b="1" dirty="0">
                <a:solidFill>
                  <a:srgbClr val="2A75D3"/>
                </a:solidFill>
                <a:latin typeface="Ovo" pitchFamily="34" charset="0"/>
                <a:ea typeface="Ovo" pitchFamily="34" charset="-122"/>
                <a:cs typeface="Ovo" pitchFamily="34" charset="-120"/>
              </a:rPr>
              <a:t>C</a:t>
            </a:r>
            <a:endParaRPr lang="en-US" sz="1000" dirty="0">
              <a:solidFill>
                <a:srgbClr val="2A75D3"/>
              </a:solidFill>
            </a:endParaRPr>
          </a:p>
        </p:txBody>
      </p:sp>
      <p:sp>
        <p:nvSpPr>
          <p:cNvPr id="24" name="Text 22"/>
          <p:cNvSpPr/>
          <p:nvPr/>
        </p:nvSpPr>
        <p:spPr>
          <a:xfrm>
            <a:off x="4744397" y="4030841"/>
            <a:ext cx="901937" cy="604820"/>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000000"/>
                </a:solidFill>
                <a:latin typeface="Ovo" pitchFamily="34" charset="0"/>
                <a:ea typeface="Ovo" pitchFamily="34" charset="-122"/>
                <a:cs typeface="Ovo" pitchFamily="34" charset="-120"/>
              </a:rPr>
              <a:t>192.0.1.1 – 223.255.254.254</a:t>
            </a:r>
            <a:endParaRPr lang="en-US" sz="1000" dirty="0">
              <a:solidFill>
                <a:srgbClr val="000000"/>
              </a:solidFill>
            </a:endParaRPr>
          </a:p>
        </p:txBody>
      </p:sp>
      <p:sp>
        <p:nvSpPr>
          <p:cNvPr id="25" name="Text 23"/>
          <p:cNvSpPr/>
          <p:nvPr/>
        </p:nvSpPr>
        <p:spPr>
          <a:xfrm>
            <a:off x="5910342" y="4030841"/>
            <a:ext cx="1534141" cy="201607"/>
          </a:xfrm>
          <a:prstGeom prst="rect">
            <a:avLst/>
          </a:prstGeom>
          <a:noFill/>
          <a:ln/>
        </p:spPr>
        <p:txBody>
          <a:bodyPr wrap="none" lIns="0" tIns="0" rIns="0" bIns="0" rtlCol="0" anchor="t"/>
          <a:lstStyle/>
          <a:p>
            <a:pPr marL="0" indent="0" algn="l">
              <a:lnSpc>
                <a:spcPct val="129000"/>
              </a:lnSpc>
              <a:buNone/>
            </a:pPr>
            <a:r>
              <a:rPr lang="en-US" sz="1000" dirty="0">
                <a:solidFill>
                  <a:srgbClr val="000000"/>
                </a:solidFill>
                <a:latin typeface="Ovo" pitchFamily="34" charset="0"/>
                <a:ea typeface="Ovo" pitchFamily="34" charset="-122"/>
                <a:cs typeface="Ovo" pitchFamily="34" charset="-120"/>
              </a:rPr>
              <a:t>Up to 254 devices</a:t>
            </a:r>
            <a:endParaRPr lang="en-US" sz="1000" dirty="0">
              <a:solidFill>
                <a:srgbClr val="000000"/>
              </a:solidFill>
            </a:endParaRPr>
          </a:p>
        </p:txBody>
      </p:sp>
      <p:sp>
        <p:nvSpPr>
          <p:cNvPr id="26" name="Shape 24"/>
          <p:cNvSpPr/>
          <p:nvPr/>
        </p:nvSpPr>
        <p:spPr>
          <a:xfrm>
            <a:off x="4045113" y="4712710"/>
            <a:ext cx="3151301" cy="758917"/>
          </a:xfrm>
          <a:prstGeom prst="rect">
            <a:avLst/>
          </a:prstGeom>
          <a:solidFill>
            <a:srgbClr val="FFFFFF">
              <a:alpha val="4000"/>
            </a:srgbClr>
          </a:solidFill>
          <a:ln/>
        </p:spPr>
        <p:txBody>
          <a:bodyPr/>
          <a:lstStyle/>
          <a:p>
            <a:endParaRPr lang="en-PK"/>
          </a:p>
        </p:txBody>
      </p:sp>
      <p:sp>
        <p:nvSpPr>
          <p:cNvPr id="27" name="Text 25"/>
          <p:cNvSpPr/>
          <p:nvPr/>
        </p:nvSpPr>
        <p:spPr>
          <a:xfrm>
            <a:off x="4175210" y="4789758"/>
            <a:ext cx="683283" cy="201607"/>
          </a:xfrm>
          <a:prstGeom prst="rect">
            <a:avLst/>
          </a:prstGeom>
          <a:noFill/>
          <a:ln/>
        </p:spPr>
        <p:txBody>
          <a:bodyPr wrap="none" lIns="0" tIns="0" rIns="0" bIns="0" rtlCol="0" anchor="t"/>
          <a:lstStyle/>
          <a:p>
            <a:pPr marL="0" indent="0" algn="l">
              <a:lnSpc>
                <a:spcPct val="129000"/>
              </a:lnSpc>
              <a:buNone/>
            </a:pPr>
            <a:r>
              <a:rPr lang="en-US" sz="1000" b="1" dirty="0">
                <a:solidFill>
                  <a:srgbClr val="000000"/>
                </a:solidFill>
                <a:latin typeface="Ovo" pitchFamily="34" charset="0"/>
                <a:ea typeface="Ovo" pitchFamily="34" charset="-122"/>
                <a:cs typeface="Ovo" pitchFamily="34" charset="-120"/>
              </a:rPr>
              <a:t>D</a:t>
            </a:r>
            <a:endParaRPr lang="en-US" sz="1000" dirty="0">
              <a:solidFill>
                <a:srgbClr val="000000"/>
              </a:solidFill>
            </a:endParaRPr>
          </a:p>
        </p:txBody>
      </p:sp>
      <p:sp>
        <p:nvSpPr>
          <p:cNvPr id="28" name="Text 26"/>
          <p:cNvSpPr/>
          <p:nvPr/>
        </p:nvSpPr>
        <p:spPr>
          <a:xfrm>
            <a:off x="4744397" y="4789758"/>
            <a:ext cx="901937" cy="604820"/>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000000"/>
                </a:solidFill>
                <a:latin typeface="Ovo" pitchFamily="34" charset="0"/>
                <a:ea typeface="Ovo" pitchFamily="34" charset="-122"/>
                <a:cs typeface="Ovo" pitchFamily="34" charset="-120"/>
              </a:rPr>
              <a:t>224.0.0.0 – 239.255.255.255</a:t>
            </a:r>
            <a:endParaRPr lang="en-US" sz="1000" dirty="0">
              <a:solidFill>
                <a:srgbClr val="000000"/>
              </a:solidFill>
            </a:endParaRPr>
          </a:p>
        </p:txBody>
      </p:sp>
      <p:sp>
        <p:nvSpPr>
          <p:cNvPr id="29" name="Text 27"/>
          <p:cNvSpPr/>
          <p:nvPr/>
        </p:nvSpPr>
        <p:spPr>
          <a:xfrm>
            <a:off x="5910342" y="4789758"/>
            <a:ext cx="1156037" cy="403213"/>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000000"/>
                </a:solidFill>
                <a:latin typeface="Ovo" pitchFamily="34" charset="0"/>
                <a:ea typeface="Ovo" pitchFamily="34" charset="-122"/>
                <a:cs typeface="Ovo" pitchFamily="34" charset="-120"/>
              </a:rPr>
              <a:t>Reserved for multicasting</a:t>
            </a:r>
            <a:endParaRPr lang="en-US" sz="1000" dirty="0">
              <a:solidFill>
                <a:srgbClr val="000000"/>
              </a:solidFill>
            </a:endParaRPr>
          </a:p>
        </p:txBody>
      </p:sp>
      <p:sp>
        <p:nvSpPr>
          <p:cNvPr id="30" name="Shape 28"/>
          <p:cNvSpPr/>
          <p:nvPr/>
        </p:nvSpPr>
        <p:spPr>
          <a:xfrm>
            <a:off x="4045113" y="5471627"/>
            <a:ext cx="3151301" cy="758917"/>
          </a:xfrm>
          <a:prstGeom prst="rect">
            <a:avLst/>
          </a:prstGeom>
          <a:solidFill>
            <a:srgbClr val="000000">
              <a:alpha val="4000"/>
            </a:srgbClr>
          </a:solidFill>
          <a:ln/>
        </p:spPr>
        <p:txBody>
          <a:bodyPr/>
          <a:lstStyle/>
          <a:p>
            <a:endParaRPr lang="en-PK"/>
          </a:p>
        </p:txBody>
      </p:sp>
      <p:sp>
        <p:nvSpPr>
          <p:cNvPr id="31" name="Text 29"/>
          <p:cNvSpPr/>
          <p:nvPr/>
        </p:nvSpPr>
        <p:spPr>
          <a:xfrm>
            <a:off x="4175210" y="5548675"/>
            <a:ext cx="683283" cy="201607"/>
          </a:xfrm>
          <a:prstGeom prst="rect">
            <a:avLst/>
          </a:prstGeom>
          <a:noFill/>
          <a:ln/>
        </p:spPr>
        <p:txBody>
          <a:bodyPr wrap="none" lIns="0" tIns="0" rIns="0" bIns="0" rtlCol="0" anchor="t"/>
          <a:lstStyle/>
          <a:p>
            <a:pPr marL="0" indent="0" algn="l">
              <a:lnSpc>
                <a:spcPct val="129000"/>
              </a:lnSpc>
              <a:buNone/>
            </a:pPr>
            <a:r>
              <a:rPr lang="en-US" sz="1000" b="1" dirty="0">
                <a:solidFill>
                  <a:srgbClr val="000000"/>
                </a:solidFill>
                <a:latin typeface="Ovo" pitchFamily="34" charset="0"/>
                <a:ea typeface="Ovo" pitchFamily="34" charset="-122"/>
                <a:cs typeface="Ovo" pitchFamily="34" charset="-120"/>
              </a:rPr>
              <a:t>E</a:t>
            </a:r>
            <a:endParaRPr lang="en-US" sz="1000" dirty="0">
              <a:solidFill>
                <a:srgbClr val="000000"/>
              </a:solidFill>
            </a:endParaRPr>
          </a:p>
        </p:txBody>
      </p:sp>
      <p:sp>
        <p:nvSpPr>
          <p:cNvPr id="32" name="Text 30"/>
          <p:cNvSpPr/>
          <p:nvPr/>
        </p:nvSpPr>
        <p:spPr>
          <a:xfrm>
            <a:off x="4744397" y="5548675"/>
            <a:ext cx="901937" cy="604820"/>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000000"/>
                </a:solidFill>
                <a:latin typeface="Ovo" pitchFamily="34" charset="0"/>
                <a:ea typeface="Ovo" pitchFamily="34" charset="-122"/>
                <a:cs typeface="Ovo" pitchFamily="34" charset="-120"/>
              </a:rPr>
              <a:t>240.0.0.0 – 254.255.255.254</a:t>
            </a:r>
            <a:endParaRPr lang="en-US" sz="1000" dirty="0">
              <a:solidFill>
                <a:srgbClr val="000000"/>
              </a:solidFill>
            </a:endParaRPr>
          </a:p>
        </p:txBody>
      </p:sp>
      <p:sp>
        <p:nvSpPr>
          <p:cNvPr id="33" name="Text 31"/>
          <p:cNvSpPr/>
          <p:nvPr/>
        </p:nvSpPr>
        <p:spPr>
          <a:xfrm>
            <a:off x="5910342" y="5548675"/>
            <a:ext cx="1156037" cy="403213"/>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000000"/>
                </a:solidFill>
                <a:latin typeface="Ovo" pitchFamily="34" charset="0"/>
                <a:ea typeface="Ovo" pitchFamily="34" charset="-122"/>
                <a:cs typeface="Ovo" pitchFamily="34" charset="-120"/>
              </a:rPr>
              <a:t>Reserved for future / experimental use</a:t>
            </a:r>
            <a:endParaRPr lang="en-US" sz="1000" dirty="0">
              <a:solidFill>
                <a:srgbClr val="000000"/>
              </a:solidFill>
            </a:endParaRPr>
          </a:p>
        </p:txBody>
      </p:sp>
      <p:sp>
        <p:nvSpPr>
          <p:cNvPr id="34" name="Shape 32"/>
          <p:cNvSpPr/>
          <p:nvPr/>
        </p:nvSpPr>
        <p:spPr>
          <a:xfrm>
            <a:off x="4037236" y="6375595"/>
            <a:ext cx="3167055" cy="1135545"/>
          </a:xfrm>
          <a:prstGeom prst="roundRect">
            <a:avLst>
              <a:gd name="adj" fmla="val 10310"/>
            </a:avLst>
          </a:prstGeom>
          <a:solidFill>
            <a:srgbClr val="B6D6FC"/>
          </a:solidFill>
          <a:ln/>
        </p:spPr>
        <p:txBody>
          <a:bodyPr/>
          <a:lstStyle/>
          <a:p>
            <a:endParaRPr lang="en-PK"/>
          </a:p>
        </p:txBody>
      </p:sp>
      <p:pic>
        <p:nvPicPr>
          <p:cNvPr id="35" name="Image 0" descr="preencoded.png"/>
          <p:cNvPicPr>
            <a:picLocks noChangeAspect="1"/>
          </p:cNvPicPr>
          <p:nvPr/>
        </p:nvPicPr>
        <p:blipFill>
          <a:blip r:embed="rId3"/>
          <a:stretch>
            <a:fillRect/>
          </a:stretch>
        </p:blipFill>
        <p:spPr>
          <a:xfrm>
            <a:off x="4167271" y="6562186"/>
            <a:ext cx="162590" cy="130035"/>
          </a:xfrm>
          <a:prstGeom prst="rect">
            <a:avLst/>
          </a:prstGeom>
        </p:spPr>
      </p:pic>
      <p:sp>
        <p:nvSpPr>
          <p:cNvPr id="36" name="Text 33"/>
          <p:cNvSpPr/>
          <p:nvPr/>
        </p:nvSpPr>
        <p:spPr>
          <a:xfrm>
            <a:off x="4459896" y="6530000"/>
            <a:ext cx="2614361" cy="806427"/>
          </a:xfrm>
          <a:prstGeom prst="rect">
            <a:avLst/>
          </a:prstGeom>
          <a:noFill/>
          <a:ln/>
        </p:spPr>
        <p:txBody>
          <a:bodyPr wrap="square" lIns="0" tIns="0" rIns="0" bIns="0" rtlCol="0" anchor="t">
            <a:normAutofit/>
          </a:bodyPr>
          <a:lstStyle/>
          <a:p>
            <a:pPr marL="0" indent="0" algn="l">
              <a:lnSpc>
                <a:spcPct val="129000"/>
              </a:lnSpc>
              <a:buNone/>
            </a:pPr>
            <a:r>
              <a:rPr lang="en-US" sz="1000" b="1" dirty="0">
                <a:solidFill>
                  <a:srgbClr val="000000"/>
                </a:solidFill>
                <a:latin typeface="Ovo" pitchFamily="34" charset="0"/>
                <a:ea typeface="Ovo" pitchFamily="34" charset="-122"/>
                <a:cs typeface="Ovo" pitchFamily="34" charset="-120"/>
              </a:rPr>
              <a:t>Fun Fact:</a:t>
            </a:r>
            <a:r>
              <a:rPr lang="en-US" sz="1000" dirty="0">
                <a:solidFill>
                  <a:srgbClr val="000000"/>
                </a:solidFill>
                <a:latin typeface="Ovo" pitchFamily="34" charset="0"/>
                <a:ea typeface="Ovo" pitchFamily="34" charset="-122"/>
                <a:cs typeface="Ovo" pitchFamily="34" charset="-120"/>
              </a:rPr>
              <a:t> Addresses starting with </a:t>
            </a:r>
            <a:r>
              <a:rPr lang="en-US" sz="1000" b="1" dirty="0">
                <a:solidFill>
                  <a:srgbClr val="000000"/>
                </a:solidFill>
                <a:latin typeface="Ovo" pitchFamily="34" charset="0"/>
                <a:ea typeface="Ovo" pitchFamily="34" charset="-122"/>
                <a:cs typeface="Ovo" pitchFamily="34" charset="-120"/>
              </a:rPr>
              <a:t>127</a:t>
            </a:r>
            <a:r>
              <a:rPr lang="en-US" sz="1000" dirty="0">
                <a:solidFill>
                  <a:srgbClr val="000000"/>
                </a:solidFill>
                <a:latin typeface="Ovo" pitchFamily="34" charset="0"/>
                <a:ea typeface="Ovo" pitchFamily="34" charset="-122"/>
                <a:cs typeface="Ovo" pitchFamily="34" charset="-120"/>
              </a:rPr>
              <a:t> are reserved for "loopback" — a way for a computer to send a message to itself to test if its own network card is working.</a:t>
            </a:r>
            <a:endParaRPr lang="en-US" sz="1000" dirty="0">
              <a:solidFill>
                <a:srgbClr val="000000"/>
              </a:solidFill>
            </a:endParaRPr>
          </a:p>
        </p:txBody>
      </p:sp>
      <p:sp>
        <p:nvSpPr>
          <p:cNvPr id="37" name="Text 34"/>
          <p:cNvSpPr/>
          <p:nvPr/>
        </p:nvSpPr>
        <p:spPr>
          <a:xfrm>
            <a:off x="548940" y="7831212"/>
            <a:ext cx="3460172" cy="325241"/>
          </a:xfrm>
          <a:prstGeom prst="rect">
            <a:avLst/>
          </a:prstGeom>
          <a:noFill/>
          <a:ln/>
        </p:spPr>
        <p:txBody>
          <a:bodyPr wrap="none" lIns="0" tIns="0" rIns="0" bIns="0" rtlCol="0" anchor="t"/>
          <a:lstStyle/>
          <a:p>
            <a:pPr marL="0" indent="0" algn="l">
              <a:lnSpc>
                <a:spcPct val="104000"/>
              </a:lnSpc>
              <a:buNone/>
            </a:pPr>
            <a:r>
              <a:rPr lang="en-US" sz="2000" dirty="0">
                <a:solidFill>
                  <a:srgbClr val="000000"/>
                </a:solidFill>
                <a:latin typeface="Outfit Bold" pitchFamily="2" charset="0"/>
                <a:ea typeface="Outfit Semi Bold" pitchFamily="34" charset="-122"/>
                <a:cs typeface="Outfit Semi Bold" pitchFamily="34" charset="-120"/>
              </a:rPr>
              <a:t>Subnetting &amp; Supernetting</a:t>
            </a:r>
            <a:endParaRPr lang="en-US" sz="2000" dirty="0">
              <a:solidFill>
                <a:srgbClr val="000000"/>
              </a:solidFill>
            </a:endParaRPr>
          </a:p>
        </p:txBody>
      </p:sp>
      <p:sp>
        <p:nvSpPr>
          <p:cNvPr id="38" name="Text 35"/>
          <p:cNvSpPr/>
          <p:nvPr/>
        </p:nvSpPr>
        <p:spPr>
          <a:xfrm>
            <a:off x="548940" y="8339352"/>
            <a:ext cx="6651474" cy="604820"/>
          </a:xfrm>
          <a:prstGeom prst="rect">
            <a:avLst/>
          </a:prstGeom>
          <a:noFill/>
          <a:ln/>
        </p:spPr>
        <p:txBody>
          <a:bodyPr wrap="square" lIns="0" tIns="0" rIns="0" bIns="0" rtlCol="0" anchor="t">
            <a:normAutofit/>
          </a:bodyPr>
          <a:lstStyle/>
          <a:p>
            <a:pPr marL="0" indent="0" algn="l">
              <a:lnSpc>
                <a:spcPct val="129000"/>
              </a:lnSpc>
              <a:buNone/>
            </a:pPr>
            <a:r>
              <a:rPr lang="en-US" sz="1000" b="1" dirty="0">
                <a:solidFill>
                  <a:srgbClr val="000000"/>
                </a:solidFill>
                <a:latin typeface="Ovo" pitchFamily="34" charset="0"/>
                <a:ea typeface="Ovo" pitchFamily="34" charset="-122"/>
                <a:cs typeface="Ovo" pitchFamily="34" charset="-120"/>
              </a:rPr>
              <a:t>Subnetting</a:t>
            </a:r>
            <a:r>
              <a:rPr lang="en-US" sz="1000" dirty="0">
                <a:solidFill>
                  <a:srgbClr val="000000"/>
                </a:solidFill>
                <a:latin typeface="Ovo" pitchFamily="34" charset="0"/>
                <a:ea typeface="Ovo" pitchFamily="34" charset="-122"/>
                <a:cs typeface="Ovo" pitchFamily="34" charset="-120"/>
              </a:rPr>
              <a:t> is like taking a giant pizza and slicing it into smaller, manageable pieces. In networking, it means dividing a large network into smaller mini-networks to improve speed, security, and efficiency. </a:t>
            </a:r>
            <a:r>
              <a:rPr lang="en-US" sz="1000" b="1" dirty="0">
                <a:solidFill>
                  <a:srgbClr val="000000"/>
                </a:solidFill>
                <a:latin typeface="Ovo" pitchFamily="34" charset="0"/>
                <a:ea typeface="Ovo" pitchFamily="34" charset="-122"/>
                <a:cs typeface="Ovo" pitchFamily="34" charset="-120"/>
              </a:rPr>
              <a:t>Supernetting</a:t>
            </a:r>
            <a:r>
              <a:rPr lang="en-US" sz="1000" dirty="0">
                <a:solidFill>
                  <a:srgbClr val="000000"/>
                </a:solidFill>
                <a:latin typeface="Ovo" pitchFamily="34" charset="0"/>
                <a:ea typeface="Ovo" pitchFamily="34" charset="-122"/>
                <a:cs typeface="Ovo" pitchFamily="34" charset="-120"/>
              </a:rPr>
              <a:t> is the exact opposite — combining multiple small networks into one large one.</a:t>
            </a:r>
            <a:endParaRPr lang="en-US" sz="1000" dirty="0">
              <a:solidFill>
                <a:srgbClr val="000000"/>
              </a:solidFill>
            </a:endParaRPr>
          </a:p>
        </p:txBody>
      </p:sp>
      <p:sp>
        <p:nvSpPr>
          <p:cNvPr id="39" name="Shape 36"/>
          <p:cNvSpPr/>
          <p:nvPr/>
        </p:nvSpPr>
        <p:spPr>
          <a:xfrm>
            <a:off x="548940" y="9081345"/>
            <a:ext cx="3264781" cy="1156961"/>
          </a:xfrm>
          <a:prstGeom prst="roundRect">
            <a:avLst>
              <a:gd name="adj" fmla="val 10119"/>
            </a:avLst>
          </a:prstGeom>
          <a:solidFill>
            <a:srgbClr val="D4EBF7"/>
          </a:solidFill>
          <a:ln w="7877">
            <a:solidFill>
              <a:srgbClr val="BADBEA"/>
            </a:solidFill>
            <a:prstDash val="solid"/>
          </a:ln>
        </p:spPr>
        <p:txBody>
          <a:bodyPr/>
          <a:lstStyle/>
          <a:p>
            <a:endParaRPr lang="en-PK"/>
          </a:p>
        </p:txBody>
      </p:sp>
      <p:sp>
        <p:nvSpPr>
          <p:cNvPr id="40" name="Text 37"/>
          <p:cNvSpPr/>
          <p:nvPr/>
        </p:nvSpPr>
        <p:spPr>
          <a:xfrm>
            <a:off x="686852" y="9219258"/>
            <a:ext cx="2004064" cy="203207"/>
          </a:xfrm>
          <a:prstGeom prst="rect">
            <a:avLst/>
          </a:prstGeom>
          <a:noFill/>
          <a:ln/>
        </p:spPr>
        <p:txBody>
          <a:bodyPr wrap="none" lIns="0" tIns="0" rIns="0" bIns="0" rtlCol="0" anchor="t"/>
          <a:lstStyle/>
          <a:p>
            <a:pPr marL="0" indent="0" algn="l">
              <a:lnSpc>
                <a:spcPct val="104000"/>
              </a:lnSpc>
              <a:buNone/>
            </a:pPr>
            <a:r>
              <a:rPr lang="en-US" sz="1250" dirty="0">
                <a:solidFill>
                  <a:srgbClr val="000000"/>
                </a:solidFill>
                <a:latin typeface="Outfit Bold" pitchFamily="2" charset="0"/>
                <a:ea typeface="Outfit Semi Bold" pitchFamily="34" charset="-122"/>
                <a:cs typeface="Outfit Semi Bold" pitchFamily="34" charset="-120"/>
              </a:rPr>
              <a:t>Total Subnets</a:t>
            </a:r>
            <a:endParaRPr lang="en-US" sz="1250" dirty="0">
              <a:solidFill>
                <a:srgbClr val="000000"/>
              </a:solidFill>
            </a:endParaRPr>
          </a:p>
        </p:txBody>
      </p:sp>
      <p:sp>
        <p:nvSpPr>
          <p:cNvPr id="41" name="Text 38"/>
          <p:cNvSpPr/>
          <p:nvPr/>
        </p:nvSpPr>
        <p:spPr>
          <a:xfrm>
            <a:off x="686852" y="9495574"/>
            <a:ext cx="2988957" cy="403213"/>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000000"/>
                </a:solidFill>
                <a:latin typeface="Ovo" pitchFamily="34" charset="0"/>
                <a:ea typeface="Ovo" pitchFamily="34" charset="-122"/>
                <a:cs typeface="Ovo" pitchFamily="34" charset="-120"/>
              </a:rPr>
              <a:t>Calculate this using </a:t>
            </a:r>
            <a:r>
              <a:rPr lang="en-US" sz="1000" b="1" dirty="0">
                <a:solidFill>
                  <a:srgbClr val="000000"/>
                </a:solidFill>
                <a:latin typeface="Ovo" pitchFamily="34" charset="0"/>
                <a:ea typeface="Ovo" pitchFamily="34" charset="-122"/>
                <a:cs typeface="Ovo" pitchFamily="34" charset="-120"/>
              </a:rPr>
              <a:t>2ⁿ</a:t>
            </a:r>
            <a:r>
              <a:rPr lang="en-US" sz="1000" dirty="0">
                <a:solidFill>
                  <a:srgbClr val="000000"/>
                </a:solidFill>
                <a:latin typeface="Ovo" pitchFamily="34" charset="0"/>
                <a:ea typeface="Ovo" pitchFamily="34" charset="-122"/>
                <a:cs typeface="Ovo" pitchFamily="34" charset="-120"/>
              </a:rPr>
              <a:t>, where </a:t>
            </a:r>
            <a:r>
              <a:rPr lang="en-US" sz="1000" i="1" dirty="0">
                <a:solidFill>
                  <a:srgbClr val="000000"/>
                </a:solidFill>
                <a:latin typeface="Ovo" pitchFamily="34" charset="0"/>
                <a:ea typeface="Ovo" pitchFamily="34" charset="-122"/>
                <a:cs typeface="Ovo" pitchFamily="34" charset="-120"/>
              </a:rPr>
              <a:t>n</a:t>
            </a:r>
            <a:r>
              <a:rPr lang="en-US" sz="1000" dirty="0">
                <a:solidFill>
                  <a:srgbClr val="000000"/>
                </a:solidFill>
                <a:latin typeface="Ovo" pitchFamily="34" charset="0"/>
                <a:ea typeface="Ovo" pitchFamily="34" charset="-122"/>
                <a:cs typeface="Ovo" pitchFamily="34" charset="-120"/>
              </a:rPr>
              <a:t> is the number of bits borrowed for the network.</a:t>
            </a:r>
            <a:endParaRPr lang="en-US" sz="1000" dirty="0">
              <a:solidFill>
                <a:srgbClr val="000000"/>
              </a:solidFill>
            </a:endParaRPr>
          </a:p>
        </p:txBody>
      </p:sp>
      <p:sp>
        <p:nvSpPr>
          <p:cNvPr id="42" name="Shape 39"/>
          <p:cNvSpPr/>
          <p:nvPr/>
        </p:nvSpPr>
        <p:spPr>
          <a:xfrm>
            <a:off x="3935633" y="9081345"/>
            <a:ext cx="3264781" cy="1156961"/>
          </a:xfrm>
          <a:prstGeom prst="roundRect">
            <a:avLst>
              <a:gd name="adj" fmla="val 10119"/>
            </a:avLst>
          </a:prstGeom>
          <a:solidFill>
            <a:srgbClr val="D4EBF7"/>
          </a:solidFill>
          <a:ln w="7877">
            <a:solidFill>
              <a:srgbClr val="BADBEA"/>
            </a:solidFill>
            <a:prstDash val="solid"/>
          </a:ln>
        </p:spPr>
        <p:txBody>
          <a:bodyPr/>
          <a:lstStyle/>
          <a:p>
            <a:endParaRPr lang="en-PK"/>
          </a:p>
        </p:txBody>
      </p:sp>
      <p:sp>
        <p:nvSpPr>
          <p:cNvPr id="43" name="Text 40"/>
          <p:cNvSpPr/>
          <p:nvPr/>
        </p:nvSpPr>
        <p:spPr>
          <a:xfrm>
            <a:off x="4073545" y="9219258"/>
            <a:ext cx="2032003" cy="203207"/>
          </a:xfrm>
          <a:prstGeom prst="rect">
            <a:avLst/>
          </a:prstGeom>
          <a:noFill/>
          <a:ln/>
        </p:spPr>
        <p:txBody>
          <a:bodyPr wrap="none" lIns="0" tIns="0" rIns="0" bIns="0" rtlCol="0" anchor="t"/>
          <a:lstStyle/>
          <a:p>
            <a:pPr marL="0" indent="0" algn="l">
              <a:lnSpc>
                <a:spcPct val="104000"/>
              </a:lnSpc>
              <a:buNone/>
            </a:pPr>
            <a:r>
              <a:rPr lang="en-US" sz="1250" dirty="0">
                <a:solidFill>
                  <a:srgbClr val="000000"/>
                </a:solidFill>
                <a:latin typeface="Outfit Bold" pitchFamily="2" charset="0"/>
                <a:ea typeface="Outfit Semi Bold" pitchFamily="34" charset="-122"/>
                <a:cs typeface="Outfit Semi Bold" pitchFamily="34" charset="-120"/>
              </a:rPr>
              <a:t>Usable Devices (Hosts)</a:t>
            </a:r>
            <a:endParaRPr lang="en-US" sz="1250" dirty="0">
              <a:solidFill>
                <a:srgbClr val="000000"/>
              </a:solidFill>
            </a:endParaRPr>
          </a:p>
        </p:txBody>
      </p:sp>
      <p:sp>
        <p:nvSpPr>
          <p:cNvPr id="44" name="Text 41"/>
          <p:cNvSpPr/>
          <p:nvPr/>
        </p:nvSpPr>
        <p:spPr>
          <a:xfrm>
            <a:off x="4073545" y="9495574"/>
            <a:ext cx="2988957" cy="604820"/>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000000"/>
                </a:solidFill>
                <a:latin typeface="Ovo" pitchFamily="34" charset="0"/>
                <a:ea typeface="Ovo" pitchFamily="34" charset="-122"/>
                <a:cs typeface="Ovo" pitchFamily="34" charset="-120"/>
              </a:rPr>
              <a:t>Calculate this using </a:t>
            </a:r>
            <a:r>
              <a:rPr lang="en-US" sz="1000" b="1" dirty="0">
                <a:solidFill>
                  <a:srgbClr val="000000"/>
                </a:solidFill>
                <a:latin typeface="Ovo" pitchFamily="34" charset="0"/>
                <a:ea typeface="Ovo" pitchFamily="34" charset="-122"/>
                <a:cs typeface="Ovo" pitchFamily="34" charset="-120"/>
              </a:rPr>
              <a:t>(2ʰ) − 2</a:t>
            </a:r>
            <a:r>
              <a:rPr lang="en-US" sz="1000" dirty="0">
                <a:solidFill>
                  <a:srgbClr val="000000"/>
                </a:solidFill>
                <a:latin typeface="Ovo" pitchFamily="34" charset="0"/>
                <a:ea typeface="Ovo" pitchFamily="34" charset="-122"/>
                <a:cs typeface="Ovo" pitchFamily="34" charset="-120"/>
              </a:rPr>
              <a:t>, where </a:t>
            </a:r>
            <a:r>
              <a:rPr lang="en-US" sz="1000" i="1" dirty="0">
                <a:solidFill>
                  <a:srgbClr val="000000"/>
                </a:solidFill>
                <a:latin typeface="Ovo" pitchFamily="34" charset="0"/>
                <a:ea typeface="Ovo" pitchFamily="34" charset="-122"/>
                <a:cs typeface="Ovo" pitchFamily="34" charset="-120"/>
              </a:rPr>
              <a:t>h</a:t>
            </a:r>
            <a:r>
              <a:rPr lang="en-US" sz="1000" dirty="0">
                <a:solidFill>
                  <a:srgbClr val="000000"/>
                </a:solidFill>
                <a:latin typeface="Ovo" pitchFamily="34" charset="0"/>
                <a:ea typeface="Ovo" pitchFamily="34" charset="-122"/>
                <a:cs typeface="Ovo" pitchFamily="34" charset="-120"/>
              </a:rPr>
              <a:t> is the bits left for devices. We subtract 2 because the very first and very last address of a network are always reserved.</a:t>
            </a:r>
            <a:endParaRPr lang="en-US" sz="1000" dirty="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F4BA9-BCEC-ED04-BCAC-C9F9F14F75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FBA55B5-7AB0-9CE0-EAFD-CADD67D9B0F6}"/>
              </a:ext>
            </a:extLst>
          </p:cNvPr>
          <p:cNvSpPr/>
          <p:nvPr/>
        </p:nvSpPr>
        <p:spPr>
          <a:xfrm>
            <a:off x="486027" y="721870"/>
            <a:ext cx="4958866" cy="433614"/>
          </a:xfrm>
          <a:prstGeom prst="rect">
            <a:avLst/>
          </a:prstGeom>
          <a:noFill/>
          <a:ln/>
        </p:spPr>
        <p:txBody>
          <a:bodyPr wrap="none" lIns="0" tIns="0" rIns="0" bIns="0" rtlCol="0" anchor="t"/>
          <a:lstStyle/>
          <a:p>
            <a:pPr marL="0" indent="0" algn="l">
              <a:lnSpc>
                <a:spcPct val="104000"/>
              </a:lnSpc>
              <a:buNone/>
            </a:pPr>
            <a:r>
              <a:rPr lang="en-US" sz="2700" dirty="0">
                <a:solidFill>
                  <a:srgbClr val="000000"/>
                </a:solidFill>
                <a:latin typeface="Outfit Bold" pitchFamily="2" charset="0"/>
                <a:ea typeface="Outfit Semi Bold" pitchFamily="34" charset="-122"/>
                <a:cs typeface="Outfit Semi Bold" pitchFamily="34" charset="-120"/>
              </a:rPr>
              <a:t>Installing Cisco Packet Tracer</a:t>
            </a:r>
            <a:endParaRPr lang="en-US" sz="2700" dirty="0">
              <a:solidFill>
                <a:srgbClr val="000000"/>
              </a:solidFill>
            </a:endParaRPr>
          </a:p>
        </p:txBody>
      </p:sp>
      <p:sp>
        <p:nvSpPr>
          <p:cNvPr id="3" name="Text 1">
            <a:extLst>
              <a:ext uri="{FF2B5EF4-FFF2-40B4-BE49-F238E27FC236}">
                <a16:creationId xmlns:a16="http://schemas.microsoft.com/office/drawing/2014/main" id="{2B018FF7-CCAC-1D34-F0A1-09D03DC8227C}"/>
              </a:ext>
            </a:extLst>
          </p:cNvPr>
          <p:cNvSpPr/>
          <p:nvPr/>
        </p:nvSpPr>
        <p:spPr>
          <a:xfrm>
            <a:off x="486027" y="1432970"/>
            <a:ext cx="6590795" cy="444076"/>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000000"/>
                </a:solidFill>
                <a:latin typeface="Ovo" pitchFamily="34" charset="0"/>
                <a:ea typeface="Ovo" pitchFamily="34" charset="-122"/>
                <a:cs typeface="Ovo" pitchFamily="34" charset="-120"/>
              </a:rPr>
              <a:t>Cisco Packet Tracer is a tool that lets you practice building networks safely on your computer. Follow these steps to get it running:</a:t>
            </a:r>
            <a:endParaRPr lang="en-US" sz="1050" dirty="0">
              <a:solidFill>
                <a:srgbClr val="000000"/>
              </a:solidFill>
            </a:endParaRPr>
          </a:p>
        </p:txBody>
      </p:sp>
      <p:sp>
        <p:nvSpPr>
          <p:cNvPr id="4" name="Text 2">
            <a:extLst>
              <a:ext uri="{FF2B5EF4-FFF2-40B4-BE49-F238E27FC236}">
                <a16:creationId xmlns:a16="http://schemas.microsoft.com/office/drawing/2014/main" id="{23706492-7988-16C8-75EB-7CB8FCA7CA36}"/>
              </a:ext>
            </a:extLst>
          </p:cNvPr>
          <p:cNvSpPr/>
          <p:nvPr/>
        </p:nvSpPr>
        <p:spPr>
          <a:xfrm>
            <a:off x="486027" y="2033113"/>
            <a:ext cx="655590" cy="173421"/>
          </a:xfrm>
          <a:prstGeom prst="rect">
            <a:avLst/>
          </a:prstGeom>
          <a:noFill/>
          <a:ln/>
        </p:spPr>
        <p:txBody>
          <a:bodyPr wrap="none" lIns="0" tIns="0" rIns="0" bIns="0" rtlCol="0" anchor="ctr"/>
          <a:lstStyle/>
          <a:p>
            <a:pPr marL="0" indent="0" algn="l">
              <a:lnSpc>
                <a:spcPct val="100000"/>
              </a:lnSpc>
              <a:buNone/>
            </a:pPr>
            <a:r>
              <a:rPr lang="en-US" sz="1050" dirty="0">
                <a:solidFill>
                  <a:srgbClr val="000000"/>
                </a:solidFill>
                <a:latin typeface="Outfit Bold" pitchFamily="2" charset="0"/>
                <a:ea typeface="Outfit Light" pitchFamily="34" charset="-122"/>
                <a:cs typeface="Outfit Light" pitchFamily="34" charset="-120"/>
              </a:rPr>
              <a:t>01</a:t>
            </a:r>
            <a:endParaRPr lang="en-US" sz="1050" dirty="0">
              <a:solidFill>
                <a:srgbClr val="000000"/>
              </a:solidFill>
            </a:endParaRPr>
          </a:p>
        </p:txBody>
      </p:sp>
      <p:sp>
        <p:nvSpPr>
          <p:cNvPr id="5" name="Shape 3">
            <a:extLst>
              <a:ext uri="{FF2B5EF4-FFF2-40B4-BE49-F238E27FC236}">
                <a16:creationId xmlns:a16="http://schemas.microsoft.com/office/drawing/2014/main" id="{A86B087A-99FA-BD6E-5A92-E1594B2935E3}"/>
              </a:ext>
            </a:extLst>
          </p:cNvPr>
          <p:cNvSpPr/>
          <p:nvPr/>
        </p:nvSpPr>
        <p:spPr>
          <a:xfrm>
            <a:off x="486027" y="2253119"/>
            <a:ext cx="6590795" cy="45719"/>
          </a:xfrm>
          <a:prstGeom prst="rect">
            <a:avLst/>
          </a:prstGeom>
          <a:solidFill>
            <a:srgbClr val="2A75D3"/>
          </a:solidFill>
          <a:ln/>
        </p:spPr>
        <p:txBody>
          <a:bodyPr/>
          <a:lstStyle/>
          <a:p>
            <a:endParaRPr lang="en-PK"/>
          </a:p>
        </p:txBody>
      </p:sp>
      <p:sp>
        <p:nvSpPr>
          <p:cNvPr id="6" name="Text 4">
            <a:extLst>
              <a:ext uri="{FF2B5EF4-FFF2-40B4-BE49-F238E27FC236}">
                <a16:creationId xmlns:a16="http://schemas.microsoft.com/office/drawing/2014/main" id="{39F3E4D7-DECA-8707-35FE-2099B7CD0D7C}"/>
              </a:ext>
            </a:extLst>
          </p:cNvPr>
          <p:cNvSpPr/>
          <p:nvPr/>
        </p:nvSpPr>
        <p:spPr>
          <a:xfrm>
            <a:off x="486027" y="2353985"/>
            <a:ext cx="2237241" cy="21674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Outfit Bold" pitchFamily="2" charset="0"/>
                <a:ea typeface="Outfit Semi Bold" pitchFamily="34" charset="-122"/>
                <a:cs typeface="Outfit Semi Bold" pitchFamily="34" charset="-120"/>
              </a:rPr>
              <a:t>Open your web browser</a:t>
            </a:r>
            <a:endParaRPr lang="en-US" sz="1350" dirty="0">
              <a:solidFill>
                <a:srgbClr val="000000"/>
              </a:solidFill>
            </a:endParaRPr>
          </a:p>
        </p:txBody>
      </p:sp>
      <p:sp>
        <p:nvSpPr>
          <p:cNvPr id="7" name="Text 5">
            <a:extLst>
              <a:ext uri="{FF2B5EF4-FFF2-40B4-BE49-F238E27FC236}">
                <a16:creationId xmlns:a16="http://schemas.microsoft.com/office/drawing/2014/main" id="{4D525D87-5575-2DFC-37EC-0453D26D9898}"/>
              </a:ext>
            </a:extLst>
          </p:cNvPr>
          <p:cNvSpPr/>
          <p:nvPr/>
        </p:nvSpPr>
        <p:spPr>
          <a:xfrm>
            <a:off x="486027" y="2653934"/>
            <a:ext cx="3460331" cy="444076"/>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000000"/>
                </a:solidFill>
                <a:latin typeface="Ovo" pitchFamily="34" charset="0"/>
                <a:ea typeface="Ovo" pitchFamily="34" charset="-122"/>
                <a:cs typeface="Ovo" pitchFamily="34" charset="-120"/>
              </a:rPr>
              <a:t>Go to the official Cisco Network Academy download page.</a:t>
            </a:r>
            <a:endParaRPr lang="en-US" sz="1050" dirty="0">
              <a:solidFill>
                <a:srgbClr val="000000"/>
              </a:solidFill>
            </a:endParaRPr>
          </a:p>
        </p:txBody>
      </p:sp>
      <p:pic>
        <p:nvPicPr>
          <p:cNvPr id="32" name="Picture 31">
            <a:extLst>
              <a:ext uri="{FF2B5EF4-FFF2-40B4-BE49-F238E27FC236}">
                <a16:creationId xmlns:a16="http://schemas.microsoft.com/office/drawing/2014/main" id="{3BA28E2B-2130-09BF-1A56-769636903B0C}"/>
              </a:ext>
            </a:extLst>
          </p:cNvPr>
          <p:cNvPicPr>
            <a:picLocks noChangeAspect="1"/>
          </p:cNvPicPr>
          <p:nvPr/>
        </p:nvPicPr>
        <p:blipFill>
          <a:blip r:embed="rId3"/>
          <a:stretch>
            <a:fillRect/>
          </a:stretch>
        </p:blipFill>
        <p:spPr>
          <a:xfrm>
            <a:off x="1160627" y="2934386"/>
            <a:ext cx="5241593" cy="2948396"/>
          </a:xfrm>
          <a:prstGeom prst="rect">
            <a:avLst/>
          </a:prstGeom>
        </p:spPr>
      </p:pic>
      <p:sp>
        <p:nvSpPr>
          <p:cNvPr id="33" name="Text 6">
            <a:extLst>
              <a:ext uri="{FF2B5EF4-FFF2-40B4-BE49-F238E27FC236}">
                <a16:creationId xmlns:a16="http://schemas.microsoft.com/office/drawing/2014/main" id="{09EFFC79-4F94-CCA9-6DD0-75F2B12ED136}"/>
              </a:ext>
            </a:extLst>
          </p:cNvPr>
          <p:cNvSpPr/>
          <p:nvPr/>
        </p:nvSpPr>
        <p:spPr>
          <a:xfrm>
            <a:off x="6911453" y="5989976"/>
            <a:ext cx="229289" cy="173421"/>
          </a:xfrm>
          <a:prstGeom prst="rect">
            <a:avLst/>
          </a:prstGeom>
          <a:noFill/>
          <a:ln/>
        </p:spPr>
        <p:txBody>
          <a:bodyPr wrap="none" lIns="0" tIns="0" rIns="0" bIns="0" rtlCol="0" anchor="ctr"/>
          <a:lstStyle/>
          <a:p>
            <a:pPr marL="0" indent="0" algn="l">
              <a:lnSpc>
                <a:spcPct val="100000"/>
              </a:lnSpc>
              <a:buNone/>
            </a:pPr>
            <a:r>
              <a:rPr lang="en-US" sz="1050" dirty="0">
                <a:solidFill>
                  <a:srgbClr val="000000"/>
                </a:solidFill>
                <a:latin typeface="Outfit Bold" pitchFamily="2" charset="0"/>
                <a:ea typeface="Outfit Light" pitchFamily="34" charset="-122"/>
                <a:cs typeface="Outfit Light" pitchFamily="34" charset="-120"/>
              </a:rPr>
              <a:t>02</a:t>
            </a:r>
            <a:endParaRPr lang="en-US" sz="1050" dirty="0">
              <a:solidFill>
                <a:srgbClr val="000000"/>
              </a:solidFill>
            </a:endParaRPr>
          </a:p>
        </p:txBody>
      </p:sp>
      <p:sp>
        <p:nvSpPr>
          <p:cNvPr id="34" name="Shape 7">
            <a:extLst>
              <a:ext uri="{FF2B5EF4-FFF2-40B4-BE49-F238E27FC236}">
                <a16:creationId xmlns:a16="http://schemas.microsoft.com/office/drawing/2014/main" id="{2E7AF4B7-BBC4-229C-1850-BF1BCA9ED073}"/>
              </a:ext>
            </a:extLst>
          </p:cNvPr>
          <p:cNvSpPr/>
          <p:nvPr/>
        </p:nvSpPr>
        <p:spPr>
          <a:xfrm flipV="1">
            <a:off x="486027" y="6246550"/>
            <a:ext cx="6590794" cy="45719"/>
          </a:xfrm>
          <a:prstGeom prst="rect">
            <a:avLst/>
          </a:prstGeom>
          <a:solidFill>
            <a:srgbClr val="2A75D3"/>
          </a:solidFill>
          <a:ln/>
        </p:spPr>
        <p:txBody>
          <a:bodyPr/>
          <a:lstStyle/>
          <a:p>
            <a:endParaRPr lang="en-PK"/>
          </a:p>
        </p:txBody>
      </p:sp>
      <p:sp>
        <p:nvSpPr>
          <p:cNvPr id="35" name="Text 8">
            <a:extLst>
              <a:ext uri="{FF2B5EF4-FFF2-40B4-BE49-F238E27FC236}">
                <a16:creationId xmlns:a16="http://schemas.microsoft.com/office/drawing/2014/main" id="{0E39C2E8-2960-CEAC-27CD-15CF8B74037C}"/>
              </a:ext>
            </a:extLst>
          </p:cNvPr>
          <p:cNvSpPr/>
          <p:nvPr/>
        </p:nvSpPr>
        <p:spPr>
          <a:xfrm>
            <a:off x="6603108" y="6356025"/>
            <a:ext cx="473713" cy="21674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Outfit Bold" pitchFamily="2" charset="0"/>
                <a:ea typeface="Outfit Semi Bold" pitchFamily="34" charset="-122"/>
                <a:cs typeface="Outfit Semi Bold" pitchFamily="34" charset="-120"/>
              </a:rPr>
              <a:t>Log in</a:t>
            </a:r>
            <a:endParaRPr lang="en-US" sz="1350" dirty="0">
              <a:solidFill>
                <a:srgbClr val="000000"/>
              </a:solidFill>
            </a:endParaRPr>
          </a:p>
        </p:txBody>
      </p:sp>
      <p:sp>
        <p:nvSpPr>
          <p:cNvPr id="36" name="Text 9">
            <a:extLst>
              <a:ext uri="{FF2B5EF4-FFF2-40B4-BE49-F238E27FC236}">
                <a16:creationId xmlns:a16="http://schemas.microsoft.com/office/drawing/2014/main" id="{AEE27D25-12D0-345A-0D5B-55B800CCAC15}"/>
              </a:ext>
            </a:extLst>
          </p:cNvPr>
          <p:cNvSpPr/>
          <p:nvPr/>
        </p:nvSpPr>
        <p:spPr>
          <a:xfrm>
            <a:off x="4505883" y="6655924"/>
            <a:ext cx="2634858" cy="222038"/>
          </a:xfrm>
          <a:prstGeom prst="rect">
            <a:avLst/>
          </a:prstGeom>
          <a:noFill/>
          <a:ln/>
        </p:spPr>
        <p:txBody>
          <a:bodyPr wrap="none" lIns="0" tIns="0" rIns="0" bIns="0" rtlCol="0" anchor="t"/>
          <a:lstStyle/>
          <a:p>
            <a:pPr marL="0" indent="0" algn="l">
              <a:lnSpc>
                <a:spcPct val="133000"/>
              </a:lnSpc>
              <a:buNone/>
            </a:pPr>
            <a:r>
              <a:rPr lang="en-US" sz="1050" dirty="0">
                <a:solidFill>
                  <a:srgbClr val="000000"/>
                </a:solidFill>
                <a:latin typeface="Ovo" pitchFamily="34" charset="0"/>
                <a:ea typeface="Ovo" pitchFamily="34" charset="-122"/>
                <a:cs typeface="Ovo" pitchFamily="34" charset="-120"/>
              </a:rPr>
              <a:t>Use your university or school email address.</a:t>
            </a:r>
            <a:endParaRPr lang="en-US" sz="1050" dirty="0">
              <a:solidFill>
                <a:srgbClr val="000000"/>
              </a:solidFill>
            </a:endParaRPr>
          </a:p>
        </p:txBody>
      </p:sp>
      <p:pic>
        <p:nvPicPr>
          <p:cNvPr id="38" name="Picture 37">
            <a:extLst>
              <a:ext uri="{FF2B5EF4-FFF2-40B4-BE49-F238E27FC236}">
                <a16:creationId xmlns:a16="http://schemas.microsoft.com/office/drawing/2014/main" id="{B37336C2-4BCA-EEC0-78C8-E9F90BAF6AD8}"/>
              </a:ext>
            </a:extLst>
          </p:cNvPr>
          <p:cNvPicPr>
            <a:picLocks noChangeAspect="1"/>
          </p:cNvPicPr>
          <p:nvPr/>
        </p:nvPicPr>
        <p:blipFill>
          <a:blip r:embed="rId4"/>
          <a:stretch>
            <a:fillRect/>
          </a:stretch>
        </p:blipFill>
        <p:spPr>
          <a:xfrm>
            <a:off x="1141617" y="7060175"/>
            <a:ext cx="5260603" cy="2959089"/>
          </a:xfrm>
          <a:prstGeom prst="rect">
            <a:avLst/>
          </a:prstGeom>
        </p:spPr>
      </p:pic>
    </p:spTree>
    <p:extLst>
      <p:ext uri="{BB962C8B-B14F-4D97-AF65-F5344CB8AC3E}">
        <p14:creationId xmlns:p14="http://schemas.microsoft.com/office/powerpoint/2010/main" val="374946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EC842-FEC3-AD96-07DB-A3CED9BCDFCE}"/>
            </a:ext>
          </a:extLst>
        </p:cNvPr>
        <p:cNvGrpSpPr/>
        <p:nvPr/>
      </p:nvGrpSpPr>
      <p:grpSpPr>
        <a:xfrm>
          <a:off x="0" y="0"/>
          <a:ext cx="0" cy="0"/>
          <a:chOff x="0" y="0"/>
          <a:chExt cx="0" cy="0"/>
        </a:xfrm>
      </p:grpSpPr>
      <p:sp>
        <p:nvSpPr>
          <p:cNvPr id="8" name="Text 10">
            <a:extLst>
              <a:ext uri="{FF2B5EF4-FFF2-40B4-BE49-F238E27FC236}">
                <a16:creationId xmlns:a16="http://schemas.microsoft.com/office/drawing/2014/main" id="{D6B0C149-E8D8-81C0-38D4-0137BFBA71E1}"/>
              </a:ext>
            </a:extLst>
          </p:cNvPr>
          <p:cNvSpPr/>
          <p:nvPr/>
        </p:nvSpPr>
        <p:spPr>
          <a:xfrm>
            <a:off x="486028" y="768826"/>
            <a:ext cx="655590" cy="173421"/>
          </a:xfrm>
          <a:prstGeom prst="rect">
            <a:avLst/>
          </a:prstGeom>
          <a:noFill/>
          <a:ln/>
        </p:spPr>
        <p:txBody>
          <a:bodyPr wrap="none" lIns="0" tIns="0" rIns="0" bIns="0" rtlCol="0" anchor="ctr"/>
          <a:lstStyle/>
          <a:p>
            <a:pPr marL="0" indent="0" algn="l">
              <a:lnSpc>
                <a:spcPct val="100000"/>
              </a:lnSpc>
              <a:buNone/>
            </a:pPr>
            <a:r>
              <a:rPr lang="en-US" sz="1050" dirty="0">
                <a:solidFill>
                  <a:srgbClr val="000000"/>
                </a:solidFill>
                <a:latin typeface="Outfit Bold" pitchFamily="2" charset="0"/>
                <a:ea typeface="Outfit Light" pitchFamily="34" charset="-122"/>
                <a:cs typeface="Outfit Light" pitchFamily="34" charset="-120"/>
              </a:rPr>
              <a:t>03</a:t>
            </a:r>
            <a:endParaRPr lang="en-US" sz="1050" dirty="0">
              <a:solidFill>
                <a:srgbClr val="000000"/>
              </a:solidFill>
            </a:endParaRPr>
          </a:p>
        </p:txBody>
      </p:sp>
      <p:sp>
        <p:nvSpPr>
          <p:cNvPr id="9" name="Shape 11">
            <a:extLst>
              <a:ext uri="{FF2B5EF4-FFF2-40B4-BE49-F238E27FC236}">
                <a16:creationId xmlns:a16="http://schemas.microsoft.com/office/drawing/2014/main" id="{141F2336-980D-CF58-FA9B-050A98986709}"/>
              </a:ext>
            </a:extLst>
          </p:cNvPr>
          <p:cNvSpPr/>
          <p:nvPr/>
        </p:nvSpPr>
        <p:spPr>
          <a:xfrm flipV="1">
            <a:off x="486028" y="942247"/>
            <a:ext cx="6590794" cy="46586"/>
          </a:xfrm>
          <a:prstGeom prst="rect">
            <a:avLst/>
          </a:prstGeom>
          <a:solidFill>
            <a:srgbClr val="2A75D3"/>
          </a:solidFill>
          <a:ln/>
        </p:spPr>
        <p:txBody>
          <a:bodyPr/>
          <a:lstStyle/>
          <a:p>
            <a:endParaRPr lang="en-PK"/>
          </a:p>
        </p:txBody>
      </p:sp>
      <p:sp>
        <p:nvSpPr>
          <p:cNvPr id="10" name="Text 12">
            <a:extLst>
              <a:ext uri="{FF2B5EF4-FFF2-40B4-BE49-F238E27FC236}">
                <a16:creationId xmlns:a16="http://schemas.microsoft.com/office/drawing/2014/main" id="{89EBF007-D48E-BB58-F041-6A7F12448CA9}"/>
              </a:ext>
            </a:extLst>
          </p:cNvPr>
          <p:cNvSpPr/>
          <p:nvPr/>
        </p:nvSpPr>
        <p:spPr>
          <a:xfrm>
            <a:off x="486028" y="1089698"/>
            <a:ext cx="2222533" cy="21674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Outfit Bold" pitchFamily="2" charset="0"/>
                <a:ea typeface="Outfit Semi Bold" pitchFamily="34" charset="-122"/>
                <a:cs typeface="Outfit Semi Bold" pitchFamily="34" charset="-120"/>
              </a:rPr>
              <a:t>Download the setup file</a:t>
            </a:r>
            <a:endParaRPr lang="en-US" sz="1350" dirty="0">
              <a:solidFill>
                <a:srgbClr val="000000"/>
              </a:solidFill>
            </a:endParaRPr>
          </a:p>
        </p:txBody>
      </p:sp>
      <p:sp>
        <p:nvSpPr>
          <p:cNvPr id="11" name="Text 13">
            <a:extLst>
              <a:ext uri="{FF2B5EF4-FFF2-40B4-BE49-F238E27FC236}">
                <a16:creationId xmlns:a16="http://schemas.microsoft.com/office/drawing/2014/main" id="{083DBFD2-187F-3751-FE44-F6F68C34FB42}"/>
              </a:ext>
            </a:extLst>
          </p:cNvPr>
          <p:cNvSpPr/>
          <p:nvPr/>
        </p:nvSpPr>
        <p:spPr>
          <a:xfrm>
            <a:off x="486028" y="1389646"/>
            <a:ext cx="3604115" cy="222038"/>
          </a:xfrm>
          <a:prstGeom prst="rect">
            <a:avLst/>
          </a:prstGeom>
          <a:noFill/>
          <a:ln/>
        </p:spPr>
        <p:txBody>
          <a:bodyPr wrap="none" lIns="0" tIns="0" rIns="0" bIns="0" rtlCol="0" anchor="t"/>
          <a:lstStyle/>
          <a:p>
            <a:pPr marL="0" indent="0" algn="l">
              <a:lnSpc>
                <a:spcPct val="133000"/>
              </a:lnSpc>
              <a:buNone/>
            </a:pPr>
            <a:r>
              <a:rPr lang="en-US" sz="1050" dirty="0">
                <a:solidFill>
                  <a:srgbClr val="000000"/>
                </a:solidFill>
                <a:latin typeface="Ovo" pitchFamily="34" charset="0"/>
                <a:ea typeface="Ovo" pitchFamily="34" charset="-122"/>
                <a:cs typeface="Ovo" pitchFamily="34" charset="-120"/>
              </a:rPr>
              <a:t>Download the setup file for your computer.</a:t>
            </a:r>
            <a:endParaRPr lang="en-US" sz="1050" dirty="0">
              <a:solidFill>
                <a:srgbClr val="000000"/>
              </a:solidFill>
            </a:endParaRPr>
          </a:p>
        </p:txBody>
      </p:sp>
      <p:pic>
        <p:nvPicPr>
          <p:cNvPr id="13" name="Picture 12">
            <a:extLst>
              <a:ext uri="{FF2B5EF4-FFF2-40B4-BE49-F238E27FC236}">
                <a16:creationId xmlns:a16="http://schemas.microsoft.com/office/drawing/2014/main" id="{B1F82340-80DA-D585-1BE5-167F716D65D4}"/>
              </a:ext>
            </a:extLst>
          </p:cNvPr>
          <p:cNvPicPr>
            <a:picLocks noChangeAspect="1"/>
          </p:cNvPicPr>
          <p:nvPr/>
        </p:nvPicPr>
        <p:blipFill>
          <a:blip r:embed="rId3"/>
          <a:srcRect l="21587" t="6952" r="16867" b="53910"/>
          <a:stretch>
            <a:fillRect/>
          </a:stretch>
        </p:blipFill>
        <p:spPr>
          <a:xfrm>
            <a:off x="2080830" y="1707257"/>
            <a:ext cx="3401192" cy="1216629"/>
          </a:xfrm>
          <a:prstGeom prst="rect">
            <a:avLst/>
          </a:prstGeom>
        </p:spPr>
      </p:pic>
      <p:sp>
        <p:nvSpPr>
          <p:cNvPr id="14" name="Text 14">
            <a:extLst>
              <a:ext uri="{FF2B5EF4-FFF2-40B4-BE49-F238E27FC236}">
                <a16:creationId xmlns:a16="http://schemas.microsoft.com/office/drawing/2014/main" id="{F0FD361F-96AA-E963-AE1D-8A548FD86EE4}"/>
              </a:ext>
            </a:extLst>
          </p:cNvPr>
          <p:cNvSpPr/>
          <p:nvPr/>
        </p:nvSpPr>
        <p:spPr>
          <a:xfrm>
            <a:off x="486028" y="2834941"/>
            <a:ext cx="655590" cy="173421"/>
          </a:xfrm>
          <a:prstGeom prst="rect">
            <a:avLst/>
          </a:prstGeom>
          <a:noFill/>
          <a:ln/>
        </p:spPr>
        <p:txBody>
          <a:bodyPr wrap="none" lIns="0" tIns="0" rIns="0" bIns="0" rtlCol="0" anchor="ctr"/>
          <a:lstStyle/>
          <a:p>
            <a:pPr marL="0" indent="0" algn="l">
              <a:lnSpc>
                <a:spcPct val="100000"/>
              </a:lnSpc>
              <a:buNone/>
            </a:pPr>
            <a:r>
              <a:rPr lang="en-US" sz="1050" dirty="0">
                <a:solidFill>
                  <a:srgbClr val="000000"/>
                </a:solidFill>
                <a:latin typeface="Outfit Bold" pitchFamily="2" charset="0"/>
                <a:ea typeface="Outfit Light" pitchFamily="34" charset="-122"/>
                <a:cs typeface="Outfit Light" pitchFamily="34" charset="-120"/>
              </a:rPr>
              <a:t>04</a:t>
            </a:r>
            <a:endParaRPr lang="en-US" sz="1050" dirty="0">
              <a:solidFill>
                <a:srgbClr val="000000"/>
              </a:solidFill>
            </a:endParaRPr>
          </a:p>
        </p:txBody>
      </p:sp>
      <p:sp>
        <p:nvSpPr>
          <p:cNvPr id="15" name="Shape 15">
            <a:extLst>
              <a:ext uri="{FF2B5EF4-FFF2-40B4-BE49-F238E27FC236}">
                <a16:creationId xmlns:a16="http://schemas.microsoft.com/office/drawing/2014/main" id="{65DEA5E3-8A43-7C1C-3AFF-50D718D7F320}"/>
              </a:ext>
            </a:extLst>
          </p:cNvPr>
          <p:cNvSpPr/>
          <p:nvPr/>
        </p:nvSpPr>
        <p:spPr>
          <a:xfrm>
            <a:off x="486027" y="3054947"/>
            <a:ext cx="6590793" cy="45719"/>
          </a:xfrm>
          <a:prstGeom prst="rect">
            <a:avLst/>
          </a:prstGeom>
          <a:solidFill>
            <a:srgbClr val="2A75D3"/>
          </a:solidFill>
          <a:ln/>
        </p:spPr>
        <p:txBody>
          <a:bodyPr/>
          <a:lstStyle/>
          <a:p>
            <a:endParaRPr lang="en-PK"/>
          </a:p>
        </p:txBody>
      </p:sp>
      <p:sp>
        <p:nvSpPr>
          <p:cNvPr id="16" name="Text 16">
            <a:extLst>
              <a:ext uri="{FF2B5EF4-FFF2-40B4-BE49-F238E27FC236}">
                <a16:creationId xmlns:a16="http://schemas.microsoft.com/office/drawing/2014/main" id="{AA122F2B-EDF4-D0CA-AA9B-3EE5DA5EC456}"/>
              </a:ext>
            </a:extLst>
          </p:cNvPr>
          <p:cNvSpPr/>
          <p:nvPr/>
        </p:nvSpPr>
        <p:spPr>
          <a:xfrm>
            <a:off x="486028" y="3155813"/>
            <a:ext cx="2112498" cy="21674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Outfit Bold" pitchFamily="2" charset="0"/>
                <a:ea typeface="Outfit Semi Bold" pitchFamily="34" charset="-122"/>
                <a:cs typeface="Outfit Semi Bold" pitchFamily="34" charset="-120"/>
              </a:rPr>
              <a:t>Run the installer</a:t>
            </a:r>
            <a:endParaRPr lang="en-US" sz="1350" dirty="0">
              <a:solidFill>
                <a:srgbClr val="000000"/>
              </a:solidFill>
            </a:endParaRPr>
          </a:p>
        </p:txBody>
      </p:sp>
      <p:sp>
        <p:nvSpPr>
          <p:cNvPr id="17" name="Text 17">
            <a:extLst>
              <a:ext uri="{FF2B5EF4-FFF2-40B4-BE49-F238E27FC236}">
                <a16:creationId xmlns:a16="http://schemas.microsoft.com/office/drawing/2014/main" id="{827972F2-F3AE-8E9E-789B-D86679473FC3}"/>
              </a:ext>
            </a:extLst>
          </p:cNvPr>
          <p:cNvSpPr/>
          <p:nvPr/>
        </p:nvSpPr>
        <p:spPr>
          <a:xfrm>
            <a:off x="486027" y="3455761"/>
            <a:ext cx="4466973" cy="444076"/>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000000"/>
                </a:solidFill>
                <a:latin typeface="Ovo" pitchFamily="34" charset="0"/>
                <a:ea typeface="Ovo" pitchFamily="34" charset="-122"/>
                <a:cs typeface="Ovo" pitchFamily="34" charset="-120"/>
              </a:rPr>
              <a:t>Open the downloaded .exe file and let the installation wizard guide you.</a:t>
            </a:r>
            <a:endParaRPr lang="en-US" sz="1050" dirty="0">
              <a:solidFill>
                <a:srgbClr val="000000"/>
              </a:solidFill>
            </a:endParaRPr>
          </a:p>
        </p:txBody>
      </p:sp>
      <p:pic>
        <p:nvPicPr>
          <p:cNvPr id="19" name="Picture 18">
            <a:extLst>
              <a:ext uri="{FF2B5EF4-FFF2-40B4-BE49-F238E27FC236}">
                <a16:creationId xmlns:a16="http://schemas.microsoft.com/office/drawing/2014/main" id="{0F3561E3-D9D4-350A-81C0-884A2BD71B23}"/>
              </a:ext>
            </a:extLst>
          </p:cNvPr>
          <p:cNvPicPr>
            <a:picLocks noChangeAspect="1"/>
          </p:cNvPicPr>
          <p:nvPr/>
        </p:nvPicPr>
        <p:blipFill>
          <a:blip r:embed="rId4"/>
          <a:srcRect r="62990"/>
          <a:stretch>
            <a:fillRect/>
          </a:stretch>
        </p:blipFill>
        <p:spPr>
          <a:xfrm>
            <a:off x="681310" y="3863340"/>
            <a:ext cx="2799040" cy="503808"/>
          </a:xfrm>
          <a:prstGeom prst="rect">
            <a:avLst/>
          </a:prstGeom>
        </p:spPr>
      </p:pic>
      <p:pic>
        <p:nvPicPr>
          <p:cNvPr id="21" name="Picture 20">
            <a:extLst>
              <a:ext uri="{FF2B5EF4-FFF2-40B4-BE49-F238E27FC236}">
                <a16:creationId xmlns:a16="http://schemas.microsoft.com/office/drawing/2014/main" id="{31D1AF68-6CF4-2920-98E3-EAFEADB3D7A8}"/>
              </a:ext>
            </a:extLst>
          </p:cNvPr>
          <p:cNvPicPr>
            <a:picLocks noChangeAspect="1"/>
          </p:cNvPicPr>
          <p:nvPr/>
        </p:nvPicPr>
        <p:blipFill>
          <a:blip r:embed="rId4"/>
          <a:srcRect l="72486"/>
          <a:stretch>
            <a:fillRect/>
          </a:stretch>
        </p:blipFill>
        <p:spPr>
          <a:xfrm>
            <a:off x="4285425" y="3863339"/>
            <a:ext cx="2080829" cy="503809"/>
          </a:xfrm>
          <a:prstGeom prst="rect">
            <a:avLst/>
          </a:prstGeom>
        </p:spPr>
      </p:pic>
      <p:sp>
        <p:nvSpPr>
          <p:cNvPr id="22" name="Text 18">
            <a:extLst>
              <a:ext uri="{FF2B5EF4-FFF2-40B4-BE49-F238E27FC236}">
                <a16:creationId xmlns:a16="http://schemas.microsoft.com/office/drawing/2014/main" id="{54D358B7-0242-D1F5-433E-253FF2AEF357}"/>
              </a:ext>
            </a:extLst>
          </p:cNvPr>
          <p:cNvSpPr/>
          <p:nvPr/>
        </p:nvSpPr>
        <p:spPr>
          <a:xfrm>
            <a:off x="486028" y="4723499"/>
            <a:ext cx="655590" cy="173421"/>
          </a:xfrm>
          <a:prstGeom prst="rect">
            <a:avLst/>
          </a:prstGeom>
          <a:noFill/>
          <a:ln/>
        </p:spPr>
        <p:txBody>
          <a:bodyPr wrap="none" lIns="0" tIns="0" rIns="0" bIns="0" rtlCol="0" anchor="ctr"/>
          <a:lstStyle/>
          <a:p>
            <a:pPr marL="0" indent="0" algn="l">
              <a:lnSpc>
                <a:spcPct val="100000"/>
              </a:lnSpc>
              <a:buNone/>
            </a:pPr>
            <a:r>
              <a:rPr lang="en-US" sz="1050" dirty="0">
                <a:solidFill>
                  <a:srgbClr val="000000"/>
                </a:solidFill>
                <a:latin typeface="Outfit Bold" pitchFamily="2" charset="0"/>
                <a:ea typeface="Outfit Light" pitchFamily="34" charset="-122"/>
                <a:cs typeface="Outfit Light" pitchFamily="34" charset="-120"/>
              </a:rPr>
              <a:t>05</a:t>
            </a:r>
            <a:endParaRPr lang="en-US" sz="1050" dirty="0">
              <a:solidFill>
                <a:srgbClr val="000000"/>
              </a:solidFill>
            </a:endParaRPr>
          </a:p>
        </p:txBody>
      </p:sp>
      <p:sp>
        <p:nvSpPr>
          <p:cNvPr id="23" name="Shape 19">
            <a:extLst>
              <a:ext uri="{FF2B5EF4-FFF2-40B4-BE49-F238E27FC236}">
                <a16:creationId xmlns:a16="http://schemas.microsoft.com/office/drawing/2014/main" id="{668706E4-3511-B250-7FED-43CD0D0B8440}"/>
              </a:ext>
            </a:extLst>
          </p:cNvPr>
          <p:cNvSpPr/>
          <p:nvPr/>
        </p:nvSpPr>
        <p:spPr>
          <a:xfrm>
            <a:off x="486028" y="4943505"/>
            <a:ext cx="6590794" cy="45719"/>
          </a:xfrm>
          <a:prstGeom prst="rect">
            <a:avLst/>
          </a:prstGeom>
          <a:solidFill>
            <a:srgbClr val="2A75D3"/>
          </a:solidFill>
          <a:ln/>
        </p:spPr>
        <p:txBody>
          <a:bodyPr/>
          <a:lstStyle/>
          <a:p>
            <a:endParaRPr lang="en-PK"/>
          </a:p>
        </p:txBody>
      </p:sp>
      <p:pic>
        <p:nvPicPr>
          <p:cNvPr id="27" name="Picture 26">
            <a:extLst>
              <a:ext uri="{FF2B5EF4-FFF2-40B4-BE49-F238E27FC236}">
                <a16:creationId xmlns:a16="http://schemas.microsoft.com/office/drawing/2014/main" id="{B6B3953B-66AC-C002-9A27-A1C05579A101}"/>
              </a:ext>
            </a:extLst>
          </p:cNvPr>
          <p:cNvPicPr>
            <a:picLocks noChangeAspect="1"/>
          </p:cNvPicPr>
          <p:nvPr/>
        </p:nvPicPr>
        <p:blipFill>
          <a:blip r:embed="rId5"/>
          <a:stretch>
            <a:fillRect/>
          </a:stretch>
        </p:blipFill>
        <p:spPr>
          <a:xfrm>
            <a:off x="1226445" y="5474919"/>
            <a:ext cx="5109954" cy="4000392"/>
          </a:xfrm>
          <a:prstGeom prst="rect">
            <a:avLst/>
          </a:prstGeom>
        </p:spPr>
      </p:pic>
      <p:sp>
        <p:nvSpPr>
          <p:cNvPr id="24" name="Text 20">
            <a:extLst>
              <a:ext uri="{FF2B5EF4-FFF2-40B4-BE49-F238E27FC236}">
                <a16:creationId xmlns:a16="http://schemas.microsoft.com/office/drawing/2014/main" id="{8F769324-F002-9E6E-E26D-2B850CB2FC70}"/>
              </a:ext>
            </a:extLst>
          </p:cNvPr>
          <p:cNvSpPr/>
          <p:nvPr/>
        </p:nvSpPr>
        <p:spPr>
          <a:xfrm>
            <a:off x="486028" y="5044371"/>
            <a:ext cx="2750550" cy="21674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Outfit Bold" pitchFamily="2" charset="0"/>
                <a:ea typeface="Outfit Semi Bold" pitchFamily="34" charset="-122"/>
                <a:cs typeface="Outfit Semi Bold" pitchFamily="34" charset="-120"/>
              </a:rPr>
              <a:t>Accept the License Agreement</a:t>
            </a:r>
            <a:endParaRPr lang="en-US" sz="1350" dirty="0">
              <a:solidFill>
                <a:srgbClr val="000000"/>
              </a:solidFill>
            </a:endParaRPr>
          </a:p>
        </p:txBody>
      </p:sp>
      <p:sp>
        <p:nvSpPr>
          <p:cNvPr id="25" name="Text 21">
            <a:extLst>
              <a:ext uri="{FF2B5EF4-FFF2-40B4-BE49-F238E27FC236}">
                <a16:creationId xmlns:a16="http://schemas.microsoft.com/office/drawing/2014/main" id="{96BBC77D-DD89-1D40-EC17-91B2A63847E6}"/>
              </a:ext>
            </a:extLst>
          </p:cNvPr>
          <p:cNvSpPr/>
          <p:nvPr/>
        </p:nvSpPr>
        <p:spPr>
          <a:xfrm>
            <a:off x="486028" y="5344319"/>
            <a:ext cx="5186640" cy="261200"/>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000000"/>
                </a:solidFill>
                <a:latin typeface="Ovo" pitchFamily="34" charset="0"/>
                <a:ea typeface="Ovo" pitchFamily="34" charset="-122"/>
                <a:cs typeface="Ovo" pitchFamily="34" charset="-120"/>
              </a:rPr>
              <a:t>Read and accept the Digital License Agreement when it pops up, then hit install.</a:t>
            </a:r>
            <a:endParaRPr lang="en-US" sz="1050" dirty="0">
              <a:solidFill>
                <a:srgbClr val="000000"/>
              </a:solidFill>
            </a:endParaRPr>
          </a:p>
        </p:txBody>
      </p:sp>
    </p:spTree>
    <p:extLst>
      <p:ext uri="{BB962C8B-B14F-4D97-AF65-F5344CB8AC3E}">
        <p14:creationId xmlns:p14="http://schemas.microsoft.com/office/powerpoint/2010/main" val="1532641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79378-6C6C-4853-05B1-793271164683}"/>
            </a:ext>
          </a:extLst>
        </p:cNvPr>
        <p:cNvGrpSpPr/>
        <p:nvPr/>
      </p:nvGrpSpPr>
      <p:grpSpPr>
        <a:xfrm>
          <a:off x="0" y="0"/>
          <a:ext cx="0" cy="0"/>
          <a:chOff x="0" y="0"/>
          <a:chExt cx="0" cy="0"/>
        </a:xfrm>
      </p:grpSpPr>
      <p:sp>
        <p:nvSpPr>
          <p:cNvPr id="6" name="Text 22">
            <a:extLst>
              <a:ext uri="{FF2B5EF4-FFF2-40B4-BE49-F238E27FC236}">
                <a16:creationId xmlns:a16="http://schemas.microsoft.com/office/drawing/2014/main" id="{9C6C6F2D-C0DC-4AE9-4DE0-9C1C29629F5D}"/>
              </a:ext>
            </a:extLst>
          </p:cNvPr>
          <p:cNvSpPr/>
          <p:nvPr/>
        </p:nvSpPr>
        <p:spPr>
          <a:xfrm>
            <a:off x="486028" y="925073"/>
            <a:ext cx="655590" cy="173421"/>
          </a:xfrm>
          <a:prstGeom prst="rect">
            <a:avLst/>
          </a:prstGeom>
          <a:noFill/>
          <a:ln/>
        </p:spPr>
        <p:txBody>
          <a:bodyPr wrap="none" lIns="0" tIns="0" rIns="0" bIns="0" rtlCol="0" anchor="ctr"/>
          <a:lstStyle/>
          <a:p>
            <a:pPr marL="0" indent="0" algn="l">
              <a:lnSpc>
                <a:spcPct val="100000"/>
              </a:lnSpc>
              <a:buNone/>
            </a:pPr>
            <a:r>
              <a:rPr lang="en-US" sz="1050" dirty="0">
                <a:solidFill>
                  <a:srgbClr val="000000"/>
                </a:solidFill>
                <a:latin typeface="Outfit Bold" pitchFamily="2" charset="0"/>
                <a:ea typeface="Outfit Light" pitchFamily="34" charset="-122"/>
                <a:cs typeface="Outfit Light" pitchFamily="34" charset="-120"/>
              </a:rPr>
              <a:t>06</a:t>
            </a:r>
            <a:endParaRPr lang="en-US" sz="1050" dirty="0">
              <a:solidFill>
                <a:srgbClr val="000000"/>
              </a:solidFill>
            </a:endParaRPr>
          </a:p>
        </p:txBody>
      </p:sp>
      <p:sp>
        <p:nvSpPr>
          <p:cNvPr id="7" name="Shape 23">
            <a:extLst>
              <a:ext uri="{FF2B5EF4-FFF2-40B4-BE49-F238E27FC236}">
                <a16:creationId xmlns:a16="http://schemas.microsoft.com/office/drawing/2014/main" id="{2E4FABF2-F343-4676-DB29-13AF8480C496}"/>
              </a:ext>
            </a:extLst>
          </p:cNvPr>
          <p:cNvSpPr/>
          <p:nvPr/>
        </p:nvSpPr>
        <p:spPr>
          <a:xfrm>
            <a:off x="486027" y="1145079"/>
            <a:ext cx="6590795" cy="45719"/>
          </a:xfrm>
          <a:prstGeom prst="rect">
            <a:avLst/>
          </a:prstGeom>
          <a:solidFill>
            <a:srgbClr val="2A75D3"/>
          </a:solidFill>
          <a:ln/>
        </p:spPr>
        <p:txBody>
          <a:bodyPr/>
          <a:lstStyle/>
          <a:p>
            <a:endParaRPr lang="en-PK"/>
          </a:p>
        </p:txBody>
      </p:sp>
      <p:pic>
        <p:nvPicPr>
          <p:cNvPr id="26" name="Picture 25">
            <a:extLst>
              <a:ext uri="{FF2B5EF4-FFF2-40B4-BE49-F238E27FC236}">
                <a16:creationId xmlns:a16="http://schemas.microsoft.com/office/drawing/2014/main" id="{6688CCBC-ACB8-B7C7-C172-1BBF0C741523}"/>
              </a:ext>
            </a:extLst>
          </p:cNvPr>
          <p:cNvPicPr>
            <a:picLocks noChangeAspect="1"/>
          </p:cNvPicPr>
          <p:nvPr/>
        </p:nvPicPr>
        <p:blipFill>
          <a:blip r:embed="rId3"/>
          <a:stretch>
            <a:fillRect/>
          </a:stretch>
        </p:blipFill>
        <p:spPr>
          <a:xfrm>
            <a:off x="1363998" y="1817786"/>
            <a:ext cx="4834847" cy="3966282"/>
          </a:xfrm>
          <a:prstGeom prst="rect">
            <a:avLst/>
          </a:prstGeom>
        </p:spPr>
      </p:pic>
      <p:sp>
        <p:nvSpPr>
          <p:cNvPr id="12" name="Text 24">
            <a:extLst>
              <a:ext uri="{FF2B5EF4-FFF2-40B4-BE49-F238E27FC236}">
                <a16:creationId xmlns:a16="http://schemas.microsoft.com/office/drawing/2014/main" id="{3322990F-99E4-E207-1E95-72B8B523C0C0}"/>
              </a:ext>
            </a:extLst>
          </p:cNvPr>
          <p:cNvSpPr/>
          <p:nvPr/>
        </p:nvSpPr>
        <p:spPr>
          <a:xfrm>
            <a:off x="486028" y="1245945"/>
            <a:ext cx="2112498" cy="21674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Outfit Bold" pitchFamily="2" charset="0"/>
                <a:ea typeface="Outfit Semi Bold" pitchFamily="34" charset="-122"/>
                <a:cs typeface="Outfit Semi Bold" pitchFamily="34" charset="-120"/>
              </a:rPr>
              <a:t>Finish &amp; Launch</a:t>
            </a:r>
            <a:endParaRPr lang="en-US" sz="1350" dirty="0">
              <a:solidFill>
                <a:srgbClr val="000000"/>
              </a:solidFill>
            </a:endParaRPr>
          </a:p>
        </p:txBody>
      </p:sp>
      <p:sp>
        <p:nvSpPr>
          <p:cNvPr id="18" name="Text 25">
            <a:extLst>
              <a:ext uri="{FF2B5EF4-FFF2-40B4-BE49-F238E27FC236}">
                <a16:creationId xmlns:a16="http://schemas.microsoft.com/office/drawing/2014/main" id="{7E176EFB-A1A1-DEAA-DCC3-6FF85788E9A3}"/>
              </a:ext>
            </a:extLst>
          </p:cNvPr>
          <p:cNvSpPr/>
          <p:nvPr/>
        </p:nvSpPr>
        <p:spPr>
          <a:xfrm>
            <a:off x="486028" y="1545893"/>
            <a:ext cx="6590794" cy="888152"/>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000000"/>
                </a:solidFill>
                <a:latin typeface="Ovo" pitchFamily="34" charset="0"/>
                <a:ea typeface="Ovo" pitchFamily="34" charset="-122"/>
                <a:cs typeface="Ovo" pitchFamily="34" charset="-120"/>
              </a:rPr>
              <a:t>Click "Finish" once it completes. Open the app! You can log in to start your trial. If you want to skip the login screen entirely, just disconnect your computer from the Wi-Fi before opening the app.</a:t>
            </a:r>
            <a:endParaRPr lang="en-US" sz="1050" dirty="0">
              <a:solidFill>
                <a:srgbClr val="000000"/>
              </a:solidFill>
            </a:endParaRPr>
          </a:p>
        </p:txBody>
      </p:sp>
      <p:sp>
        <p:nvSpPr>
          <p:cNvPr id="30" name="Shape 26">
            <a:extLst>
              <a:ext uri="{FF2B5EF4-FFF2-40B4-BE49-F238E27FC236}">
                <a16:creationId xmlns:a16="http://schemas.microsoft.com/office/drawing/2014/main" id="{6DBDEFCF-D5E5-29D8-9000-7F2B8F613E33}"/>
              </a:ext>
            </a:extLst>
          </p:cNvPr>
          <p:cNvSpPr/>
          <p:nvPr/>
        </p:nvSpPr>
        <p:spPr>
          <a:xfrm>
            <a:off x="486027" y="6070249"/>
            <a:ext cx="6590795" cy="1481710"/>
          </a:xfrm>
          <a:prstGeom prst="roundRect">
            <a:avLst>
              <a:gd name="adj" fmla="val 8428"/>
            </a:avLst>
          </a:prstGeom>
          <a:solidFill>
            <a:srgbClr val="BFE1F2"/>
          </a:solidFill>
          <a:ln/>
        </p:spPr>
        <p:txBody>
          <a:bodyPr/>
          <a:lstStyle/>
          <a:p>
            <a:endParaRPr lang="en-PK"/>
          </a:p>
        </p:txBody>
      </p:sp>
      <p:pic>
        <p:nvPicPr>
          <p:cNvPr id="31" name="Image 0" descr="preencoded.png">
            <a:extLst>
              <a:ext uri="{FF2B5EF4-FFF2-40B4-BE49-F238E27FC236}">
                <a16:creationId xmlns:a16="http://schemas.microsoft.com/office/drawing/2014/main" id="{0F59BCAE-E91F-F80F-B725-1756FBE333E5}"/>
              </a:ext>
            </a:extLst>
          </p:cNvPr>
          <p:cNvPicPr>
            <a:picLocks noChangeAspect="1"/>
          </p:cNvPicPr>
          <p:nvPr/>
        </p:nvPicPr>
        <p:blipFill>
          <a:blip r:embed="rId4"/>
          <a:stretch>
            <a:fillRect/>
          </a:stretch>
        </p:blipFill>
        <p:spPr>
          <a:xfrm>
            <a:off x="624739" y="6257568"/>
            <a:ext cx="173421" cy="138712"/>
          </a:xfrm>
          <a:prstGeom prst="rect">
            <a:avLst/>
          </a:prstGeom>
        </p:spPr>
      </p:pic>
      <p:sp>
        <p:nvSpPr>
          <p:cNvPr id="32" name="Text 27">
            <a:extLst>
              <a:ext uri="{FF2B5EF4-FFF2-40B4-BE49-F238E27FC236}">
                <a16:creationId xmlns:a16="http://schemas.microsoft.com/office/drawing/2014/main" id="{396217E4-4C98-3839-4D36-0399809059F0}"/>
              </a:ext>
            </a:extLst>
          </p:cNvPr>
          <p:cNvSpPr/>
          <p:nvPr/>
        </p:nvSpPr>
        <p:spPr>
          <a:xfrm>
            <a:off x="936872" y="6229320"/>
            <a:ext cx="6001238" cy="1114129"/>
          </a:xfrm>
          <a:prstGeom prst="rect">
            <a:avLst/>
          </a:prstGeom>
          <a:noFill/>
          <a:ln/>
        </p:spPr>
        <p:txBody>
          <a:bodyPr wrap="square" lIns="0" tIns="0" rIns="0" bIns="0" rtlCol="0" anchor="t">
            <a:normAutofit/>
          </a:bodyPr>
          <a:lstStyle/>
          <a:p>
            <a:pPr marL="0" indent="0" algn="l">
              <a:lnSpc>
                <a:spcPct val="133000"/>
              </a:lnSpc>
              <a:buNone/>
            </a:pPr>
            <a:r>
              <a:rPr lang="en-US" sz="1050" b="1" dirty="0">
                <a:solidFill>
                  <a:srgbClr val="000000"/>
                </a:solidFill>
                <a:latin typeface="Ovo" pitchFamily="34" charset="0"/>
                <a:ea typeface="Ovo" pitchFamily="34" charset="-122"/>
                <a:cs typeface="Ovo" pitchFamily="34" charset="-120"/>
              </a:rPr>
              <a:t>Lab Work Recap:</a:t>
            </a:r>
            <a:r>
              <a:rPr lang="en-US" sz="1050" dirty="0">
                <a:solidFill>
                  <a:srgbClr val="000000"/>
                </a:solidFill>
                <a:latin typeface="Ovo" pitchFamily="34" charset="0"/>
                <a:ea typeface="Ovo" pitchFamily="34" charset="-122"/>
                <a:cs typeface="Ovo" pitchFamily="34" charset="-120"/>
              </a:rPr>
              <a:t> This lab covered three parts — (1) Understanding Network Addresses (comparing IP vs MAC addresses, reviewing IPv4 vs IPv6, memorizing IP address classes), (2) Subnetting Calculations (practicing </a:t>
            </a:r>
            <a:r>
              <a:rPr lang="en-US" sz="1050" i="1" dirty="0">
                <a:solidFill>
                  <a:srgbClr val="000000"/>
                </a:solidFill>
                <a:latin typeface="Ovo" pitchFamily="34" charset="0"/>
                <a:ea typeface="Ovo" pitchFamily="34" charset="-122"/>
                <a:cs typeface="Ovo" pitchFamily="34" charset="-120"/>
              </a:rPr>
              <a:t>2^n</a:t>
            </a:r>
            <a:r>
              <a:rPr lang="en-US" sz="1050" dirty="0">
                <a:solidFill>
                  <a:srgbClr val="000000"/>
                </a:solidFill>
                <a:latin typeface="Ovo" pitchFamily="34" charset="0"/>
                <a:ea typeface="Ovo" pitchFamily="34" charset="-122"/>
                <a:cs typeface="Ovo" pitchFamily="34" charset="-120"/>
              </a:rPr>
              <a:t> for subnets and </a:t>
            </a:r>
            <a:r>
              <a:rPr lang="en-US" sz="1050" i="1" dirty="0">
                <a:solidFill>
                  <a:srgbClr val="000000"/>
                </a:solidFill>
                <a:latin typeface="Ovo" pitchFamily="34" charset="0"/>
                <a:ea typeface="Ovo" pitchFamily="34" charset="-122"/>
                <a:cs typeface="Ovo" pitchFamily="34" charset="-120"/>
              </a:rPr>
              <a:t>(2^h)-2</a:t>
            </a:r>
            <a:r>
              <a:rPr lang="en-US" sz="1050" dirty="0">
                <a:solidFill>
                  <a:srgbClr val="000000"/>
                </a:solidFill>
                <a:latin typeface="Ovo" pitchFamily="34" charset="0"/>
                <a:ea typeface="Ovo" pitchFamily="34" charset="-122"/>
                <a:cs typeface="Ovo" pitchFamily="34" charset="-120"/>
              </a:rPr>
              <a:t> for usable hosts), and (3) Installing Cisco Packet Tracer (downloading from Cisco Network Academy, running the installer, accepting the license agreement, and launching the app).</a:t>
            </a:r>
            <a:endParaRPr lang="en-US" sz="1050" dirty="0">
              <a:solidFill>
                <a:srgbClr val="000000"/>
              </a:solidFill>
            </a:endParaRPr>
          </a:p>
        </p:txBody>
      </p:sp>
    </p:spTree>
    <p:extLst>
      <p:ext uri="{BB962C8B-B14F-4D97-AF65-F5344CB8AC3E}">
        <p14:creationId xmlns:p14="http://schemas.microsoft.com/office/powerpoint/2010/main" val="3450727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descr="Colorful network cables"/>
          <p:cNvSpPr/>
          <p:nvPr/>
        </p:nvSpPr>
        <p:spPr>
          <a:xfrm>
            <a:off x="4726243" y="1509486"/>
            <a:ext cx="2835721" cy="9179850"/>
          </a:xfrm>
          <a:prstGeom prst="rect">
            <a:avLst/>
          </a:prstGeom>
          <a:solidFill>
            <a:srgbClr val="003399"/>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3"/>
          <p:cNvSpPr/>
          <p:nvPr/>
        </p:nvSpPr>
        <p:spPr>
          <a:xfrm>
            <a:off x="485616" y="705685"/>
            <a:ext cx="3755012" cy="2168071"/>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Lab # 2: IP Assigning, Commands for CMD, Labeling method, Simple packet Transformation</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 name="Text 4"/>
          <p:cNvSpPr/>
          <p:nvPr/>
        </p:nvSpPr>
        <p:spPr>
          <a:xfrm>
            <a:off x="485616" y="3081886"/>
            <a:ext cx="3755012" cy="155426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By the end of this lab, you will be able to use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Labeling Method</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 keep your digital workspace neat and organized, successfully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Assign an IP Address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 a computer using the visual interface, use basic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CMD (Command Prompt) Commands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 check your settings and test connections, and perform a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Simple Packet Transmission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 visually watch data travel from one computer to another.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5616" y="633343"/>
            <a:ext cx="4184011" cy="433614"/>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Lab Work: Step-by-Step</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Shape 1"/>
          <p:cNvSpPr/>
          <p:nvPr/>
        </p:nvSpPr>
        <p:spPr>
          <a:xfrm>
            <a:off x="385735" y="1275087"/>
            <a:ext cx="3325891" cy="3651197"/>
          </a:xfrm>
          <a:prstGeom prst="roundRect">
            <a:avLst>
              <a:gd name="adj" fmla="val 6008"/>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524448" y="1413799"/>
            <a:ext cx="2548574"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FFFFFF"/>
                </a:solidFill>
                <a:effectLst/>
                <a:uLnTx/>
                <a:uFillTx/>
                <a:latin typeface="Outfit Bold" pitchFamily="2" charset="0"/>
                <a:ea typeface="Outfit Semi Bold" pitchFamily="34" charset="-122"/>
                <a:cs typeface="Outfit Semi Bold" pitchFamily="34" charset="-120"/>
              </a:rPr>
              <a:t>Part 1: The Labeling Method</a:t>
            </a:r>
            <a:endParaRPr kumimoji="0" lang="en-US" sz="13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 name="Text 3"/>
          <p:cNvSpPr/>
          <p:nvPr/>
        </p:nvSpPr>
        <p:spPr>
          <a:xfrm>
            <a:off x="524448" y="1769257"/>
            <a:ext cx="3048467"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Before building a big network, it is important to stay organized!</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6" name="Text 4"/>
          <p:cNvSpPr/>
          <p:nvPr/>
        </p:nvSpPr>
        <p:spPr>
          <a:xfrm>
            <a:off x="524448" y="2338199"/>
            <a:ext cx="3048467" cy="2539530"/>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Step 1:</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Open Cisco Packet Tracer and drag two PCs onto your blank white workspace from the bottom-left menu.</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Step 2:</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Select the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Place Note</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tool (it looks like a little sticky note or piece of paper at the top).</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Step 3:</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Click next to your first PC and type a label for it, like "PC 1 - 192.168.1.10". Do the same for the second PC ("PC 2 - 192.168.1.11"). This helps you remember which address belongs to which computer!</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 name="Text 5"/>
          <p:cNvSpPr/>
          <p:nvPr/>
        </p:nvSpPr>
        <p:spPr>
          <a:xfrm>
            <a:off x="3954157" y="1413799"/>
            <a:ext cx="2112498"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Part 2: IP Assigning</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 name="Text 6"/>
          <p:cNvSpPr/>
          <p:nvPr/>
        </p:nvSpPr>
        <p:spPr>
          <a:xfrm>
            <a:off x="3954157" y="1769257"/>
            <a:ext cx="3126131"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Now we have to actually program those addresses into the computers so they can communicate.</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Text 7"/>
          <p:cNvSpPr/>
          <p:nvPr/>
        </p:nvSpPr>
        <p:spPr>
          <a:xfrm>
            <a:off x="3954157" y="2338199"/>
            <a:ext cx="3126131" cy="2366047"/>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Step 4:</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Click directly on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 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 window will pop up.</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Step 5:</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Go to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Desktop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tab at the top of that window, then click on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 Configuration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Step 6:</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Type 192.168.1.10 into the IPv4 Address box. When you click the "Subnet Mask" box below it, it will automatically fill in 255.255.255.0. Close the window.</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Step 7:</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Repeat this exact process for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 2</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but use the address 192.168.1.11.</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Text 8"/>
          <p:cNvSpPr/>
          <p:nvPr/>
        </p:nvSpPr>
        <p:spPr>
          <a:xfrm>
            <a:off x="485616" y="5221063"/>
            <a:ext cx="2535404"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Part 3: Commands for CMD</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1" name="Text 9"/>
          <p:cNvSpPr/>
          <p:nvPr/>
        </p:nvSpPr>
        <p:spPr>
          <a:xfrm>
            <a:off x="485616" y="5576521"/>
            <a:ext cx="3126131"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Let's make sure the computer knows its own address!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2" name="Text 10"/>
          <p:cNvSpPr/>
          <p:nvPr/>
        </p:nvSpPr>
        <p:spPr>
          <a:xfrm>
            <a:off x="485616" y="6145463"/>
            <a:ext cx="3126131" cy="2571038"/>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Step 8:</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Click on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 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again and stay on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Desktop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tab. This time, click on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Command Prompt</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Step 9:</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Type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ipconfig</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hit Enter. This command tells the computer to show you its network settings. You should see the IP address you just typed in!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Step 10: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Now, let's test if PC 1 can "hear" PC 2. Type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ping 192.168.1.11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hit Enter. If you see replies coming back, your computers are ready to talk!</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3" name="Shape 11"/>
          <p:cNvSpPr/>
          <p:nvPr/>
        </p:nvSpPr>
        <p:spPr>
          <a:xfrm>
            <a:off x="3854277" y="5082351"/>
            <a:ext cx="3325891" cy="4365867"/>
          </a:xfrm>
          <a:prstGeom prst="roundRect">
            <a:avLst>
              <a:gd name="adj" fmla="val 6008"/>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3992989" y="5221063"/>
            <a:ext cx="3313091"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FFFFFF"/>
                </a:solidFill>
                <a:effectLst/>
                <a:uLnTx/>
                <a:uFillTx/>
                <a:latin typeface="Outfit Bold" pitchFamily="2" charset="0"/>
                <a:ea typeface="Outfit Semi Bold" pitchFamily="34" charset="-122"/>
                <a:cs typeface="Outfit Semi Bold" pitchFamily="34" charset="-120"/>
              </a:rPr>
              <a:t>Part 4: Simple Packet Transformation</a:t>
            </a:r>
            <a:endParaRPr kumimoji="0" lang="en-US" sz="13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5" name="Text 13"/>
          <p:cNvSpPr/>
          <p:nvPr/>
        </p:nvSpPr>
        <p:spPr>
          <a:xfrm>
            <a:off x="3992989" y="5576521"/>
            <a:ext cx="3048467"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Now for the best part—watching a message actually travel across the screen!</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6" name="Text 14"/>
          <p:cNvSpPr/>
          <p:nvPr/>
        </p:nvSpPr>
        <p:spPr>
          <a:xfrm>
            <a:off x="3992989" y="6145463"/>
            <a:ext cx="3048467" cy="3254199"/>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Step 11:</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In the bottom right corner of Packet Tracer, click on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Simulation</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(it switches you out of "Realtime" mode).</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Step 12:</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At the top of the screen, click the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Add Simple PDU</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button (it looks like a closed envelope).</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Step 13:</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Click on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PC 1</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(the sender), and then click on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PC 2</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(the receiver). You will see a tiny envelope appear on PC 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Step 14:</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Click the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Play</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button in the Simulation Panel. Watch the envelope travel from one computer to the other and back! This is exactly how data moves across the internet.</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6BB7A-1731-A6B1-E19A-DA93C89FBFC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4FB8022-4D51-199B-3BF6-543F7169C008}"/>
              </a:ext>
            </a:extLst>
          </p:cNvPr>
          <p:cNvSpPr/>
          <p:nvPr/>
        </p:nvSpPr>
        <p:spPr>
          <a:xfrm>
            <a:off x="447645" y="723667"/>
            <a:ext cx="3575930" cy="399705"/>
          </a:xfrm>
          <a:prstGeom prst="rect">
            <a:avLst/>
          </a:prstGeom>
          <a:noFill/>
          <a:ln/>
        </p:spPr>
        <p:txBody>
          <a:bodyPr wrap="none" lIns="0" tIns="0" rIns="0" bIns="0" rtlCol="0" anchor="t"/>
          <a:lstStyle/>
          <a:p>
            <a:pPr>
              <a:lnSpc>
                <a:spcPct val="104000"/>
              </a:lnSpc>
              <a:defRPr/>
            </a:pPr>
            <a:r>
              <a:rPr lang="en-US" sz="2500" dirty="0">
                <a:solidFill>
                  <a:srgbClr val="000000"/>
                </a:solidFill>
                <a:latin typeface="Outfit Bold" pitchFamily="2" charset="0"/>
                <a:ea typeface="Outfit Semi Bold" pitchFamily="34" charset="-122"/>
                <a:cs typeface="Outfit Semi Bold" pitchFamily="34" charset="-120"/>
              </a:rPr>
              <a:t>Reference Data</a:t>
            </a:r>
            <a:endParaRPr lang="en-US" sz="2500" dirty="0">
              <a:solidFill>
                <a:srgbClr val="000000"/>
              </a:solidFill>
            </a:endParaRPr>
          </a:p>
          <a:p>
            <a:pPr marL="0" marR="0" lvl="0" indent="0" algn="l" defTabSz="457200" rtl="0" eaLnBrk="1" fontAlgn="auto" latinLnBrk="0" hangingPunct="1">
              <a:lnSpc>
                <a:spcPct val="104000"/>
              </a:lnSpc>
              <a:spcBef>
                <a:spcPts val="0"/>
              </a:spcBef>
              <a:spcAft>
                <a:spcPts val="0"/>
              </a:spcAft>
              <a:buClrTx/>
              <a:buSzTx/>
              <a:buFontTx/>
              <a:buNone/>
              <a:tabLst/>
              <a:defRPr/>
            </a:pP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BC56661C-7500-3D0F-ABD3-6B9229EC6E29}"/>
              </a:ext>
            </a:extLst>
          </p:cNvPr>
          <p:cNvSpPr/>
          <p:nvPr/>
        </p:nvSpPr>
        <p:spPr>
          <a:xfrm>
            <a:off x="447645" y="1170512"/>
            <a:ext cx="2977695" cy="319764"/>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1. The Equipment Data</a:t>
            </a:r>
            <a:endPar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290D1159-DCDD-0FE8-1BEA-3EB28B402CAB}"/>
              </a:ext>
            </a:extLst>
          </p:cNvPr>
          <p:cNvSpPr/>
          <p:nvPr/>
        </p:nvSpPr>
        <p:spPr>
          <a:xfrm>
            <a:off x="447645" y="1667144"/>
            <a:ext cx="7044841" cy="196683"/>
          </a:xfrm>
          <a:prstGeom prst="rect">
            <a:avLst/>
          </a:prstGeom>
          <a:noFill/>
          <a:ln/>
        </p:spPr>
        <p:txBody>
          <a:bodyPr wrap="none" lIns="0" tIns="0" rIns="0" bIns="0" rtlCol="0" anchor="t"/>
          <a:lstStyle/>
          <a:p>
            <a:pPr marL="0" marR="0" lvl="0" indent="0" algn="l" defTabSz="457200" rtl="0" eaLnBrk="1" fontAlgn="auto" latinLnBrk="0" hangingPunct="1">
              <a:lnSpc>
                <a:spcPct val="12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Before you enter any numbers, you need to drag these items onto your blank workspace.</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7987C44F-9856-EFFA-C434-D29E5DDFCC7E}"/>
              </a:ext>
            </a:extLst>
          </p:cNvPr>
          <p:cNvSpPr/>
          <p:nvPr/>
        </p:nvSpPr>
        <p:spPr>
          <a:xfrm>
            <a:off x="447645" y="1996448"/>
            <a:ext cx="2143638" cy="2680401"/>
          </a:xfrm>
          <a:prstGeom prst="roundRect">
            <a:avLst>
              <a:gd name="adj" fmla="val 6012"/>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12D34A48-8EDF-0A1D-3473-3B099E80F015}"/>
              </a:ext>
            </a:extLst>
          </p:cNvPr>
          <p:cNvSpPr/>
          <p:nvPr/>
        </p:nvSpPr>
        <p:spPr>
          <a:xfrm>
            <a:off x="463399" y="2012202"/>
            <a:ext cx="2112129" cy="383705"/>
          </a:xfrm>
          <a:prstGeom prst="roundRect">
            <a:avLst>
              <a:gd name="adj" fmla="val 25076"/>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 0" descr="preencoded.png">
            <a:extLst>
              <a:ext uri="{FF2B5EF4-FFF2-40B4-BE49-F238E27FC236}">
                <a16:creationId xmlns:a16="http://schemas.microsoft.com/office/drawing/2014/main" id="{8EFB3CF0-4719-6213-C572-03A532E78F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23553" y="2104205"/>
            <a:ext cx="191822" cy="191822"/>
          </a:xfrm>
          <a:prstGeom prst="rect">
            <a:avLst/>
          </a:prstGeom>
        </p:spPr>
      </p:pic>
      <p:sp>
        <p:nvSpPr>
          <p:cNvPr id="8" name="Text 5">
            <a:extLst>
              <a:ext uri="{FF2B5EF4-FFF2-40B4-BE49-F238E27FC236}">
                <a16:creationId xmlns:a16="http://schemas.microsoft.com/office/drawing/2014/main" id="{78C139B2-AF8A-E27F-0CEA-9543D2C05751}"/>
              </a:ext>
            </a:extLst>
          </p:cNvPr>
          <p:cNvSpPr/>
          <p:nvPr/>
        </p:nvSpPr>
        <p:spPr>
          <a:xfrm>
            <a:off x="591280" y="2513818"/>
            <a:ext cx="1976986" cy="199822"/>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1x Switch</a:t>
            </a:r>
            <a:endParaRPr kumimoji="0" lang="en-US" sz="12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Text 6">
            <a:extLst>
              <a:ext uri="{FF2B5EF4-FFF2-40B4-BE49-F238E27FC236}">
                <a16:creationId xmlns:a16="http://schemas.microsoft.com/office/drawing/2014/main" id="{696D64DF-0EC4-434A-F91D-DA2716AC4E1B}"/>
              </a:ext>
            </a:extLst>
          </p:cNvPr>
          <p:cNvSpPr/>
          <p:nvPr/>
        </p:nvSpPr>
        <p:spPr>
          <a:xfrm>
            <a:off x="591280" y="2784350"/>
            <a:ext cx="1856367" cy="78673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Go to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Network Devices &gt; Switches</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select the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2960</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switch. Drag it to the middle of the workspace.</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Shape 7">
            <a:extLst>
              <a:ext uri="{FF2B5EF4-FFF2-40B4-BE49-F238E27FC236}">
                <a16:creationId xmlns:a16="http://schemas.microsoft.com/office/drawing/2014/main" id="{86C1DBEC-6BF3-EB5F-F0BC-7405342291D9}"/>
              </a:ext>
            </a:extLst>
          </p:cNvPr>
          <p:cNvSpPr/>
          <p:nvPr/>
        </p:nvSpPr>
        <p:spPr>
          <a:xfrm>
            <a:off x="2709194" y="1996447"/>
            <a:ext cx="2143638" cy="2680402"/>
          </a:xfrm>
          <a:prstGeom prst="roundRect">
            <a:avLst>
              <a:gd name="adj" fmla="val 6012"/>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a:extLst>
              <a:ext uri="{FF2B5EF4-FFF2-40B4-BE49-F238E27FC236}">
                <a16:creationId xmlns:a16="http://schemas.microsoft.com/office/drawing/2014/main" id="{33948D77-F5E1-BC80-0BA7-43239468BE37}"/>
              </a:ext>
            </a:extLst>
          </p:cNvPr>
          <p:cNvSpPr/>
          <p:nvPr/>
        </p:nvSpPr>
        <p:spPr>
          <a:xfrm>
            <a:off x="2724949" y="2012202"/>
            <a:ext cx="2112129" cy="383705"/>
          </a:xfrm>
          <a:prstGeom prst="roundRect">
            <a:avLst>
              <a:gd name="adj" fmla="val 25076"/>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Image 1" descr="preencoded.png">
            <a:extLst>
              <a:ext uri="{FF2B5EF4-FFF2-40B4-BE49-F238E27FC236}">
                <a16:creationId xmlns:a16="http://schemas.microsoft.com/office/drawing/2014/main" id="{1B385D96-00B7-3F14-C4B8-4E6650E0A5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85102" y="2104205"/>
            <a:ext cx="191822" cy="191822"/>
          </a:xfrm>
          <a:prstGeom prst="rect">
            <a:avLst/>
          </a:prstGeom>
        </p:spPr>
      </p:pic>
      <p:sp>
        <p:nvSpPr>
          <p:cNvPr id="13" name="Text 9">
            <a:extLst>
              <a:ext uri="{FF2B5EF4-FFF2-40B4-BE49-F238E27FC236}">
                <a16:creationId xmlns:a16="http://schemas.microsoft.com/office/drawing/2014/main" id="{E0CCD3EE-9014-E638-42CA-2ECAB389785E}"/>
              </a:ext>
            </a:extLst>
          </p:cNvPr>
          <p:cNvSpPr/>
          <p:nvPr/>
        </p:nvSpPr>
        <p:spPr>
          <a:xfrm>
            <a:off x="2852830" y="2513818"/>
            <a:ext cx="1976986" cy="199822"/>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2x PCs</a:t>
            </a:r>
            <a:endParaRPr kumimoji="0" lang="en-US" sz="12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Text 10">
            <a:extLst>
              <a:ext uri="{FF2B5EF4-FFF2-40B4-BE49-F238E27FC236}">
                <a16:creationId xmlns:a16="http://schemas.microsoft.com/office/drawing/2014/main" id="{9CBC7DD4-8AFC-CA6B-313E-F928343EBD76}"/>
              </a:ext>
            </a:extLst>
          </p:cNvPr>
          <p:cNvSpPr/>
          <p:nvPr/>
        </p:nvSpPr>
        <p:spPr>
          <a:xfrm>
            <a:off x="2852830" y="2784350"/>
            <a:ext cx="1856367" cy="590050"/>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Go to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End Devices</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select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drag two of them onto the screen.</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Shape 11">
            <a:extLst>
              <a:ext uri="{FF2B5EF4-FFF2-40B4-BE49-F238E27FC236}">
                <a16:creationId xmlns:a16="http://schemas.microsoft.com/office/drawing/2014/main" id="{D77EB90F-52FB-5689-9587-A0F92215F00E}"/>
              </a:ext>
            </a:extLst>
          </p:cNvPr>
          <p:cNvSpPr/>
          <p:nvPr/>
        </p:nvSpPr>
        <p:spPr>
          <a:xfrm>
            <a:off x="4970744" y="1996447"/>
            <a:ext cx="2143638" cy="2680403"/>
          </a:xfrm>
          <a:prstGeom prst="roundRect">
            <a:avLst>
              <a:gd name="adj" fmla="val 6012"/>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a:extLst>
              <a:ext uri="{FF2B5EF4-FFF2-40B4-BE49-F238E27FC236}">
                <a16:creationId xmlns:a16="http://schemas.microsoft.com/office/drawing/2014/main" id="{AB887C5C-0CA4-BD20-0AFF-C4B5BF96657A}"/>
              </a:ext>
            </a:extLst>
          </p:cNvPr>
          <p:cNvSpPr/>
          <p:nvPr/>
        </p:nvSpPr>
        <p:spPr>
          <a:xfrm>
            <a:off x="4986498" y="2012202"/>
            <a:ext cx="2112129" cy="383705"/>
          </a:xfrm>
          <a:prstGeom prst="roundRect">
            <a:avLst>
              <a:gd name="adj" fmla="val 25076"/>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7" name="Image 2" descr="preencoded.png">
            <a:extLst>
              <a:ext uri="{FF2B5EF4-FFF2-40B4-BE49-F238E27FC236}">
                <a16:creationId xmlns:a16="http://schemas.microsoft.com/office/drawing/2014/main" id="{E79031CF-16CF-1221-5941-C387834E8F0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46652" y="2104205"/>
            <a:ext cx="191822" cy="191822"/>
          </a:xfrm>
          <a:prstGeom prst="rect">
            <a:avLst/>
          </a:prstGeom>
        </p:spPr>
      </p:pic>
      <p:sp>
        <p:nvSpPr>
          <p:cNvPr id="18" name="Text 13">
            <a:extLst>
              <a:ext uri="{FF2B5EF4-FFF2-40B4-BE49-F238E27FC236}">
                <a16:creationId xmlns:a16="http://schemas.microsoft.com/office/drawing/2014/main" id="{E179F798-7315-3DAC-796F-2BA6DDBCD004}"/>
              </a:ext>
            </a:extLst>
          </p:cNvPr>
          <p:cNvSpPr/>
          <p:nvPr/>
        </p:nvSpPr>
        <p:spPr>
          <a:xfrm>
            <a:off x="5114379" y="2513818"/>
            <a:ext cx="1976986" cy="199822"/>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Connections</a:t>
            </a:r>
            <a:endParaRPr kumimoji="0" lang="en-US" sz="12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Text 14">
            <a:extLst>
              <a:ext uri="{FF2B5EF4-FFF2-40B4-BE49-F238E27FC236}">
                <a16:creationId xmlns:a16="http://schemas.microsoft.com/office/drawing/2014/main" id="{7F64CF15-B12E-CC89-A8A7-9C2E5D67CFA1}"/>
              </a:ext>
            </a:extLst>
          </p:cNvPr>
          <p:cNvSpPr/>
          <p:nvPr/>
        </p:nvSpPr>
        <p:spPr>
          <a:xfrm>
            <a:off x="5114379" y="2784350"/>
            <a:ext cx="1856367" cy="983417"/>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Go to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Connections</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(the lightning bolt icon), select the solid black line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Copper Straight-Through</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connect PC 1 to the Switch, and PC 2 to the Switch.</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52" name="Picture 51">
            <a:extLst>
              <a:ext uri="{FF2B5EF4-FFF2-40B4-BE49-F238E27FC236}">
                <a16:creationId xmlns:a16="http://schemas.microsoft.com/office/drawing/2014/main" id="{9EC9075C-5CF9-D898-1623-FC132DF9DBD7}"/>
              </a:ext>
            </a:extLst>
          </p:cNvPr>
          <p:cNvPicPr>
            <a:picLocks noChangeAspect="1"/>
          </p:cNvPicPr>
          <p:nvPr/>
        </p:nvPicPr>
        <p:blipFill>
          <a:blip r:embed="rId6"/>
          <a:stretch>
            <a:fillRect/>
          </a:stretch>
        </p:blipFill>
        <p:spPr>
          <a:xfrm>
            <a:off x="991853" y="3764571"/>
            <a:ext cx="863400" cy="631756"/>
          </a:xfrm>
          <a:prstGeom prst="rect">
            <a:avLst/>
          </a:prstGeom>
        </p:spPr>
      </p:pic>
      <p:pic>
        <p:nvPicPr>
          <p:cNvPr id="54" name="Picture 53">
            <a:extLst>
              <a:ext uri="{FF2B5EF4-FFF2-40B4-BE49-F238E27FC236}">
                <a16:creationId xmlns:a16="http://schemas.microsoft.com/office/drawing/2014/main" id="{D332312E-8849-8755-CCC3-59D6F0383C41}"/>
              </a:ext>
            </a:extLst>
          </p:cNvPr>
          <p:cNvPicPr>
            <a:picLocks noChangeAspect="1"/>
          </p:cNvPicPr>
          <p:nvPr/>
        </p:nvPicPr>
        <p:blipFill>
          <a:blip r:embed="rId7"/>
          <a:stretch>
            <a:fillRect/>
          </a:stretch>
        </p:blipFill>
        <p:spPr>
          <a:xfrm>
            <a:off x="3147171" y="3666583"/>
            <a:ext cx="1263320" cy="729744"/>
          </a:xfrm>
          <a:prstGeom prst="rect">
            <a:avLst/>
          </a:prstGeom>
        </p:spPr>
      </p:pic>
      <p:pic>
        <p:nvPicPr>
          <p:cNvPr id="56" name="Picture 55">
            <a:extLst>
              <a:ext uri="{FF2B5EF4-FFF2-40B4-BE49-F238E27FC236}">
                <a16:creationId xmlns:a16="http://schemas.microsoft.com/office/drawing/2014/main" id="{300E8813-E4DA-0283-6033-95380B6CCCF2}"/>
              </a:ext>
            </a:extLst>
          </p:cNvPr>
          <p:cNvPicPr>
            <a:picLocks noChangeAspect="1"/>
          </p:cNvPicPr>
          <p:nvPr/>
        </p:nvPicPr>
        <p:blipFill>
          <a:blip r:embed="rId8"/>
          <a:stretch>
            <a:fillRect/>
          </a:stretch>
        </p:blipFill>
        <p:spPr>
          <a:xfrm>
            <a:off x="5115200" y="3863664"/>
            <a:ext cx="1855546" cy="581428"/>
          </a:xfrm>
          <a:prstGeom prst="rect">
            <a:avLst/>
          </a:prstGeom>
        </p:spPr>
      </p:pic>
      <p:sp>
        <p:nvSpPr>
          <p:cNvPr id="57" name="Text 15"/>
          <p:cNvSpPr/>
          <p:nvPr/>
        </p:nvSpPr>
        <p:spPr>
          <a:xfrm>
            <a:off x="455522" y="5182935"/>
            <a:ext cx="2936340" cy="319764"/>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2. The Labeling Data</a:t>
            </a:r>
            <a:endPar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8" name="Text 16"/>
          <p:cNvSpPr/>
          <p:nvPr/>
        </p:nvSpPr>
        <p:spPr>
          <a:xfrm>
            <a:off x="455522" y="5679566"/>
            <a:ext cx="7044841" cy="196683"/>
          </a:xfrm>
          <a:prstGeom prst="rect">
            <a:avLst/>
          </a:prstGeom>
          <a:noFill/>
          <a:ln/>
        </p:spPr>
        <p:txBody>
          <a:bodyPr wrap="none" lIns="0" tIns="0" rIns="0" bIns="0" rtlCol="0" anchor="t"/>
          <a:lstStyle/>
          <a:p>
            <a:pPr marL="0" marR="0" lvl="0" indent="0" algn="l" defTabSz="457200" rtl="0" eaLnBrk="1" fontAlgn="auto" latinLnBrk="0" hangingPunct="1">
              <a:lnSpc>
                <a:spcPct val="12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Use the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Place Note</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tool to add these exact text labels next to your computers so you do not forget their addresses.</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9" name="Shape 17"/>
          <p:cNvSpPr/>
          <p:nvPr/>
        </p:nvSpPr>
        <p:spPr>
          <a:xfrm>
            <a:off x="455522" y="6008870"/>
            <a:ext cx="6666736" cy="1053696"/>
          </a:xfrm>
          <a:prstGeom prst="roundRect">
            <a:avLst>
              <a:gd name="adj" fmla="val 10926"/>
            </a:avLst>
          </a:prstGeom>
          <a:noFill/>
          <a:ln w="7877">
            <a:solidFill>
              <a:srgbClr val="000000">
                <a:alpha val="8000"/>
              </a:srgbClr>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hape 18"/>
          <p:cNvSpPr/>
          <p:nvPr/>
        </p:nvSpPr>
        <p:spPr>
          <a:xfrm>
            <a:off x="463399" y="6016747"/>
            <a:ext cx="6650982" cy="345981"/>
          </a:xfrm>
          <a:prstGeom prst="rect">
            <a:avLst/>
          </a:prstGeom>
          <a:solidFill>
            <a:srgbClr val="FFFFFF">
              <a:alpha val="4000"/>
            </a:srgbClr>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Text 19"/>
          <p:cNvSpPr/>
          <p:nvPr/>
        </p:nvSpPr>
        <p:spPr>
          <a:xfrm>
            <a:off x="591342" y="6091395"/>
            <a:ext cx="3445833" cy="196683"/>
          </a:xfrm>
          <a:prstGeom prst="rect">
            <a:avLst/>
          </a:prstGeom>
          <a:noFill/>
          <a:ln/>
        </p:spPr>
        <p:txBody>
          <a:bodyPr wrap="none" lIns="0" tIns="0" rIns="0" bIns="0" rtlCol="0" anchor="t"/>
          <a:lstStyle/>
          <a:p>
            <a:pPr marL="0" marR="0" lvl="0" indent="0" algn="l" defTabSz="457200" rtl="0" eaLnBrk="1" fontAlgn="auto" latinLnBrk="0" hangingPunct="1">
              <a:lnSpc>
                <a:spcPct val="128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Device</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2" name="Text 20"/>
          <p:cNvSpPr/>
          <p:nvPr/>
        </p:nvSpPr>
        <p:spPr>
          <a:xfrm>
            <a:off x="3918771" y="6091395"/>
            <a:ext cx="3445833" cy="196683"/>
          </a:xfrm>
          <a:prstGeom prst="rect">
            <a:avLst/>
          </a:prstGeom>
          <a:noFill/>
          <a:ln/>
        </p:spPr>
        <p:txBody>
          <a:bodyPr wrap="none" lIns="0" tIns="0" rIns="0" bIns="0" rtlCol="0" anchor="t"/>
          <a:lstStyle/>
          <a:p>
            <a:pPr marL="0" marR="0" lvl="0" indent="0" algn="l" defTabSz="457200" rtl="0" eaLnBrk="1" fontAlgn="auto" latinLnBrk="0" hangingPunct="1">
              <a:lnSpc>
                <a:spcPct val="128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Text to Type on the Label</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3" name="Shape 21"/>
          <p:cNvSpPr/>
          <p:nvPr/>
        </p:nvSpPr>
        <p:spPr>
          <a:xfrm>
            <a:off x="463399" y="6362727"/>
            <a:ext cx="6650982" cy="345981"/>
          </a:xfrm>
          <a:prstGeom prst="rect">
            <a:avLst/>
          </a:prstGeom>
          <a:solidFill>
            <a:srgbClr val="000000">
              <a:alpha val="4000"/>
            </a:srgbClr>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Text 22"/>
          <p:cNvSpPr/>
          <p:nvPr/>
        </p:nvSpPr>
        <p:spPr>
          <a:xfrm>
            <a:off x="591342" y="6437376"/>
            <a:ext cx="3445833" cy="196683"/>
          </a:xfrm>
          <a:prstGeom prst="rect">
            <a:avLst/>
          </a:prstGeom>
          <a:noFill/>
          <a:ln/>
        </p:spPr>
        <p:txBody>
          <a:bodyPr wrap="none" lIns="0" tIns="0" rIns="0" bIns="0" rtlCol="0" anchor="t"/>
          <a:lstStyle/>
          <a:p>
            <a:pPr marL="0" marR="0" lvl="0" indent="0" algn="l" defTabSz="457200" rtl="0" eaLnBrk="1" fontAlgn="auto" latinLnBrk="0" hangingPunct="1">
              <a:lnSpc>
                <a:spcPct val="12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First Computer</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5" name="Text 23"/>
          <p:cNvSpPr/>
          <p:nvPr/>
        </p:nvSpPr>
        <p:spPr>
          <a:xfrm>
            <a:off x="3918771" y="6437376"/>
            <a:ext cx="3445833" cy="196683"/>
          </a:xfrm>
          <a:prstGeom prst="rect">
            <a:avLst/>
          </a:prstGeom>
          <a:noFill/>
          <a:ln/>
        </p:spPr>
        <p:txBody>
          <a:bodyPr wrap="none" lIns="0" tIns="0" rIns="0" bIns="0" rtlCol="0" anchor="t"/>
          <a:lstStyle/>
          <a:p>
            <a:pPr marL="0" marR="0" lvl="0" indent="0" algn="l" defTabSz="457200" rtl="0" eaLnBrk="1" fontAlgn="auto" latinLnBrk="0" hangingPunct="1">
              <a:lnSpc>
                <a:spcPct val="128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 1 - 192.168.1.10</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6" name="Shape 24"/>
          <p:cNvSpPr/>
          <p:nvPr/>
        </p:nvSpPr>
        <p:spPr>
          <a:xfrm>
            <a:off x="463399" y="6708708"/>
            <a:ext cx="6650982" cy="345981"/>
          </a:xfrm>
          <a:prstGeom prst="rect">
            <a:avLst/>
          </a:prstGeom>
          <a:solidFill>
            <a:srgbClr val="FFFFFF">
              <a:alpha val="4000"/>
            </a:srgbClr>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Text 25"/>
          <p:cNvSpPr/>
          <p:nvPr/>
        </p:nvSpPr>
        <p:spPr>
          <a:xfrm>
            <a:off x="591342" y="6783357"/>
            <a:ext cx="3445833" cy="196683"/>
          </a:xfrm>
          <a:prstGeom prst="rect">
            <a:avLst/>
          </a:prstGeom>
          <a:noFill/>
          <a:ln/>
        </p:spPr>
        <p:txBody>
          <a:bodyPr wrap="none" lIns="0" tIns="0" rIns="0" bIns="0" rtlCol="0" anchor="t"/>
          <a:lstStyle/>
          <a:p>
            <a:pPr marL="0" marR="0" lvl="0" indent="0" algn="l" defTabSz="457200" rtl="0" eaLnBrk="1" fontAlgn="auto" latinLnBrk="0" hangingPunct="1">
              <a:lnSpc>
                <a:spcPct val="12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Second Computer</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8" name="Text 26"/>
          <p:cNvSpPr/>
          <p:nvPr/>
        </p:nvSpPr>
        <p:spPr>
          <a:xfrm>
            <a:off x="3918771" y="6783357"/>
            <a:ext cx="3445833" cy="196683"/>
          </a:xfrm>
          <a:prstGeom prst="rect">
            <a:avLst/>
          </a:prstGeom>
          <a:noFill/>
          <a:ln/>
        </p:spPr>
        <p:txBody>
          <a:bodyPr wrap="none" lIns="0" tIns="0" rIns="0" bIns="0" rtlCol="0" anchor="t"/>
          <a:lstStyle/>
          <a:p>
            <a:pPr marL="0" marR="0" lvl="0" indent="0" algn="l" defTabSz="457200" rtl="0" eaLnBrk="1" fontAlgn="auto" latinLnBrk="0" hangingPunct="1">
              <a:lnSpc>
                <a:spcPct val="128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 2 - 192.168.1.11</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3" name="Rectangle: Rounded Corners 72">
            <a:extLst>
              <a:ext uri="{FF2B5EF4-FFF2-40B4-BE49-F238E27FC236}">
                <a16:creationId xmlns:a16="http://schemas.microsoft.com/office/drawing/2014/main" id="{41D63C1A-2B4E-9DE5-EEEB-EBDBAA61525E}"/>
              </a:ext>
            </a:extLst>
          </p:cNvPr>
          <p:cNvSpPr/>
          <p:nvPr/>
        </p:nvSpPr>
        <p:spPr>
          <a:xfrm>
            <a:off x="4962867" y="7145091"/>
            <a:ext cx="2159391" cy="614161"/>
          </a:xfrm>
          <a:prstGeom prst="roundRect">
            <a:avLst/>
          </a:prstGeom>
          <a:blipFill dpi="0" rotWithShape="1">
            <a:blip r:embed="rId9">
              <a:extLst>
                <a:ext uri="{28A0092B-C50C-407E-A947-70E740481C1C}">
                  <a14:useLocalDpi xmlns:a14="http://schemas.microsoft.com/office/drawing/2010/main" val="0"/>
                </a:ext>
              </a:extLst>
            </a:blip>
            <a:srcRect/>
            <a:stretch>
              <a:fillRect/>
            </a:stretch>
          </a:blip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74" name="Text 27"/>
          <p:cNvSpPr/>
          <p:nvPr/>
        </p:nvSpPr>
        <p:spPr>
          <a:xfrm>
            <a:off x="539709" y="8196257"/>
            <a:ext cx="3658763" cy="319764"/>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3. The IP Configuration Data</a:t>
            </a:r>
            <a:endPar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5" name="Text 28"/>
          <p:cNvSpPr/>
          <p:nvPr/>
        </p:nvSpPr>
        <p:spPr>
          <a:xfrm>
            <a:off x="539709" y="8668335"/>
            <a:ext cx="5470267" cy="221238"/>
          </a:xfrm>
          <a:prstGeom prst="rect">
            <a:avLst/>
          </a:prstGeom>
          <a:noFill/>
          <a:ln/>
        </p:spPr>
        <p:txBody>
          <a:bodyPr wrap="none" lIns="0" tIns="0" rIns="0" bIns="0" rtlCol="0" anchor="t"/>
          <a:lstStyle/>
          <a:p>
            <a:pPr marL="0" marR="0" lvl="0" indent="0" algn="l" defTabSz="457200" rtl="0" eaLnBrk="1" fontAlgn="auto" latinLnBrk="0" hangingPunct="1">
              <a:lnSpc>
                <a:spcPct val="12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 each PC, go to the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Desktop</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tab, open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 Configuration</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type in these exact numbers.</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6" name="Shape 29"/>
          <p:cNvSpPr/>
          <p:nvPr/>
        </p:nvSpPr>
        <p:spPr>
          <a:xfrm>
            <a:off x="447645" y="9022192"/>
            <a:ext cx="3361461" cy="1108160"/>
          </a:xfrm>
          <a:prstGeom prst="roundRect">
            <a:avLst>
              <a:gd name="adj" fmla="val 16622"/>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30"/>
          <p:cNvSpPr/>
          <p:nvPr/>
        </p:nvSpPr>
        <p:spPr>
          <a:xfrm>
            <a:off x="575526" y="9140104"/>
            <a:ext cx="1976986" cy="199822"/>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Outfit Bold" pitchFamily="2" charset="0"/>
                <a:ea typeface="Outfit Semi Bold" pitchFamily="34" charset="-122"/>
                <a:cs typeface="Outfit Semi Bold" pitchFamily="34" charset="-120"/>
              </a:rPr>
              <a:t>For PC 1</a:t>
            </a:r>
            <a:endParaRPr kumimoji="0" lang="en-US" sz="12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8" name="Text 31"/>
          <p:cNvSpPr/>
          <p:nvPr/>
        </p:nvSpPr>
        <p:spPr>
          <a:xfrm>
            <a:off x="575526" y="9457837"/>
            <a:ext cx="3105699" cy="631282"/>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28000"/>
              </a:lnSpc>
              <a:spcBef>
                <a:spcPts val="0"/>
              </a:spcBef>
              <a:spcAft>
                <a:spcPts val="0"/>
              </a:spcAft>
              <a:buClrTx/>
              <a:buSzPct val="100000"/>
              <a:buFontTx/>
              <a:buChar char="•"/>
              <a:tabLst/>
              <a:defRPr/>
            </a:pPr>
            <a:r>
              <a:rPr kumimoji="0" lang="en-US" sz="100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IPv4 Address:</a:t>
            </a:r>
            <a:r>
              <a:rPr kumimoji="0" lang="en-US" sz="100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192.168.1.10</a:t>
            </a:r>
            <a:endParaRPr kumimoji="0" lang="en-US" sz="100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28000"/>
              </a:lnSpc>
              <a:spcBef>
                <a:spcPts val="0"/>
              </a:spcBef>
              <a:spcAft>
                <a:spcPts val="0"/>
              </a:spcAft>
              <a:buClrTx/>
              <a:buSzPct val="100000"/>
              <a:buFontTx/>
              <a:buChar char="•"/>
              <a:tabLst/>
              <a:defRPr/>
            </a:pPr>
            <a:r>
              <a:rPr kumimoji="0" lang="en-US" sz="100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Subnet Mask:</a:t>
            </a:r>
            <a:r>
              <a:rPr kumimoji="0" lang="en-US" sz="100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255.255.255.0 (This usually fills in automatically when you click the box)</a:t>
            </a:r>
            <a:endParaRPr kumimoji="0" lang="en-US" sz="10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9" name="Text 32"/>
          <p:cNvSpPr/>
          <p:nvPr/>
        </p:nvSpPr>
        <p:spPr>
          <a:xfrm>
            <a:off x="4032990" y="9140104"/>
            <a:ext cx="1976986" cy="199822"/>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For PC 2</a:t>
            </a:r>
            <a:endParaRPr kumimoji="0" lang="en-US" sz="12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0" name="Text 33"/>
          <p:cNvSpPr/>
          <p:nvPr/>
        </p:nvSpPr>
        <p:spPr>
          <a:xfrm>
            <a:off x="4032990" y="9457837"/>
            <a:ext cx="1976986" cy="434599"/>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28000"/>
              </a:lnSpc>
              <a:spcBef>
                <a:spcPts val="0"/>
              </a:spcBef>
              <a:spcAft>
                <a:spcPts val="0"/>
              </a:spcAft>
              <a:buClrTx/>
              <a:buSzPct val="100000"/>
              <a:buFontTx/>
              <a:buChar char="•"/>
              <a:tabLst/>
              <a:defRPr/>
            </a:pP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IPv4 Address:</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192.168.1.11</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28000"/>
              </a:lnSpc>
              <a:spcBef>
                <a:spcPts val="0"/>
              </a:spcBef>
              <a:spcAft>
                <a:spcPts val="0"/>
              </a:spcAft>
              <a:buClrTx/>
              <a:buSzPct val="100000"/>
              <a:buFontTx/>
              <a:buChar char="•"/>
              <a:tabLst/>
              <a:defRPr/>
            </a:pP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Subnet Mask:</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255.255.255.0</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9930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 34"/>
          <p:cNvSpPr/>
          <p:nvPr/>
        </p:nvSpPr>
        <p:spPr>
          <a:xfrm>
            <a:off x="447645" y="608350"/>
            <a:ext cx="4693627" cy="319764"/>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4. The Command Prompt (CMD) Data</a:t>
            </a:r>
            <a:endPar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0" name="Text 35"/>
          <p:cNvSpPr/>
          <p:nvPr/>
        </p:nvSpPr>
        <p:spPr>
          <a:xfrm>
            <a:off x="447645" y="1104982"/>
            <a:ext cx="6666736" cy="393367"/>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To test if everything is working, click on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 1</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go to the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Desktop</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tab, and open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Command Prompt</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Type these exact commands and hit Enter after each one.</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1" name="Shape 36"/>
          <p:cNvSpPr/>
          <p:nvPr/>
        </p:nvSpPr>
        <p:spPr>
          <a:xfrm>
            <a:off x="447645" y="1630968"/>
            <a:ext cx="3274382" cy="1167546"/>
          </a:xfrm>
          <a:prstGeom prst="roundRect">
            <a:avLst>
              <a:gd name="adj" fmla="val 6477"/>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37"/>
          <p:cNvSpPr/>
          <p:nvPr/>
        </p:nvSpPr>
        <p:spPr>
          <a:xfrm>
            <a:off x="431891" y="1630968"/>
            <a:ext cx="63017" cy="1167546"/>
          </a:xfrm>
          <a:prstGeom prst="roundRect">
            <a:avLst>
              <a:gd name="adj" fmla="val 182685"/>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38"/>
          <p:cNvSpPr/>
          <p:nvPr/>
        </p:nvSpPr>
        <p:spPr>
          <a:xfrm>
            <a:off x="638543" y="1774604"/>
            <a:ext cx="1976986" cy="219515"/>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ipconfig</a:t>
            </a:r>
            <a:endParaRPr kumimoji="0" lang="en-US" sz="12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4" name="Text 39"/>
          <p:cNvSpPr/>
          <p:nvPr/>
        </p:nvSpPr>
        <p:spPr>
          <a:xfrm>
            <a:off x="638543" y="2064828"/>
            <a:ext cx="2939848" cy="393367"/>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This will show you the address you just typed in to confirm it saved.</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5" name="Shape 40"/>
          <p:cNvSpPr/>
          <p:nvPr/>
        </p:nvSpPr>
        <p:spPr>
          <a:xfrm>
            <a:off x="3839938" y="1630968"/>
            <a:ext cx="3274443" cy="1167546"/>
          </a:xfrm>
          <a:prstGeom prst="roundRect">
            <a:avLst>
              <a:gd name="adj" fmla="val 6477"/>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1"/>
          <p:cNvSpPr/>
          <p:nvPr/>
        </p:nvSpPr>
        <p:spPr>
          <a:xfrm>
            <a:off x="3824184" y="1630968"/>
            <a:ext cx="63017" cy="1167546"/>
          </a:xfrm>
          <a:prstGeom prst="roundRect">
            <a:avLst>
              <a:gd name="adj" fmla="val 182685"/>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2"/>
          <p:cNvSpPr/>
          <p:nvPr/>
        </p:nvSpPr>
        <p:spPr>
          <a:xfrm>
            <a:off x="4030837" y="1774604"/>
            <a:ext cx="1976986" cy="219515"/>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ping 192.168.1.11</a:t>
            </a:r>
            <a:endParaRPr kumimoji="0" lang="en-US" sz="12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8" name="Text 43"/>
          <p:cNvSpPr/>
          <p:nvPr/>
        </p:nvSpPr>
        <p:spPr>
          <a:xfrm>
            <a:off x="4030837" y="2064828"/>
            <a:ext cx="2939909" cy="590050"/>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This tells PC 1 to send four test messages to PC 2. If it works, you will see a message saying "Reply from 192.168.1.11".</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50" name="Picture 49">
            <a:extLst>
              <a:ext uri="{FF2B5EF4-FFF2-40B4-BE49-F238E27FC236}">
                <a16:creationId xmlns:a16="http://schemas.microsoft.com/office/drawing/2014/main" id="{B087BAA4-BB53-1430-928F-BA6FA095F0C5}"/>
              </a:ext>
            </a:extLst>
          </p:cNvPr>
          <p:cNvPicPr>
            <a:picLocks noChangeAspect="1"/>
          </p:cNvPicPr>
          <p:nvPr/>
        </p:nvPicPr>
        <p:blipFill>
          <a:blip r:embed="rId3"/>
          <a:stretch>
            <a:fillRect/>
          </a:stretch>
        </p:blipFill>
        <p:spPr>
          <a:xfrm>
            <a:off x="215297" y="2919339"/>
            <a:ext cx="5455121" cy="3870217"/>
          </a:xfrm>
          <a:prstGeom prst="rect">
            <a:avLst/>
          </a:prstGeom>
        </p:spPr>
      </p:pic>
      <p:pic>
        <p:nvPicPr>
          <p:cNvPr id="54" name="Picture 53">
            <a:extLst>
              <a:ext uri="{FF2B5EF4-FFF2-40B4-BE49-F238E27FC236}">
                <a16:creationId xmlns:a16="http://schemas.microsoft.com/office/drawing/2014/main" id="{72CAE611-E360-F476-6D0C-514292DBF382}"/>
              </a:ext>
            </a:extLst>
          </p:cNvPr>
          <p:cNvPicPr>
            <a:picLocks noChangeAspect="1"/>
          </p:cNvPicPr>
          <p:nvPr/>
        </p:nvPicPr>
        <p:blipFill>
          <a:blip r:embed="rId4"/>
          <a:stretch>
            <a:fillRect/>
          </a:stretch>
        </p:blipFill>
        <p:spPr>
          <a:xfrm>
            <a:off x="2012454" y="6785376"/>
            <a:ext cx="5402555" cy="367686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5616" y="728085"/>
            <a:ext cx="6590795" cy="867229"/>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Lab # 3: Constructing a Basic Network Using Two Personal Computers</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Text 1"/>
          <p:cNvSpPr/>
          <p:nvPr/>
        </p:nvSpPr>
        <p:spPr>
          <a:xfrm>
            <a:off x="485616" y="1526266"/>
            <a:ext cx="6968900"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485616" y="1751381"/>
            <a:ext cx="6590795"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This hands-on lab walks you through building your very first computer network using Cisco Packet Tracer — no command-line expertise required. Follow each step carefully and you'll have two PCs communicating by the end of the session.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 name="Shape 3"/>
          <p:cNvSpPr/>
          <p:nvPr/>
        </p:nvSpPr>
        <p:spPr>
          <a:xfrm>
            <a:off x="485616" y="2573562"/>
            <a:ext cx="6590795" cy="1075174"/>
          </a:xfrm>
          <a:prstGeom prst="roundRect">
            <a:avLst>
              <a:gd name="adj" fmla="val 11615"/>
            </a:avLst>
          </a:prstGeom>
          <a:solidFill>
            <a:srgbClr val="BFE1F2"/>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 1" descr="preencoded.png"/>
          <p:cNvPicPr>
            <a:picLocks noChangeAspect="1"/>
          </p:cNvPicPr>
          <p:nvPr/>
        </p:nvPicPr>
        <p:blipFill>
          <a:blip r:embed="rId3">
            <a:duotone>
              <a:schemeClr val="accent4">
                <a:shade val="45000"/>
                <a:satMod val="135000"/>
              </a:schemeClr>
              <a:prstClr val="white"/>
            </a:duotone>
          </a:blip>
          <a:stretch>
            <a:fillRect/>
          </a:stretch>
        </p:blipFill>
        <p:spPr>
          <a:xfrm>
            <a:off x="624328" y="2779784"/>
            <a:ext cx="346842" cy="277486"/>
          </a:xfrm>
          <a:prstGeom prst="rect">
            <a:avLst/>
          </a:prstGeom>
        </p:spPr>
      </p:pic>
      <p:sp>
        <p:nvSpPr>
          <p:cNvPr id="8" name="Text 4"/>
          <p:cNvSpPr/>
          <p:nvPr/>
        </p:nvSpPr>
        <p:spPr>
          <a:xfrm>
            <a:off x="1109882" y="2746921"/>
            <a:ext cx="3153147" cy="346842"/>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1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Lab Outcomes</a:t>
            </a:r>
            <a:endParaRPr kumimoji="0" lang="en-US" sz="2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Text 5"/>
          <p:cNvSpPr/>
          <p:nvPr/>
        </p:nvSpPr>
        <p:spPr>
          <a:xfrm>
            <a:off x="1109882" y="3232476"/>
            <a:ext cx="6205922"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By the end of this lab, you will be able to:</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Text 6"/>
          <p:cNvSpPr/>
          <p:nvPr/>
        </p:nvSpPr>
        <p:spPr>
          <a:xfrm>
            <a:off x="267209" y="4263525"/>
            <a:ext cx="1774211" cy="216746"/>
          </a:xfrm>
          <a:prstGeom prst="rect">
            <a:avLst/>
          </a:prstGeom>
          <a:noFill/>
          <a:ln/>
        </p:spPr>
        <p:txBody>
          <a:bodyPr wrap="none" lIns="0" tIns="0" rIns="0" bIns="0" rtlCol="0" anchor="t"/>
          <a:lstStyle/>
          <a:p>
            <a:pPr marL="0" marR="0" lvl="0" indent="0" algn="r" defTabSz="457200" rtl="0" eaLnBrk="1" fontAlgn="auto" latinLnBrk="0" hangingPunct="1">
              <a:lnSpc>
                <a:spcPct val="10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Navigate the Interface</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1" name="Text 7"/>
          <p:cNvSpPr/>
          <p:nvPr/>
        </p:nvSpPr>
        <p:spPr>
          <a:xfrm>
            <a:off x="485616" y="4563473"/>
            <a:ext cx="1933908" cy="444076"/>
          </a:xfrm>
          <a:prstGeom prst="rect">
            <a:avLst/>
          </a:prstGeom>
          <a:noFill/>
          <a:ln/>
        </p:spPr>
        <p:txBody>
          <a:bodyPr wrap="square" lIns="0" tIns="0" rIns="0" bIns="0" rtlCol="0" anchor="t">
            <a:normAutofit/>
          </a:bodyPr>
          <a:lstStyle/>
          <a:p>
            <a:pPr marL="0" marR="0" lvl="0" indent="0" algn="r"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Move confidently around the Cisco Packet Tracer workspace.</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Text 8"/>
          <p:cNvSpPr/>
          <p:nvPr/>
        </p:nvSpPr>
        <p:spPr>
          <a:xfrm>
            <a:off x="5142503" y="3804802"/>
            <a:ext cx="2112498"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Place Devices</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Text 9"/>
          <p:cNvSpPr/>
          <p:nvPr/>
        </p:nvSpPr>
        <p:spPr>
          <a:xfrm>
            <a:off x="5142503" y="4104751"/>
            <a:ext cx="1933908"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Add computer devices onto your workspace from the device panel.</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8" name="Text 10"/>
          <p:cNvSpPr/>
          <p:nvPr/>
        </p:nvSpPr>
        <p:spPr>
          <a:xfrm>
            <a:off x="5211859" y="4978995"/>
            <a:ext cx="1864552" cy="433491"/>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Choose the Correct Cable</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Text 11"/>
          <p:cNvSpPr/>
          <p:nvPr/>
        </p:nvSpPr>
        <p:spPr>
          <a:xfrm>
            <a:off x="5211859" y="5495689"/>
            <a:ext cx="1864552"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Select the right physical cable to connect two identical devices.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2" name="Text 12"/>
          <p:cNvSpPr/>
          <p:nvPr/>
        </p:nvSpPr>
        <p:spPr>
          <a:xfrm>
            <a:off x="5142503" y="6369933"/>
            <a:ext cx="2112498"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Assign an IP Address</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3" name="Text 13"/>
          <p:cNvSpPr/>
          <p:nvPr/>
        </p:nvSpPr>
        <p:spPr>
          <a:xfrm>
            <a:off x="5142503" y="6669881"/>
            <a:ext cx="1933908"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Give each computer a digital "home address" using visual menus.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Text 14"/>
          <p:cNvSpPr/>
          <p:nvPr/>
        </p:nvSpPr>
        <p:spPr>
          <a:xfrm>
            <a:off x="307025" y="6022167"/>
            <a:ext cx="1734394" cy="216746"/>
          </a:xfrm>
          <a:prstGeom prst="rect">
            <a:avLst/>
          </a:prstGeom>
          <a:noFill/>
          <a:ln/>
        </p:spPr>
        <p:txBody>
          <a:bodyPr wrap="none" lIns="0" tIns="0" rIns="0" bIns="0" rtlCol="0" anchor="t"/>
          <a:lstStyle/>
          <a:p>
            <a:pPr marL="0" marR="0" lvl="0" indent="0" algn="r" defTabSz="457200" rtl="0" eaLnBrk="1" fontAlgn="auto" latinLnBrk="0" hangingPunct="1">
              <a:lnSpc>
                <a:spcPct val="104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Test the Connection</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7" name="Text 15"/>
          <p:cNvSpPr/>
          <p:nvPr/>
        </p:nvSpPr>
        <p:spPr>
          <a:xfrm>
            <a:off x="485616" y="6322116"/>
            <a:ext cx="1933908" cy="666114"/>
          </a:xfrm>
          <a:prstGeom prst="rect">
            <a:avLst/>
          </a:prstGeom>
          <a:noFill/>
          <a:ln/>
        </p:spPr>
        <p:txBody>
          <a:bodyPr wrap="square" lIns="0" tIns="0" rIns="0" bIns="0" rtlCol="0" anchor="t">
            <a:normAutofit/>
          </a:bodyPr>
          <a:lstStyle/>
          <a:p>
            <a:pPr marL="0" marR="0" lvl="0" indent="0" algn="r"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Verify visually that the two computers can communicate with each other.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aphicFrame>
        <p:nvGraphicFramePr>
          <p:cNvPr id="30" name="Diagram 29">
            <a:extLst>
              <a:ext uri="{FF2B5EF4-FFF2-40B4-BE49-F238E27FC236}">
                <a16:creationId xmlns:a16="http://schemas.microsoft.com/office/drawing/2014/main" id="{4A275562-0AFE-3A68-E2CB-9BAF00B7B42F}"/>
              </a:ext>
            </a:extLst>
          </p:cNvPr>
          <p:cNvGraphicFramePr/>
          <p:nvPr>
            <p:extLst>
              <p:ext uri="{D42A27DB-BD31-4B8C-83A1-F6EECF244321}">
                <p14:modId xmlns:p14="http://schemas.microsoft.com/office/powerpoint/2010/main" val="2060301958"/>
              </p:ext>
            </p:extLst>
          </p:nvPr>
        </p:nvGraphicFramePr>
        <p:xfrm>
          <a:off x="2178904" y="4437808"/>
          <a:ext cx="3134864" cy="24012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0415" y="571218"/>
            <a:ext cx="3738520" cy="420075"/>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6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Step-by-Step Guide</a:t>
            </a:r>
            <a:endParaRPr kumimoji="0" lang="en-US" sz="2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Shape 1"/>
          <p:cNvSpPr/>
          <p:nvPr/>
        </p:nvSpPr>
        <p:spPr>
          <a:xfrm>
            <a:off x="470415" y="1251670"/>
            <a:ext cx="3245519" cy="5295433"/>
          </a:xfrm>
          <a:prstGeom prst="roundRect">
            <a:avLst>
              <a:gd name="adj" fmla="val 3727"/>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86169" y="1267426"/>
            <a:ext cx="3214010" cy="403213"/>
          </a:xfrm>
          <a:prstGeom prst="roundRect">
            <a:avLst>
              <a:gd name="adj" fmla="val 25314"/>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1803319" y="1339059"/>
            <a:ext cx="390659" cy="252008"/>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1</a:t>
            </a:r>
            <a:endParaRPr kumimoji="0" lang="en-US" sz="15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 name="Text 4"/>
          <p:cNvSpPr/>
          <p:nvPr/>
        </p:nvSpPr>
        <p:spPr>
          <a:xfrm>
            <a:off x="620574" y="1800797"/>
            <a:ext cx="3160963" cy="20997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Bring the Computers onto the Screen</a:t>
            </a:r>
            <a:endParaRPr kumimoji="0" lang="en-US" sz="13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Text 5"/>
          <p:cNvSpPr/>
          <p:nvPr/>
        </p:nvSpPr>
        <p:spPr>
          <a:xfrm>
            <a:off x="620574" y="2088868"/>
            <a:ext cx="2945202" cy="423275"/>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1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Think of the big white screen as your empty desk — let's place two PCs on it.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 name="Text 6"/>
          <p:cNvSpPr/>
          <p:nvPr/>
        </p:nvSpPr>
        <p:spPr>
          <a:xfrm>
            <a:off x="620574" y="2590238"/>
            <a:ext cx="2945202" cy="1829722"/>
          </a:xfrm>
          <a:prstGeom prst="rect">
            <a:avLst/>
          </a:prstGeom>
          <a:noFill/>
          <a:ln/>
        </p:spPr>
        <p:txBody>
          <a:bodyPr wrap="square" lIns="0" tIns="0" rIns="0" bIns="0" rtlCol="0" anchor="t">
            <a:normAutofit lnSpcReduction="10000"/>
          </a:bodyPr>
          <a:lstStyle/>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Look at the bottom-left corner. 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End Devices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icon (small computer and phone).</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In the menu next to it, click the first icon labeled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once on the white workspace —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appears.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startAt="4"/>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Repeat to place a second computer — it will be named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hape 7"/>
          <p:cNvSpPr/>
          <p:nvPr/>
        </p:nvSpPr>
        <p:spPr>
          <a:xfrm>
            <a:off x="3846092" y="1251671"/>
            <a:ext cx="3245519" cy="5295432"/>
          </a:xfrm>
          <a:prstGeom prst="roundRect">
            <a:avLst>
              <a:gd name="adj" fmla="val 3727"/>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3861847" y="1267426"/>
            <a:ext cx="3214010" cy="403213"/>
          </a:xfrm>
          <a:prstGeom prst="roundRect">
            <a:avLst>
              <a:gd name="adj" fmla="val 25314"/>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5178996" y="1339059"/>
            <a:ext cx="390659" cy="252008"/>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2</a:t>
            </a:r>
            <a:endParaRPr kumimoji="0" lang="en-US" sz="15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2" name="Text 10"/>
          <p:cNvSpPr/>
          <p:nvPr/>
        </p:nvSpPr>
        <p:spPr>
          <a:xfrm>
            <a:off x="3996251" y="1800797"/>
            <a:ext cx="3138131" cy="20997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Connect the Computers with a Cable</a:t>
            </a:r>
            <a:endParaRPr kumimoji="0" lang="en-US" sz="13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3" name="Text 11"/>
          <p:cNvSpPr/>
          <p:nvPr/>
        </p:nvSpPr>
        <p:spPr>
          <a:xfrm>
            <a:off x="3996251" y="2088868"/>
            <a:ext cx="2945202" cy="634913"/>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1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Because we are connecting two of the </a:t>
            </a: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same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type of device (PC to PC), we must use a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Copper Cross-Over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cable.</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Text 12"/>
          <p:cNvSpPr/>
          <p:nvPr/>
        </p:nvSpPr>
        <p:spPr>
          <a:xfrm>
            <a:off x="3996251" y="2801876"/>
            <a:ext cx="2945202" cy="2510175"/>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Connections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icon (orange lightning bolt) at the bottom-left.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Select the black dashed line — hover to confirm it says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Copper Cross-Over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then select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FastEthernet0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from the pop-up menu.</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startAt="4"/>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Drag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click it, and choose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FastEthernet0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again.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startAt="5"/>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Look for a dashed line with </a:t>
            </a:r>
            <a:r>
              <a:rPr kumimoji="0" lang="en-US" sz="1050" b="1" i="0" u="none" strike="noStrike" kern="1200" cap="none" spc="0" normalizeH="0" baseline="0" noProof="0" dirty="0">
                <a:ln>
                  <a:noFill/>
                </a:ln>
                <a:solidFill>
                  <a:srgbClr val="2A75D3"/>
                </a:solidFill>
                <a:effectLst/>
                <a:uLnTx/>
                <a:uFillTx/>
                <a:latin typeface="Ovo" pitchFamily="34" charset="0"/>
                <a:ea typeface="Ovo" pitchFamily="34" charset="-122"/>
                <a:cs typeface="Ovo" pitchFamily="34" charset="-120"/>
              </a:rPr>
              <a:t>green triangles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at both ends — green means the cable is connected correctly!</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31" name="Picture 30">
            <a:extLst>
              <a:ext uri="{FF2B5EF4-FFF2-40B4-BE49-F238E27FC236}">
                <a16:creationId xmlns:a16="http://schemas.microsoft.com/office/drawing/2014/main" id="{D545DE4B-BAD4-C5B3-5E7A-CD22434B388D}"/>
              </a:ext>
            </a:extLst>
          </p:cNvPr>
          <p:cNvPicPr>
            <a:picLocks noChangeAspect="1"/>
          </p:cNvPicPr>
          <p:nvPr/>
        </p:nvPicPr>
        <p:blipFill>
          <a:blip r:embed="rId3"/>
          <a:stretch>
            <a:fillRect/>
          </a:stretch>
        </p:blipFill>
        <p:spPr>
          <a:xfrm>
            <a:off x="976152" y="4993016"/>
            <a:ext cx="2101136" cy="981031"/>
          </a:xfrm>
          <a:prstGeom prst="rect">
            <a:avLst/>
          </a:prstGeom>
        </p:spPr>
      </p:pic>
      <p:pic>
        <p:nvPicPr>
          <p:cNvPr id="33" name="Picture 32">
            <a:extLst>
              <a:ext uri="{FF2B5EF4-FFF2-40B4-BE49-F238E27FC236}">
                <a16:creationId xmlns:a16="http://schemas.microsoft.com/office/drawing/2014/main" id="{5949219B-F016-810B-506E-E6FEC8976F11}"/>
              </a:ext>
            </a:extLst>
          </p:cNvPr>
          <p:cNvPicPr>
            <a:picLocks noChangeAspect="1"/>
          </p:cNvPicPr>
          <p:nvPr/>
        </p:nvPicPr>
        <p:blipFill>
          <a:blip r:embed="rId4"/>
          <a:stretch>
            <a:fillRect/>
          </a:stretch>
        </p:blipFill>
        <p:spPr>
          <a:xfrm>
            <a:off x="4558475" y="5248726"/>
            <a:ext cx="2013682" cy="981622"/>
          </a:xfrm>
          <a:prstGeom prst="rect">
            <a:avLst/>
          </a:prstGeom>
        </p:spPr>
      </p:pic>
      <p:pic>
        <p:nvPicPr>
          <p:cNvPr id="35" name="Picture 34">
            <a:extLst>
              <a:ext uri="{FF2B5EF4-FFF2-40B4-BE49-F238E27FC236}">
                <a16:creationId xmlns:a16="http://schemas.microsoft.com/office/drawing/2014/main" id="{179AE737-B7CD-B5F3-BD4F-64A33B7975C3}"/>
              </a:ext>
            </a:extLst>
          </p:cNvPr>
          <p:cNvPicPr>
            <a:picLocks noChangeAspect="1"/>
          </p:cNvPicPr>
          <p:nvPr/>
        </p:nvPicPr>
        <p:blipFill>
          <a:blip r:embed="rId5"/>
          <a:stretch>
            <a:fillRect/>
          </a:stretch>
        </p:blipFill>
        <p:spPr>
          <a:xfrm>
            <a:off x="470415" y="6807480"/>
            <a:ext cx="3917168" cy="1806515"/>
          </a:xfrm>
          <a:prstGeom prst="rect">
            <a:avLst/>
          </a:prstGeom>
        </p:spPr>
      </p:pic>
      <p:pic>
        <p:nvPicPr>
          <p:cNvPr id="37" name="Picture 36">
            <a:extLst>
              <a:ext uri="{FF2B5EF4-FFF2-40B4-BE49-F238E27FC236}">
                <a16:creationId xmlns:a16="http://schemas.microsoft.com/office/drawing/2014/main" id="{086FDE76-47D2-3AC7-A149-6E5007BCF3F5}"/>
              </a:ext>
            </a:extLst>
          </p:cNvPr>
          <p:cNvPicPr>
            <a:picLocks noChangeAspect="1"/>
          </p:cNvPicPr>
          <p:nvPr/>
        </p:nvPicPr>
        <p:blipFill>
          <a:blip r:embed="rId6"/>
          <a:stretch>
            <a:fillRect/>
          </a:stretch>
        </p:blipFill>
        <p:spPr>
          <a:xfrm>
            <a:off x="2742427" y="8599770"/>
            <a:ext cx="4349184" cy="19689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04228-25E2-3A8D-5CED-9D5006E992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3B06522-8EEB-022C-C1BA-9E4CAE9719FE}"/>
              </a:ext>
            </a:extLst>
          </p:cNvPr>
          <p:cNvSpPr/>
          <p:nvPr/>
        </p:nvSpPr>
        <p:spPr>
          <a:xfrm>
            <a:off x="470415" y="571218"/>
            <a:ext cx="3738520" cy="420075"/>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6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Step-by-Step Guide</a:t>
            </a:r>
            <a:endParaRPr kumimoji="0" lang="en-US" sz="2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BEF24FA4-ADA0-3A75-2655-D7273446A873}"/>
              </a:ext>
            </a:extLst>
          </p:cNvPr>
          <p:cNvSpPr/>
          <p:nvPr/>
        </p:nvSpPr>
        <p:spPr>
          <a:xfrm>
            <a:off x="470415" y="1168137"/>
            <a:ext cx="3245519" cy="8404126"/>
          </a:xfrm>
          <a:prstGeom prst="roundRect">
            <a:avLst>
              <a:gd name="adj" fmla="val 3727"/>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BE44ADEB-67BE-E1A7-18A5-C8EE181045B6}"/>
              </a:ext>
            </a:extLst>
          </p:cNvPr>
          <p:cNvSpPr/>
          <p:nvPr/>
        </p:nvSpPr>
        <p:spPr>
          <a:xfrm>
            <a:off x="486169" y="1183892"/>
            <a:ext cx="3214010" cy="403213"/>
          </a:xfrm>
          <a:prstGeom prst="roundRect">
            <a:avLst>
              <a:gd name="adj" fmla="val 25314"/>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17A2C4A3-A271-ADF0-D69F-6BC7D4F91059}"/>
              </a:ext>
            </a:extLst>
          </p:cNvPr>
          <p:cNvSpPr/>
          <p:nvPr/>
        </p:nvSpPr>
        <p:spPr>
          <a:xfrm>
            <a:off x="1803319" y="1255525"/>
            <a:ext cx="390659" cy="252008"/>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3</a:t>
            </a:r>
            <a:endParaRPr kumimoji="0" lang="en-US" sz="15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8" name="Text 16">
            <a:extLst>
              <a:ext uri="{FF2B5EF4-FFF2-40B4-BE49-F238E27FC236}">
                <a16:creationId xmlns:a16="http://schemas.microsoft.com/office/drawing/2014/main" id="{578FFBFC-85D5-67EC-CC3B-4CC4EC3E0374}"/>
              </a:ext>
            </a:extLst>
          </p:cNvPr>
          <p:cNvSpPr/>
          <p:nvPr/>
        </p:nvSpPr>
        <p:spPr>
          <a:xfrm>
            <a:off x="620574" y="1717264"/>
            <a:ext cx="2937509" cy="20997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Give the Computers an IP Address</a:t>
            </a:r>
            <a:endParaRPr kumimoji="0" lang="en-US" sz="13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Text 17">
            <a:extLst>
              <a:ext uri="{FF2B5EF4-FFF2-40B4-BE49-F238E27FC236}">
                <a16:creationId xmlns:a16="http://schemas.microsoft.com/office/drawing/2014/main" id="{76CC4BA5-CDE3-95F4-5FA4-3F8D9642170A}"/>
              </a:ext>
            </a:extLst>
          </p:cNvPr>
          <p:cNvSpPr/>
          <p:nvPr/>
        </p:nvSpPr>
        <p:spPr>
          <a:xfrm>
            <a:off x="620574" y="2005335"/>
            <a:ext cx="2945202" cy="634913"/>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1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Computers need an IP address to know who they're talking to, just like houses need street numbers for the mail carrier.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0" name="Text 18">
            <a:extLst>
              <a:ext uri="{FF2B5EF4-FFF2-40B4-BE49-F238E27FC236}">
                <a16:creationId xmlns:a16="http://schemas.microsoft.com/office/drawing/2014/main" id="{1C672CB2-8AA8-AD11-129E-80455115F008}"/>
              </a:ext>
            </a:extLst>
          </p:cNvPr>
          <p:cNvSpPr/>
          <p:nvPr/>
        </p:nvSpPr>
        <p:spPr>
          <a:xfrm>
            <a:off x="620574" y="2718343"/>
            <a:ext cx="2945202" cy="2167887"/>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Desktop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tab →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 Configuration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IPv4 Address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type: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192.168.1.1</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Subnet Mask</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box — it auto-fills with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255.255.255.0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Leave it as is.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startAt="4"/>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Close the PC0 window.</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startAt="5"/>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Repeat for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Desktop → IP Configuration → IPv4 Address: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192.168.1.2</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(ends in '2' — every computer needs a unique address).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startAt="6"/>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Auto-fill Subnet Mask and close the window.</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8659DD5E-7C2D-B374-B652-17BCD0D1AC26}"/>
              </a:ext>
            </a:extLst>
          </p:cNvPr>
          <p:cNvSpPr/>
          <p:nvPr/>
        </p:nvSpPr>
        <p:spPr>
          <a:xfrm>
            <a:off x="3846092" y="1168137"/>
            <a:ext cx="3245519" cy="8404125"/>
          </a:xfrm>
          <a:prstGeom prst="roundRect">
            <a:avLst>
              <a:gd name="adj" fmla="val 3727"/>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DB7707A8-06B6-59B7-8A61-4675288900C8}"/>
              </a:ext>
            </a:extLst>
          </p:cNvPr>
          <p:cNvSpPr/>
          <p:nvPr/>
        </p:nvSpPr>
        <p:spPr>
          <a:xfrm>
            <a:off x="3861847" y="1183892"/>
            <a:ext cx="3214010" cy="403213"/>
          </a:xfrm>
          <a:prstGeom prst="roundRect">
            <a:avLst>
              <a:gd name="adj" fmla="val 25314"/>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a:extLst>
              <a:ext uri="{FF2B5EF4-FFF2-40B4-BE49-F238E27FC236}">
                <a16:creationId xmlns:a16="http://schemas.microsoft.com/office/drawing/2014/main" id="{1BB5A545-853B-1C2A-9284-E57D49360819}"/>
              </a:ext>
            </a:extLst>
          </p:cNvPr>
          <p:cNvSpPr/>
          <p:nvPr/>
        </p:nvSpPr>
        <p:spPr>
          <a:xfrm>
            <a:off x="5178996" y="1255525"/>
            <a:ext cx="390659" cy="252008"/>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4</a:t>
            </a:r>
            <a:endParaRPr kumimoji="0" lang="en-US" sz="15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4" name="Text 22">
            <a:extLst>
              <a:ext uri="{FF2B5EF4-FFF2-40B4-BE49-F238E27FC236}">
                <a16:creationId xmlns:a16="http://schemas.microsoft.com/office/drawing/2014/main" id="{12E04492-C36B-B155-238B-6271726C2AEC}"/>
              </a:ext>
            </a:extLst>
          </p:cNvPr>
          <p:cNvSpPr/>
          <p:nvPr/>
        </p:nvSpPr>
        <p:spPr>
          <a:xfrm>
            <a:off x="3996251" y="1717264"/>
            <a:ext cx="2945202" cy="419952"/>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Test the Network — Send a Digital Letter</a:t>
            </a:r>
            <a:endParaRPr kumimoji="0" lang="en-US" sz="13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5" name="Text 23">
            <a:extLst>
              <a:ext uri="{FF2B5EF4-FFF2-40B4-BE49-F238E27FC236}">
                <a16:creationId xmlns:a16="http://schemas.microsoft.com/office/drawing/2014/main" id="{AB08AF98-9915-8701-010B-CB882A7469AB}"/>
              </a:ext>
            </a:extLst>
          </p:cNvPr>
          <p:cNvSpPr/>
          <p:nvPr/>
        </p:nvSpPr>
        <p:spPr>
          <a:xfrm>
            <a:off x="3996251" y="2215311"/>
            <a:ext cx="2945202" cy="423275"/>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1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Let's confirm PC0 can successfully send a message to PC1 using the visual envelope tool.</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Text 24">
            <a:extLst>
              <a:ext uri="{FF2B5EF4-FFF2-40B4-BE49-F238E27FC236}">
                <a16:creationId xmlns:a16="http://schemas.microsoft.com/office/drawing/2014/main" id="{9A70E7C7-FF22-8530-B355-C0E63E164DF9}"/>
              </a:ext>
            </a:extLst>
          </p:cNvPr>
          <p:cNvSpPr/>
          <p:nvPr/>
        </p:nvSpPr>
        <p:spPr>
          <a:xfrm>
            <a:off x="3996251" y="2716681"/>
            <a:ext cx="2945202" cy="1572544"/>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Find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yellow envelope icon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near the top-right toolbar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Add Simple PDU</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Click it.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Your cursor becomes an envelope. Click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(sender), then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(receiver).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Check the bottom-right corner — a new line should appear with </a:t>
            </a:r>
            <a:r>
              <a:rPr kumimoji="0" lang="en-US" sz="1050" b="1" i="0" u="none" strike="noStrike" kern="1200" cap="none" spc="0" normalizeH="0" baseline="0" noProof="0" dirty="0">
                <a:ln>
                  <a:noFill/>
                </a:ln>
                <a:solidFill>
                  <a:srgbClr val="2A75D3"/>
                </a:solidFill>
                <a:effectLst/>
                <a:uLnTx/>
                <a:uFillTx/>
                <a:latin typeface="Ovo" pitchFamily="34" charset="0"/>
                <a:ea typeface="Ovo" pitchFamily="34" charset="-122"/>
                <a:cs typeface="Ovo" pitchFamily="34" charset="-120"/>
              </a:rPr>
              <a:t>Successful</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under the "Status" column.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99454FE9-B280-6138-0C08-79A577A5D3FF}"/>
              </a:ext>
            </a:extLst>
          </p:cNvPr>
          <p:cNvSpPr/>
          <p:nvPr/>
        </p:nvSpPr>
        <p:spPr>
          <a:xfrm>
            <a:off x="470415" y="9672558"/>
            <a:ext cx="6621196" cy="779287"/>
          </a:xfrm>
          <a:prstGeom prst="roundRect">
            <a:avLst>
              <a:gd name="adj" fmla="val 15524"/>
            </a:avLst>
          </a:prstGeom>
          <a:solidFill>
            <a:srgbClr val="B6FCB8"/>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8" name="Image 0" descr="preencoded.png">
            <a:extLst>
              <a:ext uri="{FF2B5EF4-FFF2-40B4-BE49-F238E27FC236}">
                <a16:creationId xmlns:a16="http://schemas.microsoft.com/office/drawing/2014/main" id="{F4AEF031-7E6B-93D5-995D-923E6A99A60A}"/>
              </a:ext>
            </a:extLst>
          </p:cNvPr>
          <p:cNvPicPr>
            <a:picLocks noChangeAspect="1"/>
          </p:cNvPicPr>
          <p:nvPr/>
        </p:nvPicPr>
        <p:blipFill>
          <a:blip r:embed="rId3"/>
          <a:stretch>
            <a:fillRect/>
          </a:stretch>
        </p:blipFill>
        <p:spPr>
          <a:xfrm>
            <a:off x="604819" y="9864749"/>
            <a:ext cx="168005" cy="134404"/>
          </a:xfrm>
          <a:prstGeom prst="rect">
            <a:avLst/>
          </a:prstGeom>
        </p:spPr>
      </p:pic>
      <p:sp>
        <p:nvSpPr>
          <p:cNvPr id="29" name="Text 26">
            <a:extLst>
              <a:ext uri="{FF2B5EF4-FFF2-40B4-BE49-F238E27FC236}">
                <a16:creationId xmlns:a16="http://schemas.microsoft.com/office/drawing/2014/main" id="{ADB016E6-4EA0-5477-6614-6DB1A8B2BCE3}"/>
              </a:ext>
            </a:extLst>
          </p:cNvPr>
          <p:cNvSpPr/>
          <p:nvPr/>
        </p:nvSpPr>
        <p:spPr>
          <a:xfrm>
            <a:off x="907229" y="9836318"/>
            <a:ext cx="6049978" cy="431153"/>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1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Congratulations!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You have successfully built, configured, and tested your very first computer network.</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31" name="Picture 30">
            <a:extLst>
              <a:ext uri="{FF2B5EF4-FFF2-40B4-BE49-F238E27FC236}">
                <a16:creationId xmlns:a16="http://schemas.microsoft.com/office/drawing/2014/main" id="{5BE5ECBA-D5B7-9FF4-E438-0233D617F21D}"/>
              </a:ext>
            </a:extLst>
          </p:cNvPr>
          <p:cNvPicPr>
            <a:picLocks noChangeAspect="1"/>
          </p:cNvPicPr>
          <p:nvPr/>
        </p:nvPicPr>
        <p:blipFill>
          <a:blip r:embed="rId4"/>
          <a:stretch>
            <a:fillRect/>
          </a:stretch>
        </p:blipFill>
        <p:spPr>
          <a:xfrm>
            <a:off x="627156" y="4886230"/>
            <a:ext cx="2924344" cy="2141930"/>
          </a:xfrm>
          <a:prstGeom prst="rect">
            <a:avLst/>
          </a:prstGeom>
        </p:spPr>
      </p:pic>
      <p:pic>
        <p:nvPicPr>
          <p:cNvPr id="33" name="Picture 32">
            <a:extLst>
              <a:ext uri="{FF2B5EF4-FFF2-40B4-BE49-F238E27FC236}">
                <a16:creationId xmlns:a16="http://schemas.microsoft.com/office/drawing/2014/main" id="{A65E9947-DF0A-961B-CD39-147C04884F2C}"/>
              </a:ext>
            </a:extLst>
          </p:cNvPr>
          <p:cNvPicPr>
            <a:picLocks noChangeAspect="1"/>
          </p:cNvPicPr>
          <p:nvPr/>
        </p:nvPicPr>
        <p:blipFill>
          <a:blip r:embed="rId5"/>
          <a:stretch>
            <a:fillRect/>
          </a:stretch>
        </p:blipFill>
        <p:spPr>
          <a:xfrm>
            <a:off x="620574" y="7146765"/>
            <a:ext cx="2959784" cy="2167887"/>
          </a:xfrm>
          <a:prstGeom prst="rect">
            <a:avLst/>
          </a:prstGeom>
        </p:spPr>
      </p:pic>
      <p:pic>
        <p:nvPicPr>
          <p:cNvPr id="35" name="Picture 34">
            <a:extLst>
              <a:ext uri="{FF2B5EF4-FFF2-40B4-BE49-F238E27FC236}">
                <a16:creationId xmlns:a16="http://schemas.microsoft.com/office/drawing/2014/main" id="{B5A99B68-35F3-6595-6A46-45AAB97F302A}"/>
              </a:ext>
            </a:extLst>
          </p:cNvPr>
          <p:cNvPicPr>
            <a:picLocks noChangeAspect="1"/>
          </p:cNvPicPr>
          <p:nvPr/>
        </p:nvPicPr>
        <p:blipFill>
          <a:blip r:embed="rId6"/>
          <a:stretch>
            <a:fillRect/>
          </a:stretch>
        </p:blipFill>
        <p:spPr>
          <a:xfrm>
            <a:off x="4734223" y="4886230"/>
            <a:ext cx="1486217" cy="768733"/>
          </a:xfrm>
          <a:prstGeom prst="rect">
            <a:avLst/>
          </a:prstGeom>
        </p:spPr>
      </p:pic>
      <p:pic>
        <p:nvPicPr>
          <p:cNvPr id="37" name="Picture 36">
            <a:extLst>
              <a:ext uri="{FF2B5EF4-FFF2-40B4-BE49-F238E27FC236}">
                <a16:creationId xmlns:a16="http://schemas.microsoft.com/office/drawing/2014/main" id="{C02E4196-0E3E-BEAB-ACCF-97E7A7F1FC13}"/>
              </a:ext>
            </a:extLst>
          </p:cNvPr>
          <p:cNvPicPr>
            <a:picLocks noChangeAspect="1"/>
          </p:cNvPicPr>
          <p:nvPr/>
        </p:nvPicPr>
        <p:blipFill>
          <a:blip r:embed="rId7"/>
          <a:stretch>
            <a:fillRect/>
          </a:stretch>
        </p:blipFill>
        <p:spPr>
          <a:xfrm>
            <a:off x="4755604" y="5870474"/>
            <a:ext cx="1542974" cy="782441"/>
          </a:xfrm>
          <a:prstGeom prst="rect">
            <a:avLst/>
          </a:prstGeom>
        </p:spPr>
      </p:pic>
      <p:pic>
        <p:nvPicPr>
          <p:cNvPr id="39" name="Picture 38">
            <a:extLst>
              <a:ext uri="{FF2B5EF4-FFF2-40B4-BE49-F238E27FC236}">
                <a16:creationId xmlns:a16="http://schemas.microsoft.com/office/drawing/2014/main" id="{67AC225D-3CF1-E9C0-AE8B-2C86A458756C}"/>
              </a:ext>
            </a:extLst>
          </p:cNvPr>
          <p:cNvPicPr>
            <a:picLocks noChangeAspect="1"/>
          </p:cNvPicPr>
          <p:nvPr/>
        </p:nvPicPr>
        <p:blipFill>
          <a:blip r:embed="rId8"/>
          <a:stretch>
            <a:fillRect/>
          </a:stretch>
        </p:blipFill>
        <p:spPr>
          <a:xfrm>
            <a:off x="4713039" y="6753210"/>
            <a:ext cx="1628103" cy="798090"/>
          </a:xfrm>
          <a:prstGeom prst="rect">
            <a:avLst/>
          </a:prstGeom>
        </p:spPr>
      </p:pic>
      <p:pic>
        <p:nvPicPr>
          <p:cNvPr id="41" name="Picture 40">
            <a:extLst>
              <a:ext uri="{FF2B5EF4-FFF2-40B4-BE49-F238E27FC236}">
                <a16:creationId xmlns:a16="http://schemas.microsoft.com/office/drawing/2014/main" id="{19DD8C56-C721-151B-C0DF-6CF94633F5CF}"/>
              </a:ext>
            </a:extLst>
          </p:cNvPr>
          <p:cNvPicPr>
            <a:picLocks noChangeAspect="1"/>
          </p:cNvPicPr>
          <p:nvPr/>
        </p:nvPicPr>
        <p:blipFill>
          <a:blip r:embed="rId9"/>
          <a:stretch>
            <a:fillRect/>
          </a:stretch>
        </p:blipFill>
        <p:spPr>
          <a:xfrm>
            <a:off x="4018916" y="4407199"/>
            <a:ext cx="2945202" cy="384448"/>
          </a:xfrm>
          <a:prstGeom prst="rect">
            <a:avLst/>
          </a:prstGeom>
        </p:spPr>
      </p:pic>
      <p:pic>
        <p:nvPicPr>
          <p:cNvPr id="43" name="Picture 42">
            <a:extLst>
              <a:ext uri="{FF2B5EF4-FFF2-40B4-BE49-F238E27FC236}">
                <a16:creationId xmlns:a16="http://schemas.microsoft.com/office/drawing/2014/main" id="{B3DC3D4F-FF74-34EA-EC7B-0C88842F4A5E}"/>
              </a:ext>
            </a:extLst>
          </p:cNvPr>
          <p:cNvPicPr>
            <a:picLocks noChangeAspect="1"/>
          </p:cNvPicPr>
          <p:nvPr/>
        </p:nvPicPr>
        <p:blipFill>
          <a:blip r:embed="rId10"/>
          <a:stretch>
            <a:fillRect/>
          </a:stretch>
        </p:blipFill>
        <p:spPr>
          <a:xfrm>
            <a:off x="4063191" y="7673531"/>
            <a:ext cx="2856652" cy="1599592"/>
          </a:xfrm>
          <a:prstGeom prst="rect">
            <a:avLst/>
          </a:prstGeom>
        </p:spPr>
      </p:pic>
    </p:spTree>
    <p:extLst>
      <p:ext uri="{BB962C8B-B14F-4D97-AF65-F5344CB8AC3E}">
        <p14:creationId xmlns:p14="http://schemas.microsoft.com/office/powerpoint/2010/main" val="915052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79581" y="556079"/>
            <a:ext cx="6712276" cy="75879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3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Lab #4: Ethernet Cables, Categories, RJ45 Connectors &amp; Wiring Standards</a:t>
            </a:r>
            <a:endParaRPr kumimoji="0" lang="en-US" sz="2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Text 1"/>
          <p:cNvSpPr/>
          <p:nvPr/>
        </p:nvSpPr>
        <p:spPr>
          <a:xfrm>
            <a:off x="379581" y="1474202"/>
            <a:ext cx="6712276" cy="364197"/>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By the end of this lab, you will understand Ethernet cable structure, cable categories, RJ45 connectors, T568A/B wiring standards, and how to choose the correct cable in Cisco Packet Tracer.</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Text 2"/>
          <p:cNvSpPr/>
          <p:nvPr/>
        </p:nvSpPr>
        <p:spPr>
          <a:xfrm>
            <a:off x="379581" y="1997727"/>
            <a:ext cx="2806244" cy="303518"/>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Lab Outcomes</a:t>
            </a:r>
            <a:endParaRPr kumimoji="0" lang="en-US" sz="19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5060" y="2464326"/>
            <a:ext cx="182098" cy="182098"/>
          </a:xfrm>
          <a:prstGeom prst="rect">
            <a:avLst/>
          </a:prstGeom>
        </p:spPr>
      </p:pic>
      <p:sp>
        <p:nvSpPr>
          <p:cNvPr id="6" name="Text 3"/>
          <p:cNvSpPr/>
          <p:nvPr/>
        </p:nvSpPr>
        <p:spPr>
          <a:xfrm>
            <a:off x="774055" y="2460573"/>
            <a:ext cx="2087021" cy="189668"/>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Ethernet Cable Structure</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Text 4"/>
          <p:cNvSpPr/>
          <p:nvPr/>
        </p:nvSpPr>
        <p:spPr>
          <a:xfrm>
            <a:off x="774055" y="2713935"/>
            <a:ext cx="6695906" cy="182098"/>
          </a:xfrm>
          <a:prstGeom prst="rect">
            <a:avLst/>
          </a:prstGeom>
          <a:noFill/>
          <a:ln/>
        </p:spPr>
        <p:txBody>
          <a:bodyPr wrap="none" lIns="0" tIns="0" rIns="0" bIns="0" rtlCol="0" anchor="t"/>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Understand what an Ethernet cable is and why the wires inside are twisted.</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5060" y="3112225"/>
            <a:ext cx="182098" cy="182098"/>
          </a:xfrm>
          <a:prstGeom prst="rect">
            <a:avLst/>
          </a:prstGeom>
        </p:spPr>
      </p:pic>
      <p:sp>
        <p:nvSpPr>
          <p:cNvPr id="9" name="Text 5"/>
          <p:cNvSpPr/>
          <p:nvPr/>
        </p:nvSpPr>
        <p:spPr>
          <a:xfrm>
            <a:off x="774055" y="3108471"/>
            <a:ext cx="1895691" cy="189668"/>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Cable Categories</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Text 6"/>
          <p:cNvSpPr/>
          <p:nvPr/>
        </p:nvSpPr>
        <p:spPr>
          <a:xfrm>
            <a:off x="774055" y="3361833"/>
            <a:ext cx="6695906" cy="182098"/>
          </a:xfrm>
          <a:prstGeom prst="rect">
            <a:avLst/>
          </a:prstGeom>
          <a:noFill/>
          <a:ln/>
        </p:spPr>
        <p:txBody>
          <a:bodyPr wrap="none" lIns="0" tIns="0" rIns="0" bIns="0" rtlCol="0" anchor="t"/>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Explain the difference between cable categories (like Cat5 and Cat6).</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5060" y="3760123"/>
            <a:ext cx="182098" cy="182098"/>
          </a:xfrm>
          <a:prstGeom prst="rect">
            <a:avLst/>
          </a:prstGeom>
        </p:spPr>
      </p:pic>
      <p:sp>
        <p:nvSpPr>
          <p:cNvPr id="12" name="Text 7"/>
          <p:cNvSpPr/>
          <p:nvPr/>
        </p:nvSpPr>
        <p:spPr>
          <a:xfrm>
            <a:off x="774055" y="3756369"/>
            <a:ext cx="1895691" cy="189668"/>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RJ45 Connector</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3" name="Text 8"/>
          <p:cNvSpPr/>
          <p:nvPr/>
        </p:nvSpPr>
        <p:spPr>
          <a:xfrm>
            <a:off x="774055" y="4009731"/>
            <a:ext cx="6695906" cy="182098"/>
          </a:xfrm>
          <a:prstGeom prst="rect">
            <a:avLst/>
          </a:prstGeom>
          <a:noFill/>
          <a:ln/>
        </p:spPr>
        <p:txBody>
          <a:bodyPr wrap="none" lIns="0" tIns="0" rIns="0" bIns="0" rtlCol="0" anchor="t"/>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Identify an RJ45 connector and its purpose.</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4"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5060" y="4408021"/>
            <a:ext cx="182098" cy="182098"/>
          </a:xfrm>
          <a:prstGeom prst="rect">
            <a:avLst/>
          </a:prstGeom>
        </p:spPr>
      </p:pic>
      <p:sp>
        <p:nvSpPr>
          <p:cNvPr id="15" name="Text 9"/>
          <p:cNvSpPr/>
          <p:nvPr/>
        </p:nvSpPr>
        <p:spPr>
          <a:xfrm>
            <a:off x="774055" y="4404267"/>
            <a:ext cx="1895691" cy="189668"/>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Wiring Standards</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6" name="Text 10"/>
          <p:cNvSpPr/>
          <p:nvPr/>
        </p:nvSpPr>
        <p:spPr>
          <a:xfrm>
            <a:off x="774055" y="4657629"/>
            <a:ext cx="6695906" cy="182098"/>
          </a:xfrm>
          <a:prstGeom prst="rect">
            <a:avLst/>
          </a:prstGeom>
          <a:noFill/>
          <a:ln/>
        </p:spPr>
        <p:txBody>
          <a:bodyPr wrap="none" lIns="0" tIns="0" rIns="0" bIns="0" rtlCol="0" anchor="t"/>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Understand the two main color-coding standards (T568A and T568B).</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7"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5060" y="5055919"/>
            <a:ext cx="182098" cy="182098"/>
          </a:xfrm>
          <a:prstGeom prst="rect">
            <a:avLst/>
          </a:prstGeom>
        </p:spPr>
      </p:pic>
      <p:sp>
        <p:nvSpPr>
          <p:cNvPr id="18" name="Text 11"/>
          <p:cNvSpPr/>
          <p:nvPr/>
        </p:nvSpPr>
        <p:spPr>
          <a:xfrm>
            <a:off x="774055" y="5052165"/>
            <a:ext cx="1895691" cy="189668"/>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Cisco Packet Tracer</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Text 12"/>
          <p:cNvSpPr/>
          <p:nvPr/>
        </p:nvSpPr>
        <p:spPr>
          <a:xfrm>
            <a:off x="774055" y="5305528"/>
            <a:ext cx="6695906" cy="182098"/>
          </a:xfrm>
          <a:prstGeom prst="rect">
            <a:avLst/>
          </a:prstGeom>
          <a:noFill/>
          <a:ln/>
        </p:spPr>
        <p:txBody>
          <a:bodyPr wrap="none" lIns="0" tIns="0" rIns="0" bIns="0" rtlCol="0" anchor="t"/>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Know exactly when to choose a "Straight-Through" or "Cross-Over" cable in Cisco Packet Tracer.</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0" name="Text 13"/>
          <p:cNvSpPr/>
          <p:nvPr/>
        </p:nvSpPr>
        <p:spPr>
          <a:xfrm>
            <a:off x="379581" y="5646954"/>
            <a:ext cx="4883849" cy="303518"/>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Step 1: Understanding the Ethernet Cable</a:t>
            </a:r>
            <a:endParaRPr kumimoji="0" lang="en-US" sz="19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Text 14"/>
          <p:cNvSpPr/>
          <p:nvPr/>
        </p:nvSpPr>
        <p:spPr>
          <a:xfrm>
            <a:off x="379581" y="6109800"/>
            <a:ext cx="7090381" cy="182098"/>
          </a:xfrm>
          <a:prstGeom prst="rect">
            <a:avLst/>
          </a:prstGeom>
          <a:noFill/>
          <a:ln/>
        </p:spPr>
        <p:txBody>
          <a:bodyPr wrap="none" lIns="0" tIns="0" rIns="0" bIns="0" rtlCol="0" anchor="t"/>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Think of an Ethernet cable as a </a:t>
            </a:r>
            <a:r>
              <a:rPr kumimoji="0" lang="en-US" sz="9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physical highway for digital data</a:t>
            </a: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It connects computers, routers, and switches together.</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2" name="Shape 15"/>
          <p:cNvSpPr/>
          <p:nvPr/>
        </p:nvSpPr>
        <p:spPr>
          <a:xfrm>
            <a:off x="379581" y="6411410"/>
            <a:ext cx="2166592" cy="1596545"/>
          </a:xfrm>
          <a:prstGeom prst="roundRect">
            <a:avLst>
              <a:gd name="adj" fmla="val 6844"/>
            </a:avLst>
          </a:prstGeom>
          <a:solidFill>
            <a:srgbClr val="D4EBF7"/>
          </a:solidFill>
          <a:ln w="3939">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16"/>
          <p:cNvSpPr/>
          <p:nvPr/>
        </p:nvSpPr>
        <p:spPr>
          <a:xfrm>
            <a:off x="504877" y="6536706"/>
            <a:ext cx="1895691" cy="189668"/>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8 Tiny Wires</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4" name="Text 17"/>
          <p:cNvSpPr/>
          <p:nvPr/>
        </p:nvSpPr>
        <p:spPr>
          <a:xfrm>
            <a:off x="504877" y="6790069"/>
            <a:ext cx="1916000" cy="728393"/>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If you were to cut open an Ethernet cable, you would not see one big wire. Instead, you would see </a:t>
            </a:r>
            <a:r>
              <a:rPr kumimoji="0" lang="en-US" sz="9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8 tiny, color-coded wires</a:t>
            </a: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5" name="Shape 18"/>
          <p:cNvSpPr/>
          <p:nvPr/>
        </p:nvSpPr>
        <p:spPr>
          <a:xfrm>
            <a:off x="2652392" y="6411410"/>
            <a:ext cx="2166592" cy="1596545"/>
          </a:xfrm>
          <a:prstGeom prst="roundRect">
            <a:avLst>
              <a:gd name="adj" fmla="val 6844"/>
            </a:avLst>
          </a:prstGeom>
          <a:solidFill>
            <a:srgbClr val="D4EBF7"/>
          </a:solidFill>
          <a:ln w="3939">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19"/>
          <p:cNvSpPr/>
          <p:nvPr/>
        </p:nvSpPr>
        <p:spPr>
          <a:xfrm>
            <a:off x="2777689" y="6536706"/>
            <a:ext cx="1895691" cy="189668"/>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4 Twisted Pairs</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7" name="Text 20"/>
          <p:cNvSpPr/>
          <p:nvPr/>
        </p:nvSpPr>
        <p:spPr>
          <a:xfrm>
            <a:off x="2777689" y="6790069"/>
            <a:ext cx="1916000" cy="364197"/>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These 8 wires are twisted together in pairs (4 pairs total).</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8" name="Shape 21"/>
          <p:cNvSpPr/>
          <p:nvPr/>
        </p:nvSpPr>
        <p:spPr>
          <a:xfrm>
            <a:off x="4925203" y="6411410"/>
            <a:ext cx="2166592" cy="1596545"/>
          </a:xfrm>
          <a:prstGeom prst="roundRect">
            <a:avLst>
              <a:gd name="adj" fmla="val 6844"/>
            </a:avLst>
          </a:prstGeom>
          <a:solidFill>
            <a:srgbClr val="D4EBF7"/>
          </a:solidFill>
          <a:ln w="3939">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2"/>
          <p:cNvSpPr/>
          <p:nvPr/>
        </p:nvSpPr>
        <p:spPr>
          <a:xfrm>
            <a:off x="5050500" y="6536706"/>
            <a:ext cx="1895691" cy="189668"/>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Why Twist Them?</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0" name="Text 23"/>
          <p:cNvSpPr/>
          <p:nvPr/>
        </p:nvSpPr>
        <p:spPr>
          <a:xfrm>
            <a:off x="5050500" y="6790069"/>
            <a:ext cx="1916000" cy="1092590"/>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Twisting the wires acts like an invisible shield. It stops outside electrical noise (like from lights or microwaves) from messing up the data traveling inside. This is called a </a:t>
            </a:r>
            <a:r>
              <a:rPr kumimoji="0" lang="en-US" sz="9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"Twisted Pair"</a:t>
            </a: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cable.</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1" name="Text 24"/>
          <p:cNvSpPr/>
          <p:nvPr/>
        </p:nvSpPr>
        <p:spPr>
          <a:xfrm>
            <a:off x="379581" y="8167283"/>
            <a:ext cx="3667994" cy="303518"/>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Step 2: Cable Categories (Cat)</a:t>
            </a:r>
            <a:endParaRPr kumimoji="0" lang="en-US" sz="19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2" name="Text 25"/>
          <p:cNvSpPr/>
          <p:nvPr/>
        </p:nvSpPr>
        <p:spPr>
          <a:xfrm>
            <a:off x="379581" y="8630129"/>
            <a:ext cx="6712276" cy="364197"/>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When you buy these cables, they have names like "Cat5e" or "Cat6." "Cat" is just short for Category. Think of these categories like </a:t>
            </a:r>
            <a:r>
              <a:rPr kumimoji="0" lang="en-US" sz="9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speed limits on a highway</a:t>
            </a: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3" name="Shape 26"/>
          <p:cNvSpPr/>
          <p:nvPr/>
        </p:nvSpPr>
        <p:spPr>
          <a:xfrm>
            <a:off x="379581" y="9113837"/>
            <a:ext cx="6712276" cy="1232348"/>
          </a:xfrm>
          <a:prstGeom prst="roundRect">
            <a:avLst>
              <a:gd name="adj" fmla="val 8867"/>
            </a:avLst>
          </a:prstGeom>
          <a:solidFill>
            <a:srgbClr val="D4EBF7"/>
          </a:solidFill>
          <a:ln w="3939">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27"/>
          <p:cNvSpPr/>
          <p:nvPr/>
        </p:nvSpPr>
        <p:spPr>
          <a:xfrm>
            <a:off x="383520" y="9117776"/>
            <a:ext cx="2234779" cy="1224471"/>
          </a:xfrm>
          <a:prstGeom prst="roundRect">
            <a:avLst>
              <a:gd name="adj" fmla="val 8924"/>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28"/>
          <p:cNvSpPr/>
          <p:nvPr/>
        </p:nvSpPr>
        <p:spPr>
          <a:xfrm>
            <a:off x="504877" y="9239134"/>
            <a:ext cx="1895691" cy="189668"/>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Cat5</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6" name="Text 29"/>
          <p:cNvSpPr/>
          <p:nvPr/>
        </p:nvSpPr>
        <p:spPr>
          <a:xfrm>
            <a:off x="504877" y="9492496"/>
            <a:ext cx="1992064" cy="364197"/>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An older, slower highway. Rarely used anymore.</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7" name="Shape 30"/>
          <p:cNvSpPr/>
          <p:nvPr/>
        </p:nvSpPr>
        <p:spPr>
          <a:xfrm>
            <a:off x="2618299" y="9117776"/>
            <a:ext cx="2234779" cy="1224471"/>
          </a:xfrm>
          <a:prstGeom prst="rect">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1"/>
          <p:cNvSpPr/>
          <p:nvPr/>
        </p:nvSpPr>
        <p:spPr>
          <a:xfrm>
            <a:off x="2618299" y="9117776"/>
            <a:ext cx="15754" cy="1224471"/>
          </a:xfrm>
          <a:prstGeom prst="roundRect">
            <a:avLst>
              <a:gd name="adj" fmla="val 693591"/>
            </a:avLst>
          </a:prstGeom>
          <a:solidFill>
            <a:srgbClr val="BADBEA"/>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2"/>
          <p:cNvSpPr/>
          <p:nvPr/>
        </p:nvSpPr>
        <p:spPr>
          <a:xfrm>
            <a:off x="2739657" y="9239134"/>
            <a:ext cx="1895691" cy="189668"/>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Cat5e</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0" name="Text 33"/>
          <p:cNvSpPr/>
          <p:nvPr/>
        </p:nvSpPr>
        <p:spPr>
          <a:xfrm>
            <a:off x="2739657" y="9492496"/>
            <a:ext cx="1992064" cy="728393"/>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The "e" stands for enhanced. It is a standard highway, good for normal internet speeds (up to 1 Gigabit per second).</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1" name="Shape 34"/>
          <p:cNvSpPr/>
          <p:nvPr/>
        </p:nvSpPr>
        <p:spPr>
          <a:xfrm>
            <a:off x="4853078" y="9117776"/>
            <a:ext cx="2234779" cy="1224471"/>
          </a:xfrm>
          <a:prstGeom prst="rect">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35"/>
          <p:cNvSpPr/>
          <p:nvPr/>
        </p:nvSpPr>
        <p:spPr>
          <a:xfrm>
            <a:off x="4853078" y="9117776"/>
            <a:ext cx="15754" cy="1224471"/>
          </a:xfrm>
          <a:prstGeom prst="roundRect">
            <a:avLst>
              <a:gd name="adj" fmla="val 693591"/>
            </a:avLst>
          </a:prstGeom>
          <a:solidFill>
            <a:srgbClr val="BADBEA"/>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36"/>
          <p:cNvSpPr/>
          <p:nvPr/>
        </p:nvSpPr>
        <p:spPr>
          <a:xfrm>
            <a:off x="4974436" y="9239134"/>
            <a:ext cx="1895691" cy="189668"/>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Cat6</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4" name="Text 37"/>
          <p:cNvSpPr/>
          <p:nvPr/>
        </p:nvSpPr>
        <p:spPr>
          <a:xfrm>
            <a:off x="4974436" y="9492496"/>
            <a:ext cx="1992064" cy="728393"/>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 superhighway. The wires inside are twisted tighter and have better shielding, allowing for much faster data speeds.</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40076" y="459728"/>
            <a:ext cx="5607564" cy="39293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4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RJ45 Connectors &amp; Wiring Standards</a:t>
            </a:r>
            <a:endParaRPr kumimoji="0" lang="en-US" sz="24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Text 1"/>
          <p:cNvSpPr/>
          <p:nvPr/>
        </p:nvSpPr>
        <p:spPr>
          <a:xfrm>
            <a:off x="440076" y="898204"/>
            <a:ext cx="3508974" cy="314349"/>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9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Step 3: The RJ45 Connector</a:t>
            </a:r>
            <a:endParaRPr kumimoji="0" lang="en-US" sz="1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Text 2"/>
          <p:cNvSpPr/>
          <p:nvPr/>
        </p:nvSpPr>
        <p:spPr>
          <a:xfrm>
            <a:off x="440076" y="1383451"/>
            <a:ext cx="7059980" cy="191699"/>
          </a:xfrm>
          <a:prstGeom prst="rect">
            <a:avLst/>
          </a:prstGeom>
          <a:noFill/>
          <a:ln/>
        </p:spPr>
        <p:txBody>
          <a:bodyPr wrap="none" lIns="0" tIns="0" rIns="0" bIns="0" rtlCol="0" anchor="t"/>
          <a:lstStyle/>
          <a:p>
            <a:pPr marL="0" marR="0" lvl="0" indent="0" algn="l" defTabSz="457200" rtl="0" eaLnBrk="1" fontAlgn="auto" latinLnBrk="0" hangingPunct="1">
              <a:lnSpc>
                <a:spcPct val="127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To plug this cable into a computer, the 8 tiny wires need a plug. This plastic plug is called an </a:t>
            </a:r>
            <a:r>
              <a:rPr kumimoji="0" lang="en-US" sz="9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RJ45 connector</a:t>
            </a: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Text 3"/>
          <p:cNvSpPr/>
          <p:nvPr/>
        </p:nvSpPr>
        <p:spPr>
          <a:xfrm>
            <a:off x="440076" y="1805865"/>
            <a:ext cx="3886401" cy="998371"/>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27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It looks exactly like a clear plastic landline phone plug, but slightly wider.</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27000"/>
              </a:lnSpc>
              <a:spcBef>
                <a:spcPts val="0"/>
              </a:spcBef>
              <a:spcAft>
                <a:spcPts val="0"/>
              </a:spcAft>
              <a:buClrTx/>
              <a:buSzPct val="100000"/>
              <a:buFontTx/>
              <a:buChar char="•"/>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If you look closely at an RJ45 connector, it has 8 tiny gold pins. Each of the 8 colored wires inside the cable matches up perfectly with one of these gold pins.</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 name="Shape 4"/>
          <p:cNvSpPr/>
          <p:nvPr/>
        </p:nvSpPr>
        <p:spPr>
          <a:xfrm>
            <a:off x="4637133" y="1831527"/>
            <a:ext cx="2263395" cy="1257457"/>
          </a:xfrm>
          <a:prstGeom prst="roundRect">
            <a:avLst>
              <a:gd name="adj" fmla="val 9000"/>
            </a:avLst>
          </a:prstGeom>
          <a:blipFill dpi="0"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a:fillRect/>
            </a:stretch>
          </a:blip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440076" y="3388070"/>
            <a:ext cx="5289277" cy="314349"/>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9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Step 4: Wiring Standards (The Color Codes)</a:t>
            </a:r>
            <a:endParaRPr kumimoji="0" lang="en-US" sz="1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Text 7"/>
          <p:cNvSpPr/>
          <p:nvPr/>
        </p:nvSpPr>
        <p:spPr>
          <a:xfrm>
            <a:off x="440076" y="3873317"/>
            <a:ext cx="6681875" cy="57509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7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Because there are 8 colored wires (Orange, Green, Blue, Brown, and striped versions of each), we need a universal rule for what order to put them in before we crimp the plastic RJ45 plug onto them. Engineers created two standard color patterns:</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1" name="Shape 8"/>
          <p:cNvSpPr/>
          <p:nvPr/>
        </p:nvSpPr>
        <p:spPr>
          <a:xfrm>
            <a:off x="440076" y="4765162"/>
            <a:ext cx="3283982" cy="1104036"/>
          </a:xfrm>
          <a:prstGeom prst="roundRect">
            <a:avLst>
              <a:gd name="adj" fmla="val 6849"/>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440076" y="4749407"/>
            <a:ext cx="3283982" cy="63017"/>
          </a:xfrm>
          <a:prstGeom prst="roundRect">
            <a:avLst>
              <a:gd name="adj" fmla="val 179588"/>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1893445" y="4576602"/>
            <a:ext cx="377181" cy="377182"/>
          </a:xfrm>
          <a:prstGeom prst="roundRect">
            <a:avLst>
              <a:gd name="adj" fmla="val 125306"/>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1912091" y="4670882"/>
            <a:ext cx="339888" cy="188560"/>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FFFFF"/>
                </a:solidFill>
                <a:effectLst/>
                <a:uLnTx/>
                <a:uFillTx/>
                <a:latin typeface="Outfit Bold" pitchFamily="2" charset="0"/>
                <a:ea typeface="Outfit Semi Bold" pitchFamily="34" charset="-122"/>
                <a:cs typeface="Outfit Semi Bold" pitchFamily="34" charset="-120"/>
              </a:rPr>
              <a:t>1</a:t>
            </a:r>
            <a:endParaRPr kumimoji="0" lang="en-US" sz="11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5" name="Text 12"/>
          <p:cNvSpPr/>
          <p:nvPr/>
        </p:nvSpPr>
        <p:spPr>
          <a:xfrm>
            <a:off x="581557" y="5079511"/>
            <a:ext cx="1949909" cy="196437"/>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T568A Pattern</a:t>
            </a:r>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6" name="Text 13"/>
          <p:cNvSpPr/>
          <p:nvPr/>
        </p:nvSpPr>
        <p:spPr>
          <a:xfrm>
            <a:off x="581557" y="5344319"/>
            <a:ext cx="3379123" cy="191699"/>
          </a:xfrm>
          <a:prstGeom prst="rect">
            <a:avLst/>
          </a:prstGeom>
          <a:noFill/>
          <a:ln/>
        </p:spPr>
        <p:txBody>
          <a:bodyPr wrap="none" lIns="0" tIns="0" rIns="0" bIns="0" rtlCol="0" anchor="t"/>
          <a:lstStyle/>
          <a:p>
            <a:pPr marL="0" marR="0" lvl="0" indent="0" algn="l" defTabSz="457200" rtl="0" eaLnBrk="1" fontAlgn="auto" latinLnBrk="0" hangingPunct="1">
              <a:lnSpc>
                <a:spcPct val="127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Starts with the Green-Striped wire.</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7" name="Shape 14"/>
          <p:cNvSpPr/>
          <p:nvPr/>
        </p:nvSpPr>
        <p:spPr>
          <a:xfrm>
            <a:off x="3837969" y="4765162"/>
            <a:ext cx="3283982" cy="1104036"/>
          </a:xfrm>
          <a:prstGeom prst="roundRect">
            <a:avLst>
              <a:gd name="adj" fmla="val 6849"/>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5"/>
          <p:cNvSpPr/>
          <p:nvPr/>
        </p:nvSpPr>
        <p:spPr>
          <a:xfrm>
            <a:off x="3837969" y="4749407"/>
            <a:ext cx="3283982" cy="63017"/>
          </a:xfrm>
          <a:prstGeom prst="roundRect">
            <a:avLst>
              <a:gd name="adj" fmla="val 179588"/>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5291338" y="4576602"/>
            <a:ext cx="377181" cy="377182"/>
          </a:xfrm>
          <a:prstGeom prst="roundRect">
            <a:avLst>
              <a:gd name="adj" fmla="val 125306"/>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5309984" y="4663128"/>
            <a:ext cx="339888" cy="188560"/>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FFFFF"/>
                </a:solidFill>
                <a:effectLst/>
                <a:uLnTx/>
                <a:uFillTx/>
                <a:latin typeface="Outfit Bold" pitchFamily="2" charset="0"/>
                <a:ea typeface="Outfit Semi Bold" pitchFamily="34" charset="-122"/>
                <a:cs typeface="Outfit Semi Bold" pitchFamily="34" charset="-120"/>
              </a:rPr>
              <a:t>2</a:t>
            </a:r>
            <a:endParaRPr kumimoji="0" lang="en-US" sz="11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1" name="Text 18"/>
          <p:cNvSpPr/>
          <p:nvPr/>
        </p:nvSpPr>
        <p:spPr>
          <a:xfrm>
            <a:off x="3979450" y="5079511"/>
            <a:ext cx="1949909" cy="196437"/>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T568B Pattern</a:t>
            </a:r>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2" name="Text 19"/>
          <p:cNvSpPr/>
          <p:nvPr/>
        </p:nvSpPr>
        <p:spPr>
          <a:xfrm>
            <a:off x="3979450" y="5344319"/>
            <a:ext cx="3001019" cy="383397"/>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7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Starts with the Orange-Striped wire. (This is the most common one used today).</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3" name="Shape 20"/>
          <p:cNvSpPr/>
          <p:nvPr/>
        </p:nvSpPr>
        <p:spPr>
          <a:xfrm>
            <a:off x="440076" y="5997387"/>
            <a:ext cx="6681875" cy="694054"/>
          </a:xfrm>
          <a:prstGeom prst="roundRect">
            <a:avLst>
              <a:gd name="adj" fmla="val 16306"/>
            </a:avLst>
          </a:prstGeom>
          <a:solidFill>
            <a:srgbClr val="B6D6FC"/>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4" name="Image 1" descr="preencoded.png"/>
          <p:cNvPicPr>
            <a:picLocks noChangeAspect="1"/>
          </p:cNvPicPr>
          <p:nvPr/>
        </p:nvPicPr>
        <p:blipFill>
          <a:blip r:embed="rId5"/>
          <a:stretch>
            <a:fillRect/>
          </a:stretch>
        </p:blipFill>
        <p:spPr>
          <a:xfrm>
            <a:off x="565803" y="6178378"/>
            <a:ext cx="157174" cy="125727"/>
          </a:xfrm>
          <a:prstGeom prst="rect">
            <a:avLst/>
          </a:prstGeom>
        </p:spPr>
      </p:pic>
      <p:sp>
        <p:nvSpPr>
          <p:cNvPr id="25" name="Text 21"/>
          <p:cNvSpPr/>
          <p:nvPr/>
        </p:nvSpPr>
        <p:spPr>
          <a:xfrm>
            <a:off x="848704" y="6142684"/>
            <a:ext cx="6147520" cy="383397"/>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7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Note for the student:</a:t>
            </a: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You don't have to memorize the exact color order right now, just know that A and B are the two accepted "recipes" for arranging the wires.</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Text 22"/>
          <p:cNvSpPr/>
          <p:nvPr/>
        </p:nvSpPr>
        <p:spPr>
          <a:xfrm>
            <a:off x="440076" y="6862338"/>
            <a:ext cx="5268907" cy="314349"/>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9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Step 5: Applying This in Cisco Packet Tracer</a:t>
            </a:r>
            <a:endParaRPr kumimoji="0" lang="en-US" sz="1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7" name="Text 23"/>
          <p:cNvSpPr/>
          <p:nvPr/>
        </p:nvSpPr>
        <p:spPr>
          <a:xfrm>
            <a:off x="440076" y="7347585"/>
            <a:ext cx="6681875" cy="383397"/>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7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In Packet Tracer, you don't have to strip wires or use plastic plugs! You just have to click the right cable. Here is how these physical rules apply to your software GUI:</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8" name="Shape 24"/>
          <p:cNvSpPr/>
          <p:nvPr/>
        </p:nvSpPr>
        <p:spPr>
          <a:xfrm>
            <a:off x="440076" y="7859171"/>
            <a:ext cx="3283982" cy="2588024"/>
          </a:xfrm>
          <a:prstGeom prst="roundRect">
            <a:avLst>
              <a:gd name="adj" fmla="val 2922"/>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5"/>
          <p:cNvSpPr/>
          <p:nvPr/>
        </p:nvSpPr>
        <p:spPr>
          <a:xfrm>
            <a:off x="424321" y="7859171"/>
            <a:ext cx="63017" cy="2588024"/>
          </a:xfrm>
          <a:prstGeom prst="roundRect">
            <a:avLst>
              <a:gd name="adj" fmla="val 179588"/>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6"/>
          <p:cNvSpPr/>
          <p:nvPr/>
        </p:nvSpPr>
        <p:spPr>
          <a:xfrm>
            <a:off x="628820" y="8000653"/>
            <a:ext cx="2953756" cy="471523"/>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The Straight-Through Cable (</a:t>
            </a:r>
            <a:r>
              <a:rPr kumimoji="0" lang="en-US" sz="1450" b="0" i="0" u="none" strike="noStrike" kern="1200" cap="none" spc="0" normalizeH="0" baseline="0" noProof="0" dirty="0">
                <a:ln>
                  <a:noFill/>
                </a:ln>
                <a:solidFill>
                  <a:srgbClr val="2A75D3"/>
                </a:solidFill>
                <a:effectLst/>
                <a:uLnTx/>
                <a:uFillTx/>
                <a:latin typeface="Outfit Bold" pitchFamily="2" charset="0"/>
                <a:ea typeface="Outfit Semi Bold" pitchFamily="34" charset="-122"/>
                <a:cs typeface="Outfit Semi Bold" pitchFamily="34" charset="-120"/>
              </a:rPr>
              <a:t>Solid Black Line</a:t>
            </a:r>
            <a:r>
              <a:rPr kumimoji="0" lang="en-US" sz="14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 in PT)</a:t>
            </a:r>
            <a:endParaRPr kumimoji="0" lang="en-US" sz="14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1" name="Text 27"/>
          <p:cNvSpPr/>
          <p:nvPr/>
        </p:nvSpPr>
        <p:spPr>
          <a:xfrm>
            <a:off x="628820" y="8540547"/>
            <a:ext cx="2953756" cy="1190070"/>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27000"/>
              </a:lnSpc>
              <a:spcBef>
                <a:spcPts val="0"/>
              </a:spcBef>
              <a:spcAft>
                <a:spcPts val="0"/>
              </a:spcAft>
              <a:buClrTx/>
              <a:buSzPct val="100000"/>
              <a:buFontTx/>
              <a:buChar char="•"/>
              <a:tabLst/>
              <a:defRPr/>
            </a:pPr>
            <a:r>
              <a:rPr kumimoji="0" lang="en-US" sz="9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Physical Rule:</a:t>
            </a: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Both ends of the cable use the exact same color recipe (T568A on one end, and T568A on the other end).</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27000"/>
              </a:lnSpc>
              <a:spcBef>
                <a:spcPts val="0"/>
              </a:spcBef>
              <a:spcAft>
                <a:spcPts val="0"/>
              </a:spcAft>
              <a:buClrTx/>
              <a:buSzPct val="100000"/>
              <a:buFontTx/>
              <a:buChar char="•"/>
              <a:tabLst/>
              <a:defRPr/>
            </a:pPr>
            <a:r>
              <a:rPr kumimoji="0" lang="en-US" sz="9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Packet Tracer Rule:</a:t>
            </a: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Use this solid black line to connect </a:t>
            </a:r>
            <a:r>
              <a:rPr kumimoji="0" lang="en-US" sz="9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DIFFERENT</a:t>
            </a: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types of devices. (Example: A PC to a Switch, or a Switch to a Router).</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2" name="Shape 28"/>
          <p:cNvSpPr/>
          <p:nvPr/>
        </p:nvSpPr>
        <p:spPr>
          <a:xfrm>
            <a:off x="3837969" y="7859171"/>
            <a:ext cx="3283982" cy="2588024"/>
          </a:xfrm>
          <a:prstGeom prst="roundRect">
            <a:avLst>
              <a:gd name="adj" fmla="val 2922"/>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29"/>
          <p:cNvSpPr/>
          <p:nvPr/>
        </p:nvSpPr>
        <p:spPr>
          <a:xfrm>
            <a:off x="3822215" y="7859171"/>
            <a:ext cx="63017" cy="2588024"/>
          </a:xfrm>
          <a:prstGeom prst="roundRect">
            <a:avLst>
              <a:gd name="adj" fmla="val 179588"/>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0"/>
          <p:cNvSpPr/>
          <p:nvPr/>
        </p:nvSpPr>
        <p:spPr>
          <a:xfrm>
            <a:off x="4026713" y="8000653"/>
            <a:ext cx="2953756" cy="471523"/>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The Cross-Over Cable (</a:t>
            </a:r>
            <a:r>
              <a:rPr kumimoji="0" lang="en-US" sz="1450" b="0" i="0" u="none" strike="noStrike" kern="1200" cap="none" spc="0" normalizeH="0" baseline="0" noProof="0" dirty="0">
                <a:ln>
                  <a:noFill/>
                </a:ln>
                <a:solidFill>
                  <a:srgbClr val="2A75D3"/>
                </a:solidFill>
                <a:effectLst/>
                <a:uLnTx/>
                <a:uFillTx/>
                <a:latin typeface="Outfit Bold" pitchFamily="2" charset="0"/>
                <a:ea typeface="Outfit Semi Bold" pitchFamily="34" charset="-122"/>
                <a:cs typeface="Outfit Semi Bold" pitchFamily="34" charset="-120"/>
              </a:rPr>
              <a:t>Dashed Black Line</a:t>
            </a:r>
            <a:r>
              <a:rPr kumimoji="0" lang="en-US" sz="1450" b="0" i="0" u="none" strike="noStrike" kern="1200" cap="none" spc="0" normalizeH="0" baseline="0" noProof="0" dirty="0">
                <a:ln>
                  <a:noFill/>
                </a:ln>
                <a:solidFill>
                  <a:srgbClr val="000000"/>
                </a:solidFill>
                <a:effectLst/>
                <a:uLnTx/>
                <a:uFillTx/>
                <a:latin typeface="Outfit Bold" pitchFamily="2" charset="0"/>
                <a:ea typeface="Outfit Semi Bold" pitchFamily="34" charset="-122"/>
                <a:cs typeface="Outfit Semi Bold" pitchFamily="34" charset="-120"/>
              </a:rPr>
              <a:t> in PT)</a:t>
            </a:r>
            <a:endParaRPr kumimoji="0" lang="en-US" sz="14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5" name="Text 31"/>
          <p:cNvSpPr/>
          <p:nvPr/>
        </p:nvSpPr>
        <p:spPr>
          <a:xfrm>
            <a:off x="4026713" y="8540547"/>
            <a:ext cx="2953756" cy="1765166"/>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27000"/>
              </a:lnSpc>
              <a:spcBef>
                <a:spcPts val="0"/>
              </a:spcBef>
              <a:spcAft>
                <a:spcPts val="0"/>
              </a:spcAft>
              <a:buClrTx/>
              <a:buSzPct val="100000"/>
              <a:buFontTx/>
              <a:buChar char="•"/>
              <a:tabLst/>
              <a:defRPr/>
            </a:pPr>
            <a:r>
              <a:rPr kumimoji="0" lang="en-US" sz="9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Physical Rule:</a:t>
            </a: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The cable uses different recipes on each end (T568A on one end, and T568B on the other end). This "crosses" the sending and receiving wires so the devices don't talk over each other.</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27000"/>
              </a:lnSpc>
              <a:spcBef>
                <a:spcPts val="0"/>
              </a:spcBef>
              <a:spcAft>
                <a:spcPts val="0"/>
              </a:spcAft>
              <a:buClrTx/>
              <a:buSzPct val="100000"/>
              <a:buFontTx/>
              <a:buChar char="•"/>
              <a:tabLst/>
              <a:defRPr/>
            </a:pPr>
            <a:r>
              <a:rPr kumimoji="0" lang="en-US" sz="9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Packet Tracer Rule:</a:t>
            </a: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Use this dashed black line to connect the </a:t>
            </a:r>
            <a:r>
              <a:rPr kumimoji="0" lang="en-US" sz="9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SAME</a:t>
            </a:r>
            <a:r>
              <a:rPr kumimoji="0" lang="en-US" sz="9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types of devices. (Example: A PC to a PC, or a Switch to a Switch). </a:t>
            </a:r>
            <a:r>
              <a:rPr kumimoji="0" lang="en-US" sz="9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You actually used this cable in Lab 3!</a:t>
            </a:r>
            <a:endParaRPr kumimoji="0" lang="en-US" sz="9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726243" y="0"/>
            <a:ext cx="2835721" cy="10689336"/>
          </a:xfrm>
          <a:prstGeom prst="rect">
            <a:avLst/>
          </a:prstGeom>
        </p:spPr>
      </p:pic>
      <p:sp>
        <p:nvSpPr>
          <p:cNvPr id="3" name="Shape 0"/>
          <p:cNvSpPr/>
          <p:nvPr/>
        </p:nvSpPr>
        <p:spPr>
          <a:xfrm>
            <a:off x="4726243" y="2415596"/>
            <a:ext cx="2835721" cy="8273739"/>
          </a:xfrm>
          <a:prstGeom prst="rect">
            <a:avLst/>
          </a:prstGeom>
          <a:solidFill>
            <a:srgbClr val="003399"/>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1"/>
          <p:cNvSpPr/>
          <p:nvPr/>
        </p:nvSpPr>
        <p:spPr>
          <a:xfrm>
            <a:off x="485616" y="555719"/>
            <a:ext cx="1403922" cy="260809"/>
          </a:xfrm>
          <a:prstGeom prst="roundRect">
            <a:avLst>
              <a:gd name="adj" fmla="val 17876"/>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2"/>
          <p:cNvSpPr/>
          <p:nvPr/>
        </p:nvSpPr>
        <p:spPr>
          <a:xfrm>
            <a:off x="568818" y="597320"/>
            <a:ext cx="1615621" cy="177606"/>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CISCO PACKET TRACER</a:t>
            </a:r>
            <a:endParaRPr kumimoji="0" lang="en-US" sz="8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Text 3"/>
          <p:cNvSpPr/>
          <p:nvPr/>
        </p:nvSpPr>
        <p:spPr>
          <a:xfrm>
            <a:off x="485616" y="871976"/>
            <a:ext cx="3755012" cy="1300843"/>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Lab #5: Making a Local Area Network (LAN) Using a Switch</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 name="Shape 4"/>
          <p:cNvSpPr/>
          <p:nvPr/>
        </p:nvSpPr>
        <p:spPr>
          <a:xfrm>
            <a:off x="485616" y="2415596"/>
            <a:ext cx="3755012" cy="10400"/>
          </a:xfrm>
          <a:prstGeom prst="rect">
            <a:avLst/>
          </a:prstGeom>
          <a:solidFill>
            <a:srgbClr val="000000">
              <a:alpha val="50000"/>
            </a:srgbClr>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5"/>
          <p:cNvSpPr/>
          <p:nvPr/>
        </p:nvSpPr>
        <p:spPr>
          <a:xfrm>
            <a:off x="485616" y="2616710"/>
            <a:ext cx="3755012" cy="888152"/>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In this lab, you will build a fully functioning Local Area Network by connecting three computers to a network switch using straight-through cables, assigning IP addresses, and testing communication between all devices.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5616" y="714608"/>
            <a:ext cx="6206106" cy="433614"/>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Lab Outcomes &amp; Step-by-Step Guide</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Shape 1"/>
          <p:cNvSpPr/>
          <p:nvPr/>
        </p:nvSpPr>
        <p:spPr>
          <a:xfrm>
            <a:off x="385735" y="1356352"/>
            <a:ext cx="2632946" cy="3748308"/>
          </a:xfrm>
          <a:prstGeom prst="roundRect">
            <a:avLst>
              <a:gd name="adj" fmla="val 3794"/>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524448" y="1495064"/>
            <a:ext cx="2355521" cy="433491"/>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Outfit Bold" pitchFamily="34" charset="0"/>
                <a:ea typeface="Outfit Bold" pitchFamily="34" charset="-122"/>
                <a:cs typeface="Outfit Bold" pitchFamily="34" charset="-120"/>
              </a:rPr>
              <a:t>By the end of this lab, you will be able to:</a:t>
            </a:r>
            <a:endParaRPr kumimoji="0" lang="en-US" sz="13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 name="Text 3"/>
          <p:cNvSpPr/>
          <p:nvPr/>
        </p:nvSpPr>
        <p:spPr>
          <a:xfrm>
            <a:off x="524448" y="2067268"/>
            <a:ext cx="2355521" cy="2858679"/>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Understand the purpose of a Network Switch</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Place a Switch onto the Cisco Packet Tracer workspace</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Apply the rule from Lab 4 to choose the correct cable (Straight-Through)</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Connect multiple computers to form a Local Area Network (LAN)</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Test the network to ensure any computer can talk to any other computer</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6" name="Text 4"/>
          <p:cNvSpPr/>
          <p:nvPr/>
        </p:nvSpPr>
        <p:spPr>
          <a:xfrm>
            <a:off x="3261212" y="1495064"/>
            <a:ext cx="3581961"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1: Bring the Devices onto the Screen</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Text 5"/>
          <p:cNvSpPr/>
          <p:nvPr/>
        </p:nvSpPr>
        <p:spPr>
          <a:xfrm>
            <a:off x="3261212" y="1850522"/>
            <a:ext cx="4197180"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Let's build a network with three computers and one switch.</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 name="Text 6"/>
          <p:cNvSpPr/>
          <p:nvPr/>
        </p:nvSpPr>
        <p:spPr>
          <a:xfrm>
            <a:off x="3261212" y="2197426"/>
            <a:ext cx="3819076" cy="2858679"/>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Look at the bottom-left corner. Click on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End Devices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(the computer/phone icon).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icon and place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three computers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onto your white workspace. (They will be named PC0, PC1, and PC2).</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Now, let's get the Switch. Go back to the bottom-left corner and click on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Network Devices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(it looks like a router/circle with arrows).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4"/>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In the menu right next to it, click on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Switches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(it looks like a little rectangular box).</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5"/>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Choose the very first switch in the list (it is named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2960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Click it, and then click in the middle of your workspace to place it.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hape 7"/>
          <p:cNvSpPr/>
          <p:nvPr/>
        </p:nvSpPr>
        <p:spPr>
          <a:xfrm>
            <a:off x="485616" y="5260727"/>
            <a:ext cx="6590795" cy="4362543"/>
          </a:xfrm>
          <a:prstGeom prst="roundRect">
            <a:avLst>
              <a:gd name="adj" fmla="val 1733"/>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469861" y="5260727"/>
            <a:ext cx="63017" cy="4362543"/>
          </a:xfrm>
          <a:prstGeom prst="roundRect">
            <a:avLst>
              <a:gd name="adj" fmla="val 92478"/>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687345" y="5415193"/>
            <a:ext cx="3122069"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2: Wire the Network Together</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2" name="Text 10"/>
          <p:cNvSpPr/>
          <p:nvPr/>
        </p:nvSpPr>
        <p:spPr>
          <a:xfrm>
            <a:off x="687345" y="5715142"/>
            <a:ext cx="6234599"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Since a Computer and a Switch are </a:t>
            </a: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different</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types of devices, remember your rule from Lab 4: we must use a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Straight-Through</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cable!</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3" name="Text 11"/>
          <p:cNvSpPr/>
          <p:nvPr/>
        </p:nvSpPr>
        <p:spPr>
          <a:xfrm>
            <a:off x="687345" y="6242420"/>
            <a:ext cx="6234599" cy="1526450"/>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Connections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icon (the orange lightning bolt).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Look for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solid black line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(Copper Straight-Through) and click it.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select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FastEthernet0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4"/>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Drag your mouse to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Switch</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click on it. A long list will pop up! This is because a switch has lots of ports. Click on the very first one: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FastEthernet0/1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5"/>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Repeat this for the other computers:         </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Text 12"/>
          <p:cNvSpPr/>
          <p:nvPr/>
        </p:nvSpPr>
        <p:spPr>
          <a:xfrm>
            <a:off x="687345" y="7817426"/>
            <a:ext cx="6234599" cy="936708"/>
          </a:xfrm>
          <a:prstGeom prst="rect">
            <a:avLst/>
          </a:prstGeom>
          <a:noFill/>
          <a:ln/>
        </p:spPr>
        <p:txBody>
          <a:bodyPr wrap="square" lIns="0" tIns="0" rIns="0" bIns="0" rtlCol="0" anchor="t">
            <a:normAutofit/>
          </a:bodyPr>
          <a:lstStyle/>
          <a:p>
            <a:pPr marL="685800" marR="0" lvl="1"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Grab another solid black cable. Click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(FastEthernet0) and connect it to the Switch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FastEthernet0/2</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685800" marR="0" lvl="1"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Grab a third solid black cable. Click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PC2</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(FastEthernet0) and connect it to the Switch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FastEthernet0/3</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Text 13"/>
          <p:cNvSpPr/>
          <p:nvPr/>
        </p:nvSpPr>
        <p:spPr>
          <a:xfrm>
            <a:off x="687345" y="8802689"/>
            <a:ext cx="6234599" cy="666114"/>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6"/>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Important Wait Time: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You will notice the little triangles on the switch side of the cables are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orange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 real switch takes about 30 seconds to turn on and check the cables. Wait until those orange dots turn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green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5616" y="526691"/>
            <a:ext cx="6055209" cy="433614"/>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IP Configuration &amp; Testing Your LAN</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Shape 1"/>
          <p:cNvSpPr/>
          <p:nvPr/>
        </p:nvSpPr>
        <p:spPr>
          <a:xfrm>
            <a:off x="485616" y="1237791"/>
            <a:ext cx="3226011" cy="5564552"/>
          </a:xfrm>
          <a:prstGeom prst="roundRect">
            <a:avLst>
              <a:gd name="adj" fmla="val 1806"/>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501370" y="1253546"/>
            <a:ext cx="3194502" cy="416260"/>
          </a:xfrm>
          <a:prstGeom prst="roundRect">
            <a:avLst>
              <a:gd name="adj" fmla="val 9458"/>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1805473" y="1327640"/>
            <a:ext cx="397182" cy="260132"/>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1</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 name="Text 4"/>
          <p:cNvSpPr/>
          <p:nvPr/>
        </p:nvSpPr>
        <p:spPr>
          <a:xfrm>
            <a:off x="640082" y="1808518"/>
            <a:ext cx="2917078" cy="433491"/>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3: Give the Computers their IP Addresses</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Text 5"/>
          <p:cNvSpPr/>
          <p:nvPr/>
        </p:nvSpPr>
        <p:spPr>
          <a:xfrm>
            <a:off x="640082" y="2325212"/>
            <a:ext cx="2917078"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They are physically plugged in, but they still need their digital street addresses to talk to each other.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 name="Text 6"/>
          <p:cNvSpPr/>
          <p:nvPr/>
        </p:nvSpPr>
        <p:spPr>
          <a:xfrm>
            <a:off x="640082" y="3074529"/>
            <a:ext cx="2917078" cy="3573348"/>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Go to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Desktop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tab -&gt;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 Configuration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Type in the IPv4 Address: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192.168.1.1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click the Subnet Mask box so it auto-fills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255.255.255.0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Close the window.</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Go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Desktop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-&gt;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 Configuration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4"/>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Type in the IPv4 Address: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192.168.1.2</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click the Subnet Mask box. Close the window.</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5"/>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PC2</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Go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Desktop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-&gt;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 Configuration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6"/>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Type in the IPv4 Address: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192.168.1.3</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click the Subnet Mask box. Close the window.</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hape 7"/>
          <p:cNvSpPr/>
          <p:nvPr/>
        </p:nvSpPr>
        <p:spPr>
          <a:xfrm>
            <a:off x="3850339" y="1237791"/>
            <a:ext cx="3226072" cy="5564552"/>
          </a:xfrm>
          <a:prstGeom prst="roundRect">
            <a:avLst>
              <a:gd name="adj" fmla="val 1806"/>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3866093" y="1253546"/>
            <a:ext cx="3194564" cy="416260"/>
          </a:xfrm>
          <a:prstGeom prst="roundRect">
            <a:avLst>
              <a:gd name="adj" fmla="val 9458"/>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5170258" y="1327640"/>
            <a:ext cx="397182" cy="260132"/>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2</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2" name="Text 10"/>
          <p:cNvSpPr/>
          <p:nvPr/>
        </p:nvSpPr>
        <p:spPr>
          <a:xfrm>
            <a:off x="4004805" y="1808518"/>
            <a:ext cx="2511157"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4: Test Your New LAN!</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3" name="Text 11"/>
          <p:cNvSpPr/>
          <p:nvPr/>
        </p:nvSpPr>
        <p:spPr>
          <a:xfrm>
            <a:off x="4004805" y="2108466"/>
            <a:ext cx="2917139"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Let's make sure the switch is doing its job as the middleman.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Text 12"/>
          <p:cNvSpPr/>
          <p:nvPr/>
        </p:nvSpPr>
        <p:spPr>
          <a:xfrm>
            <a:off x="4004805" y="2635745"/>
            <a:ext cx="2917139" cy="2192564"/>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closed yellow envelope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icon (Add Simple PDU) near the top-right toolbar.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(the sender).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PC2</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(the receiver).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4"/>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Look at the bottom-right corner in the status window. It should say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Successful!</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5"/>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Try it again! Grab a new envelope, click on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PC2</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send it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It should also be Successful.</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Shape 13"/>
          <p:cNvSpPr/>
          <p:nvPr/>
        </p:nvSpPr>
        <p:spPr>
          <a:xfrm>
            <a:off x="4004805" y="4984376"/>
            <a:ext cx="2917139" cy="1477772"/>
          </a:xfrm>
          <a:prstGeom prst="roundRect">
            <a:avLst>
              <a:gd name="adj" fmla="val 3944"/>
            </a:avLst>
          </a:prstGeom>
          <a:solidFill>
            <a:srgbClr val="B6FCB8"/>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Image 0" descr="preencoded.png"/>
          <p:cNvPicPr>
            <a:picLocks noChangeAspect="1"/>
          </p:cNvPicPr>
          <p:nvPr/>
        </p:nvPicPr>
        <p:blipFill>
          <a:blip r:embed="rId3"/>
          <a:stretch>
            <a:fillRect/>
          </a:stretch>
        </p:blipFill>
        <p:spPr>
          <a:xfrm>
            <a:off x="4143517" y="5185983"/>
            <a:ext cx="173421" cy="138712"/>
          </a:xfrm>
          <a:prstGeom prst="rect">
            <a:avLst/>
          </a:prstGeom>
        </p:spPr>
      </p:pic>
      <p:sp>
        <p:nvSpPr>
          <p:cNvPr id="17" name="Text 14"/>
          <p:cNvSpPr/>
          <p:nvPr/>
        </p:nvSpPr>
        <p:spPr>
          <a:xfrm>
            <a:off x="4455650" y="5157736"/>
            <a:ext cx="2327582" cy="1110190"/>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Congratulations! You have just built a fully functioning Local Area Network (LAN). All the computers can now safely share data with each other through the Switch.</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7562026" cy="10689336"/>
          </a:xfrm>
          <a:prstGeom prst="rect">
            <a:avLst/>
          </a:prstGeom>
        </p:spPr>
      </p:pic>
      <p:sp>
        <p:nvSpPr>
          <p:cNvPr id="6" name="Text 2"/>
          <p:cNvSpPr/>
          <p:nvPr/>
        </p:nvSpPr>
        <p:spPr>
          <a:xfrm>
            <a:off x="485616" y="599265"/>
            <a:ext cx="6590795" cy="867229"/>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Lab # 6: Repeaters &amp; Routers with Switches &amp; Hubs</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Text 3"/>
          <p:cNvSpPr/>
          <p:nvPr/>
        </p:nvSpPr>
        <p:spPr>
          <a:xfrm>
            <a:off x="485616" y="1674623"/>
            <a:ext cx="6590795"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As networks get bigger, we need different tools to handle the traffic. In this lab, we are going to build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two separate towns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(networks) and connect them.</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 name="Text 4"/>
          <p:cNvSpPr/>
          <p:nvPr/>
        </p:nvSpPr>
        <p:spPr>
          <a:xfrm>
            <a:off x="485616" y="2274766"/>
            <a:ext cx="6590795"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First, here is a quick cheat sheet on the devices we are using so a 10th-grade student can easily understand them:</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hape 5"/>
          <p:cNvSpPr/>
          <p:nvPr/>
        </p:nvSpPr>
        <p:spPr>
          <a:xfrm>
            <a:off x="485616" y="2874909"/>
            <a:ext cx="3226011" cy="1814213"/>
          </a:xfrm>
          <a:prstGeom prst="roundRect">
            <a:avLst>
              <a:gd name="adj" fmla="val 3212"/>
            </a:avLst>
          </a:prstGeom>
          <a:solidFill>
            <a:srgbClr val="D4EBF7"/>
          </a:solidFill>
          <a:ln w="7877">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6"/>
          <p:cNvSpPr/>
          <p:nvPr/>
        </p:nvSpPr>
        <p:spPr>
          <a:xfrm>
            <a:off x="632205" y="3021498"/>
            <a:ext cx="416259" cy="416260"/>
          </a:xfrm>
          <a:prstGeom prst="roundRect">
            <a:avLst>
              <a:gd name="adj" fmla="val 11353106"/>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670" y="3135964"/>
            <a:ext cx="187268" cy="187268"/>
          </a:xfrm>
          <a:prstGeom prst="rect">
            <a:avLst/>
          </a:prstGeom>
        </p:spPr>
      </p:pic>
      <p:sp>
        <p:nvSpPr>
          <p:cNvPr id="12" name="Text 7"/>
          <p:cNvSpPr/>
          <p:nvPr/>
        </p:nvSpPr>
        <p:spPr>
          <a:xfrm>
            <a:off x="632205" y="3576471"/>
            <a:ext cx="2196993"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Hub — The Megaphone</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3" name="Text 8"/>
          <p:cNvSpPr/>
          <p:nvPr/>
        </p:nvSpPr>
        <p:spPr>
          <a:xfrm>
            <a:off x="632205" y="3876419"/>
            <a:ext cx="2932832"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An older device. If one computer sends a message, the Hub shouts it to </a:t>
            </a: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every</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computer plugged into it. It is noisy and not very smart.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Shape 9"/>
          <p:cNvSpPr/>
          <p:nvPr/>
        </p:nvSpPr>
        <p:spPr>
          <a:xfrm>
            <a:off x="3850339" y="2874909"/>
            <a:ext cx="3226072" cy="1814213"/>
          </a:xfrm>
          <a:prstGeom prst="roundRect">
            <a:avLst>
              <a:gd name="adj" fmla="val 3212"/>
            </a:avLst>
          </a:prstGeom>
          <a:solidFill>
            <a:srgbClr val="D4EBF7"/>
          </a:solidFill>
          <a:ln w="7877">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0"/>
          <p:cNvSpPr/>
          <p:nvPr/>
        </p:nvSpPr>
        <p:spPr>
          <a:xfrm>
            <a:off x="3996928" y="3021498"/>
            <a:ext cx="416259" cy="416260"/>
          </a:xfrm>
          <a:prstGeom prst="roundRect">
            <a:avLst>
              <a:gd name="adj" fmla="val 11353106"/>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11393" y="3135964"/>
            <a:ext cx="187268" cy="187268"/>
          </a:xfrm>
          <a:prstGeom prst="rect">
            <a:avLst/>
          </a:prstGeom>
        </p:spPr>
      </p:pic>
      <p:sp>
        <p:nvSpPr>
          <p:cNvPr id="17" name="Text 11"/>
          <p:cNvSpPr/>
          <p:nvPr/>
        </p:nvSpPr>
        <p:spPr>
          <a:xfrm>
            <a:off x="3996928" y="3576471"/>
            <a:ext cx="2690240"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Switch — The Smart Mailman</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8" name="Text 12"/>
          <p:cNvSpPr/>
          <p:nvPr/>
        </p:nvSpPr>
        <p:spPr>
          <a:xfrm>
            <a:off x="3996928" y="3876419"/>
            <a:ext cx="2932894"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You used this in Lab 5! It looks at the address on the message and delivers it </a:t>
            </a: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only</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 the correct computer.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Shape 13"/>
          <p:cNvSpPr/>
          <p:nvPr/>
        </p:nvSpPr>
        <p:spPr>
          <a:xfrm>
            <a:off x="485616" y="4827835"/>
            <a:ext cx="3226011" cy="1814213"/>
          </a:xfrm>
          <a:prstGeom prst="roundRect">
            <a:avLst>
              <a:gd name="adj" fmla="val 3212"/>
            </a:avLst>
          </a:prstGeom>
          <a:solidFill>
            <a:srgbClr val="D4EBF7"/>
          </a:solidFill>
          <a:ln w="7877">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4"/>
          <p:cNvSpPr/>
          <p:nvPr/>
        </p:nvSpPr>
        <p:spPr>
          <a:xfrm>
            <a:off x="632205" y="4974424"/>
            <a:ext cx="416259" cy="416260"/>
          </a:xfrm>
          <a:prstGeom prst="roundRect">
            <a:avLst>
              <a:gd name="adj" fmla="val 11353106"/>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6670" y="5088890"/>
            <a:ext cx="187268" cy="187268"/>
          </a:xfrm>
          <a:prstGeom prst="rect">
            <a:avLst/>
          </a:prstGeom>
        </p:spPr>
      </p:pic>
      <p:sp>
        <p:nvSpPr>
          <p:cNvPr id="22" name="Text 15"/>
          <p:cNvSpPr/>
          <p:nvPr/>
        </p:nvSpPr>
        <p:spPr>
          <a:xfrm>
            <a:off x="632205" y="5529396"/>
            <a:ext cx="2716395"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Repeater — The Energy Drink</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3" name="Text 16"/>
          <p:cNvSpPr/>
          <p:nvPr/>
        </p:nvSpPr>
        <p:spPr>
          <a:xfrm>
            <a:off x="632205" y="5829345"/>
            <a:ext cx="2932832"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If a cable is too long, the digital signal gets tired and weak. A repeater takes the weak signal, boosts it back to 100%, and sends it on its way.</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4" name="Shape 17"/>
          <p:cNvSpPr/>
          <p:nvPr/>
        </p:nvSpPr>
        <p:spPr>
          <a:xfrm>
            <a:off x="3850339" y="4827835"/>
            <a:ext cx="3226072" cy="1814213"/>
          </a:xfrm>
          <a:prstGeom prst="roundRect">
            <a:avLst>
              <a:gd name="adj" fmla="val 3212"/>
            </a:avLst>
          </a:prstGeom>
          <a:solidFill>
            <a:srgbClr val="D4EBF7"/>
          </a:solidFill>
          <a:ln w="7877">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18"/>
          <p:cNvSpPr/>
          <p:nvPr/>
        </p:nvSpPr>
        <p:spPr>
          <a:xfrm>
            <a:off x="3996928" y="4974424"/>
            <a:ext cx="416259" cy="416260"/>
          </a:xfrm>
          <a:prstGeom prst="roundRect">
            <a:avLst>
              <a:gd name="adj" fmla="val 11353106"/>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6"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11393" y="5088890"/>
            <a:ext cx="187268" cy="187268"/>
          </a:xfrm>
          <a:prstGeom prst="rect">
            <a:avLst/>
          </a:prstGeom>
        </p:spPr>
      </p:pic>
      <p:sp>
        <p:nvSpPr>
          <p:cNvPr id="27" name="Text 19"/>
          <p:cNvSpPr/>
          <p:nvPr/>
        </p:nvSpPr>
        <p:spPr>
          <a:xfrm>
            <a:off x="3996928" y="5529396"/>
            <a:ext cx="2462971"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Router — The Border Gate</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8" name="Text 20"/>
          <p:cNvSpPr/>
          <p:nvPr/>
        </p:nvSpPr>
        <p:spPr>
          <a:xfrm>
            <a:off x="3996928" y="5829345"/>
            <a:ext cx="2932894"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Switches and Hubs can only connect computers in the </a:t>
            </a: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same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town. A Router connects </a:t>
            </a: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different</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towns together so they can share data.</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5616" y="1751273"/>
            <a:ext cx="6898436" cy="433614"/>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Lab Outcomes &amp; Step 1: Place the Devices</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Shape 1"/>
          <p:cNvSpPr/>
          <p:nvPr/>
        </p:nvSpPr>
        <p:spPr>
          <a:xfrm>
            <a:off x="385735" y="2393017"/>
            <a:ext cx="2632946" cy="4414422"/>
          </a:xfrm>
          <a:prstGeom prst="roundRect">
            <a:avLst>
              <a:gd name="adj" fmla="val 3794"/>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524448" y="2531729"/>
            <a:ext cx="2355521" cy="433491"/>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Outfit Bold" pitchFamily="34" charset="0"/>
                <a:ea typeface="Outfit Bold" pitchFamily="34" charset="-122"/>
                <a:cs typeface="Outfit Bold" pitchFamily="34" charset="-120"/>
              </a:rPr>
              <a:t>By the end of this lab, you will be able to:</a:t>
            </a:r>
            <a:endParaRPr kumimoji="0" lang="en-US" sz="13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 name="Text 3"/>
          <p:cNvSpPr/>
          <p:nvPr/>
        </p:nvSpPr>
        <p:spPr>
          <a:xfrm>
            <a:off x="524448" y="3103933"/>
            <a:ext cx="2355521" cy="2588085"/>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Understand the difference between a Hub, Switch, Repeater, and Router</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Use the "Auto-Connect" magic cable tool in Packet Tracer</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Configure a Router using the visual GUI (without typing complex code)</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Set up a "Default Gateway" on a computer so it knows how to send messages to a different network</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6" name="Text 4"/>
          <p:cNvSpPr/>
          <p:nvPr/>
        </p:nvSpPr>
        <p:spPr>
          <a:xfrm>
            <a:off x="3261212" y="2531729"/>
            <a:ext cx="3861416"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1: Place the Devices on Your Workspace</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Text 5"/>
          <p:cNvSpPr/>
          <p:nvPr/>
        </p:nvSpPr>
        <p:spPr>
          <a:xfrm>
            <a:off x="3261212" y="2887187"/>
            <a:ext cx="3819076"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We are going to build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"Town A"</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on the left,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"Town B"</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on the right, and put a Router in the middle to connect them.</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 name="Text 6"/>
          <p:cNvSpPr/>
          <p:nvPr/>
        </p:nvSpPr>
        <p:spPr>
          <a:xfrm>
            <a:off x="3261212" y="3456129"/>
            <a:ext cx="3819076" cy="3302755"/>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The Computers: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Go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End Devices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place one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on the far left (PC0) and one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on the far right (PC1).</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2"/>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The Hub (Town A):</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Go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Network Devices → Hubs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(next to the switches) → click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PT-Hub</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place it next to PC0.</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3"/>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The Switch (Town B):</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Go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Network Devices → Switches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2960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switch and place it next to PC1.</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4"/>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The Repeater (Town B):</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Go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Network Devices → Wireless Devices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(or sometimes found under Hubs depending on the version). Look for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PT-Repeater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place it between your Switch and the middle of the screen.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5"/>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The Router (The Middle):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Go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Network Devices → Routers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click the first one named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PT-Router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(this is a generic, beginner-friendly router). Place it dead in the center of your screen.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5616" y="599261"/>
            <a:ext cx="6590795" cy="867229"/>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2: Wire It All Together &amp; Step 3: Turn on the Router</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Text 1"/>
          <p:cNvSpPr/>
          <p:nvPr/>
        </p:nvSpPr>
        <p:spPr>
          <a:xfrm>
            <a:off x="485616" y="1521937"/>
            <a:ext cx="3951757"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2: Wire it All Together (The Magic Cable)</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Text 2"/>
          <p:cNvSpPr/>
          <p:nvPr/>
        </p:nvSpPr>
        <p:spPr>
          <a:xfrm>
            <a:off x="485616" y="1946813"/>
            <a:ext cx="6590795"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Because we have so many different devices, remembering which cable to use (Straight-Through vs. Cross-Over) can be tricky. Let's learn a new trick!</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Text 3"/>
          <p:cNvSpPr/>
          <p:nvPr/>
        </p:nvSpPr>
        <p:spPr>
          <a:xfrm>
            <a:off x="485616" y="2546956"/>
            <a:ext cx="6590795" cy="2067637"/>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Connections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icon (the orange lightning bolt).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In the cable menu, 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first icon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(it looks like a yellow lightning bolt with sparkles). This is the "Auto Choose" tool. It will pick the perfect cable for you automatically!</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then 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Hub</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(Town A is wired).</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4"/>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Hub</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then 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Router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(Town A is connected to the gate).</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5"/>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then 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Switch</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6"/>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Switch</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then 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Repeater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7"/>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Repeater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then 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Router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(Town B is wired and connected to the gate).</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 name="Shape 4"/>
          <p:cNvSpPr/>
          <p:nvPr/>
        </p:nvSpPr>
        <p:spPr>
          <a:xfrm>
            <a:off x="485616" y="4770660"/>
            <a:ext cx="6590795" cy="589619"/>
          </a:xfrm>
          <a:prstGeom prst="roundRect">
            <a:avLst>
              <a:gd name="adj" fmla="val 9884"/>
            </a:avLst>
          </a:prstGeom>
          <a:solidFill>
            <a:srgbClr val="BFE1F2"/>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 0" descr="preencoded.png"/>
          <p:cNvPicPr>
            <a:picLocks noChangeAspect="1"/>
          </p:cNvPicPr>
          <p:nvPr/>
        </p:nvPicPr>
        <p:blipFill>
          <a:blip r:embed="rId3">
            <a:duotone>
              <a:schemeClr val="accent4">
                <a:shade val="45000"/>
                <a:satMod val="135000"/>
              </a:schemeClr>
              <a:prstClr val="white"/>
            </a:duotone>
          </a:blip>
          <a:stretch>
            <a:fillRect/>
          </a:stretch>
        </p:blipFill>
        <p:spPr>
          <a:xfrm>
            <a:off x="624328" y="4972266"/>
            <a:ext cx="173421" cy="138712"/>
          </a:xfrm>
          <a:prstGeom prst="rect">
            <a:avLst/>
          </a:prstGeom>
        </p:spPr>
      </p:pic>
      <p:sp>
        <p:nvSpPr>
          <p:cNvPr id="8" name="Text 5"/>
          <p:cNvSpPr/>
          <p:nvPr/>
        </p:nvSpPr>
        <p:spPr>
          <a:xfrm>
            <a:off x="936461" y="4944019"/>
            <a:ext cx="6379342"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Note: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Wait for the little orange circles on the switch to turn green before moving on!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hape 6"/>
          <p:cNvSpPr/>
          <p:nvPr/>
        </p:nvSpPr>
        <p:spPr>
          <a:xfrm>
            <a:off x="485616" y="5550993"/>
            <a:ext cx="6590795" cy="10400"/>
          </a:xfrm>
          <a:prstGeom prst="rect">
            <a:avLst/>
          </a:prstGeom>
          <a:solidFill>
            <a:srgbClr val="000000">
              <a:alpha val="50000"/>
            </a:srgbClr>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85616" y="5804171"/>
            <a:ext cx="3887755"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3: Turn on the Router (The Border Gate)</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1" name="Text 8"/>
          <p:cNvSpPr/>
          <p:nvPr/>
        </p:nvSpPr>
        <p:spPr>
          <a:xfrm>
            <a:off x="485616" y="6229046"/>
            <a:ext cx="6590795"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Right now, the connections touching the Router have red triangles. That means the gates are closed. Let's open them!</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2" name="Text 9"/>
          <p:cNvSpPr/>
          <p:nvPr/>
        </p:nvSpPr>
        <p:spPr>
          <a:xfrm>
            <a:off x="485616" y="6829189"/>
            <a:ext cx="6590795" cy="3101456"/>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Router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 window will pop up.</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the top, click on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Config</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tab.</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Look at the menu on the left side. Under the word "INTERFACE", click on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FastEthernet0/0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(this is the gate pointing to Town A).</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4"/>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Look for the box that says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Port Status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check the box next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(You will see the red triangle turn green on your workspace!).</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5"/>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In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IPv4 Address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box, type Town A's gate address: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192.168.1.254</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6"/>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Subnet Mask</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box so it auto-fills, then go back to the left menu.</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7"/>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FastEthernet0/1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(this is the gate pointing to Town B).</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8"/>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Check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Port Status: 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box.</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9"/>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In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IPv4 Address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box, type Town B's gate address: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192.168.2.254</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10"/>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Subnet Mask box so it auto-fills. Close the Router window.</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5616" y="613780"/>
            <a:ext cx="6590795" cy="867229"/>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4: Configure the Computers &amp; Step 5: Test the Connection</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Text 1"/>
          <p:cNvSpPr/>
          <p:nvPr/>
        </p:nvSpPr>
        <p:spPr>
          <a:xfrm>
            <a:off x="485616" y="1827851"/>
            <a:ext cx="2972649"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4: Configure the Computers</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Text 2"/>
          <p:cNvSpPr/>
          <p:nvPr/>
        </p:nvSpPr>
        <p:spPr>
          <a:xfrm>
            <a:off x="485616" y="2183309"/>
            <a:ext cx="3126131" cy="888152"/>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The computers need their own IP addresses, but they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ALSO</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need to know the address of the Router so they can send mail out of their town. This is called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Default Gateway</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Text 3"/>
          <p:cNvSpPr/>
          <p:nvPr/>
        </p:nvSpPr>
        <p:spPr>
          <a:xfrm>
            <a:off x="485616" y="3196326"/>
            <a:ext cx="3504235"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PC0 (Town A):</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 name="Text 4"/>
          <p:cNvSpPr/>
          <p:nvPr/>
        </p:nvSpPr>
        <p:spPr>
          <a:xfrm>
            <a:off x="485616" y="3543230"/>
            <a:ext cx="3126131" cy="1477895"/>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(in Town A). Go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Desktop → IP Configuration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IPv4 Address: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192.168.1.1</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Subnet Mask so it auto-fills.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4"/>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Default Gateway:</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Type in Town A's gate address: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192.168.1.254</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Close the window.</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Text 5"/>
          <p:cNvSpPr/>
          <p:nvPr/>
        </p:nvSpPr>
        <p:spPr>
          <a:xfrm>
            <a:off x="485616" y="5145991"/>
            <a:ext cx="3504235"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PC1 (Town B):</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 name="Text 6"/>
          <p:cNvSpPr/>
          <p:nvPr/>
        </p:nvSpPr>
        <p:spPr>
          <a:xfrm>
            <a:off x="485616" y="5492894"/>
            <a:ext cx="3126131" cy="1699933"/>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(in Town B). Go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Desktop → IP Configuration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IPv4 Address: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192.168.2.1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t>
            </a: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(Notice it is a '2', because it is a different town!)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Subnet Mask so it auto-fills.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4"/>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Default Gateway:</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Type in Town B's gate address: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192.168.2.254</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Close the window.</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hape 7"/>
          <p:cNvSpPr/>
          <p:nvPr/>
        </p:nvSpPr>
        <p:spPr>
          <a:xfrm>
            <a:off x="3989851" y="5793580"/>
            <a:ext cx="3048466" cy="607220"/>
          </a:xfrm>
          <a:prstGeom prst="roundRect">
            <a:avLst>
              <a:gd name="adj" fmla="val 17122"/>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3992989" y="1827851"/>
            <a:ext cx="3048467" cy="433491"/>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effectLst/>
                <a:uLnTx/>
                <a:uFillTx/>
                <a:latin typeface="Outfit Bold" pitchFamily="34" charset="0"/>
                <a:ea typeface="Outfit Bold" pitchFamily="34" charset="-122"/>
                <a:cs typeface="Outfit Bold" pitchFamily="34" charset="-120"/>
              </a:rPr>
              <a:t>Step 5: Test the Long-Distance Connection!</a:t>
            </a:r>
            <a:endParaRPr kumimoji="0" lang="en-US" sz="1350" b="0" i="0" u="none" strike="noStrike" kern="1200" cap="none" spc="0" normalizeH="0" baseline="0" noProof="0" dirty="0">
              <a:ln>
                <a:noFill/>
              </a:ln>
              <a:effectLst/>
              <a:uLnTx/>
              <a:uFillTx/>
              <a:latin typeface="Calibri" panose="020F0502020204030204"/>
              <a:ea typeface="+mn-ea"/>
              <a:cs typeface="+mn-cs"/>
            </a:endParaRPr>
          </a:p>
        </p:txBody>
      </p:sp>
      <p:sp>
        <p:nvSpPr>
          <p:cNvPr id="11" name="Text 9"/>
          <p:cNvSpPr/>
          <p:nvPr/>
        </p:nvSpPr>
        <p:spPr>
          <a:xfrm>
            <a:off x="3992989" y="2400054"/>
            <a:ext cx="3048467" cy="1255857"/>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effectLst/>
                <a:uLnTx/>
                <a:uFillTx/>
                <a:latin typeface="Ovo" pitchFamily="34" charset="0"/>
                <a:ea typeface="Ovo" pitchFamily="34" charset="-122"/>
                <a:cs typeface="Ovo" pitchFamily="34" charset="-120"/>
              </a:rPr>
              <a:t>Grab the </a:t>
            </a:r>
            <a:r>
              <a:rPr kumimoji="0" lang="en-US" sz="1050" b="1" i="0" u="none" strike="noStrike" kern="1200" cap="none" spc="0" normalizeH="0" baseline="0" noProof="0" dirty="0">
                <a:ln>
                  <a:noFill/>
                </a:ln>
                <a:effectLst/>
                <a:uLnTx/>
                <a:uFillTx/>
                <a:latin typeface="Ovo" pitchFamily="34" charset="0"/>
                <a:ea typeface="Ovo" pitchFamily="34" charset="-122"/>
                <a:cs typeface="Ovo" pitchFamily="34" charset="-120"/>
              </a:rPr>
              <a:t>closed yellow envelope</a:t>
            </a:r>
            <a:r>
              <a:rPr kumimoji="0" lang="en-US" sz="1050" b="0" i="0" u="none" strike="noStrike" kern="1200" cap="none" spc="0" normalizeH="0" baseline="0" noProof="0" dirty="0">
                <a:ln>
                  <a:noFill/>
                </a:ln>
                <a:effectLst/>
                <a:uLnTx/>
                <a:uFillTx/>
                <a:latin typeface="Ovo" pitchFamily="34" charset="0"/>
                <a:ea typeface="Ovo" pitchFamily="34" charset="-122"/>
                <a:cs typeface="Ovo" pitchFamily="34" charset="-120"/>
              </a:rPr>
              <a:t> (Add Simple PDU) from the top toolbar.</a:t>
            </a:r>
            <a:endParaRPr kumimoji="0" lang="en-US" sz="1050" b="0" i="0" u="none" strike="noStrike" kern="1200" cap="none" spc="0" normalizeH="0" baseline="0" noProof="0" dirty="0">
              <a:ln>
                <a:noFill/>
              </a:ln>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effectLst/>
                <a:uLnTx/>
                <a:uFillTx/>
                <a:latin typeface="Ovo" pitchFamily="34" charset="0"/>
                <a:ea typeface="Ovo" pitchFamily="34" charset="-122"/>
                <a:cs typeface="Ovo" pitchFamily="34" charset="-120"/>
              </a:rPr>
              <a:t>Click on </a:t>
            </a:r>
            <a:r>
              <a:rPr kumimoji="0" lang="en-US" sz="1050" b="1" i="0" u="none" strike="noStrike" kern="1200" cap="none" spc="0" normalizeH="0" baseline="0" noProof="0" dirty="0">
                <a:ln>
                  <a:noFill/>
                </a:ln>
                <a:effectLst/>
                <a:uLnTx/>
                <a:uFillTx/>
                <a:latin typeface="Ovo" pitchFamily="34" charset="0"/>
                <a:ea typeface="Ovo" pitchFamily="34" charset="-122"/>
                <a:cs typeface="Ovo" pitchFamily="34" charset="-120"/>
              </a:rPr>
              <a:t>PC0</a:t>
            </a:r>
            <a:r>
              <a:rPr kumimoji="0" lang="en-US" sz="1050" b="0" i="0" u="none" strike="noStrike" kern="1200" cap="none" spc="0" normalizeH="0" baseline="0" noProof="0" dirty="0">
                <a:ln>
                  <a:noFill/>
                </a:ln>
                <a:effectLst/>
                <a:uLnTx/>
                <a:uFillTx/>
                <a:latin typeface="Ovo" pitchFamily="34" charset="0"/>
                <a:ea typeface="Ovo" pitchFamily="34" charset="-122"/>
                <a:cs typeface="Ovo" pitchFamily="34" charset="-120"/>
              </a:rPr>
              <a:t> (Sender in Town A).</a:t>
            </a:r>
            <a:endParaRPr kumimoji="0" lang="en-US" sz="1050" b="0" i="0" u="none" strike="noStrike" kern="1200" cap="none" spc="0" normalizeH="0" baseline="0" noProof="0" dirty="0">
              <a:ln>
                <a:noFill/>
              </a:ln>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effectLst/>
                <a:uLnTx/>
                <a:uFillTx/>
                <a:latin typeface="Ovo" pitchFamily="34" charset="0"/>
                <a:ea typeface="Ovo" pitchFamily="34" charset="-122"/>
                <a:cs typeface="Ovo" pitchFamily="34" charset="-120"/>
              </a:rPr>
              <a:t>Click on </a:t>
            </a:r>
            <a:r>
              <a:rPr kumimoji="0" lang="en-US" sz="1050" b="1" i="0" u="none" strike="noStrike" kern="1200" cap="none" spc="0" normalizeH="0" baseline="0" noProof="0" dirty="0">
                <a:ln>
                  <a:noFill/>
                </a:ln>
                <a:effectLst/>
                <a:uLnTx/>
                <a:uFillTx/>
                <a:latin typeface="Ovo" pitchFamily="34" charset="0"/>
                <a:ea typeface="Ovo" pitchFamily="34" charset="-122"/>
                <a:cs typeface="Ovo" pitchFamily="34" charset="-120"/>
              </a:rPr>
              <a:t>PC1</a:t>
            </a:r>
            <a:r>
              <a:rPr kumimoji="0" lang="en-US" sz="1050" b="0" i="0" u="none" strike="noStrike" kern="1200" cap="none" spc="0" normalizeH="0" baseline="0" noProof="0" dirty="0">
                <a:ln>
                  <a:noFill/>
                </a:ln>
                <a:effectLst/>
                <a:uLnTx/>
                <a:uFillTx/>
                <a:latin typeface="Ovo" pitchFamily="34" charset="0"/>
                <a:ea typeface="Ovo" pitchFamily="34" charset="-122"/>
                <a:cs typeface="Ovo" pitchFamily="34" charset="-120"/>
              </a:rPr>
              <a:t> (Receiver in Town B).</a:t>
            </a:r>
            <a:endParaRPr kumimoji="0" lang="en-US" sz="1050" b="0" i="0" u="none" strike="noStrike" kern="1200" cap="none" spc="0" normalizeH="0" baseline="0" noProof="0" dirty="0">
              <a:ln>
                <a:noFill/>
              </a:ln>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4"/>
              <a:tabLst/>
              <a:defRPr/>
            </a:pPr>
            <a:r>
              <a:rPr kumimoji="0" lang="en-US" sz="1050" b="0" i="0" u="none" strike="noStrike" kern="1200" cap="none" spc="0" normalizeH="0" baseline="0" noProof="0" dirty="0">
                <a:ln>
                  <a:noFill/>
                </a:ln>
                <a:effectLst/>
                <a:uLnTx/>
                <a:uFillTx/>
                <a:latin typeface="Ovo" pitchFamily="34" charset="0"/>
                <a:ea typeface="Ovo" pitchFamily="34" charset="-122"/>
                <a:cs typeface="Ovo" pitchFamily="34" charset="-120"/>
              </a:rPr>
              <a:t>Look at the bottom-right status window.</a:t>
            </a:r>
            <a:endParaRPr kumimoji="0" lang="en-US" sz="1050" b="0" i="0" u="none" strike="noStrike" kern="1200" cap="none" spc="0" normalizeH="0" baseline="0" noProof="0" dirty="0">
              <a:ln>
                <a:noFill/>
              </a:ln>
              <a:effectLst/>
              <a:uLnTx/>
              <a:uFillTx/>
              <a:latin typeface="Calibri" panose="020F0502020204030204"/>
              <a:ea typeface="+mn-ea"/>
              <a:cs typeface="+mn-cs"/>
            </a:endParaRPr>
          </a:p>
        </p:txBody>
      </p:sp>
      <p:sp>
        <p:nvSpPr>
          <p:cNvPr id="12" name="Shape 10"/>
          <p:cNvSpPr/>
          <p:nvPr/>
        </p:nvSpPr>
        <p:spPr>
          <a:xfrm>
            <a:off x="3992989" y="3811977"/>
            <a:ext cx="3048467" cy="1921848"/>
          </a:xfrm>
          <a:prstGeom prst="roundRect">
            <a:avLst>
              <a:gd name="adj" fmla="val 3032"/>
            </a:avLst>
          </a:prstGeom>
          <a:solidFill>
            <a:srgbClr val="FCF2B5"/>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0" descr="preencoded.png"/>
          <p:cNvPicPr>
            <a:picLocks noChangeAspect="1"/>
          </p:cNvPicPr>
          <p:nvPr/>
        </p:nvPicPr>
        <p:blipFill>
          <a:blip r:embed="rId3"/>
          <a:stretch>
            <a:fillRect/>
          </a:stretch>
        </p:blipFill>
        <p:spPr>
          <a:xfrm>
            <a:off x="4131701" y="4013584"/>
            <a:ext cx="173421" cy="138712"/>
          </a:xfrm>
          <a:prstGeom prst="rect">
            <a:avLst/>
          </a:prstGeom>
        </p:spPr>
      </p:pic>
      <p:sp>
        <p:nvSpPr>
          <p:cNvPr id="14" name="Text 11"/>
          <p:cNvSpPr/>
          <p:nvPr/>
        </p:nvSpPr>
        <p:spPr>
          <a:xfrm>
            <a:off x="4443834" y="3985337"/>
            <a:ext cx="2458909" cy="155426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Important 10th Grade Tip: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The very first time a router tries to find a new town, it drops the first package while it draws a map.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If it says "Failed", do not panic!</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Just click the "Fire" button (double-click the red "Failed" text, or just send a brand new envelope from PC0 to PC1).</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Text 12"/>
          <p:cNvSpPr/>
          <p:nvPr/>
        </p:nvSpPr>
        <p:spPr>
          <a:xfrm>
            <a:off x="4076432" y="5889892"/>
            <a:ext cx="2826311"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The second attempt will say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Successful</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Your towns are communicating!</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85616" y="570234"/>
            <a:ext cx="513063" cy="260809"/>
          </a:xfrm>
          <a:prstGeom prst="roundRect">
            <a:avLst>
              <a:gd name="adj" fmla="val 17876"/>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68818" y="611835"/>
            <a:ext cx="724762" cy="177606"/>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LAB #7</a:t>
            </a:r>
            <a:endParaRPr kumimoji="0" lang="en-US" sz="8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Text 2"/>
          <p:cNvSpPr/>
          <p:nvPr/>
        </p:nvSpPr>
        <p:spPr>
          <a:xfrm>
            <a:off x="485616" y="886491"/>
            <a:ext cx="3846892" cy="433614"/>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Lab # 7 : Router Configuration</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Text 3"/>
          <p:cNvSpPr/>
          <p:nvPr/>
        </p:nvSpPr>
        <p:spPr>
          <a:xfrm>
            <a:off x="485616" y="1528235"/>
            <a:ext cx="6590795"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In this lab, you will configure a router to connect two separate networks and verify that it can successfully pass messages between them using Cisco Packet Tracer.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 name="Text 4"/>
          <p:cNvSpPr/>
          <p:nvPr/>
        </p:nvSpPr>
        <p:spPr>
          <a:xfrm>
            <a:off x="485616" y="2180441"/>
            <a:ext cx="3153147" cy="346842"/>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1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Lab Outcomes</a:t>
            </a:r>
            <a:endParaRPr kumimoji="0" lang="en-US" sz="2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Shape 5"/>
          <p:cNvSpPr/>
          <p:nvPr/>
        </p:nvSpPr>
        <p:spPr>
          <a:xfrm>
            <a:off x="485616" y="2735413"/>
            <a:ext cx="3226011" cy="1274996"/>
          </a:xfrm>
          <a:prstGeom prst="roundRect">
            <a:avLst>
              <a:gd name="adj" fmla="val 5931"/>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469861" y="2735413"/>
            <a:ext cx="63017" cy="1274996"/>
          </a:xfrm>
          <a:prstGeom prst="roundRect">
            <a:avLst>
              <a:gd name="adj" fmla="val 92478"/>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687345" y="2889879"/>
            <a:ext cx="2112498"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Router Fundamentals</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Text 8"/>
          <p:cNvSpPr/>
          <p:nvPr/>
        </p:nvSpPr>
        <p:spPr>
          <a:xfrm>
            <a:off x="687345" y="3189828"/>
            <a:ext cx="3247919"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Understand the main job of a Network Router.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1" name="Shape 9"/>
          <p:cNvSpPr/>
          <p:nvPr/>
        </p:nvSpPr>
        <p:spPr>
          <a:xfrm>
            <a:off x="3850339" y="2735413"/>
            <a:ext cx="3226072" cy="1274996"/>
          </a:xfrm>
          <a:prstGeom prst="roundRect">
            <a:avLst>
              <a:gd name="adj" fmla="val 5931"/>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3834584" y="2735413"/>
            <a:ext cx="63017" cy="1274996"/>
          </a:xfrm>
          <a:prstGeom prst="roundRect">
            <a:avLst>
              <a:gd name="adj" fmla="val 92478"/>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4052068" y="2889879"/>
            <a:ext cx="2493987"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Naming &amp; IP Configuration</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Text 12"/>
          <p:cNvSpPr/>
          <p:nvPr/>
        </p:nvSpPr>
        <p:spPr>
          <a:xfrm>
            <a:off x="4052068" y="3189828"/>
            <a:ext cx="2869876"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Change the name of a Router using the graphical interface and configure IP addresses on different Router ports (interfaces).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Shape 13"/>
          <p:cNvSpPr/>
          <p:nvPr/>
        </p:nvSpPr>
        <p:spPr>
          <a:xfrm>
            <a:off x="485616" y="4149121"/>
            <a:ext cx="3226011" cy="1274996"/>
          </a:xfrm>
          <a:prstGeom prst="roundRect">
            <a:avLst>
              <a:gd name="adj" fmla="val 5931"/>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69861" y="4149121"/>
            <a:ext cx="63017" cy="1274996"/>
          </a:xfrm>
          <a:prstGeom prst="roundRect">
            <a:avLst>
              <a:gd name="adj" fmla="val 92478"/>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687345" y="4303587"/>
            <a:ext cx="2112498"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Default Gateway</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8" name="Text 16"/>
          <p:cNvSpPr/>
          <p:nvPr/>
        </p:nvSpPr>
        <p:spPr>
          <a:xfrm>
            <a:off x="687345" y="4603536"/>
            <a:ext cx="2869815"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Understand why the Router acts as the "Default Gateway" for computers.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Shape 17"/>
          <p:cNvSpPr/>
          <p:nvPr/>
        </p:nvSpPr>
        <p:spPr>
          <a:xfrm>
            <a:off x="3850339" y="4149121"/>
            <a:ext cx="3226072" cy="1274996"/>
          </a:xfrm>
          <a:prstGeom prst="roundRect">
            <a:avLst>
              <a:gd name="adj" fmla="val 5931"/>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3834584" y="4149121"/>
            <a:ext cx="63017" cy="1274996"/>
          </a:xfrm>
          <a:prstGeom prst="roundRect">
            <a:avLst>
              <a:gd name="adj" fmla="val 92478"/>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4052068" y="4303587"/>
            <a:ext cx="2112498"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Verification</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2" name="Text 20"/>
          <p:cNvSpPr/>
          <p:nvPr/>
        </p:nvSpPr>
        <p:spPr>
          <a:xfrm>
            <a:off x="4052068" y="4603536"/>
            <a:ext cx="2869876"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Prove that your configured Router can successfully pass messages between two different networks.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3" name="Text 0"/>
          <p:cNvSpPr/>
          <p:nvPr/>
        </p:nvSpPr>
        <p:spPr>
          <a:xfrm>
            <a:off x="590074" y="5699142"/>
            <a:ext cx="5411127" cy="433614"/>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Lab Work: Building the Network</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4" name="Shape 1"/>
          <p:cNvSpPr/>
          <p:nvPr/>
        </p:nvSpPr>
        <p:spPr>
          <a:xfrm>
            <a:off x="490193" y="6340886"/>
            <a:ext cx="3325891" cy="3679136"/>
          </a:xfrm>
          <a:prstGeom prst="roundRect">
            <a:avLst>
              <a:gd name="adj" fmla="val 3004"/>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
          <p:cNvSpPr/>
          <p:nvPr/>
        </p:nvSpPr>
        <p:spPr>
          <a:xfrm>
            <a:off x="628906" y="6479598"/>
            <a:ext cx="2780397"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Outfit Bold" pitchFamily="34" charset="0"/>
                <a:ea typeface="Outfit Bold" pitchFamily="34" charset="-122"/>
                <a:cs typeface="Outfit Bold" pitchFamily="34" charset="-120"/>
              </a:rPr>
              <a:t>Step 1: Build the Two Networks</a:t>
            </a:r>
            <a:endParaRPr kumimoji="0" lang="en-US" sz="13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6" name="Text 3"/>
          <p:cNvSpPr/>
          <p:nvPr/>
        </p:nvSpPr>
        <p:spPr>
          <a:xfrm>
            <a:off x="628906" y="6835056"/>
            <a:ext cx="3048467" cy="888152"/>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Place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two PCs</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(PC0 left, PC1 right), a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2960 Switch</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next to each, and the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PT-Router</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in the middle. Use the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Magic Auto-Connect Cable</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(yellow lightning bolt) to wire them up:</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7" name="Text 4"/>
          <p:cNvSpPr/>
          <p:nvPr/>
        </p:nvSpPr>
        <p:spPr>
          <a:xfrm>
            <a:off x="628906" y="7848074"/>
            <a:ext cx="3048467" cy="1033819"/>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PC0 → Switch0</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Switch0 → Router</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PC1 → Switch1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Switch1 → Router</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8" name="Text 5"/>
          <p:cNvSpPr/>
          <p:nvPr/>
        </p:nvSpPr>
        <p:spPr>
          <a:xfrm>
            <a:off x="4058615" y="6479598"/>
            <a:ext cx="2842799"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2: Give the Router a Name</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9" name="Text 6"/>
          <p:cNvSpPr/>
          <p:nvPr/>
        </p:nvSpPr>
        <p:spPr>
          <a:xfrm>
            <a:off x="4058615" y="6835056"/>
            <a:ext cx="3126131" cy="903907"/>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Router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Config</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tab →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Settings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under "GLOBAL". Change both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Display Name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Hostname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Main_Post_Office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(Notice the underscore — network names don't like spaces!)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0" name="Text 7"/>
          <p:cNvSpPr/>
          <p:nvPr/>
        </p:nvSpPr>
        <p:spPr>
          <a:xfrm>
            <a:off x="4058615" y="7877675"/>
            <a:ext cx="3202318"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3: Configure the Router's Ports</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1" name="Text 8"/>
          <p:cNvSpPr/>
          <p:nvPr/>
        </p:nvSpPr>
        <p:spPr>
          <a:xfrm>
            <a:off x="4058615" y="8233133"/>
            <a:ext cx="3504235"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Stay on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Config</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tab. Under "INTERFACE":</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2" name="Text 9"/>
          <p:cNvSpPr/>
          <p:nvPr/>
        </p:nvSpPr>
        <p:spPr>
          <a:xfrm>
            <a:off x="4058615" y="8580037"/>
            <a:ext cx="3126131" cy="968216"/>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FastEthernet0/0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(left network): Port Status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IPv4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192.168.1.1</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FastEthernet0/1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(right network): Port Status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IPv4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192.168.2.1</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3" name="Text 10"/>
          <p:cNvSpPr/>
          <p:nvPr/>
        </p:nvSpPr>
        <p:spPr>
          <a:xfrm>
            <a:off x="4058615" y="9673119"/>
            <a:ext cx="3504235"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Red triangles will turn </a:t>
            </a:r>
            <a:r>
              <a:rPr kumimoji="0" lang="en-US" sz="1050" b="1" i="0" u="none" strike="noStrike" kern="1200" cap="none" spc="0" normalizeH="0" baseline="0" noProof="0" dirty="0">
                <a:ln>
                  <a:noFill/>
                </a:ln>
                <a:solidFill>
                  <a:srgbClr val="2A75D3"/>
                </a:solidFill>
                <a:effectLst/>
                <a:uLnTx/>
                <a:uFillTx/>
                <a:latin typeface="Ovo" pitchFamily="34" charset="0"/>
                <a:ea typeface="Ovo" pitchFamily="34" charset="-122"/>
                <a:cs typeface="Ovo" pitchFamily="34" charset="-120"/>
              </a:rPr>
              <a:t>green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once ports are active.</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0" descr="preencoded.png"/>
          <p:cNvPicPr>
            <a:picLocks noChangeAspect="1"/>
          </p:cNvPicPr>
          <p:nvPr/>
        </p:nvPicPr>
        <p:blipFill>
          <a:blip r:embed="rId3">
            <a:duotone>
              <a:prstClr val="black"/>
              <a:srgbClr val="2A75D3">
                <a:tint val="45000"/>
                <a:satMod val="400000"/>
              </a:srgbClr>
            </a:duotone>
          </a:blip>
          <a:stretch>
            <a:fillRect/>
          </a:stretch>
        </p:blipFill>
        <p:spPr>
          <a:xfrm>
            <a:off x="1178366" y="453766"/>
            <a:ext cx="5125333" cy="2345677"/>
          </a:xfrm>
          <a:prstGeom prst="rect">
            <a:avLst/>
          </a:prstGeom>
        </p:spPr>
      </p:pic>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96437" y="1039419"/>
            <a:ext cx="329533" cy="329532"/>
          </a:xfrm>
          <a:prstGeom prst="rect">
            <a:avLst/>
          </a:prstGeom>
        </p:spPr>
      </p:pic>
      <p:sp>
        <p:nvSpPr>
          <p:cNvPr id="15" name="Text 11"/>
          <p:cNvSpPr/>
          <p:nvPr/>
        </p:nvSpPr>
        <p:spPr>
          <a:xfrm>
            <a:off x="5102844" y="2057056"/>
            <a:ext cx="962234" cy="556087"/>
          </a:xfrm>
          <a:prstGeom prst="rect">
            <a:avLst/>
          </a:prstGeom>
          <a:noFill/>
          <a:ln/>
        </p:spPr>
        <p:txBody>
          <a:bodyPr wrap="square" lIns="0" tIns="0" rIns="0" bIns="0" rtlCol="0" anchor="t">
            <a:normAutofit/>
          </a:bodyPr>
          <a:lstStyle/>
          <a:p>
            <a:pPr marL="0" marR="0" lvl="0" indent="0" algn="ctr" defTabSz="457200" rtl="0" eaLnBrk="1" fontAlgn="auto" latinLnBrk="0" hangingPunct="1">
              <a:lnSpc>
                <a:spcPct val="104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Auto-Connect Cables</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0040" y="1040037"/>
            <a:ext cx="329532" cy="329532"/>
          </a:xfrm>
          <a:prstGeom prst="rect">
            <a:avLst/>
          </a:prstGeom>
        </p:spPr>
      </p:pic>
      <p:sp>
        <p:nvSpPr>
          <p:cNvPr id="17" name="Text 12"/>
          <p:cNvSpPr/>
          <p:nvPr/>
        </p:nvSpPr>
        <p:spPr>
          <a:xfrm>
            <a:off x="3890166" y="2149738"/>
            <a:ext cx="962234" cy="370724"/>
          </a:xfrm>
          <a:prstGeom prst="rect">
            <a:avLst/>
          </a:prstGeom>
          <a:noFill/>
          <a:ln/>
        </p:spPr>
        <p:txBody>
          <a:bodyPr wrap="square" lIns="0" tIns="0" rIns="0" bIns="0" rtlCol="0" anchor="t">
            <a:normAutofit/>
          </a:bodyPr>
          <a:lstStyle/>
          <a:p>
            <a:pPr marL="0" marR="0" lvl="0" indent="0" algn="ctr" defTabSz="457200" rtl="0" eaLnBrk="1" fontAlgn="auto" latinLnBrk="0" hangingPunct="1">
              <a:lnSpc>
                <a:spcPct val="104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Position Router</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83952" y="1040037"/>
            <a:ext cx="329532" cy="329532"/>
          </a:xfrm>
          <a:prstGeom prst="rect">
            <a:avLst/>
          </a:prstGeom>
        </p:spPr>
      </p:pic>
      <p:sp>
        <p:nvSpPr>
          <p:cNvPr id="19" name="Text 13"/>
          <p:cNvSpPr/>
          <p:nvPr/>
        </p:nvSpPr>
        <p:spPr>
          <a:xfrm>
            <a:off x="2495025" y="2242419"/>
            <a:ext cx="1151286" cy="185362"/>
          </a:xfrm>
          <a:prstGeom prst="rect">
            <a:avLst/>
          </a:prstGeom>
          <a:noFill/>
          <a:ln/>
        </p:spPr>
        <p:txBody>
          <a:bodyPr wrap="none" lIns="0" tIns="0" rIns="0" bIns="0" rtlCol="0" anchor="t"/>
          <a:lstStyle/>
          <a:p>
            <a:pPr marL="0" marR="0" lvl="0" indent="0" algn="ctr" defTabSz="457200" rtl="0" eaLnBrk="1" fontAlgn="auto" latinLnBrk="0" hangingPunct="1">
              <a:lnSpc>
                <a:spcPct val="104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Add Switches</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2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71273" y="1040037"/>
            <a:ext cx="329532" cy="329532"/>
          </a:xfrm>
          <a:prstGeom prst="rect">
            <a:avLst/>
          </a:prstGeom>
        </p:spPr>
      </p:pic>
      <p:sp>
        <p:nvSpPr>
          <p:cNvPr id="21" name="Text 14"/>
          <p:cNvSpPr/>
          <p:nvPr/>
        </p:nvSpPr>
        <p:spPr>
          <a:xfrm>
            <a:off x="1262575" y="2242419"/>
            <a:ext cx="1151287" cy="185362"/>
          </a:xfrm>
          <a:prstGeom prst="rect">
            <a:avLst/>
          </a:prstGeom>
          <a:noFill/>
          <a:ln/>
        </p:spPr>
        <p:txBody>
          <a:bodyPr wrap="none" lIns="0" tIns="0" rIns="0" bIns="0" rtlCol="0" anchor="t"/>
          <a:lstStyle/>
          <a:p>
            <a:pPr marL="0" marR="0" lvl="0" indent="0" algn="ctr" defTabSz="457200" rtl="0" eaLnBrk="1" fontAlgn="auto" latinLnBrk="0" hangingPunct="1">
              <a:lnSpc>
                <a:spcPct val="104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Place Devices</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2" name="Text 15"/>
          <p:cNvSpPr/>
          <p:nvPr/>
        </p:nvSpPr>
        <p:spPr>
          <a:xfrm>
            <a:off x="445666" y="2955510"/>
            <a:ext cx="6968900"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Following these four steps in order ensures a clean physical topology before moving on to IP configuration.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3" name="Text 0">
            <a:extLst>
              <a:ext uri="{FF2B5EF4-FFF2-40B4-BE49-F238E27FC236}">
                <a16:creationId xmlns:a16="http://schemas.microsoft.com/office/drawing/2014/main" id="{47CBF3C8-3E6C-5E09-F61E-FE04088F0B9E}"/>
              </a:ext>
            </a:extLst>
          </p:cNvPr>
          <p:cNvSpPr/>
          <p:nvPr/>
        </p:nvSpPr>
        <p:spPr>
          <a:xfrm>
            <a:off x="439668" y="3444981"/>
            <a:ext cx="6215830" cy="433614"/>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Configuring PCs &amp; Testing the Router</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4" name="Shape 1">
            <a:extLst>
              <a:ext uri="{FF2B5EF4-FFF2-40B4-BE49-F238E27FC236}">
                <a16:creationId xmlns:a16="http://schemas.microsoft.com/office/drawing/2014/main" id="{71F9B3A5-547E-3C61-06B9-481F21CC6CBA}"/>
              </a:ext>
            </a:extLst>
          </p:cNvPr>
          <p:cNvSpPr/>
          <p:nvPr/>
        </p:nvSpPr>
        <p:spPr>
          <a:xfrm>
            <a:off x="439668" y="4156081"/>
            <a:ext cx="2104437" cy="3248107"/>
          </a:xfrm>
          <a:prstGeom prst="roundRect">
            <a:avLst>
              <a:gd name="adj" fmla="val 2769"/>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
            <a:extLst>
              <a:ext uri="{FF2B5EF4-FFF2-40B4-BE49-F238E27FC236}">
                <a16:creationId xmlns:a16="http://schemas.microsoft.com/office/drawing/2014/main" id="{26DB1236-1307-E896-9054-D5A6BFB261E8}"/>
              </a:ext>
            </a:extLst>
          </p:cNvPr>
          <p:cNvSpPr/>
          <p:nvPr/>
        </p:nvSpPr>
        <p:spPr>
          <a:xfrm>
            <a:off x="455422" y="4171836"/>
            <a:ext cx="2072928" cy="416260"/>
          </a:xfrm>
          <a:prstGeom prst="roundRect">
            <a:avLst>
              <a:gd name="adj" fmla="val 9458"/>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3">
            <a:extLst>
              <a:ext uri="{FF2B5EF4-FFF2-40B4-BE49-F238E27FC236}">
                <a16:creationId xmlns:a16="http://schemas.microsoft.com/office/drawing/2014/main" id="{7B93F221-07E8-9A83-F32C-04F84B5209E2}"/>
              </a:ext>
            </a:extLst>
          </p:cNvPr>
          <p:cNvSpPr/>
          <p:nvPr/>
        </p:nvSpPr>
        <p:spPr>
          <a:xfrm>
            <a:off x="1198769" y="4245930"/>
            <a:ext cx="397182" cy="260132"/>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1</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7" name="Text 4">
            <a:extLst>
              <a:ext uri="{FF2B5EF4-FFF2-40B4-BE49-F238E27FC236}">
                <a16:creationId xmlns:a16="http://schemas.microsoft.com/office/drawing/2014/main" id="{C0A227FA-27F9-D415-9DAB-635904F363BF}"/>
              </a:ext>
            </a:extLst>
          </p:cNvPr>
          <p:cNvSpPr/>
          <p:nvPr/>
        </p:nvSpPr>
        <p:spPr>
          <a:xfrm>
            <a:off x="594134" y="4726808"/>
            <a:ext cx="1795504" cy="433491"/>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4: Set the Default Gateway on PC0</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8" name="Text 5">
            <a:extLst>
              <a:ext uri="{FF2B5EF4-FFF2-40B4-BE49-F238E27FC236}">
                <a16:creationId xmlns:a16="http://schemas.microsoft.com/office/drawing/2014/main" id="{5B46C142-1C88-CBAE-3A69-BD7E315E812F}"/>
              </a:ext>
            </a:extLst>
          </p:cNvPr>
          <p:cNvSpPr/>
          <p:nvPr/>
        </p:nvSpPr>
        <p:spPr>
          <a:xfrm>
            <a:off x="594134" y="5243502"/>
            <a:ext cx="1795504" cy="1585775"/>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Desktop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 Configuration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Set IPv4 Address to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192.168.1.10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click the Subnet Mask box, and set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Default Gateway</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192.168.1.1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(the router's left-side address).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9" name="Shape 6">
            <a:extLst>
              <a:ext uri="{FF2B5EF4-FFF2-40B4-BE49-F238E27FC236}">
                <a16:creationId xmlns:a16="http://schemas.microsoft.com/office/drawing/2014/main" id="{344554CE-0991-2EF6-C8FD-E5098E990A03}"/>
              </a:ext>
            </a:extLst>
          </p:cNvPr>
          <p:cNvSpPr/>
          <p:nvPr/>
        </p:nvSpPr>
        <p:spPr>
          <a:xfrm>
            <a:off x="2682816" y="4156081"/>
            <a:ext cx="2104437" cy="3248107"/>
          </a:xfrm>
          <a:prstGeom prst="roundRect">
            <a:avLst>
              <a:gd name="adj" fmla="val 2769"/>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7">
            <a:extLst>
              <a:ext uri="{FF2B5EF4-FFF2-40B4-BE49-F238E27FC236}">
                <a16:creationId xmlns:a16="http://schemas.microsoft.com/office/drawing/2014/main" id="{36A70437-6D0E-D274-B7A5-55592617964E}"/>
              </a:ext>
            </a:extLst>
          </p:cNvPr>
          <p:cNvSpPr/>
          <p:nvPr/>
        </p:nvSpPr>
        <p:spPr>
          <a:xfrm>
            <a:off x="2698571" y="4171836"/>
            <a:ext cx="2072928" cy="416260"/>
          </a:xfrm>
          <a:prstGeom prst="roundRect">
            <a:avLst>
              <a:gd name="adj" fmla="val 9458"/>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8">
            <a:extLst>
              <a:ext uri="{FF2B5EF4-FFF2-40B4-BE49-F238E27FC236}">
                <a16:creationId xmlns:a16="http://schemas.microsoft.com/office/drawing/2014/main" id="{BD8591B1-681E-6A8C-B0E1-60F8D0A7CFAD}"/>
              </a:ext>
            </a:extLst>
          </p:cNvPr>
          <p:cNvSpPr/>
          <p:nvPr/>
        </p:nvSpPr>
        <p:spPr>
          <a:xfrm>
            <a:off x="3441917" y="4245930"/>
            <a:ext cx="397182" cy="260132"/>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2</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2" name="Text 9">
            <a:extLst>
              <a:ext uri="{FF2B5EF4-FFF2-40B4-BE49-F238E27FC236}">
                <a16:creationId xmlns:a16="http://schemas.microsoft.com/office/drawing/2014/main" id="{3940E353-52A6-EF26-0F08-2BB60C69BD38}"/>
              </a:ext>
            </a:extLst>
          </p:cNvPr>
          <p:cNvSpPr/>
          <p:nvPr/>
        </p:nvSpPr>
        <p:spPr>
          <a:xfrm>
            <a:off x="2837283" y="4726808"/>
            <a:ext cx="1795504" cy="650237"/>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4 (continued): Set the Default Gateway on PC1</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3" name="Text 10">
            <a:extLst>
              <a:ext uri="{FF2B5EF4-FFF2-40B4-BE49-F238E27FC236}">
                <a16:creationId xmlns:a16="http://schemas.microsoft.com/office/drawing/2014/main" id="{E94B4F42-5550-E869-1229-15764B777957}"/>
              </a:ext>
            </a:extLst>
          </p:cNvPr>
          <p:cNvSpPr/>
          <p:nvPr/>
        </p:nvSpPr>
        <p:spPr>
          <a:xfrm>
            <a:off x="2837283" y="5460247"/>
            <a:ext cx="1795504" cy="1585775"/>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Desktop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 Configuration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Set IPv4 Address to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192.168.2.10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click the Subnet Mask box, and set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Default Gateway</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192.168.2.1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(the router's right-side address).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4" name="Shape 11">
            <a:extLst>
              <a:ext uri="{FF2B5EF4-FFF2-40B4-BE49-F238E27FC236}">
                <a16:creationId xmlns:a16="http://schemas.microsoft.com/office/drawing/2014/main" id="{1C14C3CA-2BC2-C7BB-67FF-F469D88048ED}"/>
              </a:ext>
            </a:extLst>
          </p:cNvPr>
          <p:cNvSpPr/>
          <p:nvPr/>
        </p:nvSpPr>
        <p:spPr>
          <a:xfrm>
            <a:off x="4925965" y="4156081"/>
            <a:ext cx="2104498" cy="3248107"/>
          </a:xfrm>
          <a:prstGeom prst="roundRect">
            <a:avLst>
              <a:gd name="adj" fmla="val 2769"/>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12">
            <a:extLst>
              <a:ext uri="{FF2B5EF4-FFF2-40B4-BE49-F238E27FC236}">
                <a16:creationId xmlns:a16="http://schemas.microsoft.com/office/drawing/2014/main" id="{17762CFC-B644-2243-6996-A5228D9EEABB}"/>
              </a:ext>
            </a:extLst>
          </p:cNvPr>
          <p:cNvSpPr/>
          <p:nvPr/>
        </p:nvSpPr>
        <p:spPr>
          <a:xfrm>
            <a:off x="4941719" y="4171836"/>
            <a:ext cx="2072989" cy="416260"/>
          </a:xfrm>
          <a:prstGeom prst="roundRect">
            <a:avLst>
              <a:gd name="adj" fmla="val 9458"/>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13">
            <a:extLst>
              <a:ext uri="{FF2B5EF4-FFF2-40B4-BE49-F238E27FC236}">
                <a16:creationId xmlns:a16="http://schemas.microsoft.com/office/drawing/2014/main" id="{A99A2C30-6F00-C39F-493A-FB99C2E4C823}"/>
              </a:ext>
            </a:extLst>
          </p:cNvPr>
          <p:cNvSpPr/>
          <p:nvPr/>
        </p:nvSpPr>
        <p:spPr>
          <a:xfrm>
            <a:off x="5685066" y="4245930"/>
            <a:ext cx="397182" cy="260132"/>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3</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7" name="Text 14">
            <a:extLst>
              <a:ext uri="{FF2B5EF4-FFF2-40B4-BE49-F238E27FC236}">
                <a16:creationId xmlns:a16="http://schemas.microsoft.com/office/drawing/2014/main" id="{6D0F088C-DAF1-16FC-C28C-DFFAAA250A95}"/>
              </a:ext>
            </a:extLst>
          </p:cNvPr>
          <p:cNvSpPr/>
          <p:nvPr/>
        </p:nvSpPr>
        <p:spPr>
          <a:xfrm>
            <a:off x="5080431" y="4726808"/>
            <a:ext cx="1795565" cy="433491"/>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5: Test the Router!</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8" name="Text 15">
            <a:extLst>
              <a:ext uri="{FF2B5EF4-FFF2-40B4-BE49-F238E27FC236}">
                <a16:creationId xmlns:a16="http://schemas.microsoft.com/office/drawing/2014/main" id="{9778A8F8-9F3F-53BE-A539-5CAF295E83F7}"/>
              </a:ext>
            </a:extLst>
          </p:cNvPr>
          <p:cNvSpPr/>
          <p:nvPr/>
        </p:nvSpPr>
        <p:spPr>
          <a:xfrm>
            <a:off x="5080431" y="5243502"/>
            <a:ext cx="1795565" cy="2006220"/>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Grab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closed yellow envelope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from the toolbar. Click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then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The </a:t>
            </a: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first</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message will say </a:t>
            </a:r>
            <a:r>
              <a:rPr kumimoji="0" lang="en-US" sz="1050" b="1" i="0" u="none" strike="noStrike" kern="1200" cap="none" spc="0" normalizeH="0" baseline="0" noProof="0" dirty="0">
                <a:ln>
                  <a:noFill/>
                </a:ln>
                <a:solidFill>
                  <a:srgbClr val="2A75D3"/>
                </a:solidFill>
                <a:effectLst/>
                <a:uLnTx/>
                <a:uFillTx/>
                <a:latin typeface="Ovo" pitchFamily="34" charset="0"/>
                <a:ea typeface="Ovo" pitchFamily="34" charset="-122"/>
                <a:cs typeface="Ovo" pitchFamily="34" charset="-120"/>
              </a:rPr>
              <a:t>Failed</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the router is drawing its map. Double-click the red text or send a new envelope.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second time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it will say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Successful</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9" name="Shape 16">
            <a:extLst>
              <a:ext uri="{FF2B5EF4-FFF2-40B4-BE49-F238E27FC236}">
                <a16:creationId xmlns:a16="http://schemas.microsoft.com/office/drawing/2014/main" id="{FDEEF0E6-1268-A364-E3B2-05E2E8E47E38}"/>
              </a:ext>
            </a:extLst>
          </p:cNvPr>
          <p:cNvSpPr/>
          <p:nvPr/>
        </p:nvSpPr>
        <p:spPr>
          <a:xfrm>
            <a:off x="439668" y="7560255"/>
            <a:ext cx="6590795" cy="1041573"/>
          </a:xfrm>
          <a:prstGeom prst="roundRect">
            <a:avLst>
              <a:gd name="adj" fmla="val 5595"/>
            </a:avLst>
          </a:prstGeom>
          <a:solidFill>
            <a:srgbClr val="B6D6FC"/>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0" name="Image 0" descr="preencoded.png">
            <a:extLst>
              <a:ext uri="{FF2B5EF4-FFF2-40B4-BE49-F238E27FC236}">
                <a16:creationId xmlns:a16="http://schemas.microsoft.com/office/drawing/2014/main" id="{0C3A15F4-1E7B-94B1-781E-07550A22B267}"/>
              </a:ext>
            </a:extLst>
          </p:cNvPr>
          <p:cNvPicPr>
            <a:picLocks noChangeAspect="1"/>
          </p:cNvPicPr>
          <p:nvPr/>
        </p:nvPicPr>
        <p:blipFill>
          <a:blip r:embed="rId8"/>
          <a:stretch>
            <a:fillRect/>
          </a:stretch>
        </p:blipFill>
        <p:spPr>
          <a:xfrm>
            <a:off x="578380" y="7761861"/>
            <a:ext cx="173421" cy="138712"/>
          </a:xfrm>
          <a:prstGeom prst="rect">
            <a:avLst/>
          </a:prstGeom>
        </p:spPr>
      </p:pic>
      <p:sp>
        <p:nvSpPr>
          <p:cNvPr id="41" name="Text 17">
            <a:extLst>
              <a:ext uri="{FF2B5EF4-FFF2-40B4-BE49-F238E27FC236}">
                <a16:creationId xmlns:a16="http://schemas.microsoft.com/office/drawing/2014/main" id="{F53E441B-376A-FDA7-CEAD-5889AE4A2830}"/>
              </a:ext>
            </a:extLst>
          </p:cNvPr>
          <p:cNvSpPr/>
          <p:nvPr/>
        </p:nvSpPr>
        <p:spPr>
          <a:xfrm>
            <a:off x="890513" y="7733614"/>
            <a:ext cx="6001238" cy="673991"/>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Tip: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The router must build its routing table the very first time a message crosses networks. That is why the initial ping or envelope always fails — simply retry and it will succeed.</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5616" y="628293"/>
            <a:ext cx="6508577" cy="433614"/>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Lab #8: Building an Advanced Network</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Text 1"/>
          <p:cNvSpPr/>
          <p:nvPr/>
        </p:nvSpPr>
        <p:spPr>
          <a:xfrm>
            <a:off x="485616" y="1270037"/>
            <a:ext cx="6968900"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Routers, Switches, Bridges, PCs &amp; Laptops — using Cisco Packet Tracer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Text 2"/>
          <p:cNvSpPr/>
          <p:nvPr/>
        </p:nvSpPr>
        <p:spPr>
          <a:xfrm>
            <a:off x="485616" y="1648142"/>
            <a:ext cx="6968900"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By the end of this lab, you will be able to:</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Text 3"/>
          <p:cNvSpPr/>
          <p:nvPr/>
        </p:nvSpPr>
        <p:spPr>
          <a:xfrm>
            <a:off x="485616" y="2026247"/>
            <a:ext cx="6590795" cy="1255857"/>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Add Laptops to your Packet Tracer workspace and configure them.</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Understand the difference between a Bridge (connects the </a:t>
            </a: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same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network) and a Router (connects </a:t>
            </a: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different</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networks).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Use a Network Bridge to connect two Switches together.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Build a large, multi-part network using the graphical interface.</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 name="Text 0"/>
          <p:cNvSpPr/>
          <p:nvPr/>
        </p:nvSpPr>
        <p:spPr>
          <a:xfrm>
            <a:off x="486170" y="3438519"/>
            <a:ext cx="5103794" cy="420075"/>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Lab Work: Step-by-Step Guide</a:t>
            </a:r>
            <a:endParaRPr kumimoji="0" lang="en-US" sz="2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Text 1"/>
          <p:cNvSpPr/>
          <p:nvPr/>
        </p:nvSpPr>
        <p:spPr>
          <a:xfrm>
            <a:off x="486170" y="3910658"/>
            <a:ext cx="6627412" cy="336011"/>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1: Place the Devices — Building Our Two Towns</a:t>
            </a:r>
            <a:endParaRPr kumimoji="0" lang="en-US" sz="21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 name="Text 2"/>
          <p:cNvSpPr/>
          <p:nvPr/>
        </p:nvSpPr>
        <p:spPr>
          <a:xfrm>
            <a:off x="486170" y="4441937"/>
            <a:ext cx="6621196" cy="423275"/>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1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We are going to build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Town A</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(which is so big it needs two switches and a bridge) and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Town B</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Then, we will put a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Router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in the middle to connect the two towns.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hape 3"/>
          <p:cNvSpPr/>
          <p:nvPr/>
        </p:nvSpPr>
        <p:spPr>
          <a:xfrm>
            <a:off x="486170" y="5011679"/>
            <a:ext cx="2120252" cy="3829726"/>
          </a:xfrm>
          <a:prstGeom prst="roundRect">
            <a:avLst>
              <a:gd name="adj" fmla="val 2663"/>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4"/>
          <p:cNvSpPr/>
          <p:nvPr/>
        </p:nvSpPr>
        <p:spPr>
          <a:xfrm>
            <a:off x="501924" y="5027433"/>
            <a:ext cx="2088744" cy="403213"/>
          </a:xfrm>
          <a:prstGeom prst="roundRect">
            <a:avLst>
              <a:gd name="adj" fmla="val 9313"/>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5"/>
          <p:cNvSpPr/>
          <p:nvPr/>
        </p:nvSpPr>
        <p:spPr>
          <a:xfrm>
            <a:off x="1256410" y="5099066"/>
            <a:ext cx="390659" cy="252008"/>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1</a:t>
            </a:r>
            <a:endParaRPr kumimoji="0" lang="en-US" sz="15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2" name="Text 6"/>
          <p:cNvSpPr/>
          <p:nvPr/>
        </p:nvSpPr>
        <p:spPr>
          <a:xfrm>
            <a:off x="636329" y="5560804"/>
            <a:ext cx="2082220" cy="20997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The Middle (The Gate)</a:t>
            </a:r>
            <a:endParaRPr kumimoji="0" lang="en-US" sz="13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3" name="Text 7"/>
          <p:cNvSpPr/>
          <p:nvPr/>
        </p:nvSpPr>
        <p:spPr>
          <a:xfrm>
            <a:off x="636329" y="5848875"/>
            <a:ext cx="1819935" cy="634913"/>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1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Go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Routers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place a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PT-Router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in the top center of your screen.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Shape 8"/>
          <p:cNvSpPr/>
          <p:nvPr/>
        </p:nvSpPr>
        <p:spPr>
          <a:xfrm>
            <a:off x="2736580" y="5011679"/>
            <a:ext cx="2120314" cy="3829726"/>
          </a:xfrm>
          <a:prstGeom prst="roundRect">
            <a:avLst>
              <a:gd name="adj" fmla="val 2663"/>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9"/>
          <p:cNvSpPr/>
          <p:nvPr/>
        </p:nvSpPr>
        <p:spPr>
          <a:xfrm>
            <a:off x="2752335" y="5027433"/>
            <a:ext cx="2088805" cy="403213"/>
          </a:xfrm>
          <a:prstGeom prst="roundRect">
            <a:avLst>
              <a:gd name="adj" fmla="val 9313"/>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0"/>
          <p:cNvSpPr/>
          <p:nvPr/>
        </p:nvSpPr>
        <p:spPr>
          <a:xfrm>
            <a:off x="3506882" y="5099066"/>
            <a:ext cx="390659" cy="252008"/>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2</a:t>
            </a:r>
            <a:endParaRPr kumimoji="0" lang="en-US" sz="15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7" name="Text 11"/>
          <p:cNvSpPr/>
          <p:nvPr/>
        </p:nvSpPr>
        <p:spPr>
          <a:xfrm>
            <a:off x="2886739" y="5560804"/>
            <a:ext cx="2058281" cy="20997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Town A (Left Side)</a:t>
            </a:r>
            <a:endParaRPr kumimoji="0" lang="en-US" sz="13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8" name="Text 12"/>
          <p:cNvSpPr/>
          <p:nvPr/>
        </p:nvSpPr>
        <p:spPr>
          <a:xfrm>
            <a:off x="2886739" y="5848875"/>
            <a:ext cx="1819997" cy="2842370"/>
          </a:xfrm>
          <a:prstGeom prst="rect">
            <a:avLst/>
          </a:prstGeom>
          <a:noFill/>
          <a:ln/>
        </p:spPr>
        <p:txBody>
          <a:bodyPr wrap="square" lIns="0" tIns="0" rIns="0" bIns="0" rtlCol="0" anchor="t">
            <a:normAutofit fontScale="92500"/>
          </a:bodyPr>
          <a:lstStyle/>
          <a:p>
            <a:pPr marL="342900" marR="0" lvl="0" indent="-342900" algn="l" defTabSz="457200" rtl="0" eaLnBrk="1" fontAlgn="auto" latinLnBrk="0" hangingPunct="1">
              <a:lnSpc>
                <a:spcPct val="131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Go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Switches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place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two 2960 Switches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on the left side of your screen.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Go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Network Devices → Switches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look for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PT-Bridge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(it looks like a small box with two arrows), and place it right between your two switches.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Go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End Devices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Place one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on the first switch, and one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Laptop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on the second switch.</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Shape 13"/>
          <p:cNvSpPr/>
          <p:nvPr/>
        </p:nvSpPr>
        <p:spPr>
          <a:xfrm>
            <a:off x="4987052" y="5011679"/>
            <a:ext cx="2120314" cy="3829726"/>
          </a:xfrm>
          <a:prstGeom prst="roundRect">
            <a:avLst>
              <a:gd name="adj" fmla="val 2663"/>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4"/>
          <p:cNvSpPr/>
          <p:nvPr/>
        </p:nvSpPr>
        <p:spPr>
          <a:xfrm>
            <a:off x="5002807" y="5027433"/>
            <a:ext cx="2088805" cy="403213"/>
          </a:xfrm>
          <a:prstGeom prst="roundRect">
            <a:avLst>
              <a:gd name="adj" fmla="val 9313"/>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5"/>
          <p:cNvSpPr/>
          <p:nvPr/>
        </p:nvSpPr>
        <p:spPr>
          <a:xfrm>
            <a:off x="5757354" y="5099066"/>
            <a:ext cx="390659" cy="252008"/>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3</a:t>
            </a:r>
            <a:endParaRPr kumimoji="0" lang="en-US" sz="15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2" name="Text 16"/>
          <p:cNvSpPr/>
          <p:nvPr/>
        </p:nvSpPr>
        <p:spPr>
          <a:xfrm>
            <a:off x="5137211" y="5560804"/>
            <a:ext cx="2058281" cy="20997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Town B (Right Side)</a:t>
            </a:r>
            <a:endParaRPr kumimoji="0" lang="en-US" sz="13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3" name="Text 17"/>
          <p:cNvSpPr/>
          <p:nvPr/>
        </p:nvSpPr>
        <p:spPr>
          <a:xfrm>
            <a:off x="5137211" y="5848875"/>
            <a:ext cx="1819997" cy="1315366"/>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1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Place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one 2960 Switch</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on the right side of your screen.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Go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End Devices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place one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one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Laptop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near this switch.</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18"/>
          <p:cNvSpPr/>
          <p:nvPr/>
        </p:nvSpPr>
        <p:spPr>
          <a:xfrm>
            <a:off x="420568" y="597479"/>
            <a:ext cx="6724707" cy="336011"/>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2: Wire It All Together — Using the Magic Cable</a:t>
            </a:r>
            <a:endParaRPr kumimoji="0" lang="en-US" sz="21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Text 19"/>
          <p:cNvSpPr/>
          <p:nvPr/>
        </p:nvSpPr>
        <p:spPr>
          <a:xfrm>
            <a:off x="420568" y="1128758"/>
            <a:ext cx="6999301" cy="211638"/>
          </a:xfrm>
          <a:prstGeom prst="rect">
            <a:avLst/>
          </a:prstGeom>
          <a:noFill/>
          <a:ln/>
        </p:spPr>
        <p:txBody>
          <a:bodyPr wrap="none" lIns="0" tIns="0" rIns="0" bIns="0" rtlCol="0" anchor="t"/>
          <a:lstStyle/>
          <a:p>
            <a:pPr marL="0" marR="0" lvl="0" indent="0" algn="l" defTabSz="457200" rtl="0" eaLnBrk="1" fontAlgn="auto" latinLnBrk="0" hangingPunct="1">
              <a:lnSpc>
                <a:spcPct val="131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Because we have a lot of devices, we will use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"Auto Choose" cable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 prevent mistakes.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2" name="Text 20"/>
          <p:cNvSpPr/>
          <p:nvPr/>
        </p:nvSpPr>
        <p:spPr>
          <a:xfrm>
            <a:off x="420568" y="1486862"/>
            <a:ext cx="6621196" cy="423275"/>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1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Connections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icon (the orange lightning bolt). 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first icon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(the yellow lightning bolt with sparkles).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3" name="Shape 21"/>
          <p:cNvSpPr/>
          <p:nvPr/>
        </p:nvSpPr>
        <p:spPr>
          <a:xfrm>
            <a:off x="420568" y="2056604"/>
            <a:ext cx="2120252" cy="2825631"/>
          </a:xfrm>
          <a:prstGeom prst="roundRect">
            <a:avLst>
              <a:gd name="adj" fmla="val 2663"/>
            </a:avLst>
          </a:prstGeom>
          <a:solidFill>
            <a:srgbClr val="D4EBF7"/>
          </a:solidFill>
          <a:ln w="7877">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562850" y="2198886"/>
            <a:ext cx="2058281" cy="20997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Wire Town A</a:t>
            </a:r>
            <a:endParaRPr kumimoji="0" lang="en-US" sz="13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5" name="Text 23"/>
          <p:cNvSpPr/>
          <p:nvPr/>
        </p:nvSpPr>
        <p:spPr>
          <a:xfrm>
            <a:off x="562850" y="2486957"/>
            <a:ext cx="1835689" cy="2252997"/>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1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PC and connect it to the first Switch.</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first Switch and connect it to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Bridge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Bridge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connect it to the second Switch.</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Laptop and connect it to the second Switch.</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Shape 24"/>
          <p:cNvSpPr/>
          <p:nvPr/>
        </p:nvSpPr>
        <p:spPr>
          <a:xfrm>
            <a:off x="2670978" y="2056604"/>
            <a:ext cx="2120314" cy="2825631"/>
          </a:xfrm>
          <a:prstGeom prst="roundRect">
            <a:avLst>
              <a:gd name="adj" fmla="val 2663"/>
            </a:avLst>
          </a:prstGeom>
          <a:solidFill>
            <a:srgbClr val="D4EBF7"/>
          </a:solidFill>
          <a:ln w="7877">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2813260" y="2198886"/>
            <a:ext cx="2058281" cy="20997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Wire Town B</a:t>
            </a:r>
            <a:endParaRPr kumimoji="0" lang="en-US" sz="13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8" name="Text 26"/>
          <p:cNvSpPr/>
          <p:nvPr/>
        </p:nvSpPr>
        <p:spPr>
          <a:xfrm>
            <a:off x="2813260" y="2486957"/>
            <a:ext cx="1835751" cy="892091"/>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1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Connect the PC to Town B's Switch.</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Connect the Laptop to Town B's Switch.</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9" name="Shape 27"/>
          <p:cNvSpPr/>
          <p:nvPr/>
        </p:nvSpPr>
        <p:spPr>
          <a:xfrm>
            <a:off x="4921450" y="2056604"/>
            <a:ext cx="2120314" cy="2825631"/>
          </a:xfrm>
          <a:prstGeom prst="roundRect">
            <a:avLst>
              <a:gd name="adj" fmla="val 2663"/>
            </a:avLst>
          </a:prstGeom>
          <a:solidFill>
            <a:srgbClr val="D4EBF7"/>
          </a:solidFill>
          <a:ln w="7877">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5063732" y="2198886"/>
            <a:ext cx="2059697" cy="20997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Connect to the Router</a:t>
            </a:r>
            <a:endParaRPr kumimoji="0" lang="en-US" sz="13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1" name="Text 29"/>
          <p:cNvSpPr/>
          <p:nvPr/>
        </p:nvSpPr>
        <p:spPr>
          <a:xfrm>
            <a:off x="5063732" y="2486957"/>
            <a:ext cx="1835751" cy="892091"/>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1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Connect Town A's </a:t>
            </a: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first Switch</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Router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1000"/>
              </a:lnSpc>
              <a:spcBef>
                <a:spcPts val="0"/>
              </a:spcBef>
              <a:spcAft>
                <a:spcPts val="0"/>
              </a:spcAft>
              <a:buClrTx/>
              <a:buSzPct val="100000"/>
              <a:buFontTx/>
              <a:buChar char="•"/>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Connect Town B's </a:t>
            </a: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Switch</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Router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2" name="Text 30"/>
          <p:cNvSpPr/>
          <p:nvPr/>
        </p:nvSpPr>
        <p:spPr>
          <a:xfrm>
            <a:off x="5063732" y="3457143"/>
            <a:ext cx="1835751" cy="423275"/>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1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Wait for the orange dots on the switches to turn green!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7" name="Text 0"/>
          <p:cNvSpPr/>
          <p:nvPr/>
        </p:nvSpPr>
        <p:spPr>
          <a:xfrm>
            <a:off x="420568" y="5081041"/>
            <a:ext cx="3895263" cy="406475"/>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5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Configuration &amp; Testing</a:t>
            </a:r>
            <a:endParaRPr kumimoji="0" lang="en-US" sz="25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8" name="Text 1"/>
          <p:cNvSpPr/>
          <p:nvPr/>
        </p:nvSpPr>
        <p:spPr>
          <a:xfrm>
            <a:off x="420568" y="5536256"/>
            <a:ext cx="6145489" cy="325241"/>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3: Turn on the Router (The Main Post Office)</a:t>
            </a:r>
            <a:endPar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9" name="Text 2"/>
          <p:cNvSpPr/>
          <p:nvPr/>
        </p:nvSpPr>
        <p:spPr>
          <a:xfrm>
            <a:off x="420568" y="6044396"/>
            <a:ext cx="6651474" cy="1202255"/>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29000"/>
              </a:lnSpc>
              <a:spcBef>
                <a:spcPts val="0"/>
              </a:spcBef>
              <a:spcAft>
                <a:spcPts val="0"/>
              </a:spcAft>
              <a:buClrTx/>
              <a:buSzPct val="100000"/>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 the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Router</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go to the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Config</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tab.</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29000"/>
              </a:lnSpc>
              <a:spcBef>
                <a:spcPts val="0"/>
              </a:spcBef>
              <a:spcAft>
                <a:spcPts val="0"/>
              </a:spcAft>
              <a:buClrTx/>
              <a:buSzPct val="100000"/>
              <a:buFont typeface="+mj-lt"/>
              <a:buAutoNum type="arabicPeriod" startAt="2"/>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On the left menu, click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FastEthernet0/0</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(pointing to Town A).</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29000"/>
              </a:lnSpc>
              <a:spcBef>
                <a:spcPts val="0"/>
              </a:spcBef>
              <a:spcAft>
                <a:spcPts val="0"/>
              </a:spcAft>
              <a:buClrTx/>
              <a:buSzPct val="100000"/>
              <a:buFont typeface="+mj-lt"/>
              <a:buAutoNum type="arabicPeriod" startAt="3"/>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Check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Port Status: On</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Set IPv4 Address to: </a:t>
            </a:r>
            <a:r>
              <a:rPr kumimoji="0" lang="en-US" sz="100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192.168.1.254</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(Click Subnet Mask to auto-fill).</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29000"/>
              </a:lnSpc>
              <a:spcBef>
                <a:spcPts val="0"/>
              </a:spcBef>
              <a:spcAft>
                <a:spcPts val="0"/>
              </a:spcAft>
              <a:buClrTx/>
              <a:buSzPct val="100000"/>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On the left menu, click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FastEthernet0/1</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(pointing to Town B).</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29000"/>
              </a:lnSpc>
              <a:spcBef>
                <a:spcPts val="0"/>
              </a:spcBef>
              <a:spcAft>
                <a:spcPts val="0"/>
              </a:spcAft>
              <a:buClrTx/>
              <a:buSzPct val="100000"/>
              <a:buFont typeface="+mj-lt"/>
              <a:buAutoNum type="arabicPeriod" startAt="5"/>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Check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Port Status: On</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Set IPv4 Address to: </a:t>
            </a:r>
            <a:r>
              <a:rPr kumimoji="0" lang="en-US" sz="100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192.168.2.254</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(Click Subnet Mask to auto-fill). Close the window.</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0" name="Text 3"/>
          <p:cNvSpPr/>
          <p:nvPr/>
        </p:nvSpPr>
        <p:spPr>
          <a:xfrm>
            <a:off x="420568" y="7429549"/>
            <a:ext cx="5804247" cy="325241"/>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4: Configure the Computers and Laptops</a:t>
            </a:r>
            <a:endPar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1" name="Text 4"/>
          <p:cNvSpPr/>
          <p:nvPr/>
        </p:nvSpPr>
        <p:spPr>
          <a:xfrm>
            <a:off x="420568" y="7937689"/>
            <a:ext cx="6651474" cy="403213"/>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Laptops work exactly like PCs in Packet Tracer! Because Town A has a Bridge, </a:t>
            </a:r>
            <a:r>
              <a:rPr kumimoji="0" lang="en-US" sz="100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both</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switches in Town A share the exact same IP neighborhood.</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2" name="Shape 5"/>
          <p:cNvSpPr/>
          <p:nvPr/>
        </p:nvSpPr>
        <p:spPr>
          <a:xfrm>
            <a:off x="420568" y="8478076"/>
            <a:ext cx="6651474" cy="1825783"/>
          </a:xfrm>
          <a:prstGeom prst="roundRect">
            <a:avLst>
              <a:gd name="adj" fmla="val 2992"/>
            </a:avLst>
          </a:prstGeom>
          <a:noFill/>
          <a:ln w="7877">
            <a:solidFill>
              <a:srgbClr val="000000">
                <a:alpha val="8000"/>
              </a:srgbClr>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Text 6"/>
          <p:cNvSpPr/>
          <p:nvPr/>
        </p:nvSpPr>
        <p:spPr>
          <a:xfrm>
            <a:off x="558603" y="8563002"/>
            <a:ext cx="1441215"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Device</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4" name="Text 7"/>
          <p:cNvSpPr/>
          <p:nvPr/>
        </p:nvSpPr>
        <p:spPr>
          <a:xfrm>
            <a:off x="1889661" y="8563002"/>
            <a:ext cx="1437277"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IPv4 Address</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5" name="Text 8"/>
          <p:cNvSpPr/>
          <p:nvPr/>
        </p:nvSpPr>
        <p:spPr>
          <a:xfrm>
            <a:off x="3216781" y="8563002"/>
            <a:ext cx="1437277"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Subnet</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6" name="Text 9"/>
          <p:cNvSpPr/>
          <p:nvPr/>
        </p:nvSpPr>
        <p:spPr>
          <a:xfrm>
            <a:off x="4543900" y="8563002"/>
            <a:ext cx="1437277"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Default Gateway</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7" name="Text 10"/>
          <p:cNvSpPr/>
          <p:nvPr/>
        </p:nvSpPr>
        <p:spPr>
          <a:xfrm>
            <a:off x="5871019" y="8563002"/>
            <a:ext cx="1441215"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Network</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8" name="Text 11"/>
          <p:cNvSpPr/>
          <p:nvPr/>
        </p:nvSpPr>
        <p:spPr>
          <a:xfrm>
            <a:off x="558603" y="8926583"/>
            <a:ext cx="1441215"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Town A – PC</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9" name="Text 12"/>
          <p:cNvSpPr/>
          <p:nvPr/>
        </p:nvSpPr>
        <p:spPr>
          <a:xfrm>
            <a:off x="1889661" y="8926583"/>
            <a:ext cx="1437277"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192.168.1.1</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0" name="Text 13"/>
          <p:cNvSpPr/>
          <p:nvPr/>
        </p:nvSpPr>
        <p:spPr>
          <a:xfrm>
            <a:off x="3216781" y="8926583"/>
            <a:ext cx="1437277"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Auto-fill</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1" name="Text 14"/>
          <p:cNvSpPr/>
          <p:nvPr/>
        </p:nvSpPr>
        <p:spPr>
          <a:xfrm>
            <a:off x="4543900" y="8926583"/>
            <a:ext cx="1437277"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192.168.1.254</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2" name="Text 15"/>
          <p:cNvSpPr/>
          <p:nvPr/>
        </p:nvSpPr>
        <p:spPr>
          <a:xfrm>
            <a:off x="5871019" y="8926583"/>
            <a:ext cx="1441215"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Town A (Bridge)</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3" name="Text 16"/>
          <p:cNvSpPr/>
          <p:nvPr/>
        </p:nvSpPr>
        <p:spPr>
          <a:xfrm>
            <a:off x="558603" y="9290164"/>
            <a:ext cx="1441215"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Town A – Laptop</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4" name="Text 17"/>
          <p:cNvSpPr/>
          <p:nvPr/>
        </p:nvSpPr>
        <p:spPr>
          <a:xfrm>
            <a:off x="1889661" y="9290164"/>
            <a:ext cx="1437277"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192.168.1.2</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5" name="Text 18"/>
          <p:cNvSpPr/>
          <p:nvPr/>
        </p:nvSpPr>
        <p:spPr>
          <a:xfrm>
            <a:off x="3216781" y="9290164"/>
            <a:ext cx="1437277"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Auto-fill</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6" name="Text 19"/>
          <p:cNvSpPr/>
          <p:nvPr/>
        </p:nvSpPr>
        <p:spPr>
          <a:xfrm>
            <a:off x="4543900" y="9290164"/>
            <a:ext cx="1437277"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192.168.1.254</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7" name="Text 20"/>
          <p:cNvSpPr/>
          <p:nvPr/>
        </p:nvSpPr>
        <p:spPr>
          <a:xfrm>
            <a:off x="5871019" y="9290164"/>
            <a:ext cx="1441215"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Town A (Bridge)</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8" name="Text 21"/>
          <p:cNvSpPr/>
          <p:nvPr/>
        </p:nvSpPr>
        <p:spPr>
          <a:xfrm>
            <a:off x="558603" y="9653745"/>
            <a:ext cx="1441215"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Town B – PC</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9" name="Text 22"/>
          <p:cNvSpPr/>
          <p:nvPr/>
        </p:nvSpPr>
        <p:spPr>
          <a:xfrm>
            <a:off x="1889661" y="9653745"/>
            <a:ext cx="1437277"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192.168.2.1</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0" name="Text 23"/>
          <p:cNvSpPr/>
          <p:nvPr/>
        </p:nvSpPr>
        <p:spPr>
          <a:xfrm>
            <a:off x="3216781" y="9653745"/>
            <a:ext cx="1437277"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Auto-fill</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1" name="Text 24"/>
          <p:cNvSpPr/>
          <p:nvPr/>
        </p:nvSpPr>
        <p:spPr>
          <a:xfrm>
            <a:off x="4543900" y="9653745"/>
            <a:ext cx="1437277"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192.168.2.254</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2" name="Text 25"/>
          <p:cNvSpPr/>
          <p:nvPr/>
        </p:nvSpPr>
        <p:spPr>
          <a:xfrm>
            <a:off x="5871019" y="9653745"/>
            <a:ext cx="1441215"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Town B</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3" name="Text 26"/>
          <p:cNvSpPr/>
          <p:nvPr/>
        </p:nvSpPr>
        <p:spPr>
          <a:xfrm>
            <a:off x="558603" y="10017327"/>
            <a:ext cx="1441215"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Town B – Laptop</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4" name="Text 27"/>
          <p:cNvSpPr/>
          <p:nvPr/>
        </p:nvSpPr>
        <p:spPr>
          <a:xfrm>
            <a:off x="1889661" y="10017327"/>
            <a:ext cx="1437277"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192.168.2.2</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5" name="Text 28"/>
          <p:cNvSpPr/>
          <p:nvPr/>
        </p:nvSpPr>
        <p:spPr>
          <a:xfrm>
            <a:off x="3216781" y="10017327"/>
            <a:ext cx="1437277"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Auto-fill</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6" name="Text 29"/>
          <p:cNvSpPr/>
          <p:nvPr/>
        </p:nvSpPr>
        <p:spPr>
          <a:xfrm>
            <a:off x="4543900" y="10017327"/>
            <a:ext cx="1437277"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192.168.2.254</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7" name="Text 30"/>
          <p:cNvSpPr/>
          <p:nvPr/>
        </p:nvSpPr>
        <p:spPr>
          <a:xfrm>
            <a:off x="5871019" y="10017327"/>
            <a:ext cx="1441215"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Town B</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hape 31"/>
          <p:cNvSpPr/>
          <p:nvPr/>
        </p:nvSpPr>
        <p:spPr>
          <a:xfrm>
            <a:off x="388259" y="608634"/>
            <a:ext cx="6651474" cy="755963"/>
          </a:xfrm>
          <a:prstGeom prst="roundRect">
            <a:avLst>
              <a:gd name="adj" fmla="val 7227"/>
            </a:avLst>
          </a:prstGeom>
          <a:solidFill>
            <a:srgbClr val="BFE1F2"/>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4" name="Image 0" descr="preencoded.png"/>
          <p:cNvPicPr>
            <a:picLocks noChangeAspect="1"/>
          </p:cNvPicPr>
          <p:nvPr/>
        </p:nvPicPr>
        <p:blipFill>
          <a:blip r:embed="rId3"/>
          <a:stretch>
            <a:fillRect/>
          </a:stretch>
        </p:blipFill>
        <p:spPr>
          <a:xfrm>
            <a:off x="518294" y="795225"/>
            <a:ext cx="162590" cy="130035"/>
          </a:xfrm>
          <a:prstGeom prst="rect">
            <a:avLst/>
          </a:prstGeom>
        </p:spPr>
      </p:pic>
      <p:sp>
        <p:nvSpPr>
          <p:cNvPr id="35" name="Text 32"/>
          <p:cNvSpPr/>
          <p:nvPr/>
        </p:nvSpPr>
        <p:spPr>
          <a:xfrm>
            <a:off x="810919" y="763039"/>
            <a:ext cx="6098780" cy="426845"/>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Notice:</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Town A devices use </a:t>
            </a:r>
            <a:r>
              <a:rPr kumimoji="0" lang="en-US" sz="100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.1.x</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addresses because the Bridge keeps them in the same town. Town B devices use </a:t>
            </a:r>
            <a:r>
              <a:rPr kumimoji="0" lang="en-US" sz="100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.2.x</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because they are in a different network!</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6" name="Text 33"/>
          <p:cNvSpPr/>
          <p:nvPr/>
        </p:nvSpPr>
        <p:spPr>
          <a:xfrm>
            <a:off x="388259" y="1547496"/>
            <a:ext cx="4132378" cy="325241"/>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5: Test the Entire Network!</a:t>
            </a:r>
            <a:endPar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7" name="Text 34"/>
          <p:cNvSpPr/>
          <p:nvPr/>
        </p:nvSpPr>
        <p:spPr>
          <a:xfrm>
            <a:off x="388259" y="2055635"/>
            <a:ext cx="7029579" cy="201607"/>
          </a:xfrm>
          <a:prstGeom prst="rect">
            <a:avLst/>
          </a:prstGeom>
          <a:noFill/>
          <a:ln/>
        </p:spPr>
        <p:txBody>
          <a:bodyPr wrap="none" lIns="0" tIns="0" rIns="0" bIns="0" rtlCol="0" anchor="t"/>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Let's make sure the Bridge and the Router are doing their jobs.</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8" name="Shape 35"/>
          <p:cNvSpPr/>
          <p:nvPr/>
        </p:nvSpPr>
        <p:spPr>
          <a:xfrm>
            <a:off x="388259" y="2394416"/>
            <a:ext cx="3264781" cy="1854584"/>
          </a:xfrm>
          <a:prstGeom prst="roundRect">
            <a:avLst>
              <a:gd name="adj" fmla="val 4078"/>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6"/>
          <p:cNvSpPr/>
          <p:nvPr/>
        </p:nvSpPr>
        <p:spPr>
          <a:xfrm>
            <a:off x="372505" y="2394416"/>
            <a:ext cx="63017" cy="1854584"/>
          </a:xfrm>
          <a:prstGeom prst="roundRect">
            <a:avLst>
              <a:gd name="adj" fmla="val 86698"/>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37"/>
          <p:cNvSpPr/>
          <p:nvPr/>
        </p:nvSpPr>
        <p:spPr>
          <a:xfrm>
            <a:off x="581311" y="2540205"/>
            <a:ext cx="2004064" cy="207145"/>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 Test the Bridge</a:t>
            </a:r>
            <a:endParaRPr kumimoji="0" lang="en-US" sz="12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1" name="Text 38"/>
          <p:cNvSpPr/>
          <p:nvPr/>
        </p:nvSpPr>
        <p:spPr>
          <a:xfrm>
            <a:off x="581311" y="2820460"/>
            <a:ext cx="2925940" cy="604820"/>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Grab the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closed yellow envelope</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(Add Simple PDU). Click Town A's PC and send a message to Town A's Laptop.</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2" name="Text 39"/>
          <p:cNvSpPr/>
          <p:nvPr/>
        </p:nvSpPr>
        <p:spPr>
          <a:xfrm>
            <a:off x="581311" y="3498390"/>
            <a:ext cx="2925940" cy="604820"/>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It should say </a:t>
            </a:r>
            <a:r>
              <a:rPr kumimoji="0" lang="en-US" sz="1000" b="1" i="0" u="none" strike="noStrike" kern="1200" cap="none" spc="0" normalizeH="0" baseline="0" noProof="0" dirty="0">
                <a:ln>
                  <a:noFill/>
                </a:ln>
                <a:solidFill>
                  <a:srgbClr val="2A75D3"/>
                </a:solidFill>
                <a:effectLst/>
                <a:uLnTx/>
                <a:uFillTx/>
                <a:latin typeface="Ovo" pitchFamily="34" charset="0"/>
                <a:ea typeface="Ovo" pitchFamily="34" charset="-122"/>
                <a:cs typeface="Ovo" pitchFamily="34" charset="-120"/>
              </a:rPr>
              <a:t>Successful</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immediately. The Bridge successfully passed the message between the two switches!</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3" name="Shape 40"/>
          <p:cNvSpPr/>
          <p:nvPr/>
        </p:nvSpPr>
        <p:spPr>
          <a:xfrm>
            <a:off x="3774952" y="2394416"/>
            <a:ext cx="3264781" cy="1854584"/>
          </a:xfrm>
          <a:prstGeom prst="roundRect">
            <a:avLst>
              <a:gd name="adj" fmla="val 4078"/>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1"/>
          <p:cNvSpPr/>
          <p:nvPr/>
        </p:nvSpPr>
        <p:spPr>
          <a:xfrm>
            <a:off x="3759198" y="2394416"/>
            <a:ext cx="63017" cy="1854584"/>
          </a:xfrm>
          <a:prstGeom prst="roundRect">
            <a:avLst>
              <a:gd name="adj" fmla="val 86698"/>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Text 42"/>
          <p:cNvSpPr/>
          <p:nvPr/>
        </p:nvSpPr>
        <p:spPr>
          <a:xfrm>
            <a:off x="3968004" y="2540205"/>
            <a:ext cx="2004064" cy="207145"/>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 Test the Router</a:t>
            </a:r>
            <a:endParaRPr kumimoji="0" lang="en-US" sz="12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6" name="Text 43"/>
          <p:cNvSpPr/>
          <p:nvPr/>
        </p:nvSpPr>
        <p:spPr>
          <a:xfrm>
            <a:off x="3968004" y="2820460"/>
            <a:ext cx="2925940" cy="403213"/>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Grab a new envelope. Click Town A's Laptop and send a message to Town B's Laptop.</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7" name="Text 44"/>
          <p:cNvSpPr/>
          <p:nvPr/>
        </p:nvSpPr>
        <p:spPr>
          <a:xfrm>
            <a:off x="3968004" y="3296784"/>
            <a:ext cx="2925940" cy="806427"/>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Remember:</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The first attempt across a router always says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Failed</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while it draws a map. Double-click the red "Failed" text (or send a new envelope). The second try will say </a:t>
            </a:r>
            <a:r>
              <a:rPr kumimoji="0" lang="en-US" sz="1000" b="1" i="0" u="none" strike="noStrike" kern="1200" cap="none" spc="0" normalizeH="0" baseline="0" noProof="0" dirty="0">
                <a:ln>
                  <a:noFill/>
                </a:ln>
                <a:solidFill>
                  <a:srgbClr val="2A75D3"/>
                </a:solidFill>
                <a:effectLst/>
                <a:uLnTx/>
                <a:uFillTx/>
                <a:latin typeface="Ovo" pitchFamily="34" charset="0"/>
                <a:ea typeface="Ovo" pitchFamily="34" charset="-122"/>
                <a:cs typeface="Ovo" pitchFamily="34" charset="-120"/>
              </a:rPr>
              <a:t>Successful</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8" name="Text 45"/>
          <p:cNvSpPr/>
          <p:nvPr/>
        </p:nvSpPr>
        <p:spPr>
          <a:xfrm>
            <a:off x="583342" y="4523347"/>
            <a:ext cx="6456391" cy="411090"/>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29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t>
            </a:r>
            <a:r>
              <a:rPr kumimoji="0" lang="en-US" sz="100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Amazing work!</a:t>
            </a:r>
            <a:r>
              <a:rPr kumimoji="0" lang="en-US" sz="100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You just built a highly advanced network using Laptops, PCs, Switches, a Bridge, and a Router, all communicating perfectly.</a:t>
            </a:r>
            <a:endParaRPr kumimoji="0" lang="en-US" sz="1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9" name="Shape 46"/>
          <p:cNvSpPr/>
          <p:nvPr/>
        </p:nvSpPr>
        <p:spPr>
          <a:xfrm>
            <a:off x="388259" y="4386173"/>
            <a:ext cx="15754" cy="685438"/>
          </a:xfrm>
          <a:prstGeom prst="rect">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7562026" cy="10689336"/>
          </a:xfrm>
          <a:prstGeom prst="rect">
            <a:avLst/>
          </a:prstGeom>
        </p:spPr>
      </p:pic>
      <p:sp>
        <p:nvSpPr>
          <p:cNvPr id="6" name="Text 2"/>
          <p:cNvSpPr/>
          <p:nvPr/>
        </p:nvSpPr>
        <p:spPr>
          <a:xfrm>
            <a:off x="485616" y="715373"/>
            <a:ext cx="6590795" cy="867229"/>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Lab 9: Exploring Everyday Network Devices</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Text 3"/>
          <p:cNvSpPr/>
          <p:nvPr/>
        </p:nvSpPr>
        <p:spPr>
          <a:xfrm>
            <a:off x="485616" y="1790731"/>
            <a:ext cx="6590795"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In your previous labs, you used Switches, Bridges, and Routers to move data around. Now, we are going to look at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Network Devices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you use every single day in the real world: </a:t>
            </a:r>
            <a:r>
              <a:rPr kumimoji="0" lang="en-US" sz="1050" b="1" i="0" u="none" strike="noStrike" kern="1200" cap="none" spc="0" normalizeH="0" baseline="0" noProof="0" dirty="0">
                <a:ln>
                  <a:noFill/>
                </a:ln>
                <a:solidFill>
                  <a:srgbClr val="2A75D3"/>
                </a:solidFill>
                <a:effectLst/>
                <a:uLnTx/>
                <a:uFillTx/>
                <a:latin typeface="Ovo" pitchFamily="34" charset="0"/>
                <a:ea typeface="Ovo" pitchFamily="34" charset="-122"/>
                <a:cs typeface="Ovo" pitchFamily="34" charset="-120"/>
              </a:rPr>
              <a:t>WiFi Routers, Smartphones, and Servers.</a:t>
            </a:r>
            <a:endParaRPr kumimoji="0" lang="en-US" sz="1050" b="0" i="0" u="none" strike="noStrike" kern="1200" cap="none" spc="0" normalizeH="0" baseline="0" noProof="0" dirty="0">
              <a:ln>
                <a:noFill/>
              </a:ln>
              <a:solidFill>
                <a:srgbClr val="2A75D3"/>
              </a:solidFill>
              <a:effectLst/>
              <a:uLnTx/>
              <a:uFillTx/>
              <a:latin typeface="Calibri" panose="020F0502020204030204"/>
              <a:ea typeface="+mn-ea"/>
              <a:cs typeface="+mn-cs"/>
            </a:endParaRPr>
          </a:p>
        </p:txBody>
      </p:sp>
      <p:sp>
        <p:nvSpPr>
          <p:cNvPr id="8" name="Text 0"/>
          <p:cNvSpPr/>
          <p:nvPr/>
        </p:nvSpPr>
        <p:spPr>
          <a:xfrm>
            <a:off x="485616" y="2442936"/>
            <a:ext cx="4116378" cy="433614"/>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Your Quick Cheat Sheet</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Text 1"/>
          <p:cNvSpPr/>
          <p:nvPr/>
        </p:nvSpPr>
        <p:spPr>
          <a:xfrm>
            <a:off x="485616" y="3154036"/>
            <a:ext cx="6968900"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Before we begin, get familiar with the three key devices you'll be working with in this lab.</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Shape 2"/>
          <p:cNvSpPr/>
          <p:nvPr/>
        </p:nvSpPr>
        <p:spPr>
          <a:xfrm>
            <a:off x="485616" y="3532141"/>
            <a:ext cx="2104437" cy="3141149"/>
          </a:xfrm>
          <a:prstGeom prst="roundRect">
            <a:avLst>
              <a:gd name="adj" fmla="val 2769"/>
            </a:avLst>
          </a:prstGeom>
          <a:solidFill>
            <a:srgbClr val="D4EBF7"/>
          </a:solidFill>
          <a:ln w="7877">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3"/>
          <p:cNvSpPr/>
          <p:nvPr/>
        </p:nvSpPr>
        <p:spPr>
          <a:xfrm>
            <a:off x="632205" y="3678730"/>
            <a:ext cx="416259" cy="416260"/>
          </a:xfrm>
          <a:prstGeom prst="roundRect">
            <a:avLst>
              <a:gd name="adj" fmla="val 11353106"/>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670" y="3793196"/>
            <a:ext cx="187268" cy="187268"/>
          </a:xfrm>
          <a:prstGeom prst="rect">
            <a:avLst/>
          </a:prstGeom>
        </p:spPr>
      </p:pic>
      <p:sp>
        <p:nvSpPr>
          <p:cNvPr id="13" name="Text 4"/>
          <p:cNvSpPr/>
          <p:nvPr/>
        </p:nvSpPr>
        <p:spPr>
          <a:xfrm>
            <a:off x="632205" y="4233703"/>
            <a:ext cx="1811258" cy="433491"/>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The Server (The Digital Library)</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Text 5"/>
          <p:cNvSpPr/>
          <p:nvPr/>
        </p:nvSpPr>
        <p:spPr>
          <a:xfrm>
            <a:off x="632205" y="4750396"/>
            <a:ext cx="1811258" cy="888152"/>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 super-computer that holds websites, videos, or files, and "serves" them to anyone who asks.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Shape 6"/>
          <p:cNvSpPr/>
          <p:nvPr/>
        </p:nvSpPr>
        <p:spPr>
          <a:xfrm>
            <a:off x="2728764" y="3532141"/>
            <a:ext cx="2104437" cy="3141149"/>
          </a:xfrm>
          <a:prstGeom prst="roundRect">
            <a:avLst>
              <a:gd name="adj" fmla="val 2769"/>
            </a:avLst>
          </a:prstGeom>
          <a:solidFill>
            <a:srgbClr val="D4EBF7"/>
          </a:solidFill>
          <a:ln w="7877">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7"/>
          <p:cNvSpPr/>
          <p:nvPr/>
        </p:nvSpPr>
        <p:spPr>
          <a:xfrm>
            <a:off x="2875353" y="3678730"/>
            <a:ext cx="416259" cy="416260"/>
          </a:xfrm>
          <a:prstGeom prst="roundRect">
            <a:avLst>
              <a:gd name="adj" fmla="val 11353106"/>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7" name="Image 1"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89819" y="3793196"/>
            <a:ext cx="187268" cy="187268"/>
          </a:xfrm>
          <a:prstGeom prst="rect">
            <a:avLst/>
          </a:prstGeom>
        </p:spPr>
      </p:pic>
      <p:sp>
        <p:nvSpPr>
          <p:cNvPr id="18" name="Text 8"/>
          <p:cNvSpPr/>
          <p:nvPr/>
        </p:nvSpPr>
        <p:spPr>
          <a:xfrm>
            <a:off x="2875353" y="4233703"/>
            <a:ext cx="1811258" cy="433491"/>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The Home Router (The WiFi Box)</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Text 9"/>
          <p:cNvSpPr/>
          <p:nvPr/>
        </p:nvSpPr>
        <p:spPr>
          <a:xfrm>
            <a:off x="2875353" y="4750396"/>
            <a:ext cx="1811258" cy="1776305"/>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This is the box you have at home. It is actually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three devices in one!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It is a Switch (has ports on the back), a Router (connects to the internet), and an Access Point (gives out invisible WiFi signals).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0" name="Shape 10"/>
          <p:cNvSpPr/>
          <p:nvPr/>
        </p:nvSpPr>
        <p:spPr>
          <a:xfrm>
            <a:off x="4971913" y="3532141"/>
            <a:ext cx="2104498" cy="3141149"/>
          </a:xfrm>
          <a:prstGeom prst="roundRect">
            <a:avLst>
              <a:gd name="adj" fmla="val 2769"/>
            </a:avLst>
          </a:prstGeom>
          <a:solidFill>
            <a:srgbClr val="D4EBF7"/>
          </a:solidFill>
          <a:ln w="7877">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1"/>
          <p:cNvSpPr/>
          <p:nvPr/>
        </p:nvSpPr>
        <p:spPr>
          <a:xfrm>
            <a:off x="5118502" y="3678730"/>
            <a:ext cx="416259" cy="416260"/>
          </a:xfrm>
          <a:prstGeom prst="roundRect">
            <a:avLst>
              <a:gd name="adj" fmla="val 11353106"/>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2"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32967" y="3793196"/>
            <a:ext cx="187268" cy="187268"/>
          </a:xfrm>
          <a:prstGeom prst="rect">
            <a:avLst/>
          </a:prstGeom>
        </p:spPr>
      </p:pic>
      <p:sp>
        <p:nvSpPr>
          <p:cNvPr id="23" name="Text 12"/>
          <p:cNvSpPr/>
          <p:nvPr/>
        </p:nvSpPr>
        <p:spPr>
          <a:xfrm>
            <a:off x="5118502" y="4233703"/>
            <a:ext cx="1811319" cy="433491"/>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Smart Device (Phones/Tablets)</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4" name="Text 13"/>
          <p:cNvSpPr/>
          <p:nvPr/>
        </p:nvSpPr>
        <p:spPr>
          <a:xfrm>
            <a:off x="5118502" y="4750396"/>
            <a:ext cx="1811319"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Devices that have no cables and connect through the air.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5" name="Text 14"/>
          <p:cNvSpPr/>
          <p:nvPr/>
        </p:nvSpPr>
        <p:spPr>
          <a:xfrm>
            <a:off x="485616" y="6881420"/>
            <a:ext cx="3153147" cy="346842"/>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1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Lab Outcomes</a:t>
            </a:r>
            <a:endParaRPr kumimoji="0" lang="en-US" sz="2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Text 15"/>
          <p:cNvSpPr/>
          <p:nvPr/>
        </p:nvSpPr>
        <p:spPr>
          <a:xfrm>
            <a:off x="485616" y="7436392"/>
            <a:ext cx="6968900"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By the end of this lab, you will be able to:</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27" name="Image 3"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7617" y="7821359"/>
            <a:ext cx="208130" cy="208130"/>
          </a:xfrm>
          <a:prstGeom prst="rect">
            <a:avLst/>
          </a:prstGeom>
        </p:spPr>
      </p:pic>
      <p:sp>
        <p:nvSpPr>
          <p:cNvPr id="28" name="Text 16"/>
          <p:cNvSpPr/>
          <p:nvPr/>
        </p:nvSpPr>
        <p:spPr>
          <a:xfrm>
            <a:off x="936522" y="7814497"/>
            <a:ext cx="2757750"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Identify and place a Server, a Home WiFi Router, and a Smartphone in Packet Tracer.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2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919695" y="7821359"/>
            <a:ext cx="208130" cy="208130"/>
          </a:xfrm>
          <a:prstGeom prst="rect">
            <a:avLst/>
          </a:prstGeom>
        </p:spPr>
      </p:pic>
      <p:sp>
        <p:nvSpPr>
          <p:cNvPr id="30" name="Text 17"/>
          <p:cNvSpPr/>
          <p:nvPr/>
        </p:nvSpPr>
        <p:spPr>
          <a:xfrm>
            <a:off x="4318600" y="7814497"/>
            <a:ext cx="2757811"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Understand the magic of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DHCP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(how devices get IP addresses automatically without you typing them).</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31"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7617" y="8610938"/>
            <a:ext cx="208130" cy="208130"/>
          </a:xfrm>
          <a:prstGeom prst="rect">
            <a:avLst/>
          </a:prstGeom>
        </p:spPr>
      </p:pic>
      <p:sp>
        <p:nvSpPr>
          <p:cNvPr id="32" name="Text 18"/>
          <p:cNvSpPr/>
          <p:nvPr/>
        </p:nvSpPr>
        <p:spPr>
          <a:xfrm>
            <a:off x="936522" y="8604076"/>
            <a:ext cx="2757750"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Connect a wireless device to a network without any cables.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33"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919695" y="8610938"/>
            <a:ext cx="208130" cy="208130"/>
          </a:xfrm>
          <a:prstGeom prst="rect">
            <a:avLst/>
          </a:prstGeom>
        </p:spPr>
      </p:pic>
      <p:sp>
        <p:nvSpPr>
          <p:cNvPr id="34" name="Text 19"/>
          <p:cNvSpPr/>
          <p:nvPr/>
        </p:nvSpPr>
        <p:spPr>
          <a:xfrm>
            <a:off x="4318600" y="8604076"/>
            <a:ext cx="2757811"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Use the graphical Web Browser on a virtual computer to view a website hosted on your Server.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5616" y="628294"/>
            <a:ext cx="5256107" cy="433614"/>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Lab Work: Step-by-Step Guide</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Text 1"/>
          <p:cNvSpPr/>
          <p:nvPr/>
        </p:nvSpPr>
        <p:spPr>
          <a:xfrm>
            <a:off x="485616" y="1339394"/>
            <a:ext cx="6968900"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We are going to build a network that looks exactly like a normal house or a small coffee shop.</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Shape 2"/>
          <p:cNvSpPr/>
          <p:nvPr/>
        </p:nvSpPr>
        <p:spPr>
          <a:xfrm>
            <a:off x="385735" y="1717499"/>
            <a:ext cx="3325891" cy="4235708"/>
          </a:xfrm>
          <a:prstGeom prst="roundRect">
            <a:avLst>
              <a:gd name="adj" fmla="val 3004"/>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524448" y="1856211"/>
            <a:ext cx="3048467" cy="433491"/>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Outfit Bold" pitchFamily="34" charset="0"/>
                <a:ea typeface="Outfit Bold" pitchFamily="34" charset="-122"/>
                <a:cs typeface="Outfit Bold" pitchFamily="34" charset="-120"/>
              </a:rPr>
              <a:t>Step 1: Bring the New Devices onto the Screen</a:t>
            </a:r>
            <a:endParaRPr kumimoji="0" lang="en-US" sz="13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6" name="Text 4"/>
          <p:cNvSpPr/>
          <p:nvPr/>
        </p:nvSpPr>
        <p:spPr>
          <a:xfrm>
            <a:off x="524448" y="2428415"/>
            <a:ext cx="3048467" cy="3476237"/>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a:tabLst/>
              <a:defRPr/>
            </a:pP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The WiFi Box:</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Go to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Network Devices</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Wireless Devices</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Look for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Home Router</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(or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WRT300N</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and place it in the centre of your screen.</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2"/>
              <a:tabLst/>
              <a:defRPr/>
            </a:pP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The Server:</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Go to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End Devices</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Click the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Server</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icon (tall computer tower) and place it on the left.</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3"/>
              <a:tabLst/>
              <a:defRPr/>
            </a:pP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The Wired PC:</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Stay in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End Devices</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and place a normal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PC</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near the router.</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4"/>
              <a:tabLst/>
              <a:defRPr/>
            </a:pP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The Wireless Phone:</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Place a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Smart Device</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(Smartphone) on the right. </a:t>
            </a:r>
            <a:r>
              <a:rPr kumimoji="0" lang="en-US" sz="1050" b="0" i="1"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Look closely!</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Within a few seconds, magical wavy lines should appear between the Smartphone and the Home Router — it connected to the WiFi all by itself!</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 name="Text 5"/>
          <p:cNvSpPr/>
          <p:nvPr/>
        </p:nvSpPr>
        <p:spPr>
          <a:xfrm>
            <a:off x="3954157" y="1856211"/>
            <a:ext cx="2956710"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2: Plug in the Wired Devices</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 name="Text 6"/>
          <p:cNvSpPr/>
          <p:nvPr/>
        </p:nvSpPr>
        <p:spPr>
          <a:xfrm>
            <a:off x="3954157" y="2211669"/>
            <a:ext cx="3126131"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Let's plug our Server and our PC into the back of the Home Router.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Text 7"/>
          <p:cNvSpPr/>
          <p:nvPr/>
        </p:nvSpPr>
        <p:spPr>
          <a:xfrm>
            <a:off x="3954157" y="2780611"/>
            <a:ext cx="3126131" cy="2144009"/>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Connections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icon (the orange lightning bolt).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Magic Auto-Connect Cable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(the yellow lightning bolt with sparkles).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Server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then 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Home Router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4"/>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then 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Home Router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t>
            </a: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Wait for the little orange dots on the cables to turn green!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8046" y="535236"/>
            <a:ext cx="4071699" cy="426845"/>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6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Configuration &amp; Testing</a:t>
            </a:r>
            <a:endParaRPr kumimoji="0" lang="en-US" sz="26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Shape 1"/>
          <p:cNvSpPr/>
          <p:nvPr/>
        </p:nvSpPr>
        <p:spPr>
          <a:xfrm>
            <a:off x="478046" y="1230951"/>
            <a:ext cx="2112375" cy="8156945"/>
          </a:xfrm>
          <a:prstGeom prst="roundRect">
            <a:avLst>
              <a:gd name="adj" fmla="val 2716"/>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93800" y="1246705"/>
            <a:ext cx="2080867" cy="409737"/>
          </a:xfrm>
          <a:prstGeom prst="roundRect">
            <a:avLst>
              <a:gd name="adj" fmla="val 9387"/>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1242747" y="1319569"/>
            <a:ext cx="393920" cy="256070"/>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1</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 name="Text 4"/>
          <p:cNvSpPr/>
          <p:nvPr/>
        </p:nvSpPr>
        <p:spPr>
          <a:xfrm>
            <a:off x="630359" y="1790846"/>
            <a:ext cx="1807750" cy="640083"/>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3: Setup the Server (The Website Host)</a:t>
            </a:r>
            <a:endParaRPr kumimoji="0" lang="en-US" sz="13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Text 5"/>
          <p:cNvSpPr/>
          <p:nvPr/>
        </p:nvSpPr>
        <p:spPr>
          <a:xfrm>
            <a:off x="630359" y="2511547"/>
            <a:ext cx="1807750" cy="866982"/>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The server needs a permanent IP address so our devices know exactly where to find the website.</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 name="Text 6"/>
          <p:cNvSpPr/>
          <p:nvPr/>
        </p:nvSpPr>
        <p:spPr>
          <a:xfrm>
            <a:off x="630359" y="3459147"/>
            <a:ext cx="1807750" cy="2138778"/>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2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Server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2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Go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Desktop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tab →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 Configuration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2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Type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192.168.0.100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in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IPv4 Address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box.</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2000"/>
              </a:lnSpc>
              <a:spcBef>
                <a:spcPts val="0"/>
              </a:spcBef>
              <a:spcAft>
                <a:spcPts val="0"/>
              </a:spcAft>
              <a:buClrTx/>
              <a:buSzPct val="100000"/>
              <a:buFont typeface="+mj-lt"/>
              <a:buAutoNum type="arabicPeriod" startAt="4"/>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Subnet Mask</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box so it auto-fills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255.255.255.0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2000"/>
              </a:lnSpc>
              <a:spcBef>
                <a:spcPts val="0"/>
              </a:spcBef>
              <a:spcAft>
                <a:spcPts val="0"/>
              </a:spcAft>
              <a:buClrTx/>
              <a:buSzPct val="100000"/>
              <a:buFont typeface="+mj-lt"/>
              <a:buAutoNum type="arabicPeriod" startAt="5"/>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Close the window.</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hape 7"/>
          <p:cNvSpPr/>
          <p:nvPr/>
        </p:nvSpPr>
        <p:spPr>
          <a:xfrm>
            <a:off x="2724826" y="1230951"/>
            <a:ext cx="2112375" cy="8156945"/>
          </a:xfrm>
          <a:prstGeom prst="roundRect">
            <a:avLst>
              <a:gd name="adj" fmla="val 2716"/>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2740580" y="1246705"/>
            <a:ext cx="2080867" cy="409737"/>
          </a:xfrm>
          <a:prstGeom prst="roundRect">
            <a:avLst>
              <a:gd name="adj" fmla="val 9387"/>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3489527" y="1319569"/>
            <a:ext cx="393920" cy="256070"/>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2</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2" name="Text 10"/>
          <p:cNvSpPr/>
          <p:nvPr/>
        </p:nvSpPr>
        <p:spPr>
          <a:xfrm>
            <a:off x="2877138" y="1790846"/>
            <a:ext cx="1807750" cy="640083"/>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4: The Magic of DHCP (Automatic IP Addresses)</a:t>
            </a:r>
            <a:endParaRPr kumimoji="0" lang="en-US" sz="13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3" name="Text 11"/>
          <p:cNvSpPr/>
          <p:nvPr/>
        </p:nvSpPr>
        <p:spPr>
          <a:xfrm>
            <a:off x="2877138" y="2511547"/>
            <a:ext cx="1807750" cy="1517219"/>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In previous labs, you had to type the IP address for every single computer. In the real world, your Home Router hands them out automatically using a feature called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DHCP!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Let's turn it on.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Text 12"/>
          <p:cNvSpPr/>
          <p:nvPr/>
        </p:nvSpPr>
        <p:spPr>
          <a:xfrm>
            <a:off x="2877138" y="4109384"/>
            <a:ext cx="1807750" cy="5126199"/>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2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 your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Desktop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 Configuration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2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Instead of typing numbers, click the little circle button next to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DHCP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(it defaults to Static).</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2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Wait two seconds. You will see the boxes magically fill themselves with numbers (like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192.168.0.101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Next to it, it will say </a:t>
            </a: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"DHCP request successful."</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Close the window.</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2000"/>
              </a:lnSpc>
              <a:spcBef>
                <a:spcPts val="0"/>
              </a:spcBef>
              <a:spcAft>
                <a:spcPts val="0"/>
              </a:spcAft>
              <a:buClrTx/>
              <a:buSzPct val="100000"/>
              <a:buFont typeface="+mj-lt"/>
              <a:buAutoNum type="arabicPeriod" startAt="4"/>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 your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Smartphone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Desktop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IP Configuration</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Notice that DHCP is </a:t>
            </a: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already</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selected, and it already gave itself an IP address (like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192.168.0.102</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Shape 13"/>
          <p:cNvSpPr/>
          <p:nvPr/>
        </p:nvSpPr>
        <p:spPr>
          <a:xfrm>
            <a:off x="4971605" y="1230951"/>
            <a:ext cx="2112375" cy="8156945"/>
          </a:xfrm>
          <a:prstGeom prst="roundRect">
            <a:avLst>
              <a:gd name="adj" fmla="val 2716"/>
            </a:avLst>
          </a:prstGeom>
          <a:solidFill>
            <a:srgbClr val="FFFFFF"/>
          </a:solidFill>
          <a:ln w="15754">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987360" y="1246705"/>
            <a:ext cx="2080867" cy="409737"/>
          </a:xfrm>
          <a:prstGeom prst="roundRect">
            <a:avLst>
              <a:gd name="adj" fmla="val 9387"/>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5736307" y="1319569"/>
            <a:ext cx="393920" cy="256070"/>
          </a:xfrm>
          <a:prstGeom prst="rect">
            <a:avLst/>
          </a:prstGeom>
          <a:noFill/>
          <a:ln/>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3</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8" name="Text 16"/>
          <p:cNvSpPr/>
          <p:nvPr/>
        </p:nvSpPr>
        <p:spPr>
          <a:xfrm>
            <a:off x="5123918" y="1790846"/>
            <a:ext cx="1807750" cy="640083"/>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5: Test the Network — Surf the Web!</a:t>
            </a:r>
            <a:endParaRPr kumimoji="0" lang="en-US" sz="13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Text 17"/>
          <p:cNvSpPr/>
          <p:nvPr/>
        </p:nvSpPr>
        <p:spPr>
          <a:xfrm>
            <a:off x="5123918" y="2511547"/>
            <a:ext cx="1807750" cy="866982"/>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Instead of sending a boring digital envelope, let's actually load a webpage from our Server!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0" name="Text 18"/>
          <p:cNvSpPr/>
          <p:nvPr/>
        </p:nvSpPr>
        <p:spPr>
          <a:xfrm>
            <a:off x="5123918" y="3459147"/>
            <a:ext cx="1807750" cy="4692708"/>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2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on your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Desktop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tab → click the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Web Browser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icon (little blue globe).</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2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A blank web browser will open. In the URL bar at the top, type: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192.168.0.100</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2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Click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Go</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t>
            </a:r>
            <a:r>
              <a:rPr kumimoji="0" lang="en-US" sz="1050" b="0" i="1"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Success!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You should see a blue screen that says "Cisco Packet Tracer" with welcome text. You just accessed a website!</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2000"/>
              </a:lnSpc>
              <a:spcBef>
                <a:spcPts val="0"/>
              </a:spcBef>
              <a:spcAft>
                <a:spcPts val="0"/>
              </a:spcAft>
              <a:buClrTx/>
              <a:buSzPct val="100000"/>
              <a:buFont typeface="+mj-lt"/>
              <a:buAutoNum type="arabicPeriod" startAt="4"/>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Bonus Test:</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Close the PC window. Click on your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Smartphone</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open its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Web Browser</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and type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192.168.0.100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Click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Go</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Your wireless phone can see the website too!</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Shape 19"/>
          <p:cNvSpPr/>
          <p:nvPr/>
        </p:nvSpPr>
        <p:spPr>
          <a:xfrm>
            <a:off x="478046" y="9539101"/>
            <a:ext cx="6605934" cy="795165"/>
          </a:xfrm>
          <a:prstGeom prst="roundRect">
            <a:avLst>
              <a:gd name="adj" fmla="val 7214"/>
            </a:avLst>
          </a:prstGeom>
          <a:solidFill>
            <a:srgbClr val="B6FCB8"/>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2" name="Image 0" descr="preencoded.png"/>
          <p:cNvPicPr>
            <a:picLocks noChangeAspect="1"/>
          </p:cNvPicPr>
          <p:nvPr/>
        </p:nvPicPr>
        <p:blipFill>
          <a:blip r:embed="rId3"/>
          <a:stretch>
            <a:fillRect/>
          </a:stretch>
        </p:blipFill>
        <p:spPr>
          <a:xfrm>
            <a:off x="614604" y="9739907"/>
            <a:ext cx="170713" cy="136558"/>
          </a:xfrm>
          <a:prstGeom prst="rect">
            <a:avLst/>
          </a:prstGeom>
        </p:spPr>
      </p:pic>
      <p:sp>
        <p:nvSpPr>
          <p:cNvPr id="23" name="Text 20"/>
          <p:cNvSpPr/>
          <p:nvPr/>
        </p:nvSpPr>
        <p:spPr>
          <a:xfrm>
            <a:off x="921876" y="9707599"/>
            <a:ext cx="6025547" cy="437430"/>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Congratulations!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You have just set up a realistic, modern network featuring a Server, an automatic WiFi Router, and both wired and wireless devices.</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5616" y="584749"/>
            <a:ext cx="3924926" cy="433614"/>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Lab # 10: Static Routing</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Shape 1"/>
          <p:cNvSpPr/>
          <p:nvPr/>
        </p:nvSpPr>
        <p:spPr>
          <a:xfrm>
            <a:off x="485616" y="1226493"/>
            <a:ext cx="1382198" cy="260809"/>
          </a:xfrm>
          <a:prstGeom prst="roundRect">
            <a:avLst>
              <a:gd name="adj" fmla="val 17876"/>
            </a:avLst>
          </a:prstGeom>
          <a:solidFill>
            <a:srgbClr val="D4EBF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8818" y="1301388"/>
            <a:ext cx="110957" cy="110957"/>
          </a:xfrm>
          <a:prstGeom prst="rect">
            <a:avLst/>
          </a:prstGeom>
        </p:spPr>
      </p:pic>
      <p:sp>
        <p:nvSpPr>
          <p:cNvPr id="5" name="Text 2"/>
          <p:cNvSpPr/>
          <p:nvPr/>
        </p:nvSpPr>
        <p:spPr>
          <a:xfrm>
            <a:off x="735224" y="1268095"/>
            <a:ext cx="1427492" cy="177606"/>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DRAWING THE MAP</a:t>
            </a:r>
            <a:endParaRPr kumimoji="0" lang="en-US" sz="8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 name="Text 3"/>
          <p:cNvSpPr/>
          <p:nvPr/>
        </p:nvSpPr>
        <p:spPr>
          <a:xfrm>
            <a:off x="485616" y="1643368"/>
            <a:ext cx="6590795"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In this lab, you will connect two routers together, understand why routers drop messages when they don't know the destination, use the GUI to configure a static route (manually teaching the router a new path), and successfully send a message across a multi-router network.</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Shape 4"/>
          <p:cNvSpPr/>
          <p:nvPr/>
        </p:nvSpPr>
        <p:spPr>
          <a:xfrm>
            <a:off x="485616" y="2465549"/>
            <a:ext cx="3226011" cy="1045081"/>
          </a:xfrm>
          <a:prstGeom prst="roundRect">
            <a:avLst>
              <a:gd name="adj" fmla="val 5576"/>
            </a:avLst>
          </a:prstGeom>
          <a:solidFill>
            <a:srgbClr val="D4EBF7"/>
          </a:solidFill>
          <a:ln w="7877">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632205" y="2612139"/>
            <a:ext cx="2112498" cy="224623"/>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 Connect Routers</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Text 6"/>
          <p:cNvSpPr/>
          <p:nvPr/>
        </p:nvSpPr>
        <p:spPr>
          <a:xfrm>
            <a:off x="632205" y="2919964"/>
            <a:ext cx="3310937"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Connect two different routers together</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Shape 7"/>
          <p:cNvSpPr/>
          <p:nvPr/>
        </p:nvSpPr>
        <p:spPr>
          <a:xfrm>
            <a:off x="3850339" y="2465549"/>
            <a:ext cx="3226072" cy="1045081"/>
          </a:xfrm>
          <a:prstGeom prst="roundRect">
            <a:avLst>
              <a:gd name="adj" fmla="val 5576"/>
            </a:avLst>
          </a:prstGeom>
          <a:solidFill>
            <a:srgbClr val="D4EBF7"/>
          </a:solidFill>
          <a:ln w="7877">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3996928" y="2612139"/>
            <a:ext cx="2219948" cy="224623"/>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 Understand Routing</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2" name="Text 9"/>
          <p:cNvSpPr/>
          <p:nvPr/>
        </p:nvSpPr>
        <p:spPr>
          <a:xfrm>
            <a:off x="3996928" y="2919964"/>
            <a:ext cx="2932894"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Understand why routers drop messages when they don't know the destination</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3" name="Shape 10"/>
          <p:cNvSpPr/>
          <p:nvPr/>
        </p:nvSpPr>
        <p:spPr>
          <a:xfrm>
            <a:off x="485616" y="3649342"/>
            <a:ext cx="3226011" cy="1045081"/>
          </a:xfrm>
          <a:prstGeom prst="roundRect">
            <a:avLst>
              <a:gd name="adj" fmla="val 5576"/>
            </a:avLst>
          </a:prstGeom>
          <a:solidFill>
            <a:srgbClr val="D4EBF7"/>
          </a:solidFill>
          <a:ln w="7877">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632205" y="3795931"/>
            <a:ext cx="2506172" cy="224623"/>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 Configure Static Routes</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Text 12"/>
          <p:cNvSpPr/>
          <p:nvPr/>
        </p:nvSpPr>
        <p:spPr>
          <a:xfrm>
            <a:off x="632205" y="4103757"/>
            <a:ext cx="2932832"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Use the GUI to configure a "Static Route" — manually teaching the router a new path</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6" name="Shape 13"/>
          <p:cNvSpPr/>
          <p:nvPr/>
        </p:nvSpPr>
        <p:spPr>
          <a:xfrm>
            <a:off x="3850339" y="3649342"/>
            <a:ext cx="3226072" cy="1045081"/>
          </a:xfrm>
          <a:prstGeom prst="roundRect">
            <a:avLst>
              <a:gd name="adj" fmla="val 5576"/>
            </a:avLst>
          </a:prstGeom>
          <a:solidFill>
            <a:srgbClr val="D4EBF7"/>
          </a:solidFill>
          <a:ln w="7877">
            <a:solidFill>
              <a:srgbClr val="BADBE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3996928" y="3795931"/>
            <a:ext cx="2112498" cy="224623"/>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 Send Messages</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8" name="Text 15"/>
          <p:cNvSpPr/>
          <p:nvPr/>
        </p:nvSpPr>
        <p:spPr>
          <a:xfrm>
            <a:off x="3996928" y="4103757"/>
            <a:ext cx="2932894"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Successfully send a message across a multi-router network</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Text 0"/>
          <p:cNvSpPr/>
          <p:nvPr/>
        </p:nvSpPr>
        <p:spPr>
          <a:xfrm>
            <a:off x="585497" y="4964003"/>
            <a:ext cx="6590795" cy="867229"/>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Lab Work: Building &amp; Configuring the Network</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0" name="Shape 1"/>
          <p:cNvSpPr/>
          <p:nvPr/>
        </p:nvSpPr>
        <p:spPr>
          <a:xfrm>
            <a:off x="485616" y="6039361"/>
            <a:ext cx="3325891" cy="3576364"/>
          </a:xfrm>
          <a:prstGeom prst="roundRect">
            <a:avLst>
              <a:gd name="adj" fmla="val 3004"/>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2"/>
          <p:cNvSpPr/>
          <p:nvPr/>
        </p:nvSpPr>
        <p:spPr>
          <a:xfrm>
            <a:off x="624329" y="6178074"/>
            <a:ext cx="2138776"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Outfit Bold" pitchFamily="34" charset="0"/>
                <a:ea typeface="Outfit Bold" pitchFamily="34" charset="-122"/>
                <a:cs typeface="Outfit Bold" pitchFamily="34" charset="-120"/>
              </a:rPr>
              <a:t>Step 1: Build the World</a:t>
            </a:r>
            <a:endParaRPr kumimoji="0" lang="en-US" sz="13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2" name="Text 3"/>
          <p:cNvSpPr/>
          <p:nvPr/>
        </p:nvSpPr>
        <p:spPr>
          <a:xfrm>
            <a:off x="624329" y="6533532"/>
            <a:ext cx="3048467"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Two towns, two post offices. Place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PC0</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a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2960 Switch</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and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Router0</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on the left. Place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PC1</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a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2960 Switch</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and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Router1</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on the right.</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3" name="Text 4"/>
          <p:cNvSpPr/>
          <p:nvPr/>
        </p:nvSpPr>
        <p:spPr>
          <a:xfrm>
            <a:off x="624329" y="7338358"/>
            <a:ext cx="2252687"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Outfit Bold" pitchFamily="34" charset="0"/>
                <a:ea typeface="Outfit Bold" pitchFamily="34" charset="-122"/>
                <a:cs typeface="Outfit Bold" pitchFamily="34" charset="-120"/>
              </a:rPr>
              <a:t>Step 2: Wire It Together</a:t>
            </a:r>
            <a:endParaRPr kumimoji="0" lang="en-US" sz="13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4" name="Text 5"/>
          <p:cNvSpPr/>
          <p:nvPr/>
        </p:nvSpPr>
        <p:spPr>
          <a:xfrm>
            <a:off x="624329" y="7693816"/>
            <a:ext cx="3048467"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Use the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Auto-Connect Cable</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(yellow lightning bolt):</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5" name="Text 6"/>
          <p:cNvSpPr/>
          <p:nvPr/>
        </p:nvSpPr>
        <p:spPr>
          <a:xfrm>
            <a:off x="624329" y="8262758"/>
            <a:ext cx="3048467" cy="1304412"/>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PC0 → Left Switch</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2"/>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Left Switch → Router0</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3"/>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PC1 → Right Switch</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4"/>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Right Switch → Router1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 typeface="+mj-lt"/>
              <a:buAutoNum type="arabicPeriod" startAt="5"/>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Router0 → Router1 </a:t>
            </a:r>
            <a:r>
              <a:rPr kumimoji="0" lang="en-US" sz="1050" b="0" i="1"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(red cable is normal!)</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6" name="Text 7"/>
          <p:cNvSpPr/>
          <p:nvPr/>
        </p:nvSpPr>
        <p:spPr>
          <a:xfrm>
            <a:off x="4054038" y="6178074"/>
            <a:ext cx="2789566"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3: Configure Router Ports</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7" name="Text 8"/>
          <p:cNvSpPr/>
          <p:nvPr/>
        </p:nvSpPr>
        <p:spPr>
          <a:xfrm>
            <a:off x="4054038" y="6533532"/>
            <a:ext cx="3126131" cy="475585"/>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Router0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FastEthernet0/0 (Town A):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192.168.1.1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FastEthernet0/1 (to Router1):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10.0.0.1</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8" name="Text 9"/>
          <p:cNvSpPr/>
          <p:nvPr/>
        </p:nvSpPr>
        <p:spPr>
          <a:xfrm>
            <a:off x="4054038" y="7133982"/>
            <a:ext cx="3126131" cy="475585"/>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Router1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FastEthernet0/0 (Town B):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192.168.2.1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FastEthernet0/1 (to Router0):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10.0.0.2</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9" name="Text 10"/>
          <p:cNvSpPr/>
          <p:nvPr/>
        </p:nvSpPr>
        <p:spPr>
          <a:xfrm>
            <a:off x="4054038" y="7748279"/>
            <a:ext cx="2401061"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4: Configure the PCs</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0" name="Text 11"/>
          <p:cNvSpPr/>
          <p:nvPr/>
        </p:nvSpPr>
        <p:spPr>
          <a:xfrm>
            <a:off x="4054038" y="8103737"/>
            <a:ext cx="3504235" cy="237792"/>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IPv4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192.168.1.10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Gateway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192.168.1.1</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1" name="Text 12"/>
          <p:cNvSpPr/>
          <p:nvPr/>
        </p:nvSpPr>
        <p:spPr>
          <a:xfrm>
            <a:off x="4054038" y="8466395"/>
            <a:ext cx="3504235" cy="237792"/>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IPv4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192.168.2.10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Gateway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192.168.2.1</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0" descr="preencoded.png"/>
          <p:cNvPicPr>
            <a:picLocks noChangeAspect="1"/>
          </p:cNvPicPr>
          <p:nvPr/>
        </p:nvPicPr>
        <p:blipFill>
          <a:blip r:embed="rId3">
            <a:duotone>
              <a:schemeClr val="accent4">
                <a:shade val="45000"/>
                <a:satMod val="135000"/>
              </a:schemeClr>
              <a:prstClr val="white"/>
            </a:duotone>
          </a:blip>
          <a:stretch>
            <a:fillRect/>
          </a:stretch>
        </p:blipFill>
        <p:spPr>
          <a:xfrm>
            <a:off x="1302525" y="511014"/>
            <a:ext cx="5125333" cy="2345677"/>
          </a:xfrm>
          <a:prstGeom prst="rect">
            <a:avLst/>
          </a:prstGeom>
        </p:spPr>
      </p:pic>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20596" y="1096667"/>
            <a:ext cx="329533" cy="329532"/>
          </a:xfrm>
          <a:prstGeom prst="rect">
            <a:avLst/>
          </a:prstGeom>
        </p:spPr>
      </p:pic>
      <p:sp>
        <p:nvSpPr>
          <p:cNvPr id="17" name="Text 13"/>
          <p:cNvSpPr/>
          <p:nvPr/>
        </p:nvSpPr>
        <p:spPr>
          <a:xfrm>
            <a:off x="5227003" y="2206985"/>
            <a:ext cx="962234" cy="370724"/>
          </a:xfrm>
          <a:prstGeom prst="rect">
            <a:avLst/>
          </a:prstGeom>
          <a:noFill/>
          <a:ln/>
        </p:spPr>
        <p:txBody>
          <a:bodyPr wrap="square" lIns="0" tIns="0" rIns="0" bIns="0" rtlCol="0" anchor="t">
            <a:normAutofit/>
          </a:bodyPr>
          <a:lstStyle/>
          <a:p>
            <a:pPr marL="0" marR="0" lvl="0" indent="0" algn="ctr" defTabSz="457200" rtl="0" eaLnBrk="1" fontAlgn="auto" latinLnBrk="0" hangingPunct="1">
              <a:lnSpc>
                <a:spcPct val="104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Configure PCs</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14199" y="1097285"/>
            <a:ext cx="329532" cy="329532"/>
          </a:xfrm>
          <a:prstGeom prst="rect">
            <a:avLst/>
          </a:prstGeom>
        </p:spPr>
      </p:pic>
      <p:sp>
        <p:nvSpPr>
          <p:cNvPr id="19" name="Text 14"/>
          <p:cNvSpPr/>
          <p:nvPr/>
        </p:nvSpPr>
        <p:spPr>
          <a:xfrm>
            <a:off x="4014325" y="2206985"/>
            <a:ext cx="962234" cy="370724"/>
          </a:xfrm>
          <a:prstGeom prst="rect">
            <a:avLst/>
          </a:prstGeom>
          <a:noFill/>
          <a:ln/>
        </p:spPr>
        <p:txBody>
          <a:bodyPr wrap="square" lIns="0" tIns="0" rIns="0" bIns="0" rtlCol="0" anchor="t">
            <a:normAutofit/>
          </a:bodyPr>
          <a:lstStyle/>
          <a:p>
            <a:pPr marL="0" marR="0" lvl="0" indent="0" algn="ctr" defTabSz="457200" rtl="0" eaLnBrk="1" fontAlgn="auto" latinLnBrk="0" hangingPunct="1">
              <a:lnSpc>
                <a:spcPct val="104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Configure Routers</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08111" y="1097285"/>
            <a:ext cx="329532" cy="329532"/>
          </a:xfrm>
          <a:prstGeom prst="rect">
            <a:avLst/>
          </a:prstGeom>
        </p:spPr>
      </p:pic>
      <p:sp>
        <p:nvSpPr>
          <p:cNvPr id="21" name="Text 15"/>
          <p:cNvSpPr/>
          <p:nvPr/>
        </p:nvSpPr>
        <p:spPr>
          <a:xfrm>
            <a:off x="2808237" y="2206985"/>
            <a:ext cx="962234" cy="370724"/>
          </a:xfrm>
          <a:prstGeom prst="rect">
            <a:avLst/>
          </a:prstGeom>
          <a:noFill/>
          <a:ln/>
        </p:spPr>
        <p:txBody>
          <a:bodyPr wrap="square" lIns="0" tIns="0" rIns="0" bIns="0" rtlCol="0" anchor="t">
            <a:normAutofit/>
          </a:bodyPr>
          <a:lstStyle/>
          <a:p>
            <a:pPr marL="0" marR="0" lvl="0" indent="0" algn="ctr" defTabSz="457200" rtl="0" eaLnBrk="1" fontAlgn="auto" latinLnBrk="0" hangingPunct="1">
              <a:lnSpc>
                <a:spcPct val="104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Connect Cables</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2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895432" y="1097285"/>
            <a:ext cx="329532" cy="329532"/>
          </a:xfrm>
          <a:prstGeom prst="rect">
            <a:avLst/>
          </a:prstGeom>
        </p:spPr>
      </p:pic>
      <p:sp>
        <p:nvSpPr>
          <p:cNvPr id="23" name="Text 16"/>
          <p:cNvSpPr/>
          <p:nvPr/>
        </p:nvSpPr>
        <p:spPr>
          <a:xfrm>
            <a:off x="1386734" y="2299666"/>
            <a:ext cx="1151287" cy="185362"/>
          </a:xfrm>
          <a:prstGeom prst="rect">
            <a:avLst/>
          </a:prstGeom>
          <a:noFill/>
          <a:ln/>
        </p:spPr>
        <p:txBody>
          <a:bodyPr wrap="none" lIns="0" tIns="0" rIns="0" bIns="0" rtlCol="0" anchor="t"/>
          <a:lstStyle/>
          <a:p>
            <a:pPr marL="0" marR="0" lvl="0" indent="0" algn="ctr" defTabSz="457200" rtl="0" eaLnBrk="1" fontAlgn="auto" latinLnBrk="0" hangingPunct="1">
              <a:lnSpc>
                <a:spcPct val="104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Place Devices</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4" name="Text 17"/>
          <p:cNvSpPr/>
          <p:nvPr/>
        </p:nvSpPr>
        <p:spPr>
          <a:xfrm>
            <a:off x="569825" y="3012758"/>
            <a:ext cx="6968900"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Once configured, the router-to-router cable should show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green dots</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 your physical link is live!</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5" name="Text 0"/>
          <p:cNvSpPr/>
          <p:nvPr/>
        </p:nvSpPr>
        <p:spPr>
          <a:xfrm>
            <a:off x="569825" y="3462699"/>
            <a:ext cx="5170442" cy="433614"/>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Static Routing &amp; The Final Test</a:t>
            </a:r>
            <a:endParaRPr kumimoji="0" lang="en-US" sz="27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Text 1"/>
          <p:cNvSpPr/>
          <p:nvPr/>
        </p:nvSpPr>
        <p:spPr>
          <a:xfrm>
            <a:off x="569825" y="4243155"/>
            <a:ext cx="2112498"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5: The Problem</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7" name="Text 2"/>
          <p:cNvSpPr/>
          <p:nvPr/>
        </p:nvSpPr>
        <p:spPr>
          <a:xfrm>
            <a:off x="569825" y="4598613"/>
            <a:ext cx="3126131" cy="681869"/>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Send a yellow envelope from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PC0 → PC1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It says </a:t>
            </a: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Failed</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Router0 has no idea where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192.168.2.0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is — its map is blank. Let's draw the map.</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8" name="Text 3"/>
          <p:cNvSpPr/>
          <p:nvPr/>
        </p:nvSpPr>
        <p:spPr>
          <a:xfrm>
            <a:off x="569825" y="5419194"/>
            <a:ext cx="2956648" cy="216746"/>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Outfit Bold" pitchFamily="34" charset="0"/>
                <a:ea typeface="Outfit Bold" pitchFamily="34" charset="-122"/>
                <a:cs typeface="Outfit Bold" pitchFamily="34" charset="-120"/>
              </a:rPr>
              <a:t>Step 6: Give the Routers the Map</a:t>
            </a:r>
            <a:endParaRPr kumimoji="0" lang="en-US" sz="13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9" name="Text 4"/>
          <p:cNvSpPr/>
          <p:nvPr/>
        </p:nvSpPr>
        <p:spPr>
          <a:xfrm>
            <a:off x="569825" y="5774652"/>
            <a:ext cx="3504235"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Router0 → Config → ROUTING → Static → Add:</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0" name="Text 5"/>
          <p:cNvSpPr/>
          <p:nvPr/>
        </p:nvSpPr>
        <p:spPr>
          <a:xfrm>
            <a:off x="569825" y="6121556"/>
            <a:ext cx="3126131" cy="810488"/>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Network:</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192.168.2.0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(Town B)</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Mask:</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255.255.255.0</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Next Hop: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10.0.0.2</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(Router1)</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1" name="Text 6"/>
          <p:cNvSpPr/>
          <p:nvPr/>
        </p:nvSpPr>
        <p:spPr>
          <a:xfrm>
            <a:off x="569825" y="7056909"/>
            <a:ext cx="3504235" cy="222038"/>
          </a:xfrm>
          <a:prstGeom prst="rect">
            <a:avLst/>
          </a:prstGeom>
          <a:noFill/>
          <a:ln/>
        </p:spPr>
        <p:txBody>
          <a:bodyPr wrap="none" lIns="0" tIns="0" rIns="0" bIns="0" rtlCol="0" anchor="t"/>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Router1 → Config → ROUTING → Static → Add:</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2" name="Text 7"/>
          <p:cNvSpPr/>
          <p:nvPr/>
        </p:nvSpPr>
        <p:spPr>
          <a:xfrm>
            <a:off x="569825" y="7403813"/>
            <a:ext cx="3126131" cy="810488"/>
          </a:xfrm>
          <a:prstGeom prst="rect">
            <a:avLst/>
          </a:prstGeom>
          <a:noFill/>
          <a:ln/>
        </p:spPr>
        <p:txBody>
          <a:bodyPr wrap="square" lIns="0" tIns="0" rIns="0" bIns="0" rtlCol="0" anchor="t">
            <a:normAutofit/>
          </a:bodyPr>
          <a:lstStyle/>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Network:</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192.168.1.0</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(Town A)</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Mask:</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255.255.255.0</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457200" rtl="0" eaLnBrk="1" fontAlgn="auto" latinLnBrk="0" hangingPunct="1">
              <a:lnSpc>
                <a:spcPct val="133000"/>
              </a:lnSpc>
              <a:spcBef>
                <a:spcPts val="0"/>
              </a:spcBef>
              <a:spcAft>
                <a:spcPts val="0"/>
              </a:spcAft>
              <a:buClrTx/>
              <a:buSzPct val="100000"/>
              <a:buFontTx/>
              <a:buChar char="•"/>
              <a:tabLst/>
              <a:defRPr/>
            </a:pPr>
            <a:r>
              <a:rPr kumimoji="0" lang="en-US" sz="1050" b="1"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Next Hop:</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a:t>
            </a:r>
            <a:r>
              <a:rPr kumimoji="0" lang="en-US" sz="1050" b="0" i="0" u="none" strike="noStrike" kern="1200" cap="none" spc="0" normalizeH="0" baseline="0" noProof="0" dirty="0">
                <a:ln>
                  <a:noFill/>
                </a:ln>
                <a:solidFill>
                  <a:srgbClr val="000000"/>
                </a:solidFill>
                <a:effectLst/>
                <a:highlight>
                  <a:srgbClr val="F2F2F2"/>
                </a:highlight>
                <a:uLnTx/>
                <a:uFillTx/>
                <a:latin typeface="Consolas" pitchFamily="34" charset="0"/>
                <a:ea typeface="Consolas" pitchFamily="34" charset="-122"/>
                <a:cs typeface="Consolas" pitchFamily="34" charset="-120"/>
              </a:rPr>
              <a:t>10.0.0.1</a:t>
            </a: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 (Router0)</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3" name="Shape 8"/>
          <p:cNvSpPr/>
          <p:nvPr/>
        </p:nvSpPr>
        <p:spPr>
          <a:xfrm>
            <a:off x="4074060" y="5175431"/>
            <a:ext cx="3048467" cy="727225"/>
          </a:xfrm>
          <a:prstGeom prst="roundRect">
            <a:avLst>
              <a:gd name="adj" fmla="val 16821"/>
            </a:avLst>
          </a:prstGeom>
          <a:solidFill>
            <a:srgbClr val="2A75D3"/>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9"/>
          <p:cNvSpPr/>
          <p:nvPr/>
        </p:nvSpPr>
        <p:spPr>
          <a:xfrm>
            <a:off x="4077198" y="4243155"/>
            <a:ext cx="2345306" cy="224623"/>
          </a:xfrm>
          <a:prstGeom prst="rect">
            <a:avLst/>
          </a:prstGeom>
          <a:noFill/>
          <a:ln/>
        </p:spPr>
        <p:txBody>
          <a:bodyPr wrap="non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r>
              <a:rPr kumimoji="0" lang="en-US" sz="1350" b="1" i="0" u="none" strike="noStrike" kern="1200" cap="none" spc="0" normalizeH="0" baseline="0" noProof="0" dirty="0">
                <a:ln>
                  <a:noFill/>
                </a:ln>
                <a:effectLst/>
                <a:uLnTx/>
                <a:uFillTx/>
                <a:latin typeface="Outfit Bold" pitchFamily="34" charset="0"/>
                <a:ea typeface="Outfit Bold" pitchFamily="34" charset="-122"/>
                <a:cs typeface="Outfit Bold" pitchFamily="34" charset="-120"/>
              </a:rPr>
              <a:t>Step 7: The Final Test! 🎉</a:t>
            </a:r>
            <a:endParaRPr kumimoji="0" lang="en-US" sz="1350" b="0" i="0" u="none" strike="noStrike" kern="1200" cap="none" spc="0" normalizeH="0" baseline="0" noProof="0" dirty="0">
              <a:ln>
                <a:noFill/>
              </a:ln>
              <a:effectLst/>
              <a:uLnTx/>
              <a:uFillTx/>
              <a:latin typeface="Calibri" panose="020F0502020204030204"/>
              <a:ea typeface="+mn-ea"/>
              <a:cs typeface="+mn-cs"/>
            </a:endParaRPr>
          </a:p>
        </p:txBody>
      </p:sp>
      <p:sp>
        <p:nvSpPr>
          <p:cNvPr id="35" name="Text 10"/>
          <p:cNvSpPr/>
          <p:nvPr/>
        </p:nvSpPr>
        <p:spPr>
          <a:xfrm>
            <a:off x="4077198" y="4606490"/>
            <a:ext cx="3048467"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effectLst/>
                <a:uLnTx/>
                <a:uFillTx/>
                <a:latin typeface="Ovo" pitchFamily="34" charset="0"/>
                <a:ea typeface="Ovo" pitchFamily="34" charset="-122"/>
                <a:cs typeface="Ovo" pitchFamily="34" charset="-120"/>
              </a:rPr>
              <a:t>Grab a </a:t>
            </a:r>
            <a:r>
              <a:rPr kumimoji="0" lang="en-US" sz="1050" b="1" i="0" u="none" strike="noStrike" kern="1200" cap="none" spc="0" normalizeH="0" baseline="0" noProof="0" dirty="0">
                <a:ln>
                  <a:noFill/>
                </a:ln>
                <a:effectLst/>
                <a:uLnTx/>
                <a:uFillTx/>
                <a:latin typeface="Ovo" pitchFamily="34" charset="0"/>
                <a:ea typeface="Ovo" pitchFamily="34" charset="-122"/>
                <a:cs typeface="Ovo" pitchFamily="34" charset="-120"/>
              </a:rPr>
              <a:t>brand new yellow envelope</a:t>
            </a:r>
            <a:r>
              <a:rPr kumimoji="0" lang="en-US" sz="1050" b="0" i="0" u="none" strike="noStrike" kern="1200" cap="none" spc="0" normalizeH="0" baseline="0" noProof="0" dirty="0">
                <a:ln>
                  <a:noFill/>
                </a:ln>
                <a:effectLst/>
                <a:uLnTx/>
                <a:uFillTx/>
                <a:latin typeface="Ovo" pitchFamily="34" charset="0"/>
                <a:ea typeface="Ovo" pitchFamily="34" charset="-122"/>
                <a:cs typeface="Ovo" pitchFamily="34" charset="-120"/>
              </a:rPr>
              <a:t>. Click </a:t>
            </a:r>
            <a:r>
              <a:rPr kumimoji="0" lang="en-US" sz="1050" b="1" i="0" u="none" strike="noStrike" kern="1200" cap="none" spc="0" normalizeH="0" baseline="0" noProof="0" dirty="0">
                <a:ln>
                  <a:noFill/>
                </a:ln>
                <a:effectLst/>
                <a:uLnTx/>
                <a:uFillTx/>
                <a:latin typeface="Ovo" pitchFamily="34" charset="0"/>
                <a:ea typeface="Ovo" pitchFamily="34" charset="-122"/>
                <a:cs typeface="Ovo" pitchFamily="34" charset="-120"/>
              </a:rPr>
              <a:t>PC0</a:t>
            </a:r>
            <a:r>
              <a:rPr kumimoji="0" lang="en-US" sz="1050" b="0" i="0" u="none" strike="noStrike" kern="1200" cap="none" spc="0" normalizeH="0" baseline="0" noProof="0" dirty="0">
                <a:ln>
                  <a:noFill/>
                </a:ln>
                <a:effectLst/>
                <a:uLnTx/>
                <a:uFillTx/>
                <a:latin typeface="Ovo" pitchFamily="34" charset="0"/>
                <a:ea typeface="Ovo" pitchFamily="34" charset="-122"/>
                <a:cs typeface="Ovo" pitchFamily="34" charset="-120"/>
              </a:rPr>
              <a:t>, then </a:t>
            </a:r>
            <a:r>
              <a:rPr kumimoji="0" lang="en-US" sz="1050" b="1" i="0" u="none" strike="noStrike" kern="1200" cap="none" spc="0" normalizeH="0" baseline="0" noProof="0" dirty="0">
                <a:ln>
                  <a:noFill/>
                </a:ln>
                <a:effectLst/>
                <a:uLnTx/>
                <a:uFillTx/>
                <a:latin typeface="Ovo" pitchFamily="34" charset="0"/>
                <a:ea typeface="Ovo" pitchFamily="34" charset="-122"/>
                <a:cs typeface="Ovo" pitchFamily="34" charset="-120"/>
              </a:rPr>
              <a:t>PC1</a:t>
            </a:r>
            <a:r>
              <a:rPr kumimoji="0" lang="en-US" sz="1050" b="0" i="0" u="none" strike="noStrike" kern="1200" cap="none" spc="0" normalizeH="0" baseline="0" noProof="0" dirty="0">
                <a:ln>
                  <a:noFill/>
                </a:ln>
                <a:effectLst/>
                <a:uLnTx/>
                <a:uFillTx/>
                <a:latin typeface="Ovo" pitchFamily="34" charset="0"/>
                <a:ea typeface="Ovo" pitchFamily="34" charset="-122"/>
                <a:cs typeface="Ovo" pitchFamily="34" charset="-120"/>
              </a:rPr>
              <a:t>.</a:t>
            </a:r>
            <a:endParaRPr kumimoji="0" lang="en-US" sz="1050" b="0" i="0" u="none" strike="noStrike" kern="1200" cap="none" spc="0" normalizeH="0" baseline="0" noProof="0" dirty="0">
              <a:ln>
                <a:noFill/>
              </a:ln>
              <a:effectLst/>
              <a:uLnTx/>
              <a:uFillTx/>
              <a:latin typeface="Calibri" panose="020F0502020204030204"/>
              <a:ea typeface="+mn-ea"/>
              <a:cs typeface="+mn-cs"/>
            </a:endParaRPr>
          </a:p>
        </p:txBody>
      </p:sp>
      <p:sp>
        <p:nvSpPr>
          <p:cNvPr id="36" name="Text 11"/>
          <p:cNvSpPr/>
          <p:nvPr/>
        </p:nvSpPr>
        <p:spPr>
          <a:xfrm>
            <a:off x="4222965" y="5205986"/>
            <a:ext cx="2750656"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It might fail on the </a:t>
            </a:r>
            <a:r>
              <a:rPr kumimoji="0" lang="en-US" sz="1050" b="0" i="1"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very first try</a:t>
            </a:r>
            <a:r>
              <a:rPr kumimoji="0" lang="en-US" sz="1050" b="0"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 while routers update their maps — send a second envelope and it will say </a:t>
            </a:r>
            <a:r>
              <a:rPr kumimoji="0" lang="en-US" sz="1050" b="1" i="0" u="none" strike="noStrike" kern="1200" cap="none" spc="0" normalizeH="0" baseline="0" noProof="0" dirty="0">
                <a:ln>
                  <a:noFill/>
                </a:ln>
                <a:solidFill>
                  <a:srgbClr val="FFFFFF"/>
                </a:solidFill>
                <a:effectLst/>
                <a:uLnTx/>
                <a:uFillTx/>
                <a:latin typeface="Ovo" pitchFamily="34" charset="0"/>
                <a:ea typeface="Ovo" pitchFamily="34" charset="-122"/>
                <a:cs typeface="Ovo" pitchFamily="34" charset="-120"/>
              </a:rPr>
              <a:t>Successful!</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7" name="Shape 12"/>
          <p:cNvSpPr/>
          <p:nvPr/>
        </p:nvSpPr>
        <p:spPr>
          <a:xfrm>
            <a:off x="4077198" y="5997613"/>
            <a:ext cx="3048467" cy="1033696"/>
          </a:xfrm>
          <a:prstGeom prst="roundRect">
            <a:avLst>
              <a:gd name="adj" fmla="val 10935"/>
            </a:avLst>
          </a:prstGeom>
          <a:solidFill>
            <a:srgbClr val="B6FCB8"/>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8" name="Image 0" descr="preencoded.png"/>
          <p:cNvPicPr>
            <a:picLocks noChangeAspect="1"/>
          </p:cNvPicPr>
          <p:nvPr/>
        </p:nvPicPr>
        <p:blipFill>
          <a:blip r:embed="rId8"/>
          <a:stretch>
            <a:fillRect/>
          </a:stretch>
        </p:blipFill>
        <p:spPr>
          <a:xfrm>
            <a:off x="4215910" y="6199220"/>
            <a:ext cx="173421" cy="138712"/>
          </a:xfrm>
          <a:prstGeom prst="rect">
            <a:avLst/>
          </a:prstGeom>
        </p:spPr>
      </p:pic>
      <p:sp>
        <p:nvSpPr>
          <p:cNvPr id="39" name="Text 13"/>
          <p:cNvSpPr/>
          <p:nvPr/>
        </p:nvSpPr>
        <p:spPr>
          <a:xfrm>
            <a:off x="4528043" y="6170973"/>
            <a:ext cx="2458909" cy="666114"/>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Both routers now know exactly how to forward mail in both directions. The map is complete!</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 descr="preencoded.png"/>
          <p:cNvPicPr>
            <a:picLocks noChangeAspect="1"/>
          </p:cNvPicPr>
          <p:nvPr/>
        </p:nvPicPr>
        <p:blipFill>
          <a:blip r:embed="rId3"/>
          <a:stretch>
            <a:fillRect/>
          </a:stretch>
        </p:blipFill>
        <p:spPr>
          <a:xfrm>
            <a:off x="646321" y="592558"/>
            <a:ext cx="6269384" cy="3499194"/>
          </a:xfrm>
          <a:prstGeom prst="rect">
            <a:avLst/>
          </a:prstGeom>
        </p:spPr>
      </p:pic>
      <p:sp>
        <p:nvSpPr>
          <p:cNvPr id="19" name="Text 14"/>
          <p:cNvSpPr/>
          <p:nvPr/>
        </p:nvSpPr>
        <p:spPr>
          <a:xfrm>
            <a:off x="485616" y="4159497"/>
            <a:ext cx="6590795" cy="444076"/>
          </a:xfrm>
          <a:prstGeom prst="rect">
            <a:avLst/>
          </a:prstGeom>
          <a:noFill/>
          <a:ln/>
        </p:spPr>
        <p:txBody>
          <a:bodyPr wrap="square" lIns="0" tIns="0" rIns="0" bIns="0" rtlCol="0" anchor="t">
            <a:normAutofit/>
          </a:bodyPr>
          <a:lstStyle/>
          <a:p>
            <a:pPr marL="0" marR="0" lvl="0" indent="0" algn="l" defTabSz="457200" rtl="0" eaLnBrk="1" fontAlgn="auto" latinLnBrk="0" hangingPunct="1">
              <a:lnSpc>
                <a:spcPct val="133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vo" pitchFamily="34" charset="0"/>
                <a:ea typeface="Ovo" pitchFamily="34" charset="-122"/>
                <a:cs typeface="Ovo" pitchFamily="34" charset="-120"/>
              </a:rPr>
              <a:t>This infographic shows the bidirectional static routes configured on each router, enabling mail to flow between Town A and Town B through the shared inter-router link.</a:t>
            </a:r>
            <a:endParaRPr kumimoji="0" lang="en-US" sz="10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260</TotalTime>
  <Words>7443</Words>
  <Application>Microsoft Office PowerPoint</Application>
  <PresentationFormat>Custom</PresentationFormat>
  <Paragraphs>600</Paragraphs>
  <Slides>32</Slides>
  <Notes>32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Calibri Light</vt:lpstr>
      <vt:lpstr>Calibri</vt:lpstr>
      <vt:lpstr>Outfit Bold</vt:lpstr>
      <vt:lpstr>Ovo</vt:lpstr>
      <vt:lpstr>Aptos</vt:lpstr>
      <vt:lpstr>Arial</vt:lpstr>
      <vt:lpstr>Consolas</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Dev Hamnah</dc:creator>
  <cp:lastModifiedBy>Dev Hamnah</cp:lastModifiedBy>
  <cp:revision>17</cp:revision>
  <dcterms:created xsi:type="dcterms:W3CDTF">2026-05-16T15:32:59Z</dcterms:created>
  <dcterms:modified xsi:type="dcterms:W3CDTF">2026-05-17T08:25:47Z</dcterms:modified>
</cp:coreProperties>
</file>