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mo" panose="020B0604020202020204" charset="0"/>
      <p:regular r:id="rId16"/>
    </p:embeddedFont>
    <p:embeddedFont>
      <p:font typeface="Outfit Black" pitchFamily="2" charset="0"/>
      <p:bold r:id="rId17"/>
    </p:embeddedFont>
    <p:embeddedFont>
      <p:font typeface="Outfit SemiBold" pitchFamily="2" charset="0"/>
      <p:bold r:id="rId18"/>
    </p:embeddedFont>
    <p:embeddedFont>
      <p:font typeface="Ovo" panose="02020502070400060406" pitchFamily="18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EA66A3-44A9-6CD8-28FB-2C76D48AA2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>
              <a:latin typeface="Ovo" panose="02020502070400060406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BA586-6D5B-BEB5-2F5D-0E7850E567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6136D-EC2E-4991-BF7B-5AB3D85479A7}" type="datetimeFigureOut">
              <a:rPr lang="en-PK" smtClean="0">
                <a:latin typeface="Ovo" panose="02020502070400060406" pitchFamily="18" charset="0"/>
              </a:rPr>
              <a:t>29/04/2026</a:t>
            </a:fld>
            <a:endParaRPr lang="en-PK" dirty="0">
              <a:latin typeface="Ovo" panose="02020502070400060406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F4555-945E-44D4-1DDE-244D62E5F2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>
              <a:latin typeface="Ovo" panose="02020502070400060406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FE159-4C26-7468-8825-DA6A01A3DF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355F0-D5FF-4EBA-A51E-67DB860D74A6}" type="slidenum">
              <a:rPr lang="en-PK" smtClean="0">
                <a:latin typeface="Ovo" panose="02020502070400060406" pitchFamily="18" charset="0"/>
              </a:rPr>
              <a:t>‹#›</a:t>
            </a:fld>
            <a:endParaRPr lang="en-PK" dirty="0">
              <a:latin typeface="Ovo" panose="02020502070400060406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4202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vo" panose="02020502070400060406" pitchFamily="18" charset="0"/>
              </a:defRPr>
            </a:lvl1pPr>
          </a:lstStyle>
          <a:p>
            <a:endParaRPr lang="cs-C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vo" panose="02020502070400060406" pitchFamily="18" charset="0"/>
              </a:defRPr>
            </a:lvl1pPr>
          </a:lstStyle>
          <a:p>
            <a:fld id="{B7268E1E-0E44-426D-905E-8AD9B19D2182}" type="datetimeFigureOut">
              <a:rPr lang="cs-CZ" smtClean="0"/>
              <a:pPr/>
              <a:t>29.04.2026</a:t>
            </a:fld>
            <a:endParaRPr lang="cs-C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vo" panose="02020502070400060406" pitchFamily="18" charset="0"/>
              </a:defRPr>
            </a:lvl1pPr>
          </a:lstStyle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vo" panose="02020502070400060406" pitchFamily="18" charset="0"/>
              </a:defRPr>
            </a:lvl1pPr>
          </a:lstStyle>
          <a:p>
            <a:fld id="{871B2431-D351-4C6E-A3CF-9DFAC0E3E050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vo" panose="02020502070400060406" pitchFamily="18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vo" panose="02020502070400060406" pitchFamily="18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vo" panose="02020502070400060406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vo" panose="02020502070400060406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1" name="Google Shape;101;p2"/>
          <p:cNvSpPr/>
          <p:nvPr userDrawn="1"/>
        </p:nvSpPr>
        <p:spPr>
          <a:xfrm>
            <a:off x="0" y="0"/>
            <a:ext cx="18288000" cy="1115736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Ovo" panose="02020502070400060406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"/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662730" y="155317"/>
            <a:ext cx="1504919" cy="80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 userDrawn="1"/>
        </p:nvSpPr>
        <p:spPr>
          <a:xfrm>
            <a:off x="16597183" y="595441"/>
            <a:ext cx="161903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solidFill>
                  <a:schemeClr val="lt1"/>
                </a:solidFill>
                <a:latin typeface="Ovo" panose="02020502070400060406" pitchFamily="18" charset="0"/>
                <a:ea typeface="Calibri"/>
                <a:cs typeface="Calibri"/>
                <a:sym typeface="Calibri"/>
              </a:rPr>
              <a:t>unioffaisalabad</a:t>
            </a:r>
            <a:endParaRPr sz="1100" dirty="0">
              <a:solidFill>
                <a:schemeClr val="lt1"/>
              </a:solidFill>
              <a:latin typeface="Ovo" panose="02020502070400060406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2"/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15783486" y="302510"/>
            <a:ext cx="261610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 userDrawn="1"/>
        </p:nvSpPr>
        <p:spPr>
          <a:xfrm>
            <a:off x="16020374" y="248649"/>
            <a:ext cx="2606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Ovo" panose="02020502070400060406" pitchFamily="18" charset="0"/>
                <a:ea typeface="Calibri"/>
                <a:cs typeface="Calibri"/>
                <a:sym typeface="Calibri"/>
              </a:rPr>
              <a:t>www.tuf.edu.pk</a:t>
            </a:r>
            <a:endParaRPr dirty="0">
              <a:latin typeface="Ovo" panose="02020502070400060406" pitchFamily="18" charset="0"/>
            </a:endParaRPr>
          </a:p>
        </p:txBody>
      </p:sp>
      <p:pic>
        <p:nvPicPr>
          <p:cNvPr id="106" name="Google Shape;106;p2"/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16468463" y="64052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16230600" y="647700"/>
            <a:ext cx="171451" cy="1714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Ovo" panose="02020502070400060406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Ovo" panose="02020502070400060406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Ovo" panose="02020502070400060406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Ovo" panose="02020502070400060406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vo" panose="02020502070400060406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vo" panose="02020502070400060406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7.svg"/><Relationship Id="rId4" Type="http://schemas.openxmlformats.org/officeDocument/2006/relationships/image" Target="../media/image16.svg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0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2.svg"/><Relationship Id="rId4" Type="http://schemas.openxmlformats.org/officeDocument/2006/relationships/image" Target="../media/image21.svg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32A2A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Ovo" panose="02020502070400060406" pitchFamily="18" charset="0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/>
          </p:cNvSpPr>
          <p:nvPr/>
        </p:nvSpPr>
        <p:spPr>
          <a:xfrm>
            <a:off x="3876083" y="3924300"/>
            <a:ext cx="10535830" cy="61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SzPts val="2800"/>
              <a:buNone/>
            </a:pPr>
            <a:r>
              <a:rPr lang="en-US" sz="2800" dirty="0">
                <a:solidFill>
                  <a:schemeClr val="bg1"/>
                </a:solidFill>
                <a:latin typeface="Ovo"/>
                <a:ea typeface="Ovo"/>
                <a:cs typeface="Ovo"/>
                <a:sym typeface="Ovo"/>
              </a:rPr>
              <a:t>The philosophy and architecture of routing data through finite physical infrastructure, enabling infinite conversations to share limited resources.</a:t>
            </a:r>
          </a:p>
          <a:p>
            <a:pPr marL="0" indent="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Arial" pitchFamily="34" charset="0"/>
              <a:buNone/>
            </a:pPr>
            <a:endParaRPr lang="en-US" sz="28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>
            <a:spLocks/>
          </p:cNvSpPr>
          <p:nvPr/>
        </p:nvSpPr>
        <p:spPr>
          <a:xfrm>
            <a:off x="4634417" y="1680019"/>
            <a:ext cx="9019164" cy="175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chemeClr val="lt1"/>
              </a:buClr>
            </a:pPr>
            <a:r>
              <a:rPr lang="en-US" sz="6000" b="1" dirty="0">
                <a:solidFill>
                  <a:schemeClr val="bg1"/>
                </a:solidFill>
                <a:latin typeface="Outfit Black" pitchFamily="2" charset="0"/>
                <a:ea typeface="Arimo Bold"/>
                <a:cs typeface="Arimo Bold"/>
                <a:sym typeface="Arimo Bold"/>
              </a:rPr>
              <a:t>Foundations &amp; Circuit Switching</a:t>
            </a:r>
            <a:endParaRPr lang="en-US" sz="6000" dirty="0">
              <a:solidFill>
                <a:schemeClr val="bg1"/>
              </a:solidFill>
              <a:latin typeface="Outfit Black" pitchFamily="2" charset="0"/>
              <a:ea typeface="Arial Black"/>
              <a:cs typeface="Arial Black"/>
              <a:sym typeface="Arial Black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3470" y="8568881"/>
            <a:ext cx="2241055" cy="1198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5;p1">
            <a:extLst>
              <a:ext uri="{FF2B5EF4-FFF2-40B4-BE49-F238E27FC236}">
                <a16:creationId xmlns:a16="http://schemas.microsoft.com/office/drawing/2014/main" id="{688EF822-75BB-D541-3F44-1521D91E40C9}"/>
              </a:ext>
            </a:extLst>
          </p:cNvPr>
          <p:cNvSpPr txBox="1">
            <a:spLocks/>
          </p:cNvSpPr>
          <p:nvPr/>
        </p:nvSpPr>
        <p:spPr>
          <a:xfrm>
            <a:off x="4114800" y="5636528"/>
            <a:ext cx="5181600" cy="61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ts val="2800"/>
              <a:buNone/>
            </a:pPr>
            <a:r>
              <a:rPr lang="en-US" sz="1800" dirty="0">
                <a:solidFill>
                  <a:schemeClr val="bg1"/>
                </a:solidFill>
                <a:latin typeface="Ovo"/>
                <a:ea typeface="Ovo"/>
                <a:cs typeface="Ovo"/>
                <a:sym typeface="Ovo"/>
              </a:rPr>
              <a:t>Name:</a:t>
            </a:r>
          </a:p>
          <a:p>
            <a:pPr marL="0" indent="0">
              <a:buSzPts val="2800"/>
              <a:buNone/>
            </a:pPr>
            <a:r>
              <a:rPr lang="en-US" sz="1800" dirty="0">
                <a:solidFill>
                  <a:schemeClr val="bg1"/>
                </a:solidFill>
                <a:latin typeface="Ovo"/>
                <a:ea typeface="Arial"/>
                <a:cs typeface="Arial"/>
                <a:sym typeface="Ovo"/>
              </a:rPr>
              <a:t>Humna Imran: 2023-BS-AI-017</a:t>
            </a:r>
          </a:p>
          <a:p>
            <a:pPr marL="0" indent="0">
              <a:buSzPts val="2800"/>
              <a:buNone/>
            </a:pPr>
            <a:r>
              <a:rPr lang="en-US" sz="1800" dirty="0">
                <a:solidFill>
                  <a:schemeClr val="bg1"/>
                </a:solidFill>
                <a:latin typeface="Ovo"/>
                <a:ea typeface="Arial"/>
                <a:cs typeface="Arial"/>
                <a:sym typeface="Ovo"/>
              </a:rPr>
              <a:t>Maham Nisar: 2023-BS-AI-058</a:t>
            </a:r>
          </a:p>
          <a:p>
            <a:pPr marL="0" indent="0">
              <a:buSzPts val="2800"/>
              <a:buNone/>
            </a:pPr>
            <a:r>
              <a:rPr lang="en-US" sz="1800" dirty="0">
                <a:solidFill>
                  <a:schemeClr val="bg1"/>
                </a:solidFill>
                <a:latin typeface="Ovo"/>
                <a:ea typeface="Arial"/>
                <a:cs typeface="Arial"/>
                <a:sym typeface="Ovo"/>
              </a:rPr>
              <a:t>Ayesha Imran: 2023-BS-AI-057</a:t>
            </a:r>
          </a:p>
          <a:p>
            <a:pPr marL="0" indent="0">
              <a:buSzPts val="2800"/>
              <a:buNone/>
            </a:pPr>
            <a:r>
              <a:rPr lang="en-US" sz="1800" dirty="0" err="1">
                <a:solidFill>
                  <a:schemeClr val="bg1"/>
                </a:solidFill>
                <a:latin typeface="Ovo"/>
                <a:ea typeface="Arial"/>
                <a:cs typeface="Arial"/>
                <a:sym typeface="Ovo"/>
              </a:rPr>
              <a:t>Mukedas</a:t>
            </a:r>
            <a:r>
              <a:rPr lang="en-US" sz="1800" dirty="0">
                <a:solidFill>
                  <a:schemeClr val="bg1"/>
                </a:solidFill>
                <a:latin typeface="Ovo"/>
                <a:ea typeface="Arial"/>
                <a:cs typeface="Arial"/>
                <a:sym typeface="Ovo"/>
              </a:rPr>
              <a:t>: 2023-BS-AI-008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92238" y="1973466"/>
            <a:ext cx="3987108" cy="47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3125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The Goal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2751687"/>
            <a:ext cx="16303523" cy="41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Routing data and sharing finite physical infrastructure among infinite conversations.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441802"/>
            <a:ext cx="3987108" cy="47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3125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Circuit Switching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220023"/>
            <a:ext cx="16303523" cy="41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Pre-allocates a dedicated, end-to-end path before sending data.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816231"/>
            <a:ext cx="531609" cy="379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92238" y="5286966"/>
            <a:ext cx="5301558" cy="28575"/>
            <a:chOff x="0" y="0"/>
            <a:chExt cx="7068744" cy="38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68693" cy="38100"/>
            </a:xfrm>
            <a:custGeom>
              <a:avLst/>
              <a:gdLst/>
              <a:ahLst/>
              <a:cxnLst/>
              <a:rect l="l" t="t" r="r" b="b"/>
              <a:pathLst>
                <a:path w="7068693" h="38100">
                  <a:moveTo>
                    <a:pt x="0" y="0"/>
                  </a:moveTo>
                  <a:lnTo>
                    <a:pt x="7068693" y="0"/>
                  </a:lnTo>
                  <a:lnTo>
                    <a:pt x="706869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92238" y="5448452"/>
            <a:ext cx="3322587" cy="398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Setup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5964288"/>
            <a:ext cx="5301558" cy="41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Reserves bandwidth and resources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93078" y="4816231"/>
            <a:ext cx="531609" cy="379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493078" y="5286966"/>
            <a:ext cx="5301701" cy="28575"/>
            <a:chOff x="0" y="0"/>
            <a:chExt cx="7068934" cy="38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68947" cy="38100"/>
            </a:xfrm>
            <a:custGeom>
              <a:avLst/>
              <a:gdLst/>
              <a:ahLst/>
              <a:cxnLst/>
              <a:rect l="l" t="t" r="r" b="b"/>
              <a:pathLst>
                <a:path w="7068947" h="38100">
                  <a:moveTo>
                    <a:pt x="0" y="0"/>
                  </a:moveTo>
                  <a:lnTo>
                    <a:pt x="7068947" y="0"/>
                  </a:lnTo>
                  <a:lnTo>
                    <a:pt x="706894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493078" y="5448452"/>
            <a:ext cx="3322587" cy="398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Data Transfer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93078" y="5964288"/>
            <a:ext cx="5301701" cy="79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Continuous bit stream with guaranteed capacity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94061" y="4816231"/>
            <a:ext cx="531609" cy="379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994061" y="5286966"/>
            <a:ext cx="5301701" cy="28575"/>
            <a:chOff x="0" y="0"/>
            <a:chExt cx="7068934" cy="38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068947" cy="38100"/>
            </a:xfrm>
            <a:custGeom>
              <a:avLst/>
              <a:gdLst/>
              <a:ahLst/>
              <a:cxnLst/>
              <a:rect l="l" t="t" r="r" b="b"/>
              <a:pathLst>
                <a:path w="7068947" h="38100">
                  <a:moveTo>
                    <a:pt x="0" y="0"/>
                  </a:moveTo>
                  <a:lnTo>
                    <a:pt x="7068947" y="0"/>
                  </a:lnTo>
                  <a:lnTo>
                    <a:pt x="706894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994061" y="5448452"/>
            <a:ext cx="3322587" cy="398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Teardown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994061" y="5964288"/>
            <a:ext cx="5301701" cy="41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Explicitly releases resources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92238" y="7179469"/>
            <a:ext cx="16303523" cy="2015576"/>
            <a:chOff x="0" y="0"/>
            <a:chExt cx="21738031" cy="268743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738082" cy="2687447"/>
            </a:xfrm>
            <a:custGeom>
              <a:avLst/>
              <a:gdLst/>
              <a:ahLst/>
              <a:cxnLst/>
              <a:rect l="l" t="t" r="r" b="b"/>
              <a:pathLst>
                <a:path w="21738082" h="2687447">
                  <a:moveTo>
                    <a:pt x="0" y="531622"/>
                  </a:moveTo>
                  <a:cubicBezTo>
                    <a:pt x="0" y="237998"/>
                    <a:pt x="237998" y="0"/>
                    <a:pt x="531622" y="0"/>
                  </a:cubicBezTo>
                  <a:lnTo>
                    <a:pt x="21206461" y="0"/>
                  </a:lnTo>
                  <a:cubicBezTo>
                    <a:pt x="21500085" y="0"/>
                    <a:pt x="21738082" y="237998"/>
                    <a:pt x="21738082" y="531622"/>
                  </a:cubicBezTo>
                  <a:lnTo>
                    <a:pt x="21738082" y="2155825"/>
                  </a:lnTo>
                  <a:cubicBezTo>
                    <a:pt x="21738082" y="2449449"/>
                    <a:pt x="21500085" y="2687447"/>
                    <a:pt x="21206461" y="2687447"/>
                  </a:cubicBezTo>
                  <a:lnTo>
                    <a:pt x="531622" y="2687447"/>
                  </a:lnTo>
                  <a:cubicBezTo>
                    <a:pt x="237998" y="2687447"/>
                    <a:pt x="0" y="2449449"/>
                    <a:pt x="0" y="2155825"/>
                  </a:cubicBezTo>
                  <a:close/>
                </a:path>
              </a:pathLst>
            </a:custGeom>
            <a:solidFill>
              <a:srgbClr val="FAA1A1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58043" y="7545734"/>
            <a:ext cx="332184" cy="265805"/>
            <a:chOff x="0" y="0"/>
            <a:chExt cx="442912" cy="354406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442976" cy="354457"/>
            </a:xfrm>
            <a:custGeom>
              <a:avLst/>
              <a:gdLst/>
              <a:ahLst/>
              <a:cxnLst/>
              <a:rect l="l" t="t" r="r" b="b"/>
              <a:pathLst>
                <a:path w="442976" h="354457">
                  <a:moveTo>
                    <a:pt x="0" y="0"/>
                  </a:moveTo>
                  <a:lnTo>
                    <a:pt x="442976" y="0"/>
                  </a:lnTo>
                  <a:lnTo>
                    <a:pt x="442976" y="354457"/>
                  </a:lnTo>
                  <a:lnTo>
                    <a:pt x="0" y="354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r="2" b="14"/>
              </a:stretch>
            </a:blip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856032" y="7397506"/>
            <a:ext cx="15173916" cy="41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Total Time Calculation: Transmission time (</a:t>
            </a:r>
            <a:r>
              <a:rPr lang="en-US" sz="2062" i="1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\frac{L}{R}</a:t>
            </a:r>
            <a:r>
              <a:rPr lang="en-US" sz="2062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) happens only once.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856032" y="8069466"/>
            <a:ext cx="15173916" cy="740416"/>
            <a:chOff x="0" y="0"/>
            <a:chExt cx="20231887" cy="987222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20231863" cy="987171"/>
            </a:xfrm>
            <a:custGeom>
              <a:avLst/>
              <a:gdLst/>
              <a:ahLst/>
              <a:cxnLst/>
              <a:rect l="l" t="t" r="r" b="b"/>
              <a:pathLst>
                <a:path w="20231863" h="987171">
                  <a:moveTo>
                    <a:pt x="0" y="0"/>
                  </a:moveTo>
                  <a:lnTo>
                    <a:pt x="20231863" y="0"/>
                  </a:lnTo>
                  <a:lnTo>
                    <a:pt x="20231863" y="987171"/>
                  </a:lnTo>
                  <a:lnTo>
                    <a:pt x="0" y="987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1" b="-146"/>
              </a:stretch>
            </a:blip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34" name="Google Shape;101;p2">
            <a:extLst>
              <a:ext uri="{FF2B5EF4-FFF2-40B4-BE49-F238E27FC236}">
                <a16:creationId xmlns:a16="http://schemas.microsoft.com/office/drawing/2014/main" id="{E2C22C7C-D389-979F-45B5-DEBBC52D46D4}"/>
              </a:ext>
            </a:extLst>
          </p:cNvPr>
          <p:cNvSpPr/>
          <p:nvPr/>
        </p:nvSpPr>
        <p:spPr>
          <a:xfrm>
            <a:off x="0" y="0"/>
            <a:ext cx="18288000" cy="1115736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Ovo" panose="02020502070400060406" pitchFamily="18" charset="0"/>
              <a:ea typeface="Calibri"/>
              <a:cs typeface="Calibri"/>
              <a:sym typeface="Calibr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21821" y="65802"/>
            <a:ext cx="11244213" cy="739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3600" b="1" dirty="0">
                <a:solidFill>
                  <a:schemeClr val="bg1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The Philosophy &amp; Architecture of Circuit Switching</a:t>
            </a:r>
          </a:p>
        </p:txBody>
      </p:sp>
      <p:pic>
        <p:nvPicPr>
          <p:cNvPr id="35" name="Google Shape;102;p2">
            <a:extLst>
              <a:ext uri="{FF2B5EF4-FFF2-40B4-BE49-F238E27FC236}">
                <a16:creationId xmlns:a16="http://schemas.microsoft.com/office/drawing/2014/main" id="{8736EE6A-011E-910D-DB8D-440EB254F37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730" y="155317"/>
            <a:ext cx="1504919" cy="80510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103;p2">
            <a:extLst>
              <a:ext uri="{FF2B5EF4-FFF2-40B4-BE49-F238E27FC236}">
                <a16:creationId xmlns:a16="http://schemas.microsoft.com/office/drawing/2014/main" id="{015C361C-E89A-4000-1E36-A8B184776439}"/>
              </a:ext>
            </a:extLst>
          </p:cNvPr>
          <p:cNvSpPr txBox="1"/>
          <p:nvPr/>
        </p:nvSpPr>
        <p:spPr>
          <a:xfrm>
            <a:off x="16597183" y="595441"/>
            <a:ext cx="161903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solidFill>
                  <a:schemeClr val="lt1"/>
                </a:solidFill>
                <a:latin typeface="Ovo" panose="02020502070400060406" pitchFamily="18" charset="0"/>
                <a:ea typeface="Calibri"/>
                <a:cs typeface="Calibri"/>
                <a:sym typeface="Calibri"/>
              </a:rPr>
              <a:t>unioffaisalabad</a:t>
            </a:r>
            <a:endParaRPr sz="1100" dirty="0">
              <a:solidFill>
                <a:schemeClr val="lt1"/>
              </a:solidFill>
              <a:latin typeface="Ovo" panose="02020502070400060406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104;p2">
            <a:extLst>
              <a:ext uri="{FF2B5EF4-FFF2-40B4-BE49-F238E27FC236}">
                <a16:creationId xmlns:a16="http://schemas.microsoft.com/office/drawing/2014/main" id="{F8CB026B-7EED-DB94-509B-CD69344BACB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783486" y="302510"/>
            <a:ext cx="261610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105;p2">
            <a:extLst>
              <a:ext uri="{FF2B5EF4-FFF2-40B4-BE49-F238E27FC236}">
                <a16:creationId xmlns:a16="http://schemas.microsoft.com/office/drawing/2014/main" id="{89A981F1-EB50-CF5E-007B-4463D2D3A3B0}"/>
              </a:ext>
            </a:extLst>
          </p:cNvPr>
          <p:cNvSpPr txBox="1"/>
          <p:nvPr/>
        </p:nvSpPr>
        <p:spPr>
          <a:xfrm>
            <a:off x="16020374" y="248649"/>
            <a:ext cx="2606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Ovo" panose="02020502070400060406" pitchFamily="18" charset="0"/>
                <a:ea typeface="Calibri"/>
                <a:cs typeface="Calibri"/>
                <a:sym typeface="Calibri"/>
              </a:rPr>
              <a:t>www.tuf.edu.pk</a:t>
            </a:r>
            <a:endParaRPr dirty="0">
              <a:latin typeface="Ovo" panose="02020502070400060406" pitchFamily="18" charset="0"/>
            </a:endParaRPr>
          </a:p>
        </p:txBody>
      </p:sp>
      <p:pic>
        <p:nvPicPr>
          <p:cNvPr id="39" name="Google Shape;106;p2">
            <a:extLst>
              <a:ext uri="{FF2B5EF4-FFF2-40B4-BE49-F238E27FC236}">
                <a16:creationId xmlns:a16="http://schemas.microsoft.com/office/drawing/2014/main" id="{0EF0F43C-04B2-3763-B6AA-7FD2FF0F6FE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468463" y="64052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07;p2">
            <a:extLst>
              <a:ext uri="{FF2B5EF4-FFF2-40B4-BE49-F238E27FC236}">
                <a16:creationId xmlns:a16="http://schemas.microsoft.com/office/drawing/2014/main" id="{BC2FEBC3-A45B-C7D5-BF8B-90662A34DB8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230600" y="647700"/>
            <a:ext cx="171451" cy="171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9119" y="847518"/>
            <a:ext cx="5105856" cy="8591964"/>
            <a:chOff x="-1198665" y="-1111262"/>
            <a:chExt cx="7519797" cy="13361543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-1198665" y="-1111262"/>
              <a:ext cx="7519797" cy="13361543"/>
            </a:xfrm>
            <a:custGeom>
              <a:avLst/>
              <a:gdLst/>
              <a:ahLst/>
              <a:cxnLst/>
              <a:rect l="l" t="t" r="r" b="b"/>
              <a:pathLst>
                <a:path w="7519797" h="13361543">
                  <a:moveTo>
                    <a:pt x="0" y="0"/>
                  </a:moveTo>
                  <a:lnTo>
                    <a:pt x="7519797" y="0"/>
                  </a:lnTo>
                  <a:lnTo>
                    <a:pt x="7519797" y="13361543"/>
                  </a:lnTo>
                  <a:lnTo>
                    <a:pt x="0" y="13361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5"/>
              </a:stretch>
            </a:blip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50238" y="1622572"/>
            <a:ext cx="9455048" cy="1839220"/>
            <a:chOff x="0" y="0"/>
            <a:chExt cx="12606731" cy="2452294"/>
          </a:xfrm>
        </p:grpSpPr>
        <p:sp>
          <p:nvSpPr>
            <p:cNvPr id="12" name="Freeform 12"/>
            <p:cNvSpPr/>
            <p:nvPr/>
          </p:nvSpPr>
          <p:spPr>
            <a:xfrm>
              <a:off x="6350" y="6350"/>
              <a:ext cx="12594082" cy="2439543"/>
            </a:xfrm>
            <a:custGeom>
              <a:avLst/>
              <a:gdLst/>
              <a:ahLst/>
              <a:cxnLst/>
              <a:rect l="l" t="t" r="r" b="b"/>
              <a:pathLst>
                <a:path w="12594082" h="2439543">
                  <a:moveTo>
                    <a:pt x="0" y="531622"/>
                  </a:moveTo>
                  <a:cubicBezTo>
                    <a:pt x="0" y="237998"/>
                    <a:pt x="239014" y="0"/>
                    <a:pt x="533908" y="0"/>
                  </a:cubicBezTo>
                  <a:lnTo>
                    <a:pt x="12060174" y="0"/>
                  </a:lnTo>
                  <a:cubicBezTo>
                    <a:pt x="12355068" y="0"/>
                    <a:pt x="12594082" y="237998"/>
                    <a:pt x="12594082" y="531622"/>
                  </a:cubicBezTo>
                  <a:lnTo>
                    <a:pt x="12594082" y="1907921"/>
                  </a:lnTo>
                  <a:cubicBezTo>
                    <a:pt x="12594082" y="2201545"/>
                    <a:pt x="12355068" y="2439543"/>
                    <a:pt x="12060174" y="2439543"/>
                  </a:cubicBezTo>
                  <a:lnTo>
                    <a:pt x="533908" y="2439543"/>
                  </a:lnTo>
                  <a:cubicBezTo>
                    <a:pt x="239014" y="2439543"/>
                    <a:pt x="0" y="2201545"/>
                    <a:pt x="0" y="1907921"/>
                  </a:cubicBezTo>
                  <a:close/>
                </a:path>
              </a:pathLst>
            </a:custGeom>
            <a:solidFill>
              <a:srgbClr val="F7D4D4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12606782" cy="2452243"/>
            </a:xfrm>
            <a:custGeom>
              <a:avLst/>
              <a:gdLst/>
              <a:ahLst/>
              <a:cxnLst/>
              <a:rect l="l" t="t" r="r" b="b"/>
              <a:pathLst>
                <a:path w="12606782" h="2452243">
                  <a:moveTo>
                    <a:pt x="0" y="537972"/>
                  </a:moveTo>
                  <a:cubicBezTo>
                    <a:pt x="0" y="240792"/>
                    <a:pt x="241935" y="0"/>
                    <a:pt x="540258" y="0"/>
                  </a:cubicBezTo>
                  <a:lnTo>
                    <a:pt x="12066524" y="0"/>
                  </a:lnTo>
                  <a:lnTo>
                    <a:pt x="12066524" y="6350"/>
                  </a:lnTo>
                  <a:lnTo>
                    <a:pt x="12066524" y="0"/>
                  </a:lnTo>
                  <a:cubicBezTo>
                    <a:pt x="12364847" y="0"/>
                    <a:pt x="12606782" y="240792"/>
                    <a:pt x="12606782" y="537972"/>
                  </a:cubicBezTo>
                  <a:lnTo>
                    <a:pt x="12600432" y="537972"/>
                  </a:lnTo>
                  <a:lnTo>
                    <a:pt x="12606782" y="537972"/>
                  </a:lnTo>
                  <a:lnTo>
                    <a:pt x="12606782" y="1914271"/>
                  </a:lnTo>
                  <a:lnTo>
                    <a:pt x="12600432" y="1914271"/>
                  </a:lnTo>
                  <a:lnTo>
                    <a:pt x="12606782" y="1914271"/>
                  </a:lnTo>
                  <a:cubicBezTo>
                    <a:pt x="12606782" y="2211451"/>
                    <a:pt x="12364847" y="2452243"/>
                    <a:pt x="12066524" y="2452243"/>
                  </a:cubicBezTo>
                  <a:lnTo>
                    <a:pt x="12066524" y="2445893"/>
                  </a:lnTo>
                  <a:lnTo>
                    <a:pt x="12066524" y="2452243"/>
                  </a:lnTo>
                  <a:lnTo>
                    <a:pt x="540258" y="2452243"/>
                  </a:lnTo>
                  <a:lnTo>
                    <a:pt x="540258" y="2445893"/>
                  </a:lnTo>
                  <a:lnTo>
                    <a:pt x="540258" y="2452243"/>
                  </a:lnTo>
                  <a:cubicBezTo>
                    <a:pt x="241935" y="2452243"/>
                    <a:pt x="0" y="2211451"/>
                    <a:pt x="0" y="1914271"/>
                  </a:cubicBezTo>
                  <a:lnTo>
                    <a:pt x="0" y="537972"/>
                  </a:lnTo>
                  <a:lnTo>
                    <a:pt x="6350" y="537972"/>
                  </a:lnTo>
                  <a:lnTo>
                    <a:pt x="0" y="537972"/>
                  </a:lnTo>
                  <a:moveTo>
                    <a:pt x="12700" y="537972"/>
                  </a:moveTo>
                  <a:lnTo>
                    <a:pt x="12700" y="1914271"/>
                  </a:lnTo>
                  <a:lnTo>
                    <a:pt x="6350" y="1914271"/>
                  </a:lnTo>
                  <a:lnTo>
                    <a:pt x="12700" y="1914271"/>
                  </a:lnTo>
                  <a:cubicBezTo>
                    <a:pt x="12700" y="2204339"/>
                    <a:pt x="248793" y="2439543"/>
                    <a:pt x="540258" y="2439543"/>
                  </a:cubicBezTo>
                  <a:lnTo>
                    <a:pt x="12066524" y="2439543"/>
                  </a:lnTo>
                  <a:cubicBezTo>
                    <a:pt x="12357862" y="2439543"/>
                    <a:pt x="12594082" y="2204339"/>
                    <a:pt x="12594082" y="1914271"/>
                  </a:cubicBezTo>
                  <a:lnTo>
                    <a:pt x="12594082" y="537972"/>
                  </a:lnTo>
                  <a:cubicBezTo>
                    <a:pt x="12594082" y="247904"/>
                    <a:pt x="12357862" y="12700"/>
                    <a:pt x="12066524" y="12700"/>
                  </a:cubicBezTo>
                  <a:lnTo>
                    <a:pt x="540258" y="12700"/>
                  </a:lnTo>
                  <a:lnTo>
                    <a:pt x="540258" y="6350"/>
                  </a:lnTo>
                  <a:lnTo>
                    <a:pt x="540258" y="12700"/>
                  </a:lnTo>
                  <a:cubicBezTo>
                    <a:pt x="248793" y="12700"/>
                    <a:pt x="12700" y="247904"/>
                    <a:pt x="12700" y="537972"/>
                  </a:cubicBezTo>
                  <a:close/>
                </a:path>
              </a:pathLst>
            </a:custGeom>
            <a:solidFill>
              <a:srgbClr val="DDBAB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130330" y="1874089"/>
            <a:ext cx="3794227" cy="398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Space-Division Switching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30330" y="2389925"/>
            <a:ext cx="8894864" cy="79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Uses physical paths such as crossbars and Clos Networks to create dedicated connections.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850238" y="3651540"/>
            <a:ext cx="9455048" cy="1839220"/>
            <a:chOff x="0" y="0"/>
            <a:chExt cx="12606731" cy="2452294"/>
          </a:xfrm>
        </p:grpSpPr>
        <p:sp>
          <p:nvSpPr>
            <p:cNvPr id="17" name="Freeform 17"/>
            <p:cNvSpPr/>
            <p:nvPr/>
          </p:nvSpPr>
          <p:spPr>
            <a:xfrm>
              <a:off x="6350" y="6350"/>
              <a:ext cx="12594082" cy="2439543"/>
            </a:xfrm>
            <a:custGeom>
              <a:avLst/>
              <a:gdLst/>
              <a:ahLst/>
              <a:cxnLst/>
              <a:rect l="l" t="t" r="r" b="b"/>
              <a:pathLst>
                <a:path w="12594082" h="2439543">
                  <a:moveTo>
                    <a:pt x="0" y="531622"/>
                  </a:moveTo>
                  <a:cubicBezTo>
                    <a:pt x="0" y="237998"/>
                    <a:pt x="239014" y="0"/>
                    <a:pt x="533908" y="0"/>
                  </a:cubicBezTo>
                  <a:lnTo>
                    <a:pt x="12060174" y="0"/>
                  </a:lnTo>
                  <a:cubicBezTo>
                    <a:pt x="12355068" y="0"/>
                    <a:pt x="12594082" y="237998"/>
                    <a:pt x="12594082" y="531622"/>
                  </a:cubicBezTo>
                  <a:lnTo>
                    <a:pt x="12594082" y="1907921"/>
                  </a:lnTo>
                  <a:cubicBezTo>
                    <a:pt x="12594082" y="2201545"/>
                    <a:pt x="12355068" y="2439543"/>
                    <a:pt x="12060174" y="2439543"/>
                  </a:cubicBezTo>
                  <a:lnTo>
                    <a:pt x="533908" y="2439543"/>
                  </a:lnTo>
                  <a:cubicBezTo>
                    <a:pt x="239014" y="2439543"/>
                    <a:pt x="0" y="2201545"/>
                    <a:pt x="0" y="1907921"/>
                  </a:cubicBezTo>
                  <a:close/>
                </a:path>
              </a:pathLst>
            </a:custGeom>
            <a:solidFill>
              <a:srgbClr val="F7D4D4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12606782" cy="2452243"/>
            </a:xfrm>
            <a:custGeom>
              <a:avLst/>
              <a:gdLst/>
              <a:ahLst/>
              <a:cxnLst/>
              <a:rect l="l" t="t" r="r" b="b"/>
              <a:pathLst>
                <a:path w="12606782" h="2452243">
                  <a:moveTo>
                    <a:pt x="0" y="537972"/>
                  </a:moveTo>
                  <a:cubicBezTo>
                    <a:pt x="0" y="240792"/>
                    <a:pt x="241935" y="0"/>
                    <a:pt x="540258" y="0"/>
                  </a:cubicBezTo>
                  <a:lnTo>
                    <a:pt x="12066524" y="0"/>
                  </a:lnTo>
                  <a:lnTo>
                    <a:pt x="12066524" y="6350"/>
                  </a:lnTo>
                  <a:lnTo>
                    <a:pt x="12066524" y="0"/>
                  </a:lnTo>
                  <a:cubicBezTo>
                    <a:pt x="12364847" y="0"/>
                    <a:pt x="12606782" y="240792"/>
                    <a:pt x="12606782" y="537972"/>
                  </a:cubicBezTo>
                  <a:lnTo>
                    <a:pt x="12600432" y="537972"/>
                  </a:lnTo>
                  <a:lnTo>
                    <a:pt x="12606782" y="537972"/>
                  </a:lnTo>
                  <a:lnTo>
                    <a:pt x="12606782" y="1914271"/>
                  </a:lnTo>
                  <a:lnTo>
                    <a:pt x="12600432" y="1914271"/>
                  </a:lnTo>
                  <a:lnTo>
                    <a:pt x="12606782" y="1914271"/>
                  </a:lnTo>
                  <a:cubicBezTo>
                    <a:pt x="12606782" y="2211451"/>
                    <a:pt x="12364847" y="2452243"/>
                    <a:pt x="12066524" y="2452243"/>
                  </a:cubicBezTo>
                  <a:lnTo>
                    <a:pt x="12066524" y="2445893"/>
                  </a:lnTo>
                  <a:lnTo>
                    <a:pt x="12066524" y="2452243"/>
                  </a:lnTo>
                  <a:lnTo>
                    <a:pt x="540258" y="2452243"/>
                  </a:lnTo>
                  <a:lnTo>
                    <a:pt x="540258" y="2445893"/>
                  </a:lnTo>
                  <a:lnTo>
                    <a:pt x="540258" y="2452243"/>
                  </a:lnTo>
                  <a:cubicBezTo>
                    <a:pt x="241935" y="2452243"/>
                    <a:pt x="0" y="2211451"/>
                    <a:pt x="0" y="1914271"/>
                  </a:cubicBezTo>
                  <a:lnTo>
                    <a:pt x="0" y="537972"/>
                  </a:lnTo>
                  <a:lnTo>
                    <a:pt x="6350" y="537972"/>
                  </a:lnTo>
                  <a:lnTo>
                    <a:pt x="0" y="537972"/>
                  </a:lnTo>
                  <a:moveTo>
                    <a:pt x="12700" y="537972"/>
                  </a:moveTo>
                  <a:lnTo>
                    <a:pt x="12700" y="1914271"/>
                  </a:lnTo>
                  <a:lnTo>
                    <a:pt x="6350" y="1914271"/>
                  </a:lnTo>
                  <a:lnTo>
                    <a:pt x="12700" y="1914271"/>
                  </a:lnTo>
                  <a:cubicBezTo>
                    <a:pt x="12700" y="2204339"/>
                    <a:pt x="248793" y="2439543"/>
                    <a:pt x="540258" y="2439543"/>
                  </a:cubicBezTo>
                  <a:lnTo>
                    <a:pt x="12066524" y="2439543"/>
                  </a:lnTo>
                  <a:cubicBezTo>
                    <a:pt x="12357862" y="2439543"/>
                    <a:pt x="12594082" y="2204339"/>
                    <a:pt x="12594082" y="1914271"/>
                  </a:cubicBezTo>
                  <a:lnTo>
                    <a:pt x="12594082" y="537972"/>
                  </a:lnTo>
                  <a:cubicBezTo>
                    <a:pt x="12594082" y="247904"/>
                    <a:pt x="12357862" y="12700"/>
                    <a:pt x="12066524" y="12700"/>
                  </a:cubicBezTo>
                  <a:lnTo>
                    <a:pt x="540258" y="12700"/>
                  </a:lnTo>
                  <a:lnTo>
                    <a:pt x="540258" y="6350"/>
                  </a:lnTo>
                  <a:lnTo>
                    <a:pt x="540258" y="12700"/>
                  </a:lnTo>
                  <a:cubicBezTo>
                    <a:pt x="248793" y="12700"/>
                    <a:pt x="12700" y="247904"/>
                    <a:pt x="12700" y="537972"/>
                  </a:cubicBezTo>
                  <a:close/>
                </a:path>
              </a:pathLst>
            </a:custGeom>
            <a:solidFill>
              <a:srgbClr val="DDBAB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130330" y="3903066"/>
            <a:ext cx="3634235" cy="398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Time-Division Switching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30330" y="4418902"/>
            <a:ext cx="8894864" cy="79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Swaps time slots using memory through Time Slot Interchangers to share physical infrastructure.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50238" y="6238371"/>
            <a:ext cx="6273403" cy="97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3125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Message Switching (The Precursor)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50238" y="7284817"/>
            <a:ext cx="9445523" cy="109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8426" lvl="1" indent="-342900" algn="l">
              <a:lnSpc>
                <a:spcPts val="2874"/>
              </a:lnSpc>
              <a:buFont typeface="Arial" panose="020B0604020202020204" pitchFamily="34" charset="0"/>
              <a:buChar char="•"/>
            </a:pPr>
            <a:r>
              <a:rPr lang="en-US" sz="2062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Store-and-Forward: Entire message sent, stored at a node, then forwarded</a:t>
            </a:r>
          </a:p>
          <a:p>
            <a:pPr marL="498426" lvl="1" indent="-342900" algn="l">
              <a:lnSpc>
                <a:spcPts val="2874"/>
              </a:lnSpc>
              <a:buFont typeface="Arial" panose="020B0604020202020204" pitchFamily="34" charset="0"/>
              <a:buChar char="•"/>
            </a:pPr>
            <a:r>
              <a:rPr lang="en-US" sz="2062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The Flaw: Requires massive buffers. One bit error means retransmitting the entire file</a:t>
            </a:r>
          </a:p>
        </p:txBody>
      </p:sp>
      <p:sp>
        <p:nvSpPr>
          <p:cNvPr id="23" name="Google Shape;101;p2">
            <a:extLst>
              <a:ext uri="{FF2B5EF4-FFF2-40B4-BE49-F238E27FC236}">
                <a16:creationId xmlns:a16="http://schemas.microsoft.com/office/drawing/2014/main" id="{DD4E798D-0DB3-0938-B792-41B81FC83158}"/>
              </a:ext>
            </a:extLst>
          </p:cNvPr>
          <p:cNvSpPr/>
          <p:nvPr/>
        </p:nvSpPr>
        <p:spPr>
          <a:xfrm>
            <a:off x="0" y="0"/>
            <a:ext cx="18288000" cy="1115736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Ovo" panose="02020502070400060406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102;p2">
            <a:extLst>
              <a:ext uri="{FF2B5EF4-FFF2-40B4-BE49-F238E27FC236}">
                <a16:creationId xmlns:a16="http://schemas.microsoft.com/office/drawing/2014/main" id="{4FEA5A9D-F2C3-DE10-1C92-405BBB7EAB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730" y="155317"/>
            <a:ext cx="1504919" cy="80510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03;p2">
            <a:extLst>
              <a:ext uri="{FF2B5EF4-FFF2-40B4-BE49-F238E27FC236}">
                <a16:creationId xmlns:a16="http://schemas.microsoft.com/office/drawing/2014/main" id="{B484174A-EE2F-9CC6-669E-0F906145FA29}"/>
              </a:ext>
            </a:extLst>
          </p:cNvPr>
          <p:cNvSpPr txBox="1"/>
          <p:nvPr/>
        </p:nvSpPr>
        <p:spPr>
          <a:xfrm>
            <a:off x="16597183" y="595441"/>
            <a:ext cx="161903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solidFill>
                  <a:schemeClr val="lt1"/>
                </a:solidFill>
                <a:latin typeface="Ovo" panose="02020502070400060406" pitchFamily="18" charset="0"/>
                <a:ea typeface="Calibri"/>
                <a:cs typeface="Calibri"/>
                <a:sym typeface="Calibri"/>
              </a:rPr>
              <a:t>unioffaisalabad</a:t>
            </a:r>
            <a:endParaRPr sz="1100" dirty="0">
              <a:solidFill>
                <a:schemeClr val="lt1"/>
              </a:solidFill>
              <a:latin typeface="Ovo" panose="02020502070400060406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104;p2">
            <a:extLst>
              <a:ext uri="{FF2B5EF4-FFF2-40B4-BE49-F238E27FC236}">
                <a16:creationId xmlns:a16="http://schemas.microsoft.com/office/drawing/2014/main" id="{64FA46A1-4E55-8F1E-B6D0-F5E0633C7DE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783486" y="302510"/>
            <a:ext cx="261610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105;p2">
            <a:extLst>
              <a:ext uri="{FF2B5EF4-FFF2-40B4-BE49-F238E27FC236}">
                <a16:creationId xmlns:a16="http://schemas.microsoft.com/office/drawing/2014/main" id="{7C0E2A94-6148-968C-B800-320A612E73E9}"/>
              </a:ext>
            </a:extLst>
          </p:cNvPr>
          <p:cNvSpPr txBox="1"/>
          <p:nvPr/>
        </p:nvSpPr>
        <p:spPr>
          <a:xfrm>
            <a:off x="16020374" y="248649"/>
            <a:ext cx="2606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Ovo" panose="02020502070400060406" pitchFamily="18" charset="0"/>
                <a:ea typeface="Calibri"/>
                <a:cs typeface="Calibri"/>
                <a:sym typeface="Calibri"/>
              </a:rPr>
              <a:t>www.tuf.edu.pk</a:t>
            </a:r>
            <a:endParaRPr dirty="0">
              <a:latin typeface="Ovo" panose="02020502070400060406" pitchFamily="18" charset="0"/>
            </a:endParaRPr>
          </a:p>
        </p:txBody>
      </p:sp>
      <p:pic>
        <p:nvPicPr>
          <p:cNvPr id="28" name="Google Shape;106;p2">
            <a:extLst>
              <a:ext uri="{FF2B5EF4-FFF2-40B4-BE49-F238E27FC236}">
                <a16:creationId xmlns:a16="http://schemas.microsoft.com/office/drawing/2014/main" id="{AF3048E3-7BD3-F10C-7F51-BB40B67465B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468463" y="64052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07;p2">
            <a:extLst>
              <a:ext uri="{FF2B5EF4-FFF2-40B4-BE49-F238E27FC236}">
                <a16:creationId xmlns:a16="http://schemas.microsoft.com/office/drawing/2014/main" id="{10C913AB-CE97-CDF0-90A9-5E98A9895B1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230600" y="647700"/>
            <a:ext cx="171451" cy="17145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10"/>
          <p:cNvSpPr txBox="1"/>
          <p:nvPr/>
        </p:nvSpPr>
        <p:spPr>
          <a:xfrm>
            <a:off x="5060103" y="91524"/>
            <a:ext cx="8167794" cy="739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3600" b="1" dirty="0">
                <a:solidFill>
                  <a:schemeClr val="bg1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Switching Fabrics &amp; Message Switching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90600" y="2232465"/>
            <a:ext cx="4252912" cy="49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 dirty="0">
                <a:solidFill>
                  <a:srgbClr val="D32A2A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Circuit Switching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0600" y="2962318"/>
            <a:ext cx="7805890" cy="883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187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A single diagonal setup line, followed by a smooth, parallel transfer of data. Delay is purely propagation.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0600" y="4100556"/>
            <a:ext cx="6244676" cy="3514277"/>
            <a:chOff x="0" y="0"/>
            <a:chExt cx="8326234" cy="4685703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8326247" cy="4685665"/>
            </a:xfrm>
            <a:custGeom>
              <a:avLst/>
              <a:gdLst/>
              <a:ahLst/>
              <a:cxnLst/>
              <a:rect l="l" t="t" r="r" b="b"/>
              <a:pathLst>
                <a:path w="8326247" h="4685665">
                  <a:moveTo>
                    <a:pt x="0" y="0"/>
                  </a:moveTo>
                  <a:lnTo>
                    <a:pt x="8326247" y="0"/>
                  </a:lnTo>
                  <a:lnTo>
                    <a:pt x="8326247" y="4685665"/>
                  </a:lnTo>
                  <a:lnTo>
                    <a:pt x="0" y="4685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" r="-23"/>
              </a:stretch>
            </a:blip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497759" y="1704571"/>
            <a:ext cx="4252912" cy="49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 dirty="0">
                <a:solidFill>
                  <a:srgbClr val="D32A2A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Message Switching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7759" y="2434424"/>
            <a:ext cx="7805890" cy="129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187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A "staircase" effect. Data stops entirely at each node to be stored before moving to the next, multiplying transmission delays.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497759" y="3980903"/>
            <a:ext cx="6244676" cy="4161977"/>
            <a:chOff x="0" y="0"/>
            <a:chExt cx="8326234" cy="5549303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8326247" cy="5549265"/>
            </a:xfrm>
            <a:custGeom>
              <a:avLst/>
              <a:gdLst/>
              <a:ahLst/>
              <a:cxnLst/>
              <a:rect l="l" t="t" r="r" b="b"/>
              <a:pathLst>
                <a:path w="8326247" h="5549265">
                  <a:moveTo>
                    <a:pt x="0" y="0"/>
                  </a:moveTo>
                  <a:lnTo>
                    <a:pt x="8326247" y="0"/>
                  </a:lnTo>
                  <a:lnTo>
                    <a:pt x="8326247" y="5549265"/>
                  </a:lnTo>
                  <a:lnTo>
                    <a:pt x="0" y="5549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" r="-24"/>
              </a:stretch>
            </a:blip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5" name="Google Shape;101;p2">
            <a:extLst>
              <a:ext uri="{FF2B5EF4-FFF2-40B4-BE49-F238E27FC236}">
                <a16:creationId xmlns:a16="http://schemas.microsoft.com/office/drawing/2014/main" id="{0111C14D-CB78-5768-D12D-FED550809A32}"/>
              </a:ext>
            </a:extLst>
          </p:cNvPr>
          <p:cNvSpPr/>
          <p:nvPr/>
        </p:nvSpPr>
        <p:spPr>
          <a:xfrm>
            <a:off x="0" y="0"/>
            <a:ext cx="18288000" cy="1115736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Ovo" panose="02020502070400060406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02;p2">
            <a:extLst>
              <a:ext uri="{FF2B5EF4-FFF2-40B4-BE49-F238E27FC236}">
                <a16:creationId xmlns:a16="http://schemas.microsoft.com/office/drawing/2014/main" id="{97FA5E7F-9A84-96C7-4BE8-70BA5DC1936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730" y="155317"/>
            <a:ext cx="1504919" cy="80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03;p2">
            <a:extLst>
              <a:ext uri="{FF2B5EF4-FFF2-40B4-BE49-F238E27FC236}">
                <a16:creationId xmlns:a16="http://schemas.microsoft.com/office/drawing/2014/main" id="{93D86C25-DAD4-5215-C2D5-B10AFA0B4480}"/>
              </a:ext>
            </a:extLst>
          </p:cNvPr>
          <p:cNvSpPr txBox="1"/>
          <p:nvPr/>
        </p:nvSpPr>
        <p:spPr>
          <a:xfrm>
            <a:off x="16597183" y="595441"/>
            <a:ext cx="161903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solidFill>
                  <a:schemeClr val="lt1"/>
                </a:solidFill>
                <a:latin typeface="Ovo" panose="02020502070400060406" pitchFamily="18" charset="0"/>
                <a:ea typeface="Calibri"/>
                <a:cs typeface="Calibri"/>
                <a:sym typeface="Calibri"/>
              </a:rPr>
              <a:t>unioffaisalabad</a:t>
            </a:r>
            <a:endParaRPr sz="1100" dirty="0">
              <a:solidFill>
                <a:schemeClr val="lt1"/>
              </a:solidFill>
              <a:latin typeface="Ovo" panose="02020502070400060406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04;p2">
            <a:extLst>
              <a:ext uri="{FF2B5EF4-FFF2-40B4-BE49-F238E27FC236}">
                <a16:creationId xmlns:a16="http://schemas.microsoft.com/office/drawing/2014/main" id="{70B600B9-E219-AF9A-4E24-ECF516596CF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783486" y="302510"/>
            <a:ext cx="261610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05;p2">
            <a:extLst>
              <a:ext uri="{FF2B5EF4-FFF2-40B4-BE49-F238E27FC236}">
                <a16:creationId xmlns:a16="http://schemas.microsoft.com/office/drawing/2014/main" id="{E40BA9B2-AFE4-EFCB-634A-945289C3B81A}"/>
              </a:ext>
            </a:extLst>
          </p:cNvPr>
          <p:cNvSpPr txBox="1"/>
          <p:nvPr/>
        </p:nvSpPr>
        <p:spPr>
          <a:xfrm>
            <a:off x="16020374" y="248649"/>
            <a:ext cx="2606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Ovo" panose="02020502070400060406" pitchFamily="18" charset="0"/>
                <a:ea typeface="Calibri"/>
                <a:cs typeface="Calibri"/>
                <a:sym typeface="Calibri"/>
              </a:rPr>
              <a:t>www.tuf.edu.pk</a:t>
            </a:r>
            <a:endParaRPr dirty="0">
              <a:latin typeface="Ovo" panose="02020502070400060406" pitchFamily="18" charset="0"/>
            </a:endParaRPr>
          </a:p>
        </p:txBody>
      </p:sp>
      <p:pic>
        <p:nvPicPr>
          <p:cNvPr id="20" name="Google Shape;106;p2">
            <a:extLst>
              <a:ext uri="{FF2B5EF4-FFF2-40B4-BE49-F238E27FC236}">
                <a16:creationId xmlns:a16="http://schemas.microsoft.com/office/drawing/2014/main" id="{57462F8F-1E17-F444-A88E-AF4AD17A56C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468463" y="64052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07;p2">
            <a:extLst>
              <a:ext uri="{FF2B5EF4-FFF2-40B4-BE49-F238E27FC236}">
                <a16:creationId xmlns:a16="http://schemas.microsoft.com/office/drawing/2014/main" id="{D0BF8C6C-A922-1BC7-72EA-748F161A4E7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230600" y="647700"/>
            <a:ext cx="171451" cy="1714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6"/>
          <p:cNvSpPr txBox="1"/>
          <p:nvPr/>
        </p:nvSpPr>
        <p:spPr>
          <a:xfrm>
            <a:off x="4547593" y="0"/>
            <a:ext cx="9192815" cy="777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3600" b="1" dirty="0">
                <a:solidFill>
                  <a:schemeClr val="bg1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Timing Visual: Circuit vs. Message Switching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257300"/>
            <a:ext cx="6019800" cy="90297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772400" y="1462528"/>
            <a:ext cx="9445523" cy="37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937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Messages are fragmented into smaller blocks (packets) with a header and payload.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758113" y="2018997"/>
            <a:ext cx="9474098" cy="2605240"/>
            <a:chOff x="0" y="0"/>
            <a:chExt cx="12632131" cy="3473653"/>
          </a:xfrm>
        </p:grpSpPr>
        <p:sp>
          <p:nvSpPr>
            <p:cNvPr id="11" name="Freeform 11"/>
            <p:cNvSpPr/>
            <p:nvPr/>
          </p:nvSpPr>
          <p:spPr>
            <a:xfrm>
              <a:off x="19050" y="19050"/>
              <a:ext cx="12594082" cy="3435604"/>
            </a:xfrm>
            <a:custGeom>
              <a:avLst/>
              <a:gdLst/>
              <a:ahLst/>
              <a:cxnLst/>
              <a:rect l="l" t="t" r="r" b="b"/>
              <a:pathLst>
                <a:path w="12594082" h="3435604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12409678" y="0"/>
                  </a:lnTo>
                  <a:cubicBezTo>
                    <a:pt x="12511532" y="0"/>
                    <a:pt x="12594082" y="81915"/>
                    <a:pt x="12594082" y="182880"/>
                  </a:cubicBezTo>
                  <a:lnTo>
                    <a:pt x="12594082" y="3252724"/>
                  </a:lnTo>
                  <a:cubicBezTo>
                    <a:pt x="12594082" y="3353689"/>
                    <a:pt x="12511532" y="3435604"/>
                    <a:pt x="12409678" y="3435604"/>
                  </a:cubicBezTo>
                  <a:lnTo>
                    <a:pt x="184404" y="3435604"/>
                  </a:lnTo>
                  <a:cubicBezTo>
                    <a:pt x="82550" y="3435604"/>
                    <a:pt x="0" y="3353689"/>
                    <a:pt x="0" y="325272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12632182" cy="3473704"/>
            </a:xfrm>
            <a:custGeom>
              <a:avLst/>
              <a:gdLst/>
              <a:ahLst/>
              <a:cxnLst/>
              <a:rect l="l" t="t" r="r" b="b"/>
              <a:pathLst>
                <a:path w="12632182" h="3473704">
                  <a:moveTo>
                    <a:pt x="0" y="201930"/>
                  </a:moveTo>
                  <a:cubicBezTo>
                    <a:pt x="0" y="90297"/>
                    <a:pt x="91186" y="0"/>
                    <a:pt x="203454" y="0"/>
                  </a:cubicBezTo>
                  <a:lnTo>
                    <a:pt x="12428728" y="0"/>
                  </a:lnTo>
                  <a:lnTo>
                    <a:pt x="12428728" y="19050"/>
                  </a:lnTo>
                  <a:lnTo>
                    <a:pt x="12428728" y="0"/>
                  </a:lnTo>
                  <a:cubicBezTo>
                    <a:pt x="12540869" y="0"/>
                    <a:pt x="12632182" y="90297"/>
                    <a:pt x="12632182" y="201930"/>
                  </a:cubicBezTo>
                  <a:lnTo>
                    <a:pt x="12613132" y="201930"/>
                  </a:lnTo>
                  <a:lnTo>
                    <a:pt x="12632182" y="201930"/>
                  </a:lnTo>
                  <a:lnTo>
                    <a:pt x="12632182" y="3271774"/>
                  </a:lnTo>
                  <a:lnTo>
                    <a:pt x="12613132" y="3271774"/>
                  </a:lnTo>
                  <a:lnTo>
                    <a:pt x="12632182" y="3271774"/>
                  </a:lnTo>
                  <a:cubicBezTo>
                    <a:pt x="12632182" y="3383407"/>
                    <a:pt x="12540997" y="3473704"/>
                    <a:pt x="12428728" y="3473704"/>
                  </a:cubicBezTo>
                  <a:lnTo>
                    <a:pt x="12428728" y="3454654"/>
                  </a:lnTo>
                  <a:lnTo>
                    <a:pt x="12428728" y="3473704"/>
                  </a:lnTo>
                  <a:lnTo>
                    <a:pt x="203454" y="3473704"/>
                  </a:lnTo>
                  <a:lnTo>
                    <a:pt x="203454" y="3454654"/>
                  </a:lnTo>
                  <a:lnTo>
                    <a:pt x="203454" y="3473704"/>
                  </a:lnTo>
                  <a:cubicBezTo>
                    <a:pt x="91186" y="3473704"/>
                    <a:pt x="0" y="3383407"/>
                    <a:pt x="0" y="3271774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271774"/>
                  </a:lnTo>
                  <a:lnTo>
                    <a:pt x="19050" y="3271774"/>
                  </a:lnTo>
                  <a:lnTo>
                    <a:pt x="38100" y="3271774"/>
                  </a:lnTo>
                  <a:cubicBezTo>
                    <a:pt x="38100" y="3362071"/>
                    <a:pt x="112014" y="3435604"/>
                    <a:pt x="203454" y="3435604"/>
                  </a:cubicBezTo>
                  <a:lnTo>
                    <a:pt x="12428728" y="3435604"/>
                  </a:lnTo>
                  <a:cubicBezTo>
                    <a:pt x="12520168" y="3435604"/>
                    <a:pt x="12594082" y="3362071"/>
                    <a:pt x="12594082" y="3271774"/>
                  </a:cubicBezTo>
                  <a:lnTo>
                    <a:pt x="12594082" y="201930"/>
                  </a:lnTo>
                  <a:cubicBezTo>
                    <a:pt x="12594082" y="111633"/>
                    <a:pt x="12520168" y="38100"/>
                    <a:pt x="12428728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743825" y="2033285"/>
            <a:ext cx="114300" cy="2576665"/>
            <a:chOff x="0" y="0"/>
            <a:chExt cx="152400" cy="34355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400" cy="3435604"/>
            </a:xfrm>
            <a:custGeom>
              <a:avLst/>
              <a:gdLst/>
              <a:ahLst/>
              <a:cxnLst/>
              <a:rect l="l" t="t" r="r" b="b"/>
              <a:pathLst>
                <a:path w="152400" h="343560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3359404"/>
                  </a:lnTo>
                  <a:cubicBezTo>
                    <a:pt x="152400" y="3401441"/>
                    <a:pt x="118237" y="3435604"/>
                    <a:pt x="76200" y="3435604"/>
                  </a:cubicBezTo>
                  <a:cubicBezTo>
                    <a:pt x="34163" y="3435604"/>
                    <a:pt x="0" y="3401441"/>
                    <a:pt x="0" y="3359404"/>
                  </a:cubicBez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134646" y="2300280"/>
            <a:ext cx="4285954" cy="365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Datagram Networks (e.g., IP)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34646" y="2763586"/>
            <a:ext cx="8806758" cy="1569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26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Connectionless</a:t>
            </a:r>
          </a:p>
          <a:p>
            <a:pPr marL="292199" lvl="1" indent="-146100" algn="l">
              <a:lnSpc>
                <a:spcPts val="26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Packets routed independently</a:t>
            </a:r>
          </a:p>
          <a:p>
            <a:pPr marL="292199" lvl="1" indent="-146100" algn="l">
              <a:lnSpc>
                <a:spcPts val="26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Arrive out-of-order</a:t>
            </a:r>
          </a:p>
          <a:p>
            <a:pPr marL="292199" lvl="1" indent="-146100" algn="l">
              <a:lnSpc>
                <a:spcPts val="26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Highly scalable and resilient to failures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758113" y="4769189"/>
            <a:ext cx="9474098" cy="2605240"/>
            <a:chOff x="0" y="0"/>
            <a:chExt cx="12632131" cy="3473653"/>
          </a:xfrm>
        </p:grpSpPr>
        <p:sp>
          <p:nvSpPr>
            <p:cNvPr id="18" name="Freeform 18"/>
            <p:cNvSpPr/>
            <p:nvPr/>
          </p:nvSpPr>
          <p:spPr>
            <a:xfrm>
              <a:off x="19050" y="19050"/>
              <a:ext cx="12594082" cy="3435604"/>
            </a:xfrm>
            <a:custGeom>
              <a:avLst/>
              <a:gdLst/>
              <a:ahLst/>
              <a:cxnLst/>
              <a:rect l="l" t="t" r="r" b="b"/>
              <a:pathLst>
                <a:path w="12594082" h="3435604">
                  <a:moveTo>
                    <a:pt x="0" y="182880"/>
                  </a:moveTo>
                  <a:cubicBezTo>
                    <a:pt x="0" y="81915"/>
                    <a:pt x="82550" y="0"/>
                    <a:pt x="184404" y="0"/>
                  </a:cubicBezTo>
                  <a:lnTo>
                    <a:pt x="12409678" y="0"/>
                  </a:lnTo>
                  <a:cubicBezTo>
                    <a:pt x="12511532" y="0"/>
                    <a:pt x="12594082" y="81915"/>
                    <a:pt x="12594082" y="182880"/>
                  </a:cubicBezTo>
                  <a:lnTo>
                    <a:pt x="12594082" y="3252724"/>
                  </a:lnTo>
                  <a:cubicBezTo>
                    <a:pt x="12594082" y="3353689"/>
                    <a:pt x="12511532" y="3435604"/>
                    <a:pt x="12409678" y="3435604"/>
                  </a:cubicBezTo>
                  <a:lnTo>
                    <a:pt x="184404" y="3435604"/>
                  </a:lnTo>
                  <a:cubicBezTo>
                    <a:pt x="82550" y="3435604"/>
                    <a:pt x="0" y="3353689"/>
                    <a:pt x="0" y="325272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12632182" cy="3473704"/>
            </a:xfrm>
            <a:custGeom>
              <a:avLst/>
              <a:gdLst/>
              <a:ahLst/>
              <a:cxnLst/>
              <a:rect l="l" t="t" r="r" b="b"/>
              <a:pathLst>
                <a:path w="12632182" h="3473704">
                  <a:moveTo>
                    <a:pt x="0" y="201930"/>
                  </a:moveTo>
                  <a:cubicBezTo>
                    <a:pt x="0" y="90297"/>
                    <a:pt x="91186" y="0"/>
                    <a:pt x="203454" y="0"/>
                  </a:cubicBezTo>
                  <a:lnTo>
                    <a:pt x="12428728" y="0"/>
                  </a:lnTo>
                  <a:lnTo>
                    <a:pt x="12428728" y="19050"/>
                  </a:lnTo>
                  <a:lnTo>
                    <a:pt x="12428728" y="0"/>
                  </a:lnTo>
                  <a:cubicBezTo>
                    <a:pt x="12540869" y="0"/>
                    <a:pt x="12632182" y="90297"/>
                    <a:pt x="12632182" y="201930"/>
                  </a:cubicBezTo>
                  <a:lnTo>
                    <a:pt x="12613132" y="201930"/>
                  </a:lnTo>
                  <a:lnTo>
                    <a:pt x="12632182" y="201930"/>
                  </a:lnTo>
                  <a:lnTo>
                    <a:pt x="12632182" y="3271774"/>
                  </a:lnTo>
                  <a:lnTo>
                    <a:pt x="12613132" y="3271774"/>
                  </a:lnTo>
                  <a:lnTo>
                    <a:pt x="12632182" y="3271774"/>
                  </a:lnTo>
                  <a:cubicBezTo>
                    <a:pt x="12632182" y="3383407"/>
                    <a:pt x="12540997" y="3473704"/>
                    <a:pt x="12428728" y="3473704"/>
                  </a:cubicBezTo>
                  <a:lnTo>
                    <a:pt x="12428728" y="3454654"/>
                  </a:lnTo>
                  <a:lnTo>
                    <a:pt x="12428728" y="3473704"/>
                  </a:lnTo>
                  <a:lnTo>
                    <a:pt x="203454" y="3473704"/>
                  </a:lnTo>
                  <a:lnTo>
                    <a:pt x="203454" y="3454654"/>
                  </a:lnTo>
                  <a:lnTo>
                    <a:pt x="203454" y="3473704"/>
                  </a:lnTo>
                  <a:cubicBezTo>
                    <a:pt x="91186" y="3473704"/>
                    <a:pt x="0" y="3383407"/>
                    <a:pt x="0" y="3271774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271774"/>
                  </a:lnTo>
                  <a:lnTo>
                    <a:pt x="19050" y="3271774"/>
                  </a:lnTo>
                  <a:lnTo>
                    <a:pt x="38100" y="3271774"/>
                  </a:lnTo>
                  <a:cubicBezTo>
                    <a:pt x="38100" y="3362071"/>
                    <a:pt x="112014" y="3435604"/>
                    <a:pt x="203454" y="3435604"/>
                  </a:cubicBezTo>
                  <a:lnTo>
                    <a:pt x="12428728" y="3435604"/>
                  </a:lnTo>
                  <a:cubicBezTo>
                    <a:pt x="12520168" y="3435604"/>
                    <a:pt x="12594082" y="3362071"/>
                    <a:pt x="12594082" y="3271774"/>
                  </a:cubicBezTo>
                  <a:lnTo>
                    <a:pt x="12594082" y="201930"/>
                  </a:lnTo>
                  <a:cubicBezTo>
                    <a:pt x="12594082" y="111633"/>
                    <a:pt x="12520168" y="38100"/>
                    <a:pt x="12428728" y="38100"/>
                  </a:cubicBezTo>
                  <a:lnTo>
                    <a:pt x="203454" y="38100"/>
                  </a:lnTo>
                  <a:lnTo>
                    <a:pt x="203454" y="19050"/>
                  </a:lnTo>
                  <a:lnTo>
                    <a:pt x="203454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743825" y="4783476"/>
            <a:ext cx="114300" cy="2576665"/>
            <a:chOff x="0" y="0"/>
            <a:chExt cx="152400" cy="34355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2400" cy="3435604"/>
            </a:xfrm>
            <a:custGeom>
              <a:avLst/>
              <a:gdLst/>
              <a:ahLst/>
              <a:cxnLst/>
              <a:rect l="l" t="t" r="r" b="b"/>
              <a:pathLst>
                <a:path w="152400" h="343560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3359404"/>
                  </a:lnTo>
                  <a:cubicBezTo>
                    <a:pt x="152400" y="3401441"/>
                    <a:pt x="118237" y="3435604"/>
                    <a:pt x="76200" y="3435604"/>
                  </a:cubicBezTo>
                  <a:cubicBezTo>
                    <a:pt x="34163" y="3435604"/>
                    <a:pt x="0" y="3401441"/>
                    <a:pt x="0" y="3359404"/>
                  </a:cubicBez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134646" y="5050481"/>
            <a:ext cx="5809954" cy="365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Virtual Circuit (VC) Networks (e.g., ATM)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34646" y="5513777"/>
            <a:ext cx="8806758" cy="1569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26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Connection-oriented</a:t>
            </a:r>
          </a:p>
          <a:p>
            <a:pPr marL="292199" lvl="1" indent="-146100" algn="l">
              <a:lnSpc>
                <a:spcPts val="26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Setup creates a fixed logical path</a:t>
            </a:r>
          </a:p>
          <a:p>
            <a:pPr marL="292199" lvl="1" indent="-146100" algn="l">
              <a:lnSpc>
                <a:spcPts val="26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Packets arrive in order</a:t>
            </a:r>
          </a:p>
          <a:p>
            <a:pPr marL="292199" lvl="1" indent="-146100" algn="l">
              <a:lnSpc>
                <a:spcPts val="2625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Physical wire is still shared dynamically</a:t>
            </a:r>
          </a:p>
        </p:txBody>
      </p:sp>
      <p:sp>
        <p:nvSpPr>
          <p:cNvPr id="24" name="Google Shape;101;p2">
            <a:extLst>
              <a:ext uri="{FF2B5EF4-FFF2-40B4-BE49-F238E27FC236}">
                <a16:creationId xmlns:a16="http://schemas.microsoft.com/office/drawing/2014/main" id="{A2240196-4059-7D34-C23C-53C987ED9606}"/>
              </a:ext>
            </a:extLst>
          </p:cNvPr>
          <p:cNvSpPr/>
          <p:nvPr/>
        </p:nvSpPr>
        <p:spPr>
          <a:xfrm>
            <a:off x="0" y="0"/>
            <a:ext cx="18288000" cy="1115736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Ovo" panose="02020502070400060406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102;p2">
            <a:extLst>
              <a:ext uri="{FF2B5EF4-FFF2-40B4-BE49-F238E27FC236}">
                <a16:creationId xmlns:a16="http://schemas.microsoft.com/office/drawing/2014/main" id="{4578CCA2-C38E-3F54-1E2D-BA36B4DD348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730" y="155317"/>
            <a:ext cx="1504919" cy="80510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03;p2">
            <a:extLst>
              <a:ext uri="{FF2B5EF4-FFF2-40B4-BE49-F238E27FC236}">
                <a16:creationId xmlns:a16="http://schemas.microsoft.com/office/drawing/2014/main" id="{D9D3FC1B-53E5-BCA2-1D28-9A6365A92DE3}"/>
              </a:ext>
            </a:extLst>
          </p:cNvPr>
          <p:cNvSpPr txBox="1"/>
          <p:nvPr/>
        </p:nvSpPr>
        <p:spPr>
          <a:xfrm>
            <a:off x="16597183" y="595441"/>
            <a:ext cx="161903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solidFill>
                  <a:schemeClr val="lt1"/>
                </a:solidFill>
                <a:latin typeface="Ovo" panose="02020502070400060406" pitchFamily="18" charset="0"/>
                <a:ea typeface="Calibri"/>
                <a:cs typeface="Calibri"/>
                <a:sym typeface="Calibri"/>
              </a:rPr>
              <a:t>unioffaisalabad</a:t>
            </a:r>
            <a:endParaRPr sz="1100" dirty="0">
              <a:solidFill>
                <a:schemeClr val="lt1"/>
              </a:solidFill>
              <a:latin typeface="Ovo" panose="02020502070400060406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104;p2">
            <a:extLst>
              <a:ext uri="{FF2B5EF4-FFF2-40B4-BE49-F238E27FC236}">
                <a16:creationId xmlns:a16="http://schemas.microsoft.com/office/drawing/2014/main" id="{03DE3A6A-80E5-A9EF-B326-7DE50CA17C6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783486" y="302510"/>
            <a:ext cx="261610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05;p2">
            <a:extLst>
              <a:ext uri="{FF2B5EF4-FFF2-40B4-BE49-F238E27FC236}">
                <a16:creationId xmlns:a16="http://schemas.microsoft.com/office/drawing/2014/main" id="{78E32F20-A63D-9D98-3A68-D42ADB4749F5}"/>
              </a:ext>
            </a:extLst>
          </p:cNvPr>
          <p:cNvSpPr txBox="1"/>
          <p:nvPr/>
        </p:nvSpPr>
        <p:spPr>
          <a:xfrm>
            <a:off x="16020374" y="248649"/>
            <a:ext cx="2606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Ovo" panose="02020502070400060406" pitchFamily="18" charset="0"/>
                <a:ea typeface="Calibri"/>
                <a:cs typeface="Calibri"/>
                <a:sym typeface="Calibri"/>
              </a:rPr>
              <a:t>www.tuf.edu.pk</a:t>
            </a:r>
            <a:endParaRPr dirty="0">
              <a:latin typeface="Ovo" panose="02020502070400060406" pitchFamily="18" charset="0"/>
            </a:endParaRPr>
          </a:p>
        </p:txBody>
      </p:sp>
      <p:pic>
        <p:nvPicPr>
          <p:cNvPr id="29" name="Google Shape;106;p2">
            <a:extLst>
              <a:ext uri="{FF2B5EF4-FFF2-40B4-BE49-F238E27FC236}">
                <a16:creationId xmlns:a16="http://schemas.microsoft.com/office/drawing/2014/main" id="{6335A24C-6C84-861B-38C7-520324089E3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468463" y="64052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07;p2">
            <a:extLst>
              <a:ext uri="{FF2B5EF4-FFF2-40B4-BE49-F238E27FC236}">
                <a16:creationId xmlns:a16="http://schemas.microsoft.com/office/drawing/2014/main" id="{A3553635-BD0A-0553-27CD-9B190C39A93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230600" y="647700"/>
            <a:ext cx="171451" cy="17145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8"/>
          <p:cNvSpPr txBox="1"/>
          <p:nvPr/>
        </p:nvSpPr>
        <p:spPr>
          <a:xfrm>
            <a:off x="4861451" y="183874"/>
            <a:ext cx="8565099" cy="70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3600" b="1" dirty="0">
                <a:solidFill>
                  <a:schemeClr val="bg1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Packet Switching (The Modern Standard)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14155" y="2075136"/>
            <a:ext cx="5237112" cy="97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3125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Head-of-Line (HOL) Blocking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4155" y="3147151"/>
            <a:ext cx="5284737" cy="14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Occurs in input-queued switches. The first packet in line waits for a busy output, blocking all packets behind it (even if their outputs are free).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296401" y="1265032"/>
            <a:ext cx="7977476" cy="4055987"/>
            <a:chOff x="0" y="0"/>
            <a:chExt cx="8574015" cy="43592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73981" cy="4359255"/>
            </a:xfrm>
            <a:custGeom>
              <a:avLst/>
              <a:gdLst/>
              <a:ahLst/>
              <a:cxnLst/>
              <a:rect l="l" t="t" r="r" b="b"/>
              <a:pathLst>
                <a:path w="8573981" h="4359255">
                  <a:moveTo>
                    <a:pt x="0" y="0"/>
                  </a:moveTo>
                  <a:lnTo>
                    <a:pt x="8573981" y="0"/>
                  </a:lnTo>
                  <a:lnTo>
                    <a:pt x="8573981" y="4359255"/>
                  </a:lnTo>
                  <a:lnTo>
                    <a:pt x="0" y="4359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667" b="-23667"/>
              </a:stretch>
            </a:blip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2238" y="5671690"/>
            <a:ext cx="5434460" cy="1063228"/>
            <a:chOff x="0" y="0"/>
            <a:chExt cx="7245947" cy="1417638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7245985" cy="1417701"/>
            </a:xfrm>
            <a:custGeom>
              <a:avLst/>
              <a:gdLst/>
              <a:ahLst/>
              <a:cxnLst/>
              <a:rect l="l" t="t" r="r" b="b"/>
              <a:pathLst>
                <a:path w="7245985" h="1417701">
                  <a:moveTo>
                    <a:pt x="0" y="0"/>
                  </a:moveTo>
                  <a:lnTo>
                    <a:pt x="7245985" y="0"/>
                  </a:lnTo>
                  <a:lnTo>
                    <a:pt x="7245985" y="1417701"/>
                  </a:lnTo>
                  <a:lnTo>
                    <a:pt x="0" y="1417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8" b="-123"/>
              </a:stretch>
            </a:blip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58043" y="6905625"/>
            <a:ext cx="3322587" cy="398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The Problem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8043" y="7421461"/>
            <a:ext cx="4902841" cy="79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HOL blocking reduces throughput to ~58%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426698" y="5671690"/>
            <a:ext cx="5434460" cy="1063228"/>
            <a:chOff x="0" y="0"/>
            <a:chExt cx="7245947" cy="1417638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7245985" cy="1417701"/>
            </a:xfrm>
            <a:custGeom>
              <a:avLst/>
              <a:gdLst/>
              <a:ahLst/>
              <a:cxnLst/>
              <a:rect l="l" t="t" r="r" b="b"/>
              <a:pathLst>
                <a:path w="7245985" h="1417701">
                  <a:moveTo>
                    <a:pt x="0" y="0"/>
                  </a:moveTo>
                  <a:lnTo>
                    <a:pt x="7245985" y="0"/>
                  </a:lnTo>
                  <a:lnTo>
                    <a:pt x="7245985" y="1417701"/>
                  </a:lnTo>
                  <a:lnTo>
                    <a:pt x="0" y="1417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" b="-123"/>
              </a:stretch>
            </a:blip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92503" y="6905625"/>
            <a:ext cx="3322587" cy="398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The Solution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92503" y="7421461"/>
            <a:ext cx="4902841" cy="41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Virtual Output Queuing (VOQ)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861159" y="5671690"/>
            <a:ext cx="5434460" cy="1063228"/>
            <a:chOff x="0" y="0"/>
            <a:chExt cx="7245947" cy="1417638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7245985" cy="1417701"/>
            </a:xfrm>
            <a:custGeom>
              <a:avLst/>
              <a:gdLst/>
              <a:ahLst/>
              <a:cxnLst/>
              <a:rect l="l" t="t" r="r" b="b"/>
              <a:pathLst>
                <a:path w="7245985" h="1417701">
                  <a:moveTo>
                    <a:pt x="0" y="0"/>
                  </a:moveTo>
                  <a:lnTo>
                    <a:pt x="7245985" y="0"/>
                  </a:lnTo>
                  <a:lnTo>
                    <a:pt x="7245985" y="1417701"/>
                  </a:lnTo>
                  <a:lnTo>
                    <a:pt x="0" y="1417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8" b="-123"/>
              </a:stretch>
            </a:blip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126963" y="6905625"/>
            <a:ext cx="3322587" cy="398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The Result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26963" y="7421461"/>
            <a:ext cx="4902841" cy="41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Throughput boosted to nearly 100%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2238" y="8655548"/>
            <a:ext cx="16303523" cy="41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62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Virtual Output Queuing (VOQ): Input queues keep separate logical lines for each output port, eliminating HOL blocking.</a:t>
            </a:r>
          </a:p>
        </p:txBody>
      </p:sp>
      <p:sp>
        <p:nvSpPr>
          <p:cNvPr id="24" name="Google Shape;101;p2">
            <a:extLst>
              <a:ext uri="{FF2B5EF4-FFF2-40B4-BE49-F238E27FC236}">
                <a16:creationId xmlns:a16="http://schemas.microsoft.com/office/drawing/2014/main" id="{C6BF74B5-3F32-32F0-E119-B1F4EB652FC9}"/>
              </a:ext>
            </a:extLst>
          </p:cNvPr>
          <p:cNvSpPr/>
          <p:nvPr/>
        </p:nvSpPr>
        <p:spPr>
          <a:xfrm>
            <a:off x="0" y="0"/>
            <a:ext cx="18288000" cy="1115736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Ovo" panose="02020502070400060406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102;p2">
            <a:extLst>
              <a:ext uri="{FF2B5EF4-FFF2-40B4-BE49-F238E27FC236}">
                <a16:creationId xmlns:a16="http://schemas.microsoft.com/office/drawing/2014/main" id="{4CBB5310-A555-AAF3-D905-3679B03DAEE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730" y="155317"/>
            <a:ext cx="1504919" cy="80510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03;p2">
            <a:extLst>
              <a:ext uri="{FF2B5EF4-FFF2-40B4-BE49-F238E27FC236}">
                <a16:creationId xmlns:a16="http://schemas.microsoft.com/office/drawing/2014/main" id="{776D5FCA-E5B7-1CA8-C7FA-A75BC7C7AB77}"/>
              </a:ext>
            </a:extLst>
          </p:cNvPr>
          <p:cNvSpPr txBox="1"/>
          <p:nvPr/>
        </p:nvSpPr>
        <p:spPr>
          <a:xfrm>
            <a:off x="16597183" y="595441"/>
            <a:ext cx="161903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solidFill>
                  <a:schemeClr val="lt1"/>
                </a:solidFill>
                <a:latin typeface="Ovo" panose="02020502070400060406" pitchFamily="18" charset="0"/>
                <a:ea typeface="Calibri"/>
                <a:cs typeface="Calibri"/>
                <a:sym typeface="Calibri"/>
              </a:rPr>
              <a:t>unioffaisalabad</a:t>
            </a:r>
            <a:endParaRPr sz="1100" dirty="0">
              <a:solidFill>
                <a:schemeClr val="lt1"/>
              </a:solidFill>
              <a:latin typeface="Ovo" panose="02020502070400060406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104;p2">
            <a:extLst>
              <a:ext uri="{FF2B5EF4-FFF2-40B4-BE49-F238E27FC236}">
                <a16:creationId xmlns:a16="http://schemas.microsoft.com/office/drawing/2014/main" id="{08447588-B5F6-1F65-C73E-8E1457BA2E7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783486" y="302510"/>
            <a:ext cx="261610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05;p2">
            <a:extLst>
              <a:ext uri="{FF2B5EF4-FFF2-40B4-BE49-F238E27FC236}">
                <a16:creationId xmlns:a16="http://schemas.microsoft.com/office/drawing/2014/main" id="{7C69ED48-6166-4D4A-6328-553152BF203B}"/>
              </a:ext>
            </a:extLst>
          </p:cNvPr>
          <p:cNvSpPr txBox="1"/>
          <p:nvPr/>
        </p:nvSpPr>
        <p:spPr>
          <a:xfrm>
            <a:off x="16020374" y="248649"/>
            <a:ext cx="2606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Ovo" panose="02020502070400060406" pitchFamily="18" charset="0"/>
                <a:ea typeface="Calibri"/>
                <a:cs typeface="Calibri"/>
                <a:sym typeface="Calibri"/>
              </a:rPr>
              <a:t>www.tuf.edu.pk</a:t>
            </a:r>
            <a:endParaRPr dirty="0">
              <a:latin typeface="Ovo" panose="02020502070400060406" pitchFamily="18" charset="0"/>
            </a:endParaRPr>
          </a:p>
        </p:txBody>
      </p:sp>
      <p:pic>
        <p:nvPicPr>
          <p:cNvPr id="29" name="Google Shape;106;p2">
            <a:extLst>
              <a:ext uri="{FF2B5EF4-FFF2-40B4-BE49-F238E27FC236}">
                <a16:creationId xmlns:a16="http://schemas.microsoft.com/office/drawing/2014/main" id="{B0191AAA-9DAB-DB14-9A64-7764D264745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468463" y="64052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07;p2">
            <a:extLst>
              <a:ext uri="{FF2B5EF4-FFF2-40B4-BE49-F238E27FC236}">
                <a16:creationId xmlns:a16="http://schemas.microsoft.com/office/drawing/2014/main" id="{0AE8D94F-729C-94B6-F336-4232923BB0F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6230600" y="647700"/>
            <a:ext cx="171451" cy="1714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6"/>
          <p:cNvSpPr txBox="1"/>
          <p:nvPr/>
        </p:nvSpPr>
        <p:spPr>
          <a:xfrm>
            <a:off x="5333496" y="156025"/>
            <a:ext cx="7620854" cy="739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3600" b="1" dirty="0">
                <a:solidFill>
                  <a:schemeClr val="bg1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Inside the Router: Advanced Nuance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2713" y="3603279"/>
            <a:ext cx="16322573" cy="4772320"/>
            <a:chOff x="0" y="0"/>
            <a:chExt cx="21763431" cy="63630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63355" cy="6363081"/>
            </a:xfrm>
            <a:custGeom>
              <a:avLst/>
              <a:gdLst/>
              <a:ahLst/>
              <a:cxnLst/>
              <a:rect l="l" t="t" r="r" b="b"/>
              <a:pathLst>
                <a:path w="21763355" h="6363081">
                  <a:moveTo>
                    <a:pt x="0" y="686054"/>
                  </a:moveTo>
                  <a:cubicBezTo>
                    <a:pt x="0" y="307086"/>
                    <a:pt x="308102" y="0"/>
                    <a:pt x="687959" y="0"/>
                  </a:cubicBezTo>
                  <a:lnTo>
                    <a:pt x="21075396" y="0"/>
                  </a:lnTo>
                  <a:lnTo>
                    <a:pt x="21075396" y="12700"/>
                  </a:lnTo>
                  <a:lnTo>
                    <a:pt x="21075396" y="0"/>
                  </a:lnTo>
                  <a:cubicBezTo>
                    <a:pt x="21455380" y="0"/>
                    <a:pt x="21763355" y="307086"/>
                    <a:pt x="21763355" y="686054"/>
                  </a:cubicBezTo>
                  <a:lnTo>
                    <a:pt x="21750655" y="686054"/>
                  </a:lnTo>
                  <a:lnTo>
                    <a:pt x="21763355" y="686054"/>
                  </a:lnTo>
                  <a:lnTo>
                    <a:pt x="21763355" y="5677027"/>
                  </a:lnTo>
                  <a:lnTo>
                    <a:pt x="21750655" y="5677027"/>
                  </a:lnTo>
                  <a:lnTo>
                    <a:pt x="21763355" y="5677027"/>
                  </a:lnTo>
                  <a:cubicBezTo>
                    <a:pt x="21763355" y="6055995"/>
                    <a:pt x="21455253" y="6363081"/>
                    <a:pt x="21075396" y="6363081"/>
                  </a:cubicBezTo>
                  <a:lnTo>
                    <a:pt x="21075396" y="6350381"/>
                  </a:lnTo>
                  <a:lnTo>
                    <a:pt x="21075396" y="6363081"/>
                  </a:lnTo>
                  <a:lnTo>
                    <a:pt x="687959" y="6363081"/>
                  </a:lnTo>
                  <a:lnTo>
                    <a:pt x="687959" y="6350381"/>
                  </a:lnTo>
                  <a:lnTo>
                    <a:pt x="687959" y="6363081"/>
                  </a:lnTo>
                  <a:cubicBezTo>
                    <a:pt x="308102" y="6363081"/>
                    <a:pt x="0" y="6055995"/>
                    <a:pt x="0" y="5677027"/>
                  </a:cubicBezTo>
                  <a:lnTo>
                    <a:pt x="0" y="686054"/>
                  </a:lnTo>
                  <a:lnTo>
                    <a:pt x="12700" y="686054"/>
                  </a:lnTo>
                  <a:lnTo>
                    <a:pt x="0" y="686054"/>
                  </a:lnTo>
                  <a:moveTo>
                    <a:pt x="25400" y="686054"/>
                  </a:moveTo>
                  <a:lnTo>
                    <a:pt x="25400" y="5677027"/>
                  </a:lnTo>
                  <a:lnTo>
                    <a:pt x="12700" y="5677027"/>
                  </a:lnTo>
                  <a:lnTo>
                    <a:pt x="25400" y="5677027"/>
                  </a:lnTo>
                  <a:cubicBezTo>
                    <a:pt x="25400" y="6041898"/>
                    <a:pt x="322072" y="6337681"/>
                    <a:pt x="687959" y="6337681"/>
                  </a:cubicBezTo>
                  <a:lnTo>
                    <a:pt x="21075396" y="6337681"/>
                  </a:lnTo>
                  <a:cubicBezTo>
                    <a:pt x="21441411" y="6337681"/>
                    <a:pt x="21737955" y="6041898"/>
                    <a:pt x="21737955" y="5677027"/>
                  </a:cubicBezTo>
                  <a:lnTo>
                    <a:pt x="21737955" y="686054"/>
                  </a:lnTo>
                  <a:cubicBezTo>
                    <a:pt x="21737955" y="321183"/>
                    <a:pt x="21441283" y="25400"/>
                    <a:pt x="21075396" y="25400"/>
                  </a:cubicBezTo>
                  <a:lnTo>
                    <a:pt x="687959" y="25400"/>
                  </a:lnTo>
                  <a:lnTo>
                    <a:pt x="687959" y="12700"/>
                  </a:lnTo>
                  <a:lnTo>
                    <a:pt x="687959" y="25400"/>
                  </a:lnTo>
                  <a:cubicBezTo>
                    <a:pt x="322072" y="25400"/>
                    <a:pt x="25400" y="321183"/>
                    <a:pt x="25400" y="686054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1584" y="3631854"/>
            <a:ext cx="4066280" cy="937317"/>
            <a:chOff x="0" y="0"/>
            <a:chExt cx="5421706" cy="12497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21630" cy="1249680"/>
            </a:xfrm>
            <a:custGeom>
              <a:avLst/>
              <a:gdLst/>
              <a:ahLst/>
              <a:cxnLst/>
              <a:rect l="l" t="t" r="r" b="b"/>
              <a:pathLst>
                <a:path w="5421630" h="1249680">
                  <a:moveTo>
                    <a:pt x="0" y="624840"/>
                  </a:moveTo>
                  <a:cubicBezTo>
                    <a:pt x="0" y="279781"/>
                    <a:pt x="279781" y="0"/>
                    <a:pt x="624840" y="0"/>
                  </a:cubicBezTo>
                  <a:lnTo>
                    <a:pt x="4796790" y="0"/>
                  </a:lnTo>
                  <a:cubicBezTo>
                    <a:pt x="5141849" y="0"/>
                    <a:pt x="5421630" y="279781"/>
                    <a:pt x="5421630" y="624840"/>
                  </a:cubicBezTo>
                  <a:cubicBezTo>
                    <a:pt x="5421630" y="969899"/>
                    <a:pt x="5141849" y="1249680"/>
                    <a:pt x="4796790" y="1249680"/>
                  </a:cubicBezTo>
                  <a:lnTo>
                    <a:pt x="624840" y="1249680"/>
                  </a:lnTo>
                  <a:cubicBezTo>
                    <a:pt x="279781" y="1249807"/>
                    <a:pt x="0" y="970026"/>
                    <a:pt x="0" y="624840"/>
                  </a:cubicBez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48228" y="3796466"/>
            <a:ext cx="3383461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Feature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114800" y="3631854"/>
            <a:ext cx="5029343" cy="937317"/>
            <a:chOff x="0" y="0"/>
            <a:chExt cx="5421706" cy="12497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21757" cy="1249807"/>
            </a:xfrm>
            <a:custGeom>
              <a:avLst/>
              <a:gdLst/>
              <a:ahLst/>
              <a:cxnLst/>
              <a:rect l="l" t="t" r="r" b="b"/>
              <a:pathLst>
                <a:path w="5421757" h="1249807">
                  <a:moveTo>
                    <a:pt x="0" y="0"/>
                  </a:moveTo>
                  <a:lnTo>
                    <a:pt x="5421757" y="0"/>
                  </a:lnTo>
                  <a:lnTo>
                    <a:pt x="5421757" y="1249807"/>
                  </a:lnTo>
                  <a:lnTo>
                    <a:pt x="0" y="1249807"/>
                  </a:ln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424036" y="3796466"/>
            <a:ext cx="3373936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Circuit Switching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144152" y="3631854"/>
            <a:ext cx="4066280" cy="937317"/>
            <a:chOff x="0" y="0"/>
            <a:chExt cx="5421706" cy="12497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21757" cy="1249807"/>
            </a:xfrm>
            <a:custGeom>
              <a:avLst/>
              <a:gdLst/>
              <a:ahLst/>
              <a:cxnLst/>
              <a:rect l="l" t="t" r="r" b="b"/>
              <a:pathLst>
                <a:path w="5421757" h="1249807">
                  <a:moveTo>
                    <a:pt x="0" y="0"/>
                  </a:moveTo>
                  <a:lnTo>
                    <a:pt x="5421757" y="0"/>
                  </a:lnTo>
                  <a:lnTo>
                    <a:pt x="5421757" y="1249807"/>
                  </a:lnTo>
                  <a:lnTo>
                    <a:pt x="0" y="1249807"/>
                  </a:ln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490319" y="3796466"/>
            <a:ext cx="3373936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Datagram Packet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210432" y="3631854"/>
            <a:ext cx="2715368" cy="937317"/>
            <a:chOff x="0" y="0"/>
            <a:chExt cx="5421706" cy="12497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21757" cy="1249807"/>
            </a:xfrm>
            <a:custGeom>
              <a:avLst/>
              <a:gdLst/>
              <a:ahLst/>
              <a:cxnLst/>
              <a:rect l="l" t="t" r="r" b="b"/>
              <a:pathLst>
                <a:path w="5421757" h="1249807">
                  <a:moveTo>
                    <a:pt x="0" y="0"/>
                  </a:moveTo>
                  <a:lnTo>
                    <a:pt x="5421757" y="0"/>
                  </a:lnTo>
                  <a:lnTo>
                    <a:pt x="5421757" y="1249807"/>
                  </a:lnTo>
                  <a:lnTo>
                    <a:pt x="0" y="1249807"/>
                  </a:ln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48235" y="4665764"/>
            <a:ext cx="3383461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Dedicated Path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24040" y="4665764"/>
            <a:ext cx="3373936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Yes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90319" y="4665764"/>
            <a:ext cx="3373936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No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56609" y="4665764"/>
            <a:ext cx="3383461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Yes (Logical)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48235" y="5612606"/>
            <a:ext cx="3383461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Bandwidth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24040" y="5612606"/>
            <a:ext cx="3373936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Reserved / Guaranteed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90319" y="5612606"/>
            <a:ext cx="3373936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Dynamic / Best Effort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556609" y="5612606"/>
            <a:ext cx="3383461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Reserved / Managed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8235" y="6559448"/>
            <a:ext cx="3383461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Setup Phase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24040" y="6559448"/>
            <a:ext cx="3373936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Required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90319" y="6559448"/>
            <a:ext cx="3373936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None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556609" y="6559448"/>
            <a:ext cx="3383461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Required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48235" y="7506291"/>
            <a:ext cx="3383461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Header Size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424040" y="7506291"/>
            <a:ext cx="3373936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None (after setup)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90319" y="7506291"/>
            <a:ext cx="3373936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High (Full IP address)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556609" y="7506291"/>
            <a:ext cx="3383461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Low (Short VC tag)</a:t>
            </a:r>
          </a:p>
        </p:txBody>
      </p:sp>
      <p:sp>
        <p:nvSpPr>
          <p:cNvPr id="37" name="Google Shape;101;p2">
            <a:extLst>
              <a:ext uri="{FF2B5EF4-FFF2-40B4-BE49-F238E27FC236}">
                <a16:creationId xmlns:a16="http://schemas.microsoft.com/office/drawing/2014/main" id="{34B1501E-4EF5-F12D-F2B5-A91506A81BD3}"/>
              </a:ext>
            </a:extLst>
          </p:cNvPr>
          <p:cNvSpPr/>
          <p:nvPr/>
        </p:nvSpPr>
        <p:spPr>
          <a:xfrm>
            <a:off x="0" y="0"/>
            <a:ext cx="18288000" cy="1115736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102;p2">
            <a:extLst>
              <a:ext uri="{FF2B5EF4-FFF2-40B4-BE49-F238E27FC236}">
                <a16:creationId xmlns:a16="http://schemas.microsoft.com/office/drawing/2014/main" id="{A7F2B90F-E0FC-099D-FF8C-BAA58ACB41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730" y="155317"/>
            <a:ext cx="1504919" cy="80510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103;p2">
            <a:extLst>
              <a:ext uri="{FF2B5EF4-FFF2-40B4-BE49-F238E27FC236}">
                <a16:creationId xmlns:a16="http://schemas.microsoft.com/office/drawing/2014/main" id="{0CEBBBA6-A644-BBB2-B74F-7454114A763E}"/>
              </a:ext>
            </a:extLst>
          </p:cNvPr>
          <p:cNvSpPr txBox="1"/>
          <p:nvPr/>
        </p:nvSpPr>
        <p:spPr>
          <a:xfrm>
            <a:off x="16597183" y="595441"/>
            <a:ext cx="161903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unioffaisalabad</a:t>
            </a:r>
            <a:endParaRPr sz="1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104;p2">
            <a:extLst>
              <a:ext uri="{FF2B5EF4-FFF2-40B4-BE49-F238E27FC236}">
                <a16:creationId xmlns:a16="http://schemas.microsoft.com/office/drawing/2014/main" id="{0FD4530A-772E-FD96-08C1-73525EE2697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83486" y="302510"/>
            <a:ext cx="261610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105;p2">
            <a:extLst>
              <a:ext uri="{FF2B5EF4-FFF2-40B4-BE49-F238E27FC236}">
                <a16:creationId xmlns:a16="http://schemas.microsoft.com/office/drawing/2014/main" id="{6AA52C94-A652-2DF7-1785-0ADE3AB46E42}"/>
              </a:ext>
            </a:extLst>
          </p:cNvPr>
          <p:cNvSpPr txBox="1"/>
          <p:nvPr/>
        </p:nvSpPr>
        <p:spPr>
          <a:xfrm>
            <a:off x="16020374" y="248649"/>
            <a:ext cx="2606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www.tuf.edu.pk</a:t>
            </a:r>
            <a:endParaRPr dirty="0"/>
          </a:p>
        </p:txBody>
      </p:sp>
      <p:pic>
        <p:nvPicPr>
          <p:cNvPr id="42" name="Google Shape;106;p2">
            <a:extLst>
              <a:ext uri="{FF2B5EF4-FFF2-40B4-BE49-F238E27FC236}">
                <a16:creationId xmlns:a16="http://schemas.microsoft.com/office/drawing/2014/main" id="{B8569162-CCDD-D720-129D-345AD2EEB2C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68463" y="64052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107;p2">
            <a:extLst>
              <a:ext uri="{FF2B5EF4-FFF2-40B4-BE49-F238E27FC236}">
                <a16:creationId xmlns:a16="http://schemas.microsoft.com/office/drawing/2014/main" id="{815A8F6D-CA0F-BA43-23B7-8A9FBF538C8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230600" y="647700"/>
            <a:ext cx="171451" cy="1714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6"/>
          <p:cNvSpPr txBox="1"/>
          <p:nvPr/>
        </p:nvSpPr>
        <p:spPr>
          <a:xfrm>
            <a:off x="5616020" y="-63500"/>
            <a:ext cx="7055961" cy="912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3600" b="1" dirty="0">
                <a:solidFill>
                  <a:schemeClr val="bg1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Comparing Switching Paradigms</a:t>
            </a:r>
          </a:p>
        </p:txBody>
      </p:sp>
      <p:grpSp>
        <p:nvGrpSpPr>
          <p:cNvPr id="46" name="Group 9">
            <a:extLst>
              <a:ext uri="{FF2B5EF4-FFF2-40B4-BE49-F238E27FC236}">
                <a16:creationId xmlns:a16="http://schemas.microsoft.com/office/drawing/2014/main" id="{C235DDEC-9B9B-8A86-C2D4-887B746215C0}"/>
              </a:ext>
            </a:extLst>
          </p:cNvPr>
          <p:cNvGrpSpPr/>
          <p:nvPr/>
        </p:nvGrpSpPr>
        <p:grpSpPr>
          <a:xfrm>
            <a:off x="13224710" y="3634122"/>
            <a:ext cx="4066280" cy="937317"/>
            <a:chOff x="0" y="0"/>
            <a:chExt cx="5421706" cy="1249756"/>
          </a:xfrm>
        </p:grpSpPr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5C612A86-59BC-3CCF-1CBB-2978302A10E5}"/>
                </a:ext>
              </a:extLst>
            </p:cNvPr>
            <p:cNvSpPr/>
            <p:nvPr/>
          </p:nvSpPr>
          <p:spPr>
            <a:xfrm>
              <a:off x="0" y="0"/>
              <a:ext cx="5421630" cy="1249680"/>
            </a:xfrm>
            <a:custGeom>
              <a:avLst/>
              <a:gdLst/>
              <a:ahLst/>
              <a:cxnLst/>
              <a:rect l="l" t="t" r="r" b="b"/>
              <a:pathLst>
                <a:path w="5421630" h="1249680">
                  <a:moveTo>
                    <a:pt x="0" y="624840"/>
                  </a:moveTo>
                  <a:cubicBezTo>
                    <a:pt x="0" y="279781"/>
                    <a:pt x="279781" y="0"/>
                    <a:pt x="624840" y="0"/>
                  </a:cubicBezTo>
                  <a:lnTo>
                    <a:pt x="4796790" y="0"/>
                  </a:lnTo>
                  <a:cubicBezTo>
                    <a:pt x="5141849" y="0"/>
                    <a:pt x="5421630" y="279781"/>
                    <a:pt x="5421630" y="624840"/>
                  </a:cubicBezTo>
                  <a:cubicBezTo>
                    <a:pt x="5421630" y="969899"/>
                    <a:pt x="5141849" y="1249680"/>
                    <a:pt x="4796790" y="1249680"/>
                  </a:cubicBezTo>
                  <a:lnTo>
                    <a:pt x="624840" y="1249680"/>
                  </a:lnTo>
                  <a:cubicBezTo>
                    <a:pt x="279781" y="1249807"/>
                    <a:pt x="0" y="970026"/>
                    <a:pt x="0" y="624840"/>
                  </a:cubicBez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556602" y="3796466"/>
            <a:ext cx="3383461" cy="63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 dirty="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Virtual Circuit Packet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76760" y="2357590"/>
            <a:ext cx="9476480" cy="54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437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Goal: Multiple signals sharing a single physical wire/fiber.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76760" y="3220345"/>
            <a:ext cx="784917" cy="784917"/>
          </a:xfrm>
          <a:custGeom>
            <a:avLst/>
            <a:gdLst/>
            <a:ahLst/>
            <a:cxnLst/>
            <a:rect l="l" t="t" r="r" b="b"/>
            <a:pathLst>
              <a:path w="784917" h="784917">
                <a:moveTo>
                  <a:pt x="0" y="0"/>
                </a:moveTo>
                <a:lnTo>
                  <a:pt x="784917" y="0"/>
                </a:lnTo>
                <a:lnTo>
                  <a:pt x="784917" y="784917"/>
                </a:lnTo>
                <a:lnTo>
                  <a:pt x="0" y="784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15" b="-3613"/>
            </a:stretch>
          </a:blipFill>
        </p:spPr>
        <p:txBody>
          <a:bodyPr/>
          <a:lstStyle/>
          <a:p>
            <a:endParaRPr lang="en-PK" dirty="0">
              <a:latin typeface="Ovo" panose="02020502070400060406" pitchFamily="18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76760" y="4314825"/>
            <a:ext cx="6768551" cy="46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Frequency Division Multiplexing (FDM)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6760" y="4934102"/>
            <a:ext cx="9476480" cy="1023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437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Divides spectrum into frequency channels, separated by empty "guard bands" to stop interference.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76760" y="6514062"/>
            <a:ext cx="784917" cy="784917"/>
          </a:xfrm>
          <a:custGeom>
            <a:avLst/>
            <a:gdLst/>
            <a:ahLst/>
            <a:cxnLst/>
            <a:rect l="l" t="t" r="r" b="b"/>
            <a:pathLst>
              <a:path w="784917" h="784917">
                <a:moveTo>
                  <a:pt x="0" y="0"/>
                </a:moveTo>
                <a:lnTo>
                  <a:pt x="784917" y="0"/>
                </a:lnTo>
                <a:lnTo>
                  <a:pt x="784917" y="784917"/>
                </a:lnTo>
                <a:lnTo>
                  <a:pt x="0" y="784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41566" b="-41567"/>
            </a:stretch>
          </a:blipFill>
        </p:spPr>
        <p:txBody>
          <a:bodyPr/>
          <a:lstStyle/>
          <a:p>
            <a:endParaRPr lang="en-PK" dirty="0">
              <a:latin typeface="Ovo" panose="02020502070400060406" pitchFamily="18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76760" y="7608541"/>
            <a:ext cx="7199709" cy="46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Wavelength Division Multiplexing (WDM)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6760" y="8227809"/>
            <a:ext cx="9476480" cy="1023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437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FDM for fiber optics. Multiple lasers shoot distinct colors (wavelengths) down one fiber.</a:t>
            </a:r>
          </a:p>
        </p:txBody>
      </p:sp>
      <p:sp>
        <p:nvSpPr>
          <p:cNvPr id="16" name="Google Shape;101;p2">
            <a:extLst>
              <a:ext uri="{FF2B5EF4-FFF2-40B4-BE49-F238E27FC236}">
                <a16:creationId xmlns:a16="http://schemas.microsoft.com/office/drawing/2014/main" id="{24520F8E-9D9B-0673-8039-A28CF77D339B}"/>
              </a:ext>
            </a:extLst>
          </p:cNvPr>
          <p:cNvSpPr/>
          <p:nvPr/>
        </p:nvSpPr>
        <p:spPr>
          <a:xfrm>
            <a:off x="0" y="0"/>
            <a:ext cx="18288000" cy="1115736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02;p2">
            <a:extLst>
              <a:ext uri="{FF2B5EF4-FFF2-40B4-BE49-F238E27FC236}">
                <a16:creationId xmlns:a16="http://schemas.microsoft.com/office/drawing/2014/main" id="{F67A0F44-59BB-9628-FC99-E09D603E0ED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730" y="155317"/>
            <a:ext cx="1504919" cy="80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03;p2">
            <a:extLst>
              <a:ext uri="{FF2B5EF4-FFF2-40B4-BE49-F238E27FC236}">
                <a16:creationId xmlns:a16="http://schemas.microsoft.com/office/drawing/2014/main" id="{30A27ADB-B271-60B6-547C-5A2BA90260C3}"/>
              </a:ext>
            </a:extLst>
          </p:cNvPr>
          <p:cNvSpPr txBox="1"/>
          <p:nvPr/>
        </p:nvSpPr>
        <p:spPr>
          <a:xfrm>
            <a:off x="16597183" y="595441"/>
            <a:ext cx="161903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unioffaisalabad</a:t>
            </a:r>
            <a:endParaRPr sz="1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04;p2">
            <a:extLst>
              <a:ext uri="{FF2B5EF4-FFF2-40B4-BE49-F238E27FC236}">
                <a16:creationId xmlns:a16="http://schemas.microsoft.com/office/drawing/2014/main" id="{29116797-AFA7-C876-34AE-FD38F871995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783486" y="302510"/>
            <a:ext cx="261610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5;p2">
            <a:extLst>
              <a:ext uri="{FF2B5EF4-FFF2-40B4-BE49-F238E27FC236}">
                <a16:creationId xmlns:a16="http://schemas.microsoft.com/office/drawing/2014/main" id="{92F509A4-4F1C-73BF-CBEB-4FFF498780BC}"/>
              </a:ext>
            </a:extLst>
          </p:cNvPr>
          <p:cNvSpPr txBox="1"/>
          <p:nvPr/>
        </p:nvSpPr>
        <p:spPr>
          <a:xfrm>
            <a:off x="16020374" y="248649"/>
            <a:ext cx="2606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www.tuf.edu.pk</a:t>
            </a:r>
            <a:endParaRPr dirty="0"/>
          </a:p>
        </p:txBody>
      </p:sp>
      <p:pic>
        <p:nvPicPr>
          <p:cNvPr id="21" name="Google Shape;106;p2">
            <a:extLst>
              <a:ext uri="{FF2B5EF4-FFF2-40B4-BE49-F238E27FC236}">
                <a16:creationId xmlns:a16="http://schemas.microsoft.com/office/drawing/2014/main" id="{A68D9A18-81B5-1310-9236-E88765666FD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468463" y="64052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07;p2">
            <a:extLst>
              <a:ext uri="{FF2B5EF4-FFF2-40B4-BE49-F238E27FC236}">
                <a16:creationId xmlns:a16="http://schemas.microsoft.com/office/drawing/2014/main" id="{B7170983-D073-A005-A77C-7F228565514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230600" y="647700"/>
            <a:ext cx="171451" cy="17145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8"/>
          <p:cNvSpPr txBox="1"/>
          <p:nvPr/>
        </p:nvSpPr>
        <p:spPr>
          <a:xfrm>
            <a:off x="6496487" y="23586"/>
            <a:ext cx="5295026" cy="8549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87"/>
              </a:lnSpc>
            </a:pPr>
            <a:r>
              <a:rPr lang="en-US" sz="3600" b="1" dirty="0">
                <a:solidFill>
                  <a:schemeClr val="bg1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Multiplexing Foundations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92238" y="2708672"/>
            <a:ext cx="4518717" cy="53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00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Mechanism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491360"/>
            <a:ext cx="9488091" cy="977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312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Divides time into fixed frames and slots. Samples inputs in strict round-robin order.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676927"/>
            <a:ext cx="4518717" cy="53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00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Data Rate Calculation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5459616"/>
            <a:ext cx="9488091" cy="54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312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Multiplexing </a:t>
            </a:r>
            <a:r>
              <a:rPr lang="en-US" sz="2312" i="1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N</a:t>
            </a:r>
            <a:r>
              <a:rPr lang="en-US" sz="2312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 sources at </a:t>
            </a:r>
            <a:r>
              <a:rPr lang="en-US" sz="2312" i="1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R</a:t>
            </a:r>
            <a:r>
              <a:rPr lang="en-US" sz="2312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 bps requires link capacity: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2238" y="6324600"/>
            <a:ext cx="9488091" cy="520598"/>
            <a:chOff x="0" y="0"/>
            <a:chExt cx="12650788" cy="694131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2650851" cy="694182"/>
            </a:xfrm>
            <a:custGeom>
              <a:avLst/>
              <a:gdLst/>
              <a:ahLst/>
              <a:cxnLst/>
              <a:rect l="l" t="t" r="r" b="b"/>
              <a:pathLst>
                <a:path w="12650851" h="694182">
                  <a:moveTo>
                    <a:pt x="0" y="0"/>
                  </a:moveTo>
                  <a:lnTo>
                    <a:pt x="12650851" y="0"/>
                  </a:lnTo>
                  <a:lnTo>
                    <a:pt x="12650851" y="694182"/>
                  </a:lnTo>
                  <a:lnTo>
                    <a:pt x="0" y="694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0" b="-263"/>
              </a:stretch>
            </a:blip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92238" y="7121576"/>
            <a:ext cx="4518717" cy="53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00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The Inefficiency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7904264"/>
            <a:ext cx="9488091" cy="977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312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If a source is idle, its assigned time slot travels empty. Bandwidth is wasted.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781894" y="3415756"/>
            <a:ext cx="5168208" cy="3455489"/>
            <a:chOff x="0" y="0"/>
            <a:chExt cx="6890944" cy="4607319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6890893" cy="4607306"/>
            </a:xfrm>
            <a:custGeom>
              <a:avLst/>
              <a:gdLst/>
              <a:ahLst/>
              <a:cxnLst/>
              <a:rect l="l" t="t" r="r" b="b"/>
              <a:pathLst>
                <a:path w="6890893" h="4607306">
                  <a:moveTo>
                    <a:pt x="0" y="0"/>
                  </a:moveTo>
                  <a:lnTo>
                    <a:pt x="6890893" y="0"/>
                  </a:lnTo>
                  <a:lnTo>
                    <a:pt x="6890893" y="4607306"/>
                  </a:lnTo>
                  <a:lnTo>
                    <a:pt x="0" y="4607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" r="-7"/>
              </a:stretch>
            </a:blip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7" name="Google Shape;101;p2">
            <a:extLst>
              <a:ext uri="{FF2B5EF4-FFF2-40B4-BE49-F238E27FC236}">
                <a16:creationId xmlns:a16="http://schemas.microsoft.com/office/drawing/2014/main" id="{3C04023B-7705-5838-AA9F-9F31712B2C28}"/>
              </a:ext>
            </a:extLst>
          </p:cNvPr>
          <p:cNvSpPr/>
          <p:nvPr/>
        </p:nvSpPr>
        <p:spPr>
          <a:xfrm>
            <a:off x="0" y="0"/>
            <a:ext cx="18288000" cy="1115736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02;p2">
            <a:extLst>
              <a:ext uri="{FF2B5EF4-FFF2-40B4-BE49-F238E27FC236}">
                <a16:creationId xmlns:a16="http://schemas.microsoft.com/office/drawing/2014/main" id="{7EF270E3-B0AF-4622-3EB7-DE29DDFCAAA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730" y="155317"/>
            <a:ext cx="1504919" cy="80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03;p2">
            <a:extLst>
              <a:ext uri="{FF2B5EF4-FFF2-40B4-BE49-F238E27FC236}">
                <a16:creationId xmlns:a16="http://schemas.microsoft.com/office/drawing/2014/main" id="{0C99B6DD-464A-2AFB-983B-29D09D929596}"/>
              </a:ext>
            </a:extLst>
          </p:cNvPr>
          <p:cNvSpPr txBox="1"/>
          <p:nvPr/>
        </p:nvSpPr>
        <p:spPr>
          <a:xfrm>
            <a:off x="16597183" y="595441"/>
            <a:ext cx="161903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unioffaisalabad</a:t>
            </a:r>
            <a:endParaRPr sz="1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104;p2">
            <a:extLst>
              <a:ext uri="{FF2B5EF4-FFF2-40B4-BE49-F238E27FC236}">
                <a16:creationId xmlns:a16="http://schemas.microsoft.com/office/drawing/2014/main" id="{B0D191AF-53DF-8A58-64A5-C96AC5989C7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783486" y="302510"/>
            <a:ext cx="261610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05;p2">
            <a:extLst>
              <a:ext uri="{FF2B5EF4-FFF2-40B4-BE49-F238E27FC236}">
                <a16:creationId xmlns:a16="http://schemas.microsoft.com/office/drawing/2014/main" id="{DA038EE2-58F3-5622-10E9-06ABFBD85C7D}"/>
              </a:ext>
            </a:extLst>
          </p:cNvPr>
          <p:cNvSpPr txBox="1"/>
          <p:nvPr/>
        </p:nvSpPr>
        <p:spPr>
          <a:xfrm>
            <a:off x="16020374" y="248649"/>
            <a:ext cx="2606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www.tuf.edu.pk</a:t>
            </a:r>
            <a:endParaRPr dirty="0"/>
          </a:p>
        </p:txBody>
      </p:sp>
      <p:pic>
        <p:nvPicPr>
          <p:cNvPr id="22" name="Google Shape;106;p2">
            <a:extLst>
              <a:ext uri="{FF2B5EF4-FFF2-40B4-BE49-F238E27FC236}">
                <a16:creationId xmlns:a16="http://schemas.microsoft.com/office/drawing/2014/main" id="{721A6B68-1266-E756-ACC2-2C09EF01B5B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468463" y="64052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07;p2">
            <a:extLst>
              <a:ext uri="{FF2B5EF4-FFF2-40B4-BE49-F238E27FC236}">
                <a16:creationId xmlns:a16="http://schemas.microsoft.com/office/drawing/2014/main" id="{4C2247B8-2126-7387-7194-03F9D11AA43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230600" y="647700"/>
            <a:ext cx="171451" cy="1714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6"/>
          <p:cNvSpPr txBox="1"/>
          <p:nvPr/>
        </p:nvSpPr>
        <p:spPr>
          <a:xfrm>
            <a:off x="4141999" y="30991"/>
            <a:ext cx="10004002" cy="826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3600" b="1" dirty="0">
                <a:solidFill>
                  <a:schemeClr val="bg1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Synchronous Time Division Multiplexing (STDM)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2713" y="2994717"/>
            <a:ext cx="5240236" cy="4878438"/>
            <a:chOff x="0" y="0"/>
            <a:chExt cx="6986981" cy="6504584"/>
          </a:xfrm>
        </p:grpSpPr>
        <p:sp>
          <p:nvSpPr>
            <p:cNvPr id="8" name="Freeform 8"/>
            <p:cNvSpPr/>
            <p:nvPr/>
          </p:nvSpPr>
          <p:spPr>
            <a:xfrm>
              <a:off x="12700" y="12700"/>
              <a:ext cx="6961632" cy="6479159"/>
            </a:xfrm>
            <a:custGeom>
              <a:avLst/>
              <a:gdLst/>
              <a:ahLst/>
              <a:cxnLst/>
              <a:rect l="l" t="t" r="r" b="b"/>
              <a:pathLst>
                <a:path w="6961632" h="6479159">
                  <a:moveTo>
                    <a:pt x="0" y="673354"/>
                  </a:moveTo>
                  <a:cubicBezTo>
                    <a:pt x="0" y="301498"/>
                    <a:pt x="301625" y="0"/>
                    <a:pt x="673608" y="0"/>
                  </a:cubicBezTo>
                  <a:lnTo>
                    <a:pt x="6288024" y="0"/>
                  </a:lnTo>
                  <a:cubicBezTo>
                    <a:pt x="6660007" y="0"/>
                    <a:pt x="6961632" y="301498"/>
                    <a:pt x="6961632" y="673354"/>
                  </a:cubicBezTo>
                  <a:lnTo>
                    <a:pt x="6961632" y="5805805"/>
                  </a:lnTo>
                  <a:cubicBezTo>
                    <a:pt x="6961632" y="6177661"/>
                    <a:pt x="6660007" y="6479159"/>
                    <a:pt x="6288024" y="6479159"/>
                  </a:cubicBezTo>
                  <a:lnTo>
                    <a:pt x="673608" y="6479159"/>
                  </a:lnTo>
                  <a:cubicBezTo>
                    <a:pt x="301625" y="6479159"/>
                    <a:pt x="0" y="6177661"/>
                    <a:pt x="0" y="5805805"/>
                  </a:cubicBezTo>
                  <a:close/>
                </a:path>
              </a:pathLst>
            </a:custGeom>
            <a:solidFill>
              <a:srgbClr val="F7D4D4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6987032" cy="6504559"/>
            </a:xfrm>
            <a:custGeom>
              <a:avLst/>
              <a:gdLst/>
              <a:ahLst/>
              <a:cxnLst/>
              <a:rect l="l" t="t" r="r" b="b"/>
              <a:pathLst>
                <a:path w="6987032" h="6504559">
                  <a:moveTo>
                    <a:pt x="0" y="686054"/>
                  </a:moveTo>
                  <a:cubicBezTo>
                    <a:pt x="0" y="307213"/>
                    <a:pt x="307213" y="0"/>
                    <a:pt x="686308" y="0"/>
                  </a:cubicBezTo>
                  <a:lnTo>
                    <a:pt x="6300724" y="0"/>
                  </a:lnTo>
                  <a:lnTo>
                    <a:pt x="6300724" y="12700"/>
                  </a:lnTo>
                  <a:lnTo>
                    <a:pt x="6300724" y="0"/>
                  </a:lnTo>
                  <a:cubicBezTo>
                    <a:pt x="6679692" y="0"/>
                    <a:pt x="6987032" y="307213"/>
                    <a:pt x="6987032" y="686054"/>
                  </a:cubicBezTo>
                  <a:lnTo>
                    <a:pt x="6974332" y="686054"/>
                  </a:lnTo>
                  <a:lnTo>
                    <a:pt x="6987032" y="686054"/>
                  </a:lnTo>
                  <a:lnTo>
                    <a:pt x="6987032" y="5818505"/>
                  </a:lnTo>
                  <a:lnTo>
                    <a:pt x="6974332" y="5818505"/>
                  </a:lnTo>
                  <a:lnTo>
                    <a:pt x="6987032" y="5818505"/>
                  </a:lnTo>
                  <a:cubicBezTo>
                    <a:pt x="6987032" y="6197473"/>
                    <a:pt x="6679819" y="6504559"/>
                    <a:pt x="6300724" y="6504559"/>
                  </a:cubicBezTo>
                  <a:lnTo>
                    <a:pt x="6300724" y="6491859"/>
                  </a:lnTo>
                  <a:lnTo>
                    <a:pt x="6300724" y="6504559"/>
                  </a:lnTo>
                  <a:lnTo>
                    <a:pt x="686308" y="6504559"/>
                  </a:lnTo>
                  <a:lnTo>
                    <a:pt x="686308" y="6491859"/>
                  </a:lnTo>
                  <a:lnTo>
                    <a:pt x="686308" y="6504559"/>
                  </a:lnTo>
                  <a:cubicBezTo>
                    <a:pt x="307213" y="6504559"/>
                    <a:pt x="0" y="6197473"/>
                    <a:pt x="0" y="5818505"/>
                  </a:cubicBezTo>
                  <a:lnTo>
                    <a:pt x="0" y="686054"/>
                  </a:lnTo>
                  <a:lnTo>
                    <a:pt x="12700" y="686054"/>
                  </a:lnTo>
                  <a:lnTo>
                    <a:pt x="0" y="686054"/>
                  </a:lnTo>
                  <a:moveTo>
                    <a:pt x="25400" y="686054"/>
                  </a:moveTo>
                  <a:lnTo>
                    <a:pt x="25400" y="5818505"/>
                  </a:lnTo>
                  <a:lnTo>
                    <a:pt x="12700" y="5818505"/>
                  </a:lnTo>
                  <a:lnTo>
                    <a:pt x="25400" y="5818505"/>
                  </a:lnTo>
                  <a:cubicBezTo>
                    <a:pt x="25400" y="6183376"/>
                    <a:pt x="321310" y="6479159"/>
                    <a:pt x="686308" y="6479159"/>
                  </a:cubicBezTo>
                  <a:lnTo>
                    <a:pt x="6300724" y="6479159"/>
                  </a:lnTo>
                  <a:cubicBezTo>
                    <a:pt x="6665722" y="6479159"/>
                    <a:pt x="6961632" y="6183376"/>
                    <a:pt x="6961632" y="5818505"/>
                  </a:cubicBezTo>
                  <a:lnTo>
                    <a:pt x="6961632" y="686054"/>
                  </a:lnTo>
                  <a:cubicBezTo>
                    <a:pt x="6961632" y="321183"/>
                    <a:pt x="6665722" y="25400"/>
                    <a:pt x="6300724" y="25400"/>
                  </a:cubicBezTo>
                  <a:lnTo>
                    <a:pt x="686308" y="25400"/>
                  </a:lnTo>
                  <a:lnTo>
                    <a:pt x="686308" y="12700"/>
                  </a:lnTo>
                  <a:lnTo>
                    <a:pt x="686308" y="25400"/>
                  </a:lnTo>
                  <a:cubicBezTo>
                    <a:pt x="321310" y="25400"/>
                    <a:pt x="25400" y="321183"/>
                    <a:pt x="25400" y="686054"/>
                  </a:cubicBezTo>
                  <a:close/>
                </a:path>
              </a:pathLst>
            </a:custGeom>
            <a:solidFill>
              <a:srgbClr val="DDBAB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47940" y="3359944"/>
            <a:ext cx="1009945" cy="1009945"/>
            <a:chOff x="0" y="0"/>
            <a:chExt cx="1346594" cy="13465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46708" cy="1346708"/>
            </a:xfrm>
            <a:custGeom>
              <a:avLst/>
              <a:gdLst/>
              <a:ahLst/>
              <a:cxnLst/>
              <a:rect l="l" t="t" r="r" b="b"/>
              <a:pathLst>
                <a:path w="1346708" h="1346708">
                  <a:moveTo>
                    <a:pt x="0" y="673354"/>
                  </a:moveTo>
                  <a:cubicBezTo>
                    <a:pt x="0" y="301498"/>
                    <a:pt x="301498" y="0"/>
                    <a:pt x="673354" y="0"/>
                  </a:cubicBezTo>
                  <a:cubicBezTo>
                    <a:pt x="1045210" y="0"/>
                    <a:pt x="1346708" y="301498"/>
                    <a:pt x="1346708" y="673354"/>
                  </a:cubicBezTo>
                  <a:cubicBezTo>
                    <a:pt x="1346708" y="1045210"/>
                    <a:pt x="1045210" y="1346708"/>
                    <a:pt x="673354" y="1346708"/>
                  </a:cubicBezTo>
                  <a:cubicBezTo>
                    <a:pt x="301498" y="1346708"/>
                    <a:pt x="0" y="1045210"/>
                    <a:pt x="0" y="673354"/>
                  </a:cubicBez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1625651" y="3637512"/>
            <a:ext cx="454523" cy="454523"/>
          </a:xfrm>
          <a:custGeom>
            <a:avLst/>
            <a:gdLst/>
            <a:ahLst/>
            <a:cxnLst/>
            <a:rect l="l" t="t" r="r" b="b"/>
            <a:pathLst>
              <a:path w="454523" h="454523">
                <a:moveTo>
                  <a:pt x="0" y="0"/>
                </a:moveTo>
                <a:lnTo>
                  <a:pt x="454523" y="0"/>
                </a:lnTo>
                <a:lnTo>
                  <a:pt x="454523" y="454523"/>
                </a:lnTo>
                <a:lnTo>
                  <a:pt x="0" y="454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166" r="-4166"/>
            </a:stretch>
          </a:blipFill>
        </p:spPr>
        <p:txBody>
          <a:bodyPr/>
          <a:lstStyle/>
          <a:p>
            <a:endParaRPr lang="en-PK" dirty="0">
              <a:latin typeface="Ovo" panose="02020502070400060406" pitchFamily="18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47940" y="4651619"/>
            <a:ext cx="4558379" cy="499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Statistical TDM (ATDM)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7940" y="5293366"/>
            <a:ext cx="4509792" cy="2214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Solves STDM's wasted space by allocating slots dynamically, strictly on demand.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23730" y="2994717"/>
            <a:ext cx="5240388" cy="4878438"/>
            <a:chOff x="0" y="0"/>
            <a:chExt cx="6987184" cy="6504584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6961886" cy="6479159"/>
            </a:xfrm>
            <a:custGeom>
              <a:avLst/>
              <a:gdLst/>
              <a:ahLst/>
              <a:cxnLst/>
              <a:rect l="l" t="t" r="r" b="b"/>
              <a:pathLst>
                <a:path w="6961886" h="6479159">
                  <a:moveTo>
                    <a:pt x="0" y="673354"/>
                  </a:moveTo>
                  <a:cubicBezTo>
                    <a:pt x="0" y="301498"/>
                    <a:pt x="301625" y="0"/>
                    <a:pt x="673608" y="0"/>
                  </a:cubicBezTo>
                  <a:lnTo>
                    <a:pt x="6288278" y="0"/>
                  </a:lnTo>
                  <a:cubicBezTo>
                    <a:pt x="6660261" y="0"/>
                    <a:pt x="6961886" y="301498"/>
                    <a:pt x="6961886" y="673354"/>
                  </a:cubicBezTo>
                  <a:lnTo>
                    <a:pt x="6961886" y="5805805"/>
                  </a:lnTo>
                  <a:cubicBezTo>
                    <a:pt x="6961886" y="6177661"/>
                    <a:pt x="6660261" y="6479159"/>
                    <a:pt x="6288278" y="6479159"/>
                  </a:cubicBezTo>
                  <a:lnTo>
                    <a:pt x="673608" y="6479159"/>
                  </a:lnTo>
                  <a:cubicBezTo>
                    <a:pt x="301625" y="6479159"/>
                    <a:pt x="0" y="6177661"/>
                    <a:pt x="0" y="5805805"/>
                  </a:cubicBezTo>
                  <a:close/>
                </a:path>
              </a:pathLst>
            </a:custGeom>
            <a:solidFill>
              <a:srgbClr val="F7D4D4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6987286" cy="6504559"/>
            </a:xfrm>
            <a:custGeom>
              <a:avLst/>
              <a:gdLst/>
              <a:ahLst/>
              <a:cxnLst/>
              <a:rect l="l" t="t" r="r" b="b"/>
              <a:pathLst>
                <a:path w="6987286" h="6504559">
                  <a:moveTo>
                    <a:pt x="0" y="686054"/>
                  </a:moveTo>
                  <a:cubicBezTo>
                    <a:pt x="0" y="307213"/>
                    <a:pt x="307213" y="0"/>
                    <a:pt x="686308" y="0"/>
                  </a:cubicBezTo>
                  <a:lnTo>
                    <a:pt x="6300978" y="0"/>
                  </a:lnTo>
                  <a:lnTo>
                    <a:pt x="6300978" y="12700"/>
                  </a:lnTo>
                  <a:lnTo>
                    <a:pt x="6300978" y="0"/>
                  </a:lnTo>
                  <a:cubicBezTo>
                    <a:pt x="6679946" y="0"/>
                    <a:pt x="6987286" y="307213"/>
                    <a:pt x="6987286" y="686054"/>
                  </a:cubicBezTo>
                  <a:lnTo>
                    <a:pt x="6974586" y="686054"/>
                  </a:lnTo>
                  <a:lnTo>
                    <a:pt x="6987286" y="686054"/>
                  </a:lnTo>
                  <a:lnTo>
                    <a:pt x="6987286" y="5818505"/>
                  </a:lnTo>
                  <a:lnTo>
                    <a:pt x="6974586" y="5818505"/>
                  </a:lnTo>
                  <a:lnTo>
                    <a:pt x="6987286" y="5818505"/>
                  </a:lnTo>
                  <a:cubicBezTo>
                    <a:pt x="6987286" y="6197473"/>
                    <a:pt x="6680073" y="6504559"/>
                    <a:pt x="6300978" y="6504559"/>
                  </a:cubicBezTo>
                  <a:lnTo>
                    <a:pt x="6300978" y="6491859"/>
                  </a:lnTo>
                  <a:lnTo>
                    <a:pt x="6300978" y="6504559"/>
                  </a:lnTo>
                  <a:lnTo>
                    <a:pt x="686308" y="6504559"/>
                  </a:lnTo>
                  <a:lnTo>
                    <a:pt x="686308" y="6491859"/>
                  </a:lnTo>
                  <a:lnTo>
                    <a:pt x="686308" y="6504559"/>
                  </a:lnTo>
                  <a:cubicBezTo>
                    <a:pt x="307213" y="6504559"/>
                    <a:pt x="0" y="6197473"/>
                    <a:pt x="0" y="5818505"/>
                  </a:cubicBezTo>
                  <a:lnTo>
                    <a:pt x="0" y="686054"/>
                  </a:lnTo>
                  <a:lnTo>
                    <a:pt x="12700" y="686054"/>
                  </a:lnTo>
                  <a:lnTo>
                    <a:pt x="0" y="686054"/>
                  </a:lnTo>
                  <a:moveTo>
                    <a:pt x="25400" y="686054"/>
                  </a:moveTo>
                  <a:lnTo>
                    <a:pt x="25400" y="5818505"/>
                  </a:lnTo>
                  <a:lnTo>
                    <a:pt x="12700" y="5818505"/>
                  </a:lnTo>
                  <a:lnTo>
                    <a:pt x="25400" y="5818505"/>
                  </a:lnTo>
                  <a:cubicBezTo>
                    <a:pt x="25400" y="6183376"/>
                    <a:pt x="321310" y="6479159"/>
                    <a:pt x="686308" y="6479159"/>
                  </a:cubicBezTo>
                  <a:lnTo>
                    <a:pt x="6300978" y="6479159"/>
                  </a:lnTo>
                  <a:cubicBezTo>
                    <a:pt x="6665976" y="6479159"/>
                    <a:pt x="6961886" y="6183376"/>
                    <a:pt x="6961886" y="5818505"/>
                  </a:cubicBezTo>
                  <a:lnTo>
                    <a:pt x="6961886" y="686054"/>
                  </a:lnTo>
                  <a:cubicBezTo>
                    <a:pt x="6961759" y="321183"/>
                    <a:pt x="6665849" y="25400"/>
                    <a:pt x="6300978" y="25400"/>
                  </a:cubicBezTo>
                  <a:lnTo>
                    <a:pt x="686308" y="25400"/>
                  </a:lnTo>
                  <a:lnTo>
                    <a:pt x="686308" y="12700"/>
                  </a:lnTo>
                  <a:lnTo>
                    <a:pt x="686308" y="25400"/>
                  </a:lnTo>
                  <a:cubicBezTo>
                    <a:pt x="321310" y="25400"/>
                    <a:pt x="25400" y="321183"/>
                    <a:pt x="25400" y="686054"/>
                  </a:cubicBezTo>
                  <a:close/>
                </a:path>
              </a:pathLst>
            </a:custGeom>
            <a:solidFill>
              <a:srgbClr val="DDBAB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88956" y="3359944"/>
            <a:ext cx="1009945" cy="1009945"/>
            <a:chOff x="0" y="0"/>
            <a:chExt cx="1346594" cy="13465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46708" cy="1346708"/>
            </a:xfrm>
            <a:custGeom>
              <a:avLst/>
              <a:gdLst/>
              <a:ahLst/>
              <a:cxnLst/>
              <a:rect l="l" t="t" r="r" b="b"/>
              <a:pathLst>
                <a:path w="1346708" h="1346708">
                  <a:moveTo>
                    <a:pt x="0" y="673354"/>
                  </a:moveTo>
                  <a:cubicBezTo>
                    <a:pt x="0" y="301498"/>
                    <a:pt x="301498" y="0"/>
                    <a:pt x="673354" y="0"/>
                  </a:cubicBezTo>
                  <a:cubicBezTo>
                    <a:pt x="1045210" y="0"/>
                    <a:pt x="1346708" y="301498"/>
                    <a:pt x="1346708" y="673354"/>
                  </a:cubicBezTo>
                  <a:cubicBezTo>
                    <a:pt x="1346708" y="1045210"/>
                    <a:pt x="1045210" y="1346708"/>
                    <a:pt x="673354" y="1346708"/>
                  </a:cubicBezTo>
                  <a:cubicBezTo>
                    <a:pt x="301498" y="1346708"/>
                    <a:pt x="0" y="1045210"/>
                    <a:pt x="0" y="673354"/>
                  </a:cubicBez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7166667" y="3637512"/>
            <a:ext cx="454523" cy="454523"/>
          </a:xfrm>
          <a:custGeom>
            <a:avLst/>
            <a:gdLst/>
            <a:ahLst/>
            <a:cxnLst/>
            <a:rect l="l" t="t" r="r" b="b"/>
            <a:pathLst>
              <a:path w="454523" h="454523">
                <a:moveTo>
                  <a:pt x="0" y="0"/>
                </a:moveTo>
                <a:lnTo>
                  <a:pt x="454524" y="0"/>
                </a:lnTo>
                <a:lnTo>
                  <a:pt x="454524" y="454523"/>
                </a:lnTo>
                <a:lnTo>
                  <a:pt x="0" y="454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375" r="-9373"/>
            </a:stretch>
          </a:blipFill>
        </p:spPr>
        <p:txBody>
          <a:bodyPr/>
          <a:lstStyle/>
          <a:p>
            <a:endParaRPr lang="en-PK" dirty="0">
              <a:latin typeface="Ovo" panose="02020502070400060406" pitchFamily="18" charset="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88956" y="4651619"/>
            <a:ext cx="4208707" cy="49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The Trade-off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88956" y="5293366"/>
            <a:ext cx="4509935" cy="1689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Every packet must carry an addressing header to identify the sender.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064898" y="2994717"/>
            <a:ext cx="5240388" cy="4878438"/>
            <a:chOff x="0" y="0"/>
            <a:chExt cx="6987184" cy="6504584"/>
          </a:xfrm>
        </p:grpSpPr>
        <p:sp>
          <p:nvSpPr>
            <p:cNvPr id="24" name="Freeform 24"/>
            <p:cNvSpPr/>
            <p:nvPr/>
          </p:nvSpPr>
          <p:spPr>
            <a:xfrm>
              <a:off x="12700" y="12700"/>
              <a:ext cx="6961886" cy="6479159"/>
            </a:xfrm>
            <a:custGeom>
              <a:avLst/>
              <a:gdLst/>
              <a:ahLst/>
              <a:cxnLst/>
              <a:rect l="l" t="t" r="r" b="b"/>
              <a:pathLst>
                <a:path w="6961886" h="6479159">
                  <a:moveTo>
                    <a:pt x="0" y="673354"/>
                  </a:moveTo>
                  <a:cubicBezTo>
                    <a:pt x="0" y="301498"/>
                    <a:pt x="301625" y="0"/>
                    <a:pt x="673608" y="0"/>
                  </a:cubicBezTo>
                  <a:lnTo>
                    <a:pt x="6288278" y="0"/>
                  </a:lnTo>
                  <a:cubicBezTo>
                    <a:pt x="6660261" y="0"/>
                    <a:pt x="6961886" y="301498"/>
                    <a:pt x="6961886" y="673354"/>
                  </a:cubicBezTo>
                  <a:lnTo>
                    <a:pt x="6961886" y="5805805"/>
                  </a:lnTo>
                  <a:cubicBezTo>
                    <a:pt x="6961886" y="6177661"/>
                    <a:pt x="6660261" y="6479159"/>
                    <a:pt x="6288278" y="6479159"/>
                  </a:cubicBezTo>
                  <a:lnTo>
                    <a:pt x="673608" y="6479159"/>
                  </a:lnTo>
                  <a:cubicBezTo>
                    <a:pt x="301625" y="6479159"/>
                    <a:pt x="0" y="6177661"/>
                    <a:pt x="0" y="5805805"/>
                  </a:cubicBezTo>
                  <a:close/>
                </a:path>
              </a:pathLst>
            </a:custGeom>
            <a:solidFill>
              <a:srgbClr val="F7D4D4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6987286" cy="6504559"/>
            </a:xfrm>
            <a:custGeom>
              <a:avLst/>
              <a:gdLst/>
              <a:ahLst/>
              <a:cxnLst/>
              <a:rect l="l" t="t" r="r" b="b"/>
              <a:pathLst>
                <a:path w="6987286" h="6504559">
                  <a:moveTo>
                    <a:pt x="0" y="686054"/>
                  </a:moveTo>
                  <a:cubicBezTo>
                    <a:pt x="0" y="307213"/>
                    <a:pt x="307213" y="0"/>
                    <a:pt x="686308" y="0"/>
                  </a:cubicBezTo>
                  <a:lnTo>
                    <a:pt x="6300978" y="0"/>
                  </a:lnTo>
                  <a:lnTo>
                    <a:pt x="6300978" y="12700"/>
                  </a:lnTo>
                  <a:lnTo>
                    <a:pt x="6300978" y="0"/>
                  </a:lnTo>
                  <a:cubicBezTo>
                    <a:pt x="6679946" y="0"/>
                    <a:pt x="6987286" y="307213"/>
                    <a:pt x="6987286" y="686054"/>
                  </a:cubicBezTo>
                  <a:lnTo>
                    <a:pt x="6974586" y="686054"/>
                  </a:lnTo>
                  <a:lnTo>
                    <a:pt x="6987286" y="686054"/>
                  </a:lnTo>
                  <a:lnTo>
                    <a:pt x="6987286" y="5818505"/>
                  </a:lnTo>
                  <a:lnTo>
                    <a:pt x="6974586" y="5818505"/>
                  </a:lnTo>
                  <a:lnTo>
                    <a:pt x="6987286" y="5818505"/>
                  </a:lnTo>
                  <a:cubicBezTo>
                    <a:pt x="6987286" y="6197473"/>
                    <a:pt x="6680073" y="6504559"/>
                    <a:pt x="6300978" y="6504559"/>
                  </a:cubicBezTo>
                  <a:lnTo>
                    <a:pt x="6300978" y="6491859"/>
                  </a:lnTo>
                  <a:lnTo>
                    <a:pt x="6300978" y="6504559"/>
                  </a:lnTo>
                  <a:lnTo>
                    <a:pt x="686308" y="6504559"/>
                  </a:lnTo>
                  <a:lnTo>
                    <a:pt x="686308" y="6491859"/>
                  </a:lnTo>
                  <a:lnTo>
                    <a:pt x="686308" y="6504559"/>
                  </a:lnTo>
                  <a:cubicBezTo>
                    <a:pt x="307213" y="6504559"/>
                    <a:pt x="0" y="6197473"/>
                    <a:pt x="0" y="5818505"/>
                  </a:cubicBezTo>
                  <a:lnTo>
                    <a:pt x="0" y="686054"/>
                  </a:lnTo>
                  <a:lnTo>
                    <a:pt x="12700" y="686054"/>
                  </a:lnTo>
                  <a:lnTo>
                    <a:pt x="0" y="686054"/>
                  </a:lnTo>
                  <a:moveTo>
                    <a:pt x="25400" y="686054"/>
                  </a:moveTo>
                  <a:lnTo>
                    <a:pt x="25400" y="5818505"/>
                  </a:lnTo>
                  <a:lnTo>
                    <a:pt x="12700" y="5818505"/>
                  </a:lnTo>
                  <a:lnTo>
                    <a:pt x="25400" y="5818505"/>
                  </a:lnTo>
                  <a:cubicBezTo>
                    <a:pt x="25400" y="6183376"/>
                    <a:pt x="321310" y="6479159"/>
                    <a:pt x="686308" y="6479159"/>
                  </a:cubicBezTo>
                  <a:lnTo>
                    <a:pt x="6300978" y="6479159"/>
                  </a:lnTo>
                  <a:cubicBezTo>
                    <a:pt x="6665976" y="6479159"/>
                    <a:pt x="6961886" y="6183376"/>
                    <a:pt x="6961886" y="5818505"/>
                  </a:cubicBezTo>
                  <a:lnTo>
                    <a:pt x="6961886" y="686054"/>
                  </a:lnTo>
                  <a:cubicBezTo>
                    <a:pt x="6961759" y="321183"/>
                    <a:pt x="6665849" y="25400"/>
                    <a:pt x="6300978" y="25400"/>
                  </a:cubicBezTo>
                  <a:lnTo>
                    <a:pt x="686308" y="25400"/>
                  </a:lnTo>
                  <a:lnTo>
                    <a:pt x="686308" y="12700"/>
                  </a:lnTo>
                  <a:lnTo>
                    <a:pt x="686308" y="25400"/>
                  </a:lnTo>
                  <a:cubicBezTo>
                    <a:pt x="321310" y="25400"/>
                    <a:pt x="25400" y="321183"/>
                    <a:pt x="25400" y="686054"/>
                  </a:cubicBezTo>
                  <a:close/>
                </a:path>
              </a:pathLst>
            </a:custGeom>
            <a:solidFill>
              <a:srgbClr val="DDBAB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430125" y="3359944"/>
            <a:ext cx="1009945" cy="1009945"/>
            <a:chOff x="0" y="0"/>
            <a:chExt cx="1346594" cy="134659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46708" cy="1346708"/>
            </a:xfrm>
            <a:custGeom>
              <a:avLst/>
              <a:gdLst/>
              <a:ahLst/>
              <a:cxnLst/>
              <a:rect l="l" t="t" r="r" b="b"/>
              <a:pathLst>
                <a:path w="1346708" h="1346708">
                  <a:moveTo>
                    <a:pt x="0" y="673354"/>
                  </a:moveTo>
                  <a:cubicBezTo>
                    <a:pt x="0" y="301498"/>
                    <a:pt x="301498" y="0"/>
                    <a:pt x="673354" y="0"/>
                  </a:cubicBezTo>
                  <a:cubicBezTo>
                    <a:pt x="1045210" y="0"/>
                    <a:pt x="1346708" y="301498"/>
                    <a:pt x="1346708" y="673354"/>
                  </a:cubicBezTo>
                  <a:cubicBezTo>
                    <a:pt x="1346708" y="1045210"/>
                    <a:pt x="1045210" y="1346708"/>
                    <a:pt x="673354" y="1346708"/>
                  </a:cubicBezTo>
                  <a:cubicBezTo>
                    <a:pt x="301498" y="1346708"/>
                    <a:pt x="0" y="1045210"/>
                    <a:pt x="0" y="673354"/>
                  </a:cubicBez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28" name="Freeform 28" descr="preencoded.png"/>
          <p:cNvSpPr/>
          <p:nvPr/>
        </p:nvSpPr>
        <p:spPr>
          <a:xfrm>
            <a:off x="12707836" y="3637512"/>
            <a:ext cx="454523" cy="454523"/>
          </a:xfrm>
          <a:custGeom>
            <a:avLst/>
            <a:gdLst/>
            <a:ahLst/>
            <a:cxnLst/>
            <a:rect l="l" t="t" r="r" b="b"/>
            <a:pathLst>
              <a:path w="454523" h="454523">
                <a:moveTo>
                  <a:pt x="0" y="0"/>
                </a:moveTo>
                <a:lnTo>
                  <a:pt x="454523" y="0"/>
                </a:lnTo>
                <a:lnTo>
                  <a:pt x="454523" y="454523"/>
                </a:lnTo>
                <a:lnTo>
                  <a:pt x="0" y="454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124" b="-3124"/>
            </a:stretch>
          </a:blipFill>
        </p:spPr>
        <p:txBody>
          <a:bodyPr/>
          <a:lstStyle/>
          <a:p>
            <a:endParaRPr lang="en-PK" dirty="0">
              <a:latin typeface="Ovo" panose="02020502070400060406" pitchFamily="18" charset="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430125" y="4651619"/>
            <a:ext cx="4208707" cy="49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 dirty="0">
                <a:solidFill>
                  <a:srgbClr val="000000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The Risk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30125" y="5293366"/>
            <a:ext cx="4509935" cy="1689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Deep buffers are needed. If everyone transmits at once, queuing delays (jitter) occur.</a:t>
            </a:r>
          </a:p>
        </p:txBody>
      </p:sp>
      <p:sp>
        <p:nvSpPr>
          <p:cNvPr id="31" name="Google Shape;101;p2">
            <a:extLst>
              <a:ext uri="{FF2B5EF4-FFF2-40B4-BE49-F238E27FC236}">
                <a16:creationId xmlns:a16="http://schemas.microsoft.com/office/drawing/2014/main" id="{CBCC14C4-0AD0-2CE7-75EA-B76C3D91CA55}"/>
              </a:ext>
            </a:extLst>
          </p:cNvPr>
          <p:cNvSpPr/>
          <p:nvPr/>
        </p:nvSpPr>
        <p:spPr>
          <a:xfrm>
            <a:off x="0" y="0"/>
            <a:ext cx="18288000" cy="1115736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102;p2">
            <a:extLst>
              <a:ext uri="{FF2B5EF4-FFF2-40B4-BE49-F238E27FC236}">
                <a16:creationId xmlns:a16="http://schemas.microsoft.com/office/drawing/2014/main" id="{C0B20512-B318-6E74-EEFA-068C6E6E265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730" y="155317"/>
            <a:ext cx="1504919" cy="80510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103;p2">
            <a:extLst>
              <a:ext uri="{FF2B5EF4-FFF2-40B4-BE49-F238E27FC236}">
                <a16:creationId xmlns:a16="http://schemas.microsoft.com/office/drawing/2014/main" id="{98E7FB63-2832-D3CC-2962-5C15FC25AB3D}"/>
              </a:ext>
            </a:extLst>
          </p:cNvPr>
          <p:cNvSpPr txBox="1"/>
          <p:nvPr/>
        </p:nvSpPr>
        <p:spPr>
          <a:xfrm>
            <a:off x="16597183" y="595441"/>
            <a:ext cx="161903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unioffaisalabad</a:t>
            </a:r>
            <a:endParaRPr sz="1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104;p2">
            <a:extLst>
              <a:ext uri="{FF2B5EF4-FFF2-40B4-BE49-F238E27FC236}">
                <a16:creationId xmlns:a16="http://schemas.microsoft.com/office/drawing/2014/main" id="{532683B7-E6B2-06C7-C674-535D018B10A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783486" y="302510"/>
            <a:ext cx="261610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105;p2">
            <a:extLst>
              <a:ext uri="{FF2B5EF4-FFF2-40B4-BE49-F238E27FC236}">
                <a16:creationId xmlns:a16="http://schemas.microsoft.com/office/drawing/2014/main" id="{7499A2F4-D690-5BA6-80F6-8DD9C7FEC895}"/>
              </a:ext>
            </a:extLst>
          </p:cNvPr>
          <p:cNvSpPr txBox="1"/>
          <p:nvPr/>
        </p:nvSpPr>
        <p:spPr>
          <a:xfrm>
            <a:off x="16020374" y="248649"/>
            <a:ext cx="2606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www.tuf.edu.pk</a:t>
            </a:r>
            <a:endParaRPr dirty="0"/>
          </a:p>
        </p:txBody>
      </p:sp>
      <p:pic>
        <p:nvPicPr>
          <p:cNvPr id="36" name="Google Shape;106;p2">
            <a:extLst>
              <a:ext uri="{FF2B5EF4-FFF2-40B4-BE49-F238E27FC236}">
                <a16:creationId xmlns:a16="http://schemas.microsoft.com/office/drawing/2014/main" id="{130C405B-13F3-4D5C-C79D-9682026C478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468463" y="64052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107;p2">
            <a:extLst>
              <a:ext uri="{FF2B5EF4-FFF2-40B4-BE49-F238E27FC236}">
                <a16:creationId xmlns:a16="http://schemas.microsoft.com/office/drawing/2014/main" id="{C2CCA6C1-C0BE-684B-B70F-63EC96CF295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230600" y="647700"/>
            <a:ext cx="171451" cy="1714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6"/>
          <p:cNvSpPr txBox="1"/>
          <p:nvPr/>
        </p:nvSpPr>
        <p:spPr>
          <a:xfrm>
            <a:off x="5444201" y="42353"/>
            <a:ext cx="7399598" cy="912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3600" b="1" dirty="0">
                <a:solidFill>
                  <a:schemeClr val="bg1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Statistical TDM &amp; Expert Synthesis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92238" y="4101255"/>
            <a:ext cx="16303523" cy="124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Capitalizes on "bursty" traffic (users alternate between idle and downloading). Allows ISPs to oversubscribe links intentionally.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633742"/>
            <a:ext cx="16303523" cy="72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SMG = </a:t>
            </a:r>
            <a:r>
              <a:rPr lang="en-US" sz="2750" i="1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\frac{\sum_{</a:t>
            </a:r>
            <a:r>
              <a:rPr lang="en-US" sz="2750" i="1" dirty="0" err="1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i</a:t>
            </a:r>
            <a:r>
              <a:rPr lang="en-US" sz="2750" i="1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=1}^{N} R_{</a:t>
            </a:r>
            <a:r>
              <a:rPr lang="en-US" sz="2750" i="1" dirty="0" err="1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peak_i</a:t>
            </a:r>
            <a:r>
              <a:rPr lang="en-US" sz="2750" i="1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}}{C_{link}}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6639516"/>
            <a:ext cx="16303523" cy="124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SMG &gt; 1: Successful over subscription, relying on the statistical probability that not everyone transmits simultaneously.</a:t>
            </a:r>
          </a:p>
        </p:txBody>
      </p:sp>
      <p:sp>
        <p:nvSpPr>
          <p:cNvPr id="10" name="Google Shape;101;p2">
            <a:extLst>
              <a:ext uri="{FF2B5EF4-FFF2-40B4-BE49-F238E27FC236}">
                <a16:creationId xmlns:a16="http://schemas.microsoft.com/office/drawing/2014/main" id="{D68A38FF-B836-3369-6912-7194987F18D0}"/>
              </a:ext>
            </a:extLst>
          </p:cNvPr>
          <p:cNvSpPr/>
          <p:nvPr/>
        </p:nvSpPr>
        <p:spPr>
          <a:xfrm>
            <a:off x="0" y="0"/>
            <a:ext cx="18288000" cy="1115736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02;p2">
            <a:extLst>
              <a:ext uri="{FF2B5EF4-FFF2-40B4-BE49-F238E27FC236}">
                <a16:creationId xmlns:a16="http://schemas.microsoft.com/office/drawing/2014/main" id="{CF2B87C9-665B-C8B0-93A2-80595D96BC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730" y="155317"/>
            <a:ext cx="1504919" cy="80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03;p2">
            <a:extLst>
              <a:ext uri="{FF2B5EF4-FFF2-40B4-BE49-F238E27FC236}">
                <a16:creationId xmlns:a16="http://schemas.microsoft.com/office/drawing/2014/main" id="{6FBB1807-AD5B-50F9-FBEB-16DEF33AF4AE}"/>
              </a:ext>
            </a:extLst>
          </p:cNvPr>
          <p:cNvSpPr txBox="1"/>
          <p:nvPr/>
        </p:nvSpPr>
        <p:spPr>
          <a:xfrm>
            <a:off x="16597183" y="595441"/>
            <a:ext cx="161903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unioffaisalabad</a:t>
            </a:r>
            <a:endParaRPr sz="1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04;p2">
            <a:extLst>
              <a:ext uri="{FF2B5EF4-FFF2-40B4-BE49-F238E27FC236}">
                <a16:creationId xmlns:a16="http://schemas.microsoft.com/office/drawing/2014/main" id="{0599194E-AC13-9CEE-BFCD-BE9808D431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83486" y="302510"/>
            <a:ext cx="261610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5;p2">
            <a:extLst>
              <a:ext uri="{FF2B5EF4-FFF2-40B4-BE49-F238E27FC236}">
                <a16:creationId xmlns:a16="http://schemas.microsoft.com/office/drawing/2014/main" id="{EC25DDE1-CDB7-ABF7-A0E3-7CFABA55BD6F}"/>
              </a:ext>
            </a:extLst>
          </p:cNvPr>
          <p:cNvSpPr txBox="1"/>
          <p:nvPr/>
        </p:nvSpPr>
        <p:spPr>
          <a:xfrm>
            <a:off x="16020374" y="248649"/>
            <a:ext cx="2606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www.tuf.edu.pk</a:t>
            </a:r>
            <a:endParaRPr dirty="0"/>
          </a:p>
        </p:txBody>
      </p:sp>
      <p:pic>
        <p:nvPicPr>
          <p:cNvPr id="15" name="Google Shape;106;p2">
            <a:extLst>
              <a:ext uri="{FF2B5EF4-FFF2-40B4-BE49-F238E27FC236}">
                <a16:creationId xmlns:a16="http://schemas.microsoft.com/office/drawing/2014/main" id="{9A9DBA71-4F09-682F-EE9A-4AABD6B1CF0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68463" y="64052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07;p2">
            <a:extLst>
              <a:ext uri="{FF2B5EF4-FFF2-40B4-BE49-F238E27FC236}">
                <a16:creationId xmlns:a16="http://schemas.microsoft.com/office/drawing/2014/main" id="{B34DEA42-A7FB-BAFB-5C24-9F87F1307CD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230600" y="647700"/>
            <a:ext cx="171451" cy="1714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6"/>
          <p:cNvSpPr txBox="1"/>
          <p:nvPr/>
        </p:nvSpPr>
        <p:spPr>
          <a:xfrm>
            <a:off x="5372919" y="-829"/>
            <a:ext cx="7542162" cy="951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87"/>
              </a:lnSpc>
            </a:pPr>
            <a:r>
              <a:rPr lang="en-US" sz="3600" b="1" dirty="0">
                <a:solidFill>
                  <a:schemeClr val="bg1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Statistical Multiplexing Gain (SMG)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2713" y="3457423"/>
            <a:ext cx="16322573" cy="5188296"/>
            <a:chOff x="0" y="0"/>
            <a:chExt cx="21763431" cy="69177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63354" cy="6917690"/>
            </a:xfrm>
            <a:custGeom>
              <a:avLst/>
              <a:gdLst/>
              <a:ahLst/>
              <a:cxnLst/>
              <a:rect l="l" t="t" r="r" b="b"/>
              <a:pathLst>
                <a:path w="21763354" h="6917690">
                  <a:moveTo>
                    <a:pt x="0" y="721487"/>
                  </a:moveTo>
                  <a:cubicBezTo>
                    <a:pt x="0" y="322961"/>
                    <a:pt x="323850" y="0"/>
                    <a:pt x="723265" y="0"/>
                  </a:cubicBezTo>
                  <a:lnTo>
                    <a:pt x="21040089" y="0"/>
                  </a:lnTo>
                  <a:lnTo>
                    <a:pt x="21040089" y="12700"/>
                  </a:lnTo>
                  <a:lnTo>
                    <a:pt x="21040089" y="0"/>
                  </a:lnTo>
                  <a:cubicBezTo>
                    <a:pt x="21439504" y="0"/>
                    <a:pt x="21763354" y="322961"/>
                    <a:pt x="21763354" y="721487"/>
                  </a:cubicBezTo>
                  <a:lnTo>
                    <a:pt x="21750654" y="721487"/>
                  </a:lnTo>
                  <a:lnTo>
                    <a:pt x="21763354" y="721487"/>
                  </a:lnTo>
                  <a:lnTo>
                    <a:pt x="21763354" y="6196203"/>
                  </a:lnTo>
                  <a:lnTo>
                    <a:pt x="21750654" y="6196203"/>
                  </a:lnTo>
                  <a:lnTo>
                    <a:pt x="21763354" y="6196203"/>
                  </a:lnTo>
                  <a:cubicBezTo>
                    <a:pt x="21763354" y="6594729"/>
                    <a:pt x="21439504" y="6917690"/>
                    <a:pt x="21040089" y="6917690"/>
                  </a:cubicBezTo>
                  <a:lnTo>
                    <a:pt x="21040089" y="6904990"/>
                  </a:lnTo>
                  <a:lnTo>
                    <a:pt x="21040089" y="6917690"/>
                  </a:lnTo>
                  <a:lnTo>
                    <a:pt x="723265" y="6917690"/>
                  </a:lnTo>
                  <a:lnTo>
                    <a:pt x="723265" y="6904990"/>
                  </a:lnTo>
                  <a:lnTo>
                    <a:pt x="723265" y="6917690"/>
                  </a:lnTo>
                  <a:cubicBezTo>
                    <a:pt x="323850" y="6917690"/>
                    <a:pt x="0" y="6594729"/>
                    <a:pt x="0" y="6196203"/>
                  </a:cubicBezTo>
                  <a:lnTo>
                    <a:pt x="0" y="721487"/>
                  </a:lnTo>
                  <a:lnTo>
                    <a:pt x="12700" y="721487"/>
                  </a:lnTo>
                  <a:lnTo>
                    <a:pt x="0" y="721487"/>
                  </a:lnTo>
                  <a:moveTo>
                    <a:pt x="25400" y="721487"/>
                  </a:moveTo>
                  <a:lnTo>
                    <a:pt x="25400" y="6196203"/>
                  </a:lnTo>
                  <a:lnTo>
                    <a:pt x="12700" y="6196203"/>
                  </a:lnTo>
                  <a:lnTo>
                    <a:pt x="25400" y="6196203"/>
                  </a:lnTo>
                  <a:cubicBezTo>
                    <a:pt x="25400" y="6580632"/>
                    <a:pt x="337820" y="6892290"/>
                    <a:pt x="723265" y="6892290"/>
                  </a:cubicBezTo>
                  <a:lnTo>
                    <a:pt x="21040089" y="6892290"/>
                  </a:lnTo>
                  <a:cubicBezTo>
                    <a:pt x="21425534" y="6892290"/>
                    <a:pt x="21737954" y="6580632"/>
                    <a:pt x="21737954" y="6196203"/>
                  </a:cubicBezTo>
                  <a:lnTo>
                    <a:pt x="21737954" y="721487"/>
                  </a:lnTo>
                  <a:cubicBezTo>
                    <a:pt x="21737954" y="337058"/>
                    <a:pt x="21425534" y="25400"/>
                    <a:pt x="21040089" y="25400"/>
                  </a:cubicBezTo>
                  <a:lnTo>
                    <a:pt x="723265" y="25400"/>
                  </a:lnTo>
                  <a:lnTo>
                    <a:pt x="723265" y="12700"/>
                  </a:lnTo>
                  <a:lnTo>
                    <a:pt x="723265" y="25400"/>
                  </a:lnTo>
                  <a:cubicBezTo>
                    <a:pt x="337820" y="25400"/>
                    <a:pt x="25400" y="337058"/>
                    <a:pt x="25400" y="721487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3222" y="3485998"/>
            <a:ext cx="5420620" cy="1020518"/>
            <a:chOff x="0" y="0"/>
            <a:chExt cx="7227494" cy="13606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27443" cy="1360678"/>
            </a:xfrm>
            <a:custGeom>
              <a:avLst/>
              <a:gdLst/>
              <a:ahLst/>
              <a:cxnLst/>
              <a:rect l="l" t="t" r="r" b="b"/>
              <a:pathLst>
                <a:path w="7227443" h="1360678">
                  <a:moveTo>
                    <a:pt x="0" y="680339"/>
                  </a:moveTo>
                  <a:cubicBezTo>
                    <a:pt x="0" y="304546"/>
                    <a:pt x="304546" y="0"/>
                    <a:pt x="680339" y="0"/>
                  </a:cubicBezTo>
                  <a:lnTo>
                    <a:pt x="6547104" y="0"/>
                  </a:lnTo>
                  <a:cubicBezTo>
                    <a:pt x="6922898" y="0"/>
                    <a:pt x="7227443" y="304546"/>
                    <a:pt x="7227443" y="680339"/>
                  </a:cubicBezTo>
                  <a:cubicBezTo>
                    <a:pt x="7227443" y="1056132"/>
                    <a:pt x="6922898" y="1360678"/>
                    <a:pt x="6547104" y="1360678"/>
                  </a:cubicBezTo>
                  <a:lnTo>
                    <a:pt x="680339" y="1360678"/>
                  </a:lnTo>
                  <a:cubicBezTo>
                    <a:pt x="304546" y="1360678"/>
                    <a:pt x="0" y="1056132"/>
                    <a:pt x="0" y="680339"/>
                  </a:cubicBez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67580" y="3593754"/>
            <a:ext cx="4702378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Feature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91200" y="3485998"/>
            <a:ext cx="6063262" cy="1020518"/>
            <a:chOff x="0" y="0"/>
            <a:chExt cx="7227494" cy="13606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27443" cy="1360678"/>
            </a:xfrm>
            <a:custGeom>
              <a:avLst/>
              <a:gdLst/>
              <a:ahLst/>
              <a:cxnLst/>
              <a:rect l="l" t="t" r="r" b="b"/>
              <a:pathLst>
                <a:path w="7227443" h="1360678">
                  <a:moveTo>
                    <a:pt x="0" y="0"/>
                  </a:moveTo>
                  <a:lnTo>
                    <a:pt x="7227443" y="0"/>
                  </a:lnTo>
                  <a:lnTo>
                    <a:pt x="7227443" y="1360678"/>
                  </a:lnTo>
                  <a:lnTo>
                    <a:pt x="0" y="1360678"/>
                  </a:ln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797726" y="3593754"/>
            <a:ext cx="4692853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Synchronous TDM (STDM)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854453" y="3485998"/>
            <a:ext cx="4190643" cy="1020518"/>
            <a:chOff x="0" y="0"/>
            <a:chExt cx="7227494" cy="136069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27443" cy="1360678"/>
            </a:xfrm>
            <a:custGeom>
              <a:avLst/>
              <a:gdLst/>
              <a:ahLst/>
              <a:cxnLst/>
              <a:rect l="l" t="t" r="r" b="b"/>
              <a:pathLst>
                <a:path w="7227443" h="1360678">
                  <a:moveTo>
                    <a:pt x="0" y="0"/>
                  </a:moveTo>
                  <a:lnTo>
                    <a:pt x="7227443" y="0"/>
                  </a:lnTo>
                  <a:lnTo>
                    <a:pt x="7227443" y="1360678"/>
                  </a:lnTo>
                  <a:lnTo>
                    <a:pt x="0" y="1360678"/>
                  </a:ln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67580" y="4623797"/>
            <a:ext cx="4702378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Allocation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97726" y="4623797"/>
            <a:ext cx="4692853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Fixed, round-robin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18346" y="4623797"/>
            <a:ext cx="4702378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Dynamic, demand-driven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7580" y="5653830"/>
            <a:ext cx="4702378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Overhead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97726" y="5653830"/>
            <a:ext cx="4692853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None (position = ID)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18346" y="5653830"/>
            <a:ext cx="4702378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Required in every slot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7580" y="6683873"/>
            <a:ext cx="4702378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Efficiency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97726" y="6683873"/>
            <a:ext cx="4692853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Low (wastes idle slots)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18346" y="6683873"/>
            <a:ext cx="4702378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High (near 100% efficient)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7580" y="7713907"/>
            <a:ext cx="4702378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Best For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97726" y="7713907"/>
            <a:ext cx="4692853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Uncompressed Voice/Video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18346" y="7713907"/>
            <a:ext cx="4702378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Bursty Data (Internet)</a:t>
            </a:r>
          </a:p>
        </p:txBody>
      </p:sp>
      <p:sp>
        <p:nvSpPr>
          <p:cNvPr id="30" name="Google Shape;101;p2">
            <a:extLst>
              <a:ext uri="{FF2B5EF4-FFF2-40B4-BE49-F238E27FC236}">
                <a16:creationId xmlns:a16="http://schemas.microsoft.com/office/drawing/2014/main" id="{F7B2042A-2638-AB7D-3223-29AF3ED523EF}"/>
              </a:ext>
            </a:extLst>
          </p:cNvPr>
          <p:cNvSpPr/>
          <p:nvPr/>
        </p:nvSpPr>
        <p:spPr>
          <a:xfrm>
            <a:off x="0" y="0"/>
            <a:ext cx="18288000" cy="1115736"/>
          </a:xfrm>
          <a:prstGeom prst="rect">
            <a:avLst/>
          </a:prstGeom>
          <a:solidFill>
            <a:srgbClr val="D32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102;p2">
            <a:extLst>
              <a:ext uri="{FF2B5EF4-FFF2-40B4-BE49-F238E27FC236}">
                <a16:creationId xmlns:a16="http://schemas.microsoft.com/office/drawing/2014/main" id="{0191BFB3-BB45-4020-67C4-5D67C5620F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730" y="155317"/>
            <a:ext cx="1504919" cy="805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roup 9">
            <a:extLst>
              <a:ext uri="{FF2B5EF4-FFF2-40B4-BE49-F238E27FC236}">
                <a16:creationId xmlns:a16="http://schemas.microsoft.com/office/drawing/2014/main" id="{84BE3D05-1E49-9A0F-9DF2-8A78A6C56B38}"/>
              </a:ext>
            </a:extLst>
          </p:cNvPr>
          <p:cNvGrpSpPr/>
          <p:nvPr/>
        </p:nvGrpSpPr>
        <p:grpSpPr>
          <a:xfrm>
            <a:off x="11499800" y="3485988"/>
            <a:ext cx="5420620" cy="1020518"/>
            <a:chOff x="0" y="0"/>
            <a:chExt cx="7227494" cy="1360691"/>
          </a:xfrm>
        </p:grpSpPr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A1FC89A0-3CFB-FB49-C5ED-CD87463ED54C}"/>
                </a:ext>
              </a:extLst>
            </p:cNvPr>
            <p:cNvSpPr/>
            <p:nvPr/>
          </p:nvSpPr>
          <p:spPr>
            <a:xfrm>
              <a:off x="0" y="0"/>
              <a:ext cx="7227443" cy="1360678"/>
            </a:xfrm>
            <a:custGeom>
              <a:avLst/>
              <a:gdLst/>
              <a:ahLst/>
              <a:cxnLst/>
              <a:rect l="l" t="t" r="r" b="b"/>
              <a:pathLst>
                <a:path w="7227443" h="1360678">
                  <a:moveTo>
                    <a:pt x="0" y="680339"/>
                  </a:moveTo>
                  <a:cubicBezTo>
                    <a:pt x="0" y="304546"/>
                    <a:pt x="304546" y="0"/>
                    <a:pt x="680339" y="0"/>
                  </a:cubicBezTo>
                  <a:lnTo>
                    <a:pt x="6547104" y="0"/>
                  </a:lnTo>
                  <a:cubicBezTo>
                    <a:pt x="6922898" y="0"/>
                    <a:pt x="7227443" y="304546"/>
                    <a:pt x="7227443" y="680339"/>
                  </a:cubicBezTo>
                  <a:cubicBezTo>
                    <a:pt x="7227443" y="1056132"/>
                    <a:pt x="6922898" y="1360678"/>
                    <a:pt x="6547104" y="1360678"/>
                  </a:cubicBezTo>
                  <a:lnTo>
                    <a:pt x="680339" y="1360678"/>
                  </a:lnTo>
                  <a:cubicBezTo>
                    <a:pt x="304546" y="1360678"/>
                    <a:pt x="0" y="1056132"/>
                    <a:pt x="0" y="680339"/>
                  </a:cubicBezTo>
                  <a:close/>
                </a:path>
              </a:pathLst>
            </a:custGeom>
            <a:solidFill>
              <a:srgbClr val="D32A2A"/>
            </a:solidFill>
          </p:spPr>
          <p:txBody>
            <a:bodyPr/>
            <a:lstStyle/>
            <a:p>
              <a:endParaRPr lang="en-PK" dirty="0">
                <a:latin typeface="Ovo" panose="02020502070400060406" pitchFamily="18" charset="0"/>
              </a:endParaRPr>
            </a:p>
          </p:txBody>
        </p:sp>
      </p:grpSp>
      <p:sp>
        <p:nvSpPr>
          <p:cNvPr id="32" name="Google Shape;103;p2">
            <a:extLst>
              <a:ext uri="{FF2B5EF4-FFF2-40B4-BE49-F238E27FC236}">
                <a16:creationId xmlns:a16="http://schemas.microsoft.com/office/drawing/2014/main" id="{875E5082-1599-7353-EBDD-349C4DE82DF1}"/>
              </a:ext>
            </a:extLst>
          </p:cNvPr>
          <p:cNvSpPr txBox="1"/>
          <p:nvPr/>
        </p:nvSpPr>
        <p:spPr>
          <a:xfrm>
            <a:off x="16597183" y="595441"/>
            <a:ext cx="161903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unioffaisalabad</a:t>
            </a:r>
            <a:endParaRPr sz="1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104;p2">
            <a:extLst>
              <a:ext uri="{FF2B5EF4-FFF2-40B4-BE49-F238E27FC236}">
                <a16:creationId xmlns:a16="http://schemas.microsoft.com/office/drawing/2014/main" id="{6372C944-348F-CF8B-EFED-C3027B72912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83486" y="302510"/>
            <a:ext cx="261610" cy="26161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05;p2">
            <a:extLst>
              <a:ext uri="{FF2B5EF4-FFF2-40B4-BE49-F238E27FC236}">
                <a16:creationId xmlns:a16="http://schemas.microsoft.com/office/drawing/2014/main" id="{C8B758D1-1D69-E34C-D831-56C29EA763B0}"/>
              </a:ext>
            </a:extLst>
          </p:cNvPr>
          <p:cNvSpPr txBox="1"/>
          <p:nvPr/>
        </p:nvSpPr>
        <p:spPr>
          <a:xfrm>
            <a:off x="16020374" y="248649"/>
            <a:ext cx="2606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www.tuf.edu.pk</a:t>
            </a:r>
            <a:endParaRPr dirty="0"/>
          </a:p>
        </p:txBody>
      </p:sp>
      <p:pic>
        <p:nvPicPr>
          <p:cNvPr id="35" name="Google Shape;106;p2">
            <a:extLst>
              <a:ext uri="{FF2B5EF4-FFF2-40B4-BE49-F238E27FC236}">
                <a16:creationId xmlns:a16="http://schemas.microsoft.com/office/drawing/2014/main" id="{BD096E95-52F2-F687-9D1D-CE458311453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68463" y="64052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107;p2">
            <a:extLst>
              <a:ext uri="{FF2B5EF4-FFF2-40B4-BE49-F238E27FC236}">
                <a16:creationId xmlns:a16="http://schemas.microsoft.com/office/drawing/2014/main" id="{9A2D951B-EB86-5D7B-EE86-8E67338A611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230600" y="647700"/>
            <a:ext cx="171451" cy="1714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6"/>
          <p:cNvSpPr txBox="1"/>
          <p:nvPr/>
        </p:nvSpPr>
        <p:spPr>
          <a:xfrm>
            <a:off x="6357119" y="-21318"/>
            <a:ext cx="5573763" cy="951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87"/>
              </a:lnSpc>
            </a:pPr>
            <a:r>
              <a:rPr lang="en-US" sz="3600" b="1" dirty="0">
                <a:solidFill>
                  <a:schemeClr val="bg1"/>
                </a:solidFill>
                <a:latin typeface="Outfit SemiBold" pitchFamily="2" charset="0"/>
                <a:ea typeface="Arimo Bold"/>
                <a:cs typeface="Arimo Bold"/>
                <a:sym typeface="Arimo Bold"/>
              </a:rPr>
              <a:t>STDM vs. Statistical TDM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18346" y="3593754"/>
            <a:ext cx="4702378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dirty="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Statistical TDM (ATDM)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877</Words>
  <Application>Microsoft Office PowerPoint</Application>
  <PresentationFormat>Custom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Arimo</vt:lpstr>
      <vt:lpstr>Arial</vt:lpstr>
      <vt:lpstr>Outfit SemiBold</vt:lpstr>
      <vt:lpstr>Outfit Black</vt:lpstr>
      <vt:lpstr>Ovo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Foundations-and-Circuit-Switching (1).pptx</dc:title>
  <cp:lastModifiedBy>Dev Hamnah</cp:lastModifiedBy>
  <cp:revision>4</cp:revision>
  <dcterms:created xsi:type="dcterms:W3CDTF">2006-08-16T00:00:00Z</dcterms:created>
  <dcterms:modified xsi:type="dcterms:W3CDTF">2026-04-29T10:25:28Z</dcterms:modified>
  <dc:identifier>DAHIOV5XaZ8</dc:identifier>
</cp:coreProperties>
</file>