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Outfit Semi Bold"/>
      <p:regular r:id="rId19"/>
    </p:embeddedFont>
    <p:embeddedFont>
      <p:font typeface="Outfit Semi Bold"/>
      <p:regular r:id="rId20"/>
    </p:embeddedFont>
    <p:embeddedFont>
      <p:font typeface="Ovo"/>
      <p:regular r:id="rId21"/>
    </p:embeddedFont>
    <p:embeddedFont>
      <p:font typeface="Ov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5887"/>
            <a:ext cx="7556421" cy="177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50"/>
              </a:lnSpc>
              <a:buNone/>
            </a:pPr>
            <a:r>
              <a:rPr lang="en-US" sz="55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Foundations &amp; Circuit Switching</a:t>
            </a:r>
            <a:endParaRPr lang="en-US" sz="5550" dirty="0"/>
          </a:p>
        </p:txBody>
      </p:sp>
      <p:sp>
        <p:nvSpPr>
          <p:cNvPr id="4" name="Text 1"/>
          <p:cNvSpPr/>
          <p:nvPr/>
        </p:nvSpPr>
        <p:spPr>
          <a:xfrm>
            <a:off x="793790" y="4533067"/>
            <a:ext cx="75564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The philosophy and architecture of routing data through finite physical infrastructure, enabling infinite conversations to share limited resources.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3443"/>
            <a:ext cx="11952803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The Philosophy &amp; Architecture of Circuit Switching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93790" y="1601629"/>
            <a:ext cx="318968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The Goal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93790" y="2239447"/>
            <a:ext cx="130428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Routing data and sharing finite physical infrastructure among infinite conversations.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3790" y="2776299"/>
            <a:ext cx="318968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Circuit Switching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93790" y="3414117"/>
            <a:ext cx="130428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Pre-allocates a dedicated, end-to-end path before sending data.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3790" y="3891082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93790" y="4229576"/>
            <a:ext cx="4241244" cy="22860"/>
          </a:xfrm>
          <a:prstGeom prst="rect">
            <a:avLst/>
          </a:prstGeom>
          <a:solidFill>
            <a:srgbClr val="D32A2A"/>
          </a:solidFill>
          <a:ln/>
        </p:spPr>
      </p:sp>
      <p:sp>
        <p:nvSpPr>
          <p:cNvPr id="9" name="Text 7"/>
          <p:cNvSpPr/>
          <p:nvPr/>
        </p:nvSpPr>
        <p:spPr>
          <a:xfrm>
            <a:off x="793790" y="438161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Setup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93790" y="4809530"/>
            <a:ext cx="424124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Reserves bandwidth and resources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194459" y="3891082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194459" y="4229576"/>
            <a:ext cx="4241363" cy="22860"/>
          </a:xfrm>
          <a:prstGeom prst="rect">
            <a:avLst/>
          </a:prstGeom>
          <a:solidFill>
            <a:srgbClr val="D3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5194459" y="438161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Data Transfer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5194459" y="4809530"/>
            <a:ext cx="424136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Continuous bit stream with guaranteed capacity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595247" y="3891082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595247" y="4229576"/>
            <a:ext cx="4241363" cy="22860"/>
          </a:xfrm>
          <a:prstGeom prst="rect">
            <a:avLst/>
          </a:prstGeom>
          <a:solidFill>
            <a:srgbClr val="D3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9595247" y="438161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Teardown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9595247" y="4809530"/>
            <a:ext cx="42413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Explicitly releases resources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93790" y="5743575"/>
            <a:ext cx="13042821" cy="1612463"/>
          </a:xfrm>
          <a:prstGeom prst="roundRect">
            <a:avLst>
              <a:gd name="adj" fmla="val 19782"/>
            </a:avLst>
          </a:prstGeom>
          <a:solidFill>
            <a:srgbClr val="FAA1A1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435" y="6036588"/>
            <a:ext cx="265748" cy="21264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84828" y="5956102"/>
            <a:ext cx="1213913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Total Time Calculation:</a:t>
            </a:r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 Transmission time (</a:t>
            </a:r>
            <a:pPr algn="l" indent="0" marL="0">
              <a:lnSpc>
                <a:spcPts val="2300"/>
              </a:lnSpc>
              <a:buNone/>
            </a:pPr>
            <a:r>
              <a:rPr lang="en-US" sz="1650" i="1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\frac{L}{R}</a:t>
            </a:r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) happens only once.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484828" y="6455569"/>
            <a:ext cx="12139136" cy="59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8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828" y="6455569"/>
            <a:ext cx="12139136" cy="592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04" y="106323"/>
            <a:ext cx="4511873" cy="80169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874395"/>
            <a:ext cx="755642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Switching Fabrics &amp; Message Switching</a:t>
            </a:r>
            <a:endParaRPr lang="en-US" sz="4150" dirty="0"/>
          </a:p>
        </p:txBody>
      </p:sp>
      <p:sp>
        <p:nvSpPr>
          <p:cNvPr id="5" name="Shape 1"/>
          <p:cNvSpPr/>
          <p:nvPr/>
        </p:nvSpPr>
        <p:spPr>
          <a:xfrm>
            <a:off x="6280190" y="2442567"/>
            <a:ext cx="7556421" cy="1463754"/>
          </a:xfrm>
          <a:prstGeom prst="roundRect">
            <a:avLst>
              <a:gd name="adj" fmla="val 21792"/>
            </a:avLst>
          </a:prstGeom>
          <a:solidFill>
            <a:srgbClr val="F7D4D4"/>
          </a:solidFill>
          <a:ln w="7620">
            <a:solidFill>
              <a:srgbClr val="DDBAB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00455" y="2662833"/>
            <a:ext cx="3035379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Space-Division Switching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6500455" y="3090743"/>
            <a:ext cx="711588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Uses physical paths such as crossbars and Clos Networks to create dedicated connections.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6280190" y="4065746"/>
            <a:ext cx="7556421" cy="1463754"/>
          </a:xfrm>
          <a:prstGeom prst="roundRect">
            <a:avLst>
              <a:gd name="adj" fmla="val 21792"/>
            </a:avLst>
          </a:prstGeom>
          <a:solidFill>
            <a:srgbClr val="F7D4D4"/>
          </a:solidFill>
          <a:ln w="7620">
            <a:solidFill>
              <a:srgbClr val="DDBAB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00455" y="4286012"/>
            <a:ext cx="2907387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Time-Division Switching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6500455" y="4713923"/>
            <a:ext cx="711588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Swaps time slots using memory through Time Slot Interchangers to share physical infrastructure.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280190" y="5768697"/>
            <a:ext cx="5018723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Message Switching (The Precursor)</a:t>
            </a:r>
            <a:endParaRPr lang="en-US" sz="2500" dirty="0"/>
          </a:p>
        </p:txBody>
      </p:sp>
      <p:sp>
        <p:nvSpPr>
          <p:cNvPr id="12" name="Text 8"/>
          <p:cNvSpPr/>
          <p:nvPr/>
        </p:nvSpPr>
        <p:spPr>
          <a:xfrm>
            <a:off x="6280190" y="6406515"/>
            <a:ext cx="7556421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Store-and-Forward:</a:t>
            </a:r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 Entire message sent, stored at a node, then forwarded</a:t>
            </a:r>
            <a:endParaRPr lang="en-US" sz="16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The Flaw:</a:t>
            </a:r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 Requires massive buffers. One bit error means retransmitting the entire file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1418"/>
            <a:ext cx="112074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Timing Visual: Circuit vs. Message Switching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5614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D32A2A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Circuit Switching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062883"/>
            <a:ext cx="6244709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A single diagonal setup line, followed by a smooth, parallel transfer of data. Delay is purely propagation.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920133"/>
            <a:ext cx="4995743" cy="28114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99521" y="203382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D32A2A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Message Switching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599521" y="2640568"/>
            <a:ext cx="6244709" cy="979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A "staircase" effect. Data stops entirely at each node to be stored before moving to the next, multiplying transmission delays.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3824407"/>
            <a:ext cx="4995743" cy="33295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6678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Packet Switching (The Modern Standard)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495193"/>
            <a:ext cx="755642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Messages are fragmented into smaller blocks (packets) with a header and payload.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2921318"/>
            <a:ext cx="7556421" cy="2061329"/>
          </a:xfrm>
          <a:prstGeom prst="roundRect">
            <a:avLst>
              <a:gd name="adj" fmla="val 5323"/>
            </a:avLst>
          </a:prstGeom>
          <a:solidFill>
            <a:srgbClr val="FFFFFF"/>
          </a:solidFill>
          <a:ln w="22860">
            <a:solidFill>
              <a:srgbClr val="D32A2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57330" y="2921318"/>
            <a:ext cx="91440" cy="2061329"/>
          </a:xfrm>
          <a:prstGeom prst="roundRect">
            <a:avLst>
              <a:gd name="adj" fmla="val 325581"/>
            </a:avLst>
          </a:prstGeom>
          <a:solidFill>
            <a:srgbClr val="D32A2A"/>
          </a:solidFill>
          <a:ln/>
        </p:spPr>
      </p:sp>
      <p:sp>
        <p:nvSpPr>
          <p:cNvPr id="7" name="Text 4"/>
          <p:cNvSpPr/>
          <p:nvPr/>
        </p:nvSpPr>
        <p:spPr>
          <a:xfrm>
            <a:off x="6569988" y="3142536"/>
            <a:ext cx="32576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Datagram Networks (e.g., IP)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569988" y="3536037"/>
            <a:ext cx="7045404" cy="122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Connectionless</a:t>
            </a:r>
            <a:endParaRPr lang="en-US" sz="15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Packets routed independently</a:t>
            </a:r>
            <a:endParaRPr lang="en-US" sz="15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Arrive out-of-order</a:t>
            </a:r>
            <a:endParaRPr lang="en-US" sz="15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Highly scalable and resilient to failures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280190" y="5121473"/>
            <a:ext cx="7556421" cy="2061329"/>
          </a:xfrm>
          <a:prstGeom prst="roundRect">
            <a:avLst>
              <a:gd name="adj" fmla="val 5323"/>
            </a:avLst>
          </a:prstGeom>
          <a:solidFill>
            <a:srgbClr val="FFFFFF"/>
          </a:solidFill>
          <a:ln w="22860">
            <a:solidFill>
              <a:srgbClr val="D32A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57330" y="5121473"/>
            <a:ext cx="91440" cy="2061329"/>
          </a:xfrm>
          <a:prstGeom prst="roundRect">
            <a:avLst>
              <a:gd name="adj" fmla="val 325581"/>
            </a:avLst>
          </a:prstGeom>
          <a:solidFill>
            <a:srgbClr val="D32A2A"/>
          </a:solidFill>
          <a:ln/>
        </p:spPr>
      </p:sp>
      <p:sp>
        <p:nvSpPr>
          <p:cNvPr id="11" name="Text 8"/>
          <p:cNvSpPr/>
          <p:nvPr/>
        </p:nvSpPr>
        <p:spPr>
          <a:xfrm>
            <a:off x="6569988" y="5342692"/>
            <a:ext cx="447734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Virtual Circuit (VC) Networks (e.g., ATM)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569988" y="5736193"/>
            <a:ext cx="7045404" cy="122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Connection-oriented</a:t>
            </a:r>
            <a:endParaRPr lang="en-US" sz="15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Setup creates a fixed logical path</a:t>
            </a:r>
            <a:endParaRPr lang="en-US" sz="15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Packets arrive in order</a:t>
            </a:r>
            <a:endParaRPr lang="en-US" sz="15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Physical wire is still shared dynamically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9288"/>
            <a:ext cx="8622506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Inside the Router: Advanced Nuance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93790" y="2249091"/>
            <a:ext cx="4189690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Head-of-Line (HOL) Blocking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93790" y="2807137"/>
            <a:ext cx="422779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Occurs in input-queued switches. The first packet in line waits for a busy output, blocking all packets behind it (even if their outputs are free).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836" y="2052280"/>
            <a:ext cx="3827621" cy="212645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537353"/>
            <a:ext cx="4347567" cy="8505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6435" y="554736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The Problem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1006435" y="5975271"/>
            <a:ext cx="392227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HOL blocking reduces throughput to ~58%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357" y="4537353"/>
            <a:ext cx="4347567" cy="8505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54003" y="554736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The Solution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5354003" y="5975271"/>
            <a:ext cx="392227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Virtual Output Queuing (VOQ)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924" y="4537353"/>
            <a:ext cx="4347567" cy="8505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01570" y="554736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The Result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9701570" y="5975271"/>
            <a:ext cx="392227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Throughput boosted to nearly 100%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93790" y="6962537"/>
            <a:ext cx="130428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Virtual Output Queuing (VOQ):</a:t>
            </a:r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 Input queues keep separate logical lines for each output port, eliminating HOL blocking.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6740"/>
            <a:ext cx="9943981" cy="841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530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Comparing Switching Paradigms</a:t>
            </a:r>
            <a:endParaRPr lang="en-US" sz="5300" dirty="0"/>
          </a:p>
        </p:txBody>
      </p:sp>
      <p:sp>
        <p:nvSpPr>
          <p:cNvPr id="3" name="Shape 1"/>
          <p:cNvSpPr/>
          <p:nvPr/>
        </p:nvSpPr>
        <p:spPr>
          <a:xfrm>
            <a:off x="793790" y="2890242"/>
            <a:ext cx="13042821" cy="3802618"/>
          </a:xfrm>
          <a:prstGeom prst="roundRect">
            <a:avLst>
              <a:gd name="adj" fmla="val 10625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268" y="2905482"/>
            <a:ext cx="3253026" cy="749856"/>
          </a:xfrm>
          <a:prstGeom prst="roundRect">
            <a:avLst>
              <a:gd name="adj" fmla="val 53882"/>
            </a:avLst>
          </a:prstGeom>
          <a:solidFill>
            <a:srgbClr val="D32A2A"/>
          </a:solidFill>
          <a:ln/>
        </p:spPr>
      </p:sp>
      <p:sp>
        <p:nvSpPr>
          <p:cNvPr id="5" name="Text 3"/>
          <p:cNvSpPr/>
          <p:nvPr/>
        </p:nvSpPr>
        <p:spPr>
          <a:xfrm>
            <a:off x="1078587" y="3066574"/>
            <a:ext cx="270676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Feature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062293" y="2905482"/>
            <a:ext cx="3253026" cy="749856"/>
          </a:xfrm>
          <a:prstGeom prst="rect">
            <a:avLst/>
          </a:prstGeom>
          <a:solidFill>
            <a:srgbClr val="D32A2A"/>
          </a:solidFill>
          <a:ln/>
        </p:spPr>
      </p:sp>
      <p:sp>
        <p:nvSpPr>
          <p:cNvPr id="7" name="Text 5"/>
          <p:cNvSpPr/>
          <p:nvPr/>
        </p:nvSpPr>
        <p:spPr>
          <a:xfrm>
            <a:off x="4339233" y="3066574"/>
            <a:ext cx="269914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Circuit Switching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319" y="2905482"/>
            <a:ext cx="3253026" cy="749856"/>
          </a:xfrm>
          <a:prstGeom prst="rect">
            <a:avLst/>
          </a:prstGeom>
          <a:solidFill>
            <a:srgbClr val="D32A2A"/>
          </a:solidFill>
          <a:ln/>
        </p:spPr>
      </p:sp>
      <p:sp>
        <p:nvSpPr>
          <p:cNvPr id="9" name="Text 7"/>
          <p:cNvSpPr/>
          <p:nvPr/>
        </p:nvSpPr>
        <p:spPr>
          <a:xfrm>
            <a:off x="7592258" y="3066574"/>
            <a:ext cx="269914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Datagram Packet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568345" y="2905482"/>
            <a:ext cx="3253026" cy="749856"/>
          </a:xfrm>
          <a:prstGeom prst="rect">
            <a:avLst/>
          </a:prstGeom>
          <a:solidFill>
            <a:srgbClr val="D32A2A"/>
          </a:solidFill>
          <a:ln/>
        </p:spPr>
      </p:sp>
      <p:sp>
        <p:nvSpPr>
          <p:cNvPr id="11" name="Text 9"/>
          <p:cNvSpPr/>
          <p:nvPr/>
        </p:nvSpPr>
        <p:spPr>
          <a:xfrm>
            <a:off x="10845284" y="3066574"/>
            <a:ext cx="270676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Virtual Circuit Packet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78587" y="3824049"/>
            <a:ext cx="270676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Dedicated Path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339233" y="3824049"/>
            <a:ext cx="269914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Yes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92258" y="3824049"/>
            <a:ext cx="269914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No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845284" y="3824049"/>
            <a:ext cx="270676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Yes (Logical)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8587" y="4581525"/>
            <a:ext cx="270676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Bandwidth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339233" y="4581525"/>
            <a:ext cx="269914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Reserved / Guaranteed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592258" y="4581525"/>
            <a:ext cx="269914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Dynamic / Best Effort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845284" y="4581525"/>
            <a:ext cx="270676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Reserved / Managed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78587" y="5339001"/>
            <a:ext cx="270676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Setup Phase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339233" y="5339001"/>
            <a:ext cx="269914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Required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592258" y="5339001"/>
            <a:ext cx="269914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None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845284" y="5339001"/>
            <a:ext cx="270676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Required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78587" y="6096476"/>
            <a:ext cx="270676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Header Size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339233" y="6096476"/>
            <a:ext cx="269914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None (after setup)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592258" y="6096476"/>
            <a:ext cx="269914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High (Full IP address)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845284" y="6096476"/>
            <a:ext cx="2706767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Low (Short VC tag)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407" y="828437"/>
            <a:ext cx="7121485" cy="784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50"/>
              </a:lnSpc>
              <a:buNone/>
            </a:pPr>
            <a:r>
              <a:rPr lang="en-US" sz="490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Multiplexing Foundations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781407" y="1947029"/>
            <a:ext cx="7581186" cy="378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Goal:</a:t>
            </a:r>
            <a:pPr algn="l" indent="0" marL="0">
              <a:lnSpc>
                <a:spcPts val="2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 Multiple signals sharing a single physical wire/fiber.</a:t>
            </a:r>
            <a:endParaRPr lang="en-US" sz="1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407" y="2576274"/>
            <a:ext cx="627936" cy="6279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1407" y="3482340"/>
            <a:ext cx="5414843" cy="39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Frequency Division Multiplexing (FDM)</a:t>
            </a:r>
            <a:endParaRPr lang="en-US" sz="2450" dirty="0"/>
          </a:p>
        </p:txBody>
      </p:sp>
      <p:sp>
        <p:nvSpPr>
          <p:cNvPr id="7" name="Text 3"/>
          <p:cNvSpPr/>
          <p:nvPr/>
        </p:nvSpPr>
        <p:spPr>
          <a:xfrm>
            <a:off x="781407" y="4008239"/>
            <a:ext cx="7581186" cy="75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Divides spectrum into frequency channels, separated by empty "guard bands" to stop interference.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07" y="5211247"/>
            <a:ext cx="627936" cy="62793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1407" y="6117312"/>
            <a:ext cx="5759768" cy="39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Wavelength Division Multiplexing (WDM)</a:t>
            </a:r>
            <a:endParaRPr lang="en-US" sz="2450" dirty="0"/>
          </a:p>
        </p:txBody>
      </p:sp>
      <p:sp>
        <p:nvSpPr>
          <p:cNvPr id="10" name="Text 5"/>
          <p:cNvSpPr/>
          <p:nvPr/>
        </p:nvSpPr>
        <p:spPr>
          <a:xfrm>
            <a:off x="781407" y="6643211"/>
            <a:ext cx="7581186" cy="75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FDM for fiber optics. Multiple lasers shoot distinct colors (wavelengths) down one fiber.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9998"/>
            <a:ext cx="12836485" cy="75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00"/>
              </a:lnSpc>
              <a:buNone/>
            </a:pPr>
            <a:r>
              <a:rPr lang="en-US" sz="470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Synchronous Time Division Multiplexing (STDM)</a:t>
            </a:r>
            <a:endParaRPr lang="en-US" sz="4700" dirty="0"/>
          </a:p>
        </p:txBody>
      </p:sp>
      <p:sp>
        <p:nvSpPr>
          <p:cNvPr id="3" name="Text 1"/>
          <p:cNvSpPr/>
          <p:nvPr/>
        </p:nvSpPr>
        <p:spPr>
          <a:xfrm>
            <a:off x="793790" y="2205038"/>
            <a:ext cx="3614976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Mechanism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2861667"/>
            <a:ext cx="759047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Divides time into fixed frames and slots. Samples inputs in strict round-robin order.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93790" y="3779639"/>
            <a:ext cx="3614976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Data Rate Calculation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3790" y="4436269"/>
            <a:ext cx="7590473" cy="364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Multiplexing </a:t>
            </a:r>
            <a:pPr algn="l" indent="0" marL="0">
              <a:lnSpc>
                <a:spcPts val="2800"/>
              </a:lnSpc>
              <a:buNone/>
            </a:pPr>
            <a:r>
              <a:rPr lang="en-US" sz="1850" i="1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N</a:t>
            </a:r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 sources at </a:t>
            </a:r>
            <a:pPr algn="l" indent="0" marL="0">
              <a:lnSpc>
                <a:spcPts val="2800"/>
              </a:lnSpc>
              <a:buNone/>
            </a:pPr>
            <a:r>
              <a:rPr lang="en-US" sz="1850" i="1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R</a:t>
            </a:r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 bps requires link capacity: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93790" y="5059680"/>
            <a:ext cx="7590473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5059680"/>
            <a:ext cx="7590473" cy="4164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3790" y="5735360"/>
            <a:ext cx="3614976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The Inefficiency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93790" y="6391989"/>
            <a:ext cx="759047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If a source is idle, its assigned time slot travels empty. Bandwidth is wasted.</a:t>
            </a:r>
            <a:endParaRPr lang="en-US" sz="1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813" y="3262670"/>
            <a:ext cx="4134564" cy="27643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9893"/>
            <a:ext cx="10447615" cy="841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530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Statistical TDM &amp; Expert Synthesis</a:t>
            </a:r>
            <a:endParaRPr lang="en-US" sz="5300" dirty="0"/>
          </a:p>
        </p:txBody>
      </p:sp>
      <p:sp>
        <p:nvSpPr>
          <p:cNvPr id="3" name="Shape 1"/>
          <p:cNvSpPr/>
          <p:nvPr/>
        </p:nvSpPr>
        <p:spPr>
          <a:xfrm>
            <a:off x="793790" y="2403396"/>
            <a:ext cx="4176951" cy="3887510"/>
          </a:xfrm>
          <a:prstGeom prst="roundRect">
            <a:avLst>
              <a:gd name="adj" fmla="val 10393"/>
            </a:avLst>
          </a:prstGeom>
          <a:solidFill>
            <a:srgbClr val="F7D4D4"/>
          </a:solidFill>
          <a:ln w="15240">
            <a:solidFill>
              <a:srgbClr val="DDBA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349" y="2687955"/>
            <a:ext cx="807958" cy="807958"/>
          </a:xfrm>
          <a:prstGeom prst="roundRect">
            <a:avLst>
              <a:gd name="adj" fmla="val 11316288"/>
            </a:avLst>
          </a:prstGeom>
          <a:solidFill>
            <a:srgbClr val="D32A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0520" y="2910007"/>
            <a:ext cx="363617" cy="3636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349" y="3751778"/>
            <a:ext cx="3576637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Statistical TDM (ATDM)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078349" y="4326136"/>
            <a:ext cx="3607832" cy="168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Solves STDM's wasted space by allocating slots dynamically, strictly on demand.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5226606" y="2403396"/>
            <a:ext cx="4177070" cy="3887510"/>
          </a:xfrm>
          <a:prstGeom prst="roundRect">
            <a:avLst>
              <a:gd name="adj" fmla="val 10393"/>
            </a:avLst>
          </a:prstGeom>
          <a:solidFill>
            <a:srgbClr val="F7D4D4"/>
          </a:solidFill>
          <a:ln w="15240">
            <a:solidFill>
              <a:srgbClr val="DDBA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11165" y="2687955"/>
            <a:ext cx="807958" cy="807958"/>
          </a:xfrm>
          <a:prstGeom prst="roundRect">
            <a:avLst>
              <a:gd name="adj" fmla="val 11316288"/>
            </a:avLst>
          </a:prstGeom>
          <a:solidFill>
            <a:srgbClr val="D32A2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3336" y="2910007"/>
            <a:ext cx="363617" cy="3636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11165" y="3751778"/>
            <a:ext cx="3366968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The Trade-off</a:t>
            </a:r>
            <a:endParaRPr lang="en-US" sz="2650" dirty="0"/>
          </a:p>
        </p:txBody>
      </p:sp>
      <p:sp>
        <p:nvSpPr>
          <p:cNvPr id="12" name="Text 8"/>
          <p:cNvSpPr/>
          <p:nvPr/>
        </p:nvSpPr>
        <p:spPr>
          <a:xfrm>
            <a:off x="5511165" y="4326136"/>
            <a:ext cx="3607951" cy="126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Every packet must carry an addressing header to identify the sender.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9659541" y="2403396"/>
            <a:ext cx="4177070" cy="3887510"/>
          </a:xfrm>
          <a:prstGeom prst="roundRect">
            <a:avLst>
              <a:gd name="adj" fmla="val 10393"/>
            </a:avLst>
          </a:prstGeom>
          <a:solidFill>
            <a:srgbClr val="F7D4D4"/>
          </a:solidFill>
          <a:ln w="15240">
            <a:solidFill>
              <a:srgbClr val="DDBAB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44100" y="2687955"/>
            <a:ext cx="807958" cy="807958"/>
          </a:xfrm>
          <a:prstGeom prst="roundRect">
            <a:avLst>
              <a:gd name="adj" fmla="val 11316288"/>
            </a:avLst>
          </a:prstGeom>
          <a:solidFill>
            <a:srgbClr val="D32A2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6271" y="2910007"/>
            <a:ext cx="363617" cy="3636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44100" y="3751778"/>
            <a:ext cx="3366968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The Risk</a:t>
            </a:r>
            <a:endParaRPr lang="en-US" sz="2650" dirty="0"/>
          </a:p>
        </p:txBody>
      </p:sp>
      <p:sp>
        <p:nvSpPr>
          <p:cNvPr id="17" name="Text 12"/>
          <p:cNvSpPr/>
          <p:nvPr/>
        </p:nvSpPr>
        <p:spPr>
          <a:xfrm>
            <a:off x="9944100" y="4326136"/>
            <a:ext cx="3607951" cy="126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Deep buffers are needed. If everyone transmits at once, queuing delays (jitter) occur.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793790" y="6674644"/>
            <a:ext cx="4040267" cy="50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endParaRPr lang="en-US" sz="3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9526"/>
            <a:ext cx="11107341" cy="885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950"/>
              </a:lnSpc>
              <a:buNone/>
            </a:pPr>
            <a:r>
              <a:rPr lang="en-US" sz="55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Statistical Multiplexing Gain (SMG)</a:t>
            </a:r>
            <a:endParaRPr lang="en-US" sz="5550" dirty="0"/>
          </a:p>
        </p:txBody>
      </p:sp>
      <p:sp>
        <p:nvSpPr>
          <p:cNvPr id="3" name="Text 1"/>
          <p:cNvSpPr/>
          <p:nvPr/>
        </p:nvSpPr>
        <p:spPr>
          <a:xfrm>
            <a:off x="793790" y="3372445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Capitalizes on "bursty" traffic (users alternate between idle and downloading). Allows ISPs to oversubscribe links intentionally.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98432"/>
            <a:ext cx="13042821" cy="48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SMG = </a:t>
            </a:r>
            <a:pPr algn="l" indent="0" marL="0">
              <a:lnSpc>
                <a:spcPts val="3550"/>
              </a:lnSpc>
              <a:buNone/>
            </a:pPr>
            <a:r>
              <a:rPr lang="en-US" sz="2200" i="1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\frac{\sum_{i=1}^{N} R_{peak_i}}{C_{link}}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403056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SMG &gt; 1: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 Successful over subscription, relying on the statistical probability that not everyone transmits simultaneously.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0641"/>
            <a:ext cx="8064579" cy="885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950"/>
              </a:lnSpc>
              <a:buNone/>
            </a:pPr>
            <a:r>
              <a:rPr lang="en-US" sz="5550" dirty="0">
                <a:solidFill>
                  <a:srgbClr val="000000"/>
                </a:solidFill>
                <a:latin typeface="Outfit Semi Bold" pitchFamily="34" charset="0"/>
                <a:ea typeface="Outfit Semi Bold" pitchFamily="34" charset="-122"/>
                <a:cs typeface="Outfit Semi Bold" pitchFamily="34" charset="-120"/>
              </a:rPr>
              <a:t>STDM vs. Statistical TDM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793790" y="2773561"/>
            <a:ext cx="13042821" cy="4135398"/>
          </a:xfrm>
          <a:prstGeom prst="roundRect">
            <a:avLst>
              <a:gd name="adj" fmla="val 10284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0577" y="2788801"/>
            <a:ext cx="4336494" cy="816412"/>
          </a:xfrm>
          <a:prstGeom prst="roundRect">
            <a:avLst>
              <a:gd name="adj" fmla="val 52094"/>
            </a:avLst>
          </a:prstGeom>
          <a:solidFill>
            <a:srgbClr val="D32A2A"/>
          </a:solidFill>
          <a:ln/>
        </p:spPr>
      </p:sp>
      <p:sp>
        <p:nvSpPr>
          <p:cNvPr id="5" name="Text 3"/>
          <p:cNvSpPr/>
          <p:nvPr/>
        </p:nvSpPr>
        <p:spPr>
          <a:xfrm>
            <a:off x="1094065" y="2966442"/>
            <a:ext cx="37618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Feature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147072" y="2788801"/>
            <a:ext cx="4336494" cy="816412"/>
          </a:xfrm>
          <a:prstGeom prst="rect">
            <a:avLst/>
          </a:prstGeom>
          <a:solidFill>
            <a:srgbClr val="D32A2A"/>
          </a:solidFill>
          <a:ln/>
        </p:spPr>
      </p:sp>
      <p:sp>
        <p:nvSpPr>
          <p:cNvPr id="7" name="Text 5"/>
          <p:cNvSpPr/>
          <p:nvPr/>
        </p:nvSpPr>
        <p:spPr>
          <a:xfrm>
            <a:off x="5438180" y="2966442"/>
            <a:ext cx="375427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Synchronous TDM (STDM)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483566" y="2788801"/>
            <a:ext cx="4336494" cy="816412"/>
          </a:xfrm>
          <a:prstGeom prst="rect">
            <a:avLst/>
          </a:prstGeom>
          <a:solidFill>
            <a:srgbClr val="D32A2A"/>
          </a:solidFill>
          <a:ln/>
        </p:spPr>
      </p:sp>
      <p:sp>
        <p:nvSpPr>
          <p:cNvPr id="9" name="Text 7"/>
          <p:cNvSpPr/>
          <p:nvPr/>
        </p:nvSpPr>
        <p:spPr>
          <a:xfrm>
            <a:off x="9774674" y="2966442"/>
            <a:ext cx="37618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Statistical TDM (ATDM)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4065" y="3790474"/>
            <a:ext cx="37618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Allocation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38180" y="3790474"/>
            <a:ext cx="375427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Fixed, round-robin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774674" y="3790474"/>
            <a:ext cx="37618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Dynamic, demand-driven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4065" y="4614505"/>
            <a:ext cx="37618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Overhead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38180" y="4614505"/>
            <a:ext cx="375427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None (position = ID)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774674" y="4614505"/>
            <a:ext cx="37618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Required in every slot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4065" y="5438537"/>
            <a:ext cx="37618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Efficiency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38180" y="5438537"/>
            <a:ext cx="375427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Low (wastes idle slots)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774674" y="5438537"/>
            <a:ext cx="37618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High (near 100% efficient)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4065" y="6262568"/>
            <a:ext cx="37618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Best For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38180" y="6262568"/>
            <a:ext cx="375427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Uncompressed Voice/Video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774674" y="6262568"/>
            <a:ext cx="37618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vo" pitchFamily="34" charset="0"/>
                <a:ea typeface="Ovo" pitchFamily="34" charset="-122"/>
                <a:cs typeface="Ovo" pitchFamily="34" charset="-120"/>
              </a:rPr>
              <a:t>Bursty Data (Internet)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2026-04-29T09:18:16Z</dcterms:created>
  <dcterms:modified xsi:type="dcterms:W3CDTF">2026-04-29T09:18:16Z</dcterms:modified>
</cp:coreProperties>
</file>