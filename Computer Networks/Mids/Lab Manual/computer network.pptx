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69" r:id="rId5"/>
    <p:sldId id="270" r:id="rId6"/>
    <p:sldId id="271" r:id="rId7"/>
    <p:sldId id="272" r:id="rId8"/>
    <p:sldId id="273" r:id="rId9"/>
    <p:sldId id="274" r:id="rId10"/>
    <p:sldId id="275" r:id="rId11"/>
    <p:sldId id="276" r:id="rId12"/>
    <p:sldId id="277" r:id="rId13"/>
    <p:sldId id="268" r:id="rId14"/>
  </p:sldIdLst>
  <p:sldSz cx="12192000" cy="6858000"/>
  <p:notesSz cx="6858000" cy="9144000"/>
  <p:embeddedFontLst>
    <p:embeddedFont>
      <p:font typeface="Arial Black" panose="020B0A04020102020204" pitchFamily="34" charset="0"/>
      <p:bold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9" roundtripDataSignature="AMtx7mibEC85x5eKV5juRUwO94qRxQrx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18A28CE-F8C2-4840-8D50-44A4DB96DB77}">
  <a:tblStyle styleId="{818A28CE-F8C2-4840-8D50-44A4DB96DB77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9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8395901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64120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781648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355410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942071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2" name="Google Shape;41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253938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7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7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18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9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1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1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5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5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32A2A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 txBox="1">
            <a:spLocks noGrp="1"/>
          </p:cNvSpPr>
          <p:nvPr>
            <p:ph type="subTitle" idx="1"/>
          </p:nvPr>
        </p:nvSpPr>
        <p:spPr>
          <a:xfrm>
            <a:off x="4088525" y="2436613"/>
            <a:ext cx="4134792" cy="610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b="1" dirty="0"/>
              <a:t>Group Members:</a:t>
            </a:r>
            <a:endParaRPr lang="en-US" dirty="0"/>
          </a:p>
          <a:p>
            <a:r>
              <a:rPr lang="en-US" dirty="0"/>
              <a:t>Humna Imran (2023-BS-AI-017)</a:t>
            </a:r>
          </a:p>
          <a:p>
            <a:r>
              <a:rPr lang="en-US" dirty="0"/>
              <a:t>Maham Nisar (2023-BS-AI-058)</a:t>
            </a:r>
          </a:p>
          <a:p>
            <a:r>
              <a:rPr lang="en-US" dirty="0"/>
              <a:t>Ayesha Imran (2023-BS-AI-057)</a:t>
            </a:r>
          </a:p>
          <a:p>
            <a:r>
              <a:rPr lang="en-US" dirty="0" err="1"/>
              <a:t>Mukedas</a:t>
            </a:r>
            <a:r>
              <a:rPr lang="en-US" dirty="0"/>
              <a:t> (2023-BS-AI-008)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6" name="Google Shape;86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04174" y="-1524000"/>
            <a:ext cx="3611690" cy="361169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"/>
          <p:cNvSpPr txBox="1"/>
          <p:nvPr/>
        </p:nvSpPr>
        <p:spPr>
          <a:xfrm>
            <a:off x="3174124" y="3685061"/>
            <a:ext cx="5946974" cy="384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1" i="1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2493559" y="4415136"/>
            <a:ext cx="7628629" cy="5784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sz="2400" b="1" i="1" u="none" strike="noStrike" cap="none" dirty="0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8736301" y="5729323"/>
            <a:ext cx="3455699" cy="11484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en-US" sz="1400" b="1" i="1" u="none" strike="noStrike" cap="none" dirty="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endParaRPr sz="1400" b="1" i="1" u="none" strike="noStrike" cap="none" dirty="0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4088525" y="2338748"/>
            <a:ext cx="4134792" cy="610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endParaRPr sz="2800" b="0" u="none" dirty="0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1" u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4" name="Google Shape;94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87345" y="5189286"/>
            <a:ext cx="2241055" cy="119891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240F190-D7F1-7179-005B-99573E302FE8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1207407" y="810329"/>
            <a:ext cx="9597499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Foundations of Switching and Multiplexing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36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88A6B-086E-5194-BB72-0B6D77718C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" y="1145455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/>
              <a:t>  The Core Objective of Networking</a:t>
            </a:r>
          </a:p>
        </p:txBody>
      </p:sp>
      <p:grpSp>
        <p:nvGrpSpPr>
          <p:cNvPr id="100" name="Google Shape;100;p2"/>
          <p:cNvGrpSpPr/>
          <p:nvPr/>
        </p:nvGrpSpPr>
        <p:grpSpPr>
          <a:xfrm>
            <a:off x="-75414" y="0"/>
            <a:ext cx="12749348" cy="1115736"/>
            <a:chOff x="0" y="0"/>
            <a:chExt cx="12749348" cy="1115736"/>
          </a:xfrm>
        </p:grpSpPr>
        <p:sp>
          <p:nvSpPr>
            <p:cNvPr id="101" name="Google Shape;101;p2"/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02" name="Google Shape;102;p2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62730" y="155317"/>
              <a:ext cx="1504919" cy="8051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3" name="Google Shape;103;p2"/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unioffaisalabad</a:t>
              </a:r>
              <a:endParaRPr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04" name="Google Shape;104;p2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9906056" y="403986"/>
              <a:ext cx="261610" cy="26161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5" name="Google Shape;105;p2"/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www.tuf.edu.pk</a:t>
              </a:r>
              <a:endParaRPr/>
            </a:p>
          </p:txBody>
        </p:sp>
        <p:pic>
          <p:nvPicPr>
            <p:cNvPr id="106" name="Google Shape;106;p2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7" name="Google Shape;107;p2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0" name="Google Shape;110;p2"/>
          <p:cNvSpPr txBox="1"/>
          <p:nvPr/>
        </p:nvSpPr>
        <p:spPr>
          <a:xfrm>
            <a:off x="3530419" y="5843724"/>
            <a:ext cx="5946974" cy="384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1" i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B0583690-BAD9-4596-BDE8-0C7F0109AC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588" y="2246848"/>
            <a:ext cx="11529995" cy="44558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Main Problem: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We have limited physical wires and hardware, but millions of people want to talk at the same time.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Goal: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make sure data reaches the right person as cheaply and quickly as possible.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Simple Example: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highway is built once, but thousands of different cars share it to reach different cities.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Solution: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We cannot give every person their own private wire. Instead, we use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Switching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(to find a path) and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Multiplexing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(to share that path).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" name="Google Shape;115;p3"/>
          <p:cNvGrpSpPr/>
          <p:nvPr/>
        </p:nvGrpSpPr>
        <p:grpSpPr>
          <a:xfrm>
            <a:off x="9021" y="382270"/>
            <a:ext cx="12749348" cy="1115736"/>
            <a:chOff x="0" y="0"/>
            <a:chExt cx="12749348" cy="1115736"/>
          </a:xfrm>
        </p:grpSpPr>
        <p:sp>
          <p:nvSpPr>
            <p:cNvPr id="116" name="Google Shape;116;p3"/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7" name="Google Shape;117;p3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62730" y="155317"/>
              <a:ext cx="1504919" cy="8051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8" name="Google Shape;118;p3"/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unioffaisalabad</a:t>
              </a:r>
              <a:endParaRPr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9" name="Google Shape;119;p3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9906056" y="403986"/>
              <a:ext cx="261610" cy="26161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0" name="Google Shape;120;p3"/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www.tuf.edu.pk</a:t>
              </a:r>
              <a:endParaRPr/>
            </a:p>
          </p:txBody>
        </p:sp>
        <p:pic>
          <p:nvPicPr>
            <p:cNvPr id="121" name="Google Shape;121;p3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2" name="Google Shape;122;p3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4" name="Google Shape;124;p3"/>
          <p:cNvSpPr txBox="1"/>
          <p:nvPr/>
        </p:nvSpPr>
        <p:spPr>
          <a:xfrm>
            <a:off x="3285870" y="6364719"/>
            <a:ext cx="5946974" cy="384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sz="1200" b="1" i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3"/>
          <p:cNvSpPr txBox="1"/>
          <p:nvPr/>
        </p:nvSpPr>
        <p:spPr>
          <a:xfrm>
            <a:off x="9913072" y="5876677"/>
            <a:ext cx="2094096" cy="8725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 i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400" i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86B4B4-ACEF-7AF7-6A00-0FC0371606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42" y="1436891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/>
              <a:t>   What is Network Switching?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9BED8A4C-7240-E063-534E-31C6DE0116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530" y="2957563"/>
            <a:ext cx="11297760" cy="33478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Definition: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It is the process of connecting different points (nodes) to create a temporary path for data.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How it works: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"Switch" acts like a smart controller. When it receives data, it looks at the destination address and "switches" the data to the correct output wire.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Concept: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Switches make decisions based on a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Forwarding Table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(a map stored in their memory).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" name="Google Shape;115;p3"/>
          <p:cNvGrpSpPr/>
          <p:nvPr/>
        </p:nvGrpSpPr>
        <p:grpSpPr>
          <a:xfrm>
            <a:off x="0" y="472458"/>
            <a:ext cx="12749348" cy="1115736"/>
            <a:chOff x="0" y="0"/>
            <a:chExt cx="12749348" cy="1115736"/>
          </a:xfrm>
        </p:grpSpPr>
        <p:sp>
          <p:nvSpPr>
            <p:cNvPr id="116" name="Google Shape;116;p3"/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7" name="Google Shape;117;p3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62730" y="155317"/>
              <a:ext cx="1504919" cy="8051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8" name="Google Shape;118;p3"/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unioffaisalabad</a:t>
              </a:r>
              <a:endParaRPr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9" name="Google Shape;119;p3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9906056" y="403986"/>
              <a:ext cx="261610" cy="26161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0" name="Google Shape;120;p3"/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www.tuf.edu.pk</a:t>
              </a:r>
              <a:endParaRPr/>
            </a:p>
          </p:txBody>
        </p:sp>
        <p:pic>
          <p:nvPicPr>
            <p:cNvPr id="121" name="Google Shape;121;p3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2" name="Google Shape;122;p3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4" name="Google Shape;124;p3"/>
          <p:cNvSpPr txBox="1"/>
          <p:nvPr/>
        </p:nvSpPr>
        <p:spPr>
          <a:xfrm>
            <a:off x="3285870" y="6364719"/>
            <a:ext cx="5946974" cy="384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sz="1200" b="1" i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3"/>
          <p:cNvSpPr txBox="1"/>
          <p:nvPr/>
        </p:nvSpPr>
        <p:spPr>
          <a:xfrm>
            <a:off x="9913072" y="5876677"/>
            <a:ext cx="2094096" cy="8725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 i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400" i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420DF9C-6F7C-CAAD-B1EE-54B03B54E9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33" y="1776946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/>
              <a:t>   Circuit Switching (The Dedicated Path)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97388F-7939-6DE5-FBFC-5F18DEB818DB}"/>
              </a:ext>
            </a:extLst>
          </p:cNvPr>
          <p:cNvSpPr txBox="1"/>
          <p:nvPr/>
        </p:nvSpPr>
        <p:spPr>
          <a:xfrm>
            <a:off x="464911" y="2975278"/>
            <a:ext cx="11262177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Definition:</a:t>
            </a:r>
            <a:r>
              <a:rPr lang="en-US" sz="2400" dirty="0"/>
              <a:t> Before you send any data, a private and fixed physical path is reserved for you.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The 3 Steps:</a:t>
            </a:r>
            <a:endParaRPr lang="en-US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b="1" dirty="0"/>
              <a:t>Setup:</a:t>
            </a:r>
            <a:r>
              <a:rPr lang="en-US" sz="2400" dirty="0"/>
              <a:t> The network "books" the path from start to finish.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b="1" dirty="0"/>
              <a:t>Data Transfer:</a:t>
            </a:r>
            <a:r>
              <a:rPr lang="en-US" sz="2400" dirty="0"/>
              <a:t> You send your data. No one else can use this path during your session.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b="1" dirty="0"/>
              <a:t>Teardown:</a:t>
            </a:r>
            <a:r>
              <a:rPr lang="en-US" sz="2400" dirty="0"/>
              <a:t> The path is released so others can use it.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Main Benefit:</a:t>
            </a:r>
            <a:r>
              <a:rPr lang="en-US" sz="2400" dirty="0"/>
              <a:t> Guaranteed speed with zero interruptions.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Real-life Example:</a:t>
            </a:r>
            <a:r>
              <a:rPr lang="en-US" sz="2400" dirty="0"/>
              <a:t> Old-fashioned landline telephone calls.</a:t>
            </a:r>
          </a:p>
        </p:txBody>
      </p:sp>
    </p:spTree>
    <p:extLst>
      <p:ext uri="{BB962C8B-B14F-4D97-AF65-F5344CB8AC3E}">
        <p14:creationId xmlns:p14="http://schemas.microsoft.com/office/powerpoint/2010/main" val="7082753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893B4-6431-B2AF-6FC4-8A2BCE4128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634" y="1462528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/>
              <a:t> Switching Fabrics (Internal Design)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AA7E8F-10A7-E9BD-6E2C-D972F9EFAAF3}"/>
              </a:ext>
            </a:extLst>
          </p:cNvPr>
          <p:cNvSpPr txBox="1"/>
          <p:nvPr/>
        </p:nvSpPr>
        <p:spPr>
          <a:xfrm>
            <a:off x="618634" y="2606038"/>
            <a:ext cx="10766196" cy="39018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Space-Division Switching:</a:t>
            </a:r>
            <a:r>
              <a:rPr lang="en-US" sz="2400" dirty="0"/>
              <a:t> Uses physical hardware "cross-points" to connect wires. It is fast but can become very expensive as the network grows.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Time-Division Switching:</a:t>
            </a:r>
            <a:r>
              <a:rPr lang="en-US" sz="2400" dirty="0"/>
              <a:t> Uses memory called </a:t>
            </a:r>
            <a:r>
              <a:rPr lang="en-US" sz="2400" b="1" dirty="0"/>
              <a:t>Time Slot Interchangers (TSI)</a:t>
            </a:r>
            <a:r>
              <a:rPr lang="en-US" sz="2400" dirty="0"/>
              <a:t>. It takes data from different users and changes their "time slots" to move them across the same wire.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Modern Systems:</a:t>
            </a:r>
            <a:r>
              <a:rPr lang="en-US" sz="2400" dirty="0"/>
              <a:t> Most modern switches combine both (Multi-stage) to be both fast and cheap.</a:t>
            </a:r>
          </a:p>
        </p:txBody>
      </p:sp>
      <p:grpSp>
        <p:nvGrpSpPr>
          <p:cNvPr id="5" name="Google Shape;115;p3">
            <a:extLst>
              <a:ext uri="{FF2B5EF4-FFF2-40B4-BE49-F238E27FC236}">
                <a16:creationId xmlns:a16="http://schemas.microsoft.com/office/drawing/2014/main" id="{5AAE9F82-F580-39FE-52F7-5D238DF75D7E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6" name="Google Shape;116;p3">
              <a:extLst>
                <a:ext uri="{FF2B5EF4-FFF2-40B4-BE49-F238E27FC236}">
                  <a16:creationId xmlns:a16="http://schemas.microsoft.com/office/drawing/2014/main" id="{D9820D7D-918E-492E-1929-709139F0264F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7" name="Google Shape;117;p3">
              <a:extLst>
                <a:ext uri="{FF2B5EF4-FFF2-40B4-BE49-F238E27FC236}">
                  <a16:creationId xmlns:a16="http://schemas.microsoft.com/office/drawing/2014/main" id="{FF862F84-8D1F-9AD8-F9BF-018FD90B7640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662730" y="155317"/>
              <a:ext cx="1504919" cy="8051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" name="Google Shape;118;p3">
              <a:extLst>
                <a:ext uri="{FF2B5EF4-FFF2-40B4-BE49-F238E27FC236}">
                  <a16:creationId xmlns:a16="http://schemas.microsoft.com/office/drawing/2014/main" id="{7FDD2DCA-DA4B-45D9-352D-5E5EF63088A0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unioffaisalabad</a:t>
              </a:r>
              <a:endParaRPr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9" name="Google Shape;119;p3">
              <a:extLst>
                <a:ext uri="{FF2B5EF4-FFF2-40B4-BE49-F238E27FC236}">
                  <a16:creationId xmlns:a16="http://schemas.microsoft.com/office/drawing/2014/main" id="{5178EE45-50EA-686A-0228-8F0961C6DFC8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906056" y="403986"/>
              <a:ext cx="261610" cy="26161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" name="Google Shape;120;p3">
              <a:extLst>
                <a:ext uri="{FF2B5EF4-FFF2-40B4-BE49-F238E27FC236}">
                  <a16:creationId xmlns:a16="http://schemas.microsoft.com/office/drawing/2014/main" id="{087E3CB4-BC8A-C7A9-9E18-A16631780A0D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www.tuf.edu.pk</a:t>
              </a:r>
              <a:endParaRPr/>
            </a:p>
          </p:txBody>
        </p:sp>
        <p:pic>
          <p:nvPicPr>
            <p:cNvPr id="11" name="Google Shape;121;p3">
              <a:extLst>
                <a:ext uri="{FF2B5EF4-FFF2-40B4-BE49-F238E27FC236}">
                  <a16:creationId xmlns:a16="http://schemas.microsoft.com/office/drawing/2014/main" id="{48D2E8BE-7971-1211-57E6-D4BB4996B669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" name="Google Shape;122;p3">
              <a:extLst>
                <a:ext uri="{FF2B5EF4-FFF2-40B4-BE49-F238E27FC236}">
                  <a16:creationId xmlns:a16="http://schemas.microsoft.com/office/drawing/2014/main" id="{626F8CD9-36C8-D464-BA77-F95DE1ED333C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24143366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C62D5-C7ED-B786-DA7F-EB68F1EDE4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179" y="1519722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/>
              <a:t>  Message Switching (Store-and-Forward)</a:t>
            </a:r>
          </a:p>
        </p:txBody>
      </p:sp>
      <p:grpSp>
        <p:nvGrpSpPr>
          <p:cNvPr id="3" name="Google Shape;115;p3">
            <a:extLst>
              <a:ext uri="{FF2B5EF4-FFF2-40B4-BE49-F238E27FC236}">
                <a16:creationId xmlns:a16="http://schemas.microsoft.com/office/drawing/2014/main" id="{30B1A1B2-9265-142D-032F-A8212549FF16}"/>
              </a:ext>
            </a:extLst>
          </p:cNvPr>
          <p:cNvGrpSpPr/>
          <p:nvPr/>
        </p:nvGrpSpPr>
        <p:grpSpPr>
          <a:xfrm>
            <a:off x="0" y="403986"/>
            <a:ext cx="12749348" cy="1115736"/>
            <a:chOff x="0" y="0"/>
            <a:chExt cx="12749348" cy="1115736"/>
          </a:xfrm>
        </p:grpSpPr>
        <p:sp>
          <p:nvSpPr>
            <p:cNvPr id="4" name="Google Shape;116;p3">
              <a:extLst>
                <a:ext uri="{FF2B5EF4-FFF2-40B4-BE49-F238E27FC236}">
                  <a16:creationId xmlns:a16="http://schemas.microsoft.com/office/drawing/2014/main" id="{8F94AF2A-EA5E-81D7-1525-0003037B9EFC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5" name="Google Shape;117;p3">
              <a:extLst>
                <a:ext uri="{FF2B5EF4-FFF2-40B4-BE49-F238E27FC236}">
                  <a16:creationId xmlns:a16="http://schemas.microsoft.com/office/drawing/2014/main" id="{D640997E-6480-02D1-5C78-0A8D6352FD84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662730" y="155317"/>
              <a:ext cx="1504919" cy="8051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" name="Google Shape;118;p3">
              <a:extLst>
                <a:ext uri="{FF2B5EF4-FFF2-40B4-BE49-F238E27FC236}">
                  <a16:creationId xmlns:a16="http://schemas.microsoft.com/office/drawing/2014/main" id="{555A58EA-A38F-7D3C-E09F-A5C6DD7B831B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unioffaisalabad</a:t>
              </a:r>
              <a:endParaRPr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7" name="Google Shape;119;p3">
              <a:extLst>
                <a:ext uri="{FF2B5EF4-FFF2-40B4-BE49-F238E27FC236}">
                  <a16:creationId xmlns:a16="http://schemas.microsoft.com/office/drawing/2014/main" id="{A992486B-8756-FA76-6555-38F2FAA1F03A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906056" y="403986"/>
              <a:ext cx="261610" cy="26161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" name="Google Shape;120;p3">
              <a:extLst>
                <a:ext uri="{FF2B5EF4-FFF2-40B4-BE49-F238E27FC236}">
                  <a16:creationId xmlns:a16="http://schemas.microsoft.com/office/drawing/2014/main" id="{DC02F1AA-2E62-9DFD-EFBB-D7047960547D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www.tuf.edu.pk</a:t>
              </a:r>
              <a:endParaRPr/>
            </a:p>
          </p:txBody>
        </p:sp>
        <p:pic>
          <p:nvPicPr>
            <p:cNvPr id="9" name="Google Shape;121;p3">
              <a:extLst>
                <a:ext uri="{FF2B5EF4-FFF2-40B4-BE49-F238E27FC236}">
                  <a16:creationId xmlns:a16="http://schemas.microsoft.com/office/drawing/2014/main" id="{81A82D5D-F619-15DB-EBF9-B9EE091DB800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" name="Google Shape;122;p3">
              <a:extLst>
                <a:ext uri="{FF2B5EF4-FFF2-40B4-BE49-F238E27FC236}">
                  <a16:creationId xmlns:a16="http://schemas.microsoft.com/office/drawing/2014/main" id="{20C33D7C-7329-EF9F-B7DC-B018BD5AC21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1979C66D-3A06-6426-CAD6-22AE8A7E2DEA}"/>
              </a:ext>
            </a:extLst>
          </p:cNvPr>
          <p:cNvSpPr txBox="1"/>
          <p:nvPr/>
        </p:nvSpPr>
        <p:spPr>
          <a:xfrm>
            <a:off x="377242" y="2800846"/>
            <a:ext cx="11455557" cy="39018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Concept:</a:t>
            </a:r>
            <a:r>
              <a:rPr lang="en-US" sz="2400" dirty="0"/>
              <a:t> The entire message is sent as one big block. It must be fully received and "stored" at a switch before it can be "forwarded" to the next one.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The Big Problems:</a:t>
            </a:r>
            <a:endParaRPr lang="en-US" sz="24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Delay:</a:t>
            </a:r>
            <a:r>
              <a:rPr lang="en-US" sz="2400" dirty="0"/>
              <a:t> You have to wait for the whole message to arrive at every stop.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Storage:</a:t>
            </a:r>
            <a:r>
              <a:rPr lang="en-US" sz="2400" dirty="0"/>
              <a:t> Switches need huge memory to hold big files.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Errors:</a:t>
            </a:r>
            <a:r>
              <a:rPr lang="en-US" sz="2400" dirty="0"/>
              <a:t> If there is a tiny mistake at the end of a big file, you have to resend everything.</a:t>
            </a:r>
          </a:p>
        </p:txBody>
      </p:sp>
    </p:spTree>
    <p:extLst>
      <p:ext uri="{BB962C8B-B14F-4D97-AF65-F5344CB8AC3E}">
        <p14:creationId xmlns:p14="http://schemas.microsoft.com/office/powerpoint/2010/main" val="2918560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50EEC-360E-3EE0-2067-3A4DBAEDA0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348" y="1464600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/>
              <a:t>Packet Switching (Today's Standard)</a:t>
            </a:r>
          </a:p>
        </p:txBody>
      </p:sp>
      <p:grpSp>
        <p:nvGrpSpPr>
          <p:cNvPr id="3" name="Google Shape;115;p3">
            <a:extLst>
              <a:ext uri="{FF2B5EF4-FFF2-40B4-BE49-F238E27FC236}">
                <a16:creationId xmlns:a16="http://schemas.microsoft.com/office/drawing/2014/main" id="{77959BD1-29AB-7A22-4CCB-9552CABEB5A3}"/>
              </a:ext>
            </a:extLst>
          </p:cNvPr>
          <p:cNvGrpSpPr/>
          <p:nvPr/>
        </p:nvGrpSpPr>
        <p:grpSpPr>
          <a:xfrm>
            <a:off x="0" y="319145"/>
            <a:ext cx="12749348" cy="1115736"/>
            <a:chOff x="0" y="0"/>
            <a:chExt cx="12749348" cy="1115736"/>
          </a:xfrm>
        </p:grpSpPr>
        <p:sp>
          <p:nvSpPr>
            <p:cNvPr id="4" name="Google Shape;116;p3">
              <a:extLst>
                <a:ext uri="{FF2B5EF4-FFF2-40B4-BE49-F238E27FC236}">
                  <a16:creationId xmlns:a16="http://schemas.microsoft.com/office/drawing/2014/main" id="{27D20B65-F54C-2150-B28D-59409426FBDB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5" name="Google Shape;117;p3">
              <a:extLst>
                <a:ext uri="{FF2B5EF4-FFF2-40B4-BE49-F238E27FC236}">
                  <a16:creationId xmlns:a16="http://schemas.microsoft.com/office/drawing/2014/main" id="{F40BF1DA-40CE-4D34-3A6B-EF182C0DFC7D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662730" y="155317"/>
              <a:ext cx="1504919" cy="8051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" name="Google Shape;118;p3">
              <a:extLst>
                <a:ext uri="{FF2B5EF4-FFF2-40B4-BE49-F238E27FC236}">
                  <a16:creationId xmlns:a16="http://schemas.microsoft.com/office/drawing/2014/main" id="{A77C19EB-0278-D069-CA53-56E5E2CEA36D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unioffaisalabad</a:t>
              </a:r>
              <a:endParaRPr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7" name="Google Shape;119;p3">
              <a:extLst>
                <a:ext uri="{FF2B5EF4-FFF2-40B4-BE49-F238E27FC236}">
                  <a16:creationId xmlns:a16="http://schemas.microsoft.com/office/drawing/2014/main" id="{287F5CD2-81A6-45B2-F948-E5B3B3C499A5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906056" y="403986"/>
              <a:ext cx="261610" cy="26161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" name="Google Shape;120;p3">
              <a:extLst>
                <a:ext uri="{FF2B5EF4-FFF2-40B4-BE49-F238E27FC236}">
                  <a16:creationId xmlns:a16="http://schemas.microsoft.com/office/drawing/2014/main" id="{AD630C9F-028E-F0D2-7C1D-58793C76D601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www.tuf.edu.pk</a:t>
              </a:r>
              <a:endParaRPr/>
            </a:p>
          </p:txBody>
        </p:sp>
        <p:pic>
          <p:nvPicPr>
            <p:cNvPr id="9" name="Google Shape;121;p3">
              <a:extLst>
                <a:ext uri="{FF2B5EF4-FFF2-40B4-BE49-F238E27FC236}">
                  <a16:creationId xmlns:a16="http://schemas.microsoft.com/office/drawing/2014/main" id="{15989918-0670-472C-EE18-CCDA424ABB98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" name="Google Shape;122;p3">
              <a:extLst>
                <a:ext uri="{FF2B5EF4-FFF2-40B4-BE49-F238E27FC236}">
                  <a16:creationId xmlns:a16="http://schemas.microsoft.com/office/drawing/2014/main" id="{AD9CCA1A-971B-4719-62EB-BF645C136CB6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" name="Rectangle 1">
            <a:extLst>
              <a:ext uri="{FF2B5EF4-FFF2-40B4-BE49-F238E27FC236}">
                <a16:creationId xmlns:a16="http://schemas.microsoft.com/office/drawing/2014/main" id="{0289825E-054F-422E-3B4F-7373787A66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348" y="2605133"/>
            <a:ext cx="11565522" cy="3901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Definition: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Data is broken into small "Packets." Each packet has a header (address) and can take its own rasta (path).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Why it is better: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Efficiency: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Many people can send packets over the same wire at once.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Fault Tolerance: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If one path is blocked, the packet can automatically find a new one.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Real-life Example: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Internet, Emails, and Video Streaming.</a:t>
            </a:r>
          </a:p>
        </p:txBody>
      </p:sp>
    </p:spTree>
    <p:extLst>
      <p:ext uri="{BB962C8B-B14F-4D97-AF65-F5344CB8AC3E}">
        <p14:creationId xmlns:p14="http://schemas.microsoft.com/office/powerpoint/2010/main" val="10375286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0250E-549A-F9B1-4DEE-406DEA0403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730" y="1171277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/>
              <a:t>  What is Multiplexing? </a:t>
            </a:r>
          </a:p>
        </p:txBody>
      </p:sp>
      <p:grpSp>
        <p:nvGrpSpPr>
          <p:cNvPr id="3" name="Google Shape;115;p3">
            <a:extLst>
              <a:ext uri="{FF2B5EF4-FFF2-40B4-BE49-F238E27FC236}">
                <a16:creationId xmlns:a16="http://schemas.microsoft.com/office/drawing/2014/main" id="{5042A0A8-6068-08B6-3A97-491FE80128B6}"/>
              </a:ext>
            </a:extLst>
          </p:cNvPr>
          <p:cNvGrpSpPr/>
          <p:nvPr/>
        </p:nvGrpSpPr>
        <p:grpSpPr>
          <a:xfrm>
            <a:off x="0" y="158889"/>
            <a:ext cx="12749348" cy="1115736"/>
            <a:chOff x="0" y="0"/>
            <a:chExt cx="12749348" cy="1115736"/>
          </a:xfrm>
        </p:grpSpPr>
        <p:sp>
          <p:nvSpPr>
            <p:cNvPr id="4" name="Google Shape;116;p3">
              <a:extLst>
                <a:ext uri="{FF2B5EF4-FFF2-40B4-BE49-F238E27FC236}">
                  <a16:creationId xmlns:a16="http://schemas.microsoft.com/office/drawing/2014/main" id="{F4286130-55C0-7786-E584-87C014577370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5" name="Google Shape;117;p3">
              <a:extLst>
                <a:ext uri="{FF2B5EF4-FFF2-40B4-BE49-F238E27FC236}">
                  <a16:creationId xmlns:a16="http://schemas.microsoft.com/office/drawing/2014/main" id="{251F2346-9790-75D4-A41D-50248A51E1E1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662730" y="155317"/>
              <a:ext cx="1504919" cy="8051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" name="Google Shape;118;p3">
              <a:extLst>
                <a:ext uri="{FF2B5EF4-FFF2-40B4-BE49-F238E27FC236}">
                  <a16:creationId xmlns:a16="http://schemas.microsoft.com/office/drawing/2014/main" id="{3482AFFB-0B98-B226-AF2E-ABAECF2DCECB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unioffaisalabad</a:t>
              </a:r>
              <a:endParaRPr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7" name="Google Shape;119;p3">
              <a:extLst>
                <a:ext uri="{FF2B5EF4-FFF2-40B4-BE49-F238E27FC236}">
                  <a16:creationId xmlns:a16="http://schemas.microsoft.com/office/drawing/2014/main" id="{87A4E06E-6C22-0187-5767-84DB238DA2D1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906056" y="403986"/>
              <a:ext cx="261610" cy="26161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" name="Google Shape;120;p3">
              <a:extLst>
                <a:ext uri="{FF2B5EF4-FFF2-40B4-BE49-F238E27FC236}">
                  <a16:creationId xmlns:a16="http://schemas.microsoft.com/office/drawing/2014/main" id="{F23A13D3-AEE0-50DB-9D15-DFABA4B6CE84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www.tuf.edu.pk</a:t>
              </a:r>
              <a:endParaRPr/>
            </a:p>
          </p:txBody>
        </p:sp>
        <p:pic>
          <p:nvPicPr>
            <p:cNvPr id="9" name="Google Shape;121;p3">
              <a:extLst>
                <a:ext uri="{FF2B5EF4-FFF2-40B4-BE49-F238E27FC236}">
                  <a16:creationId xmlns:a16="http://schemas.microsoft.com/office/drawing/2014/main" id="{13E8826E-A2FA-EB7C-7029-8937B0ECB772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" name="Google Shape;122;p3">
              <a:extLst>
                <a:ext uri="{FF2B5EF4-FFF2-40B4-BE49-F238E27FC236}">
                  <a16:creationId xmlns:a16="http://schemas.microsoft.com/office/drawing/2014/main" id="{8085F329-90F1-0DBA-1E23-9F9C831CE4AE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" name="Rectangle 1">
            <a:extLst>
              <a:ext uri="{FF2B5EF4-FFF2-40B4-BE49-F238E27FC236}">
                <a16:creationId xmlns:a16="http://schemas.microsoft.com/office/drawing/2014/main" id="{8C2D76B2-DFF1-85D8-E0F0-E8C518A216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730" y="2402165"/>
            <a:ext cx="10988800" cy="44558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Definition: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Combining many low-speed signals into one high-speed "super-pipe."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Reason: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Fiber optic cables are very powerful. Multiplexing allows us to pack thousands of conversations into one single cable.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Tools: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MUX: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Combines signals at the start.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DEMUX: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Separates them at the end.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29063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3B843-F44B-DAAA-50D3-443108439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730" y="1274624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/>
              <a:t> Synchronous TDM (STDM)</a:t>
            </a:r>
          </a:p>
        </p:txBody>
      </p:sp>
      <p:grpSp>
        <p:nvGrpSpPr>
          <p:cNvPr id="3" name="Google Shape;115;p3">
            <a:extLst>
              <a:ext uri="{FF2B5EF4-FFF2-40B4-BE49-F238E27FC236}">
                <a16:creationId xmlns:a16="http://schemas.microsoft.com/office/drawing/2014/main" id="{39F222C6-6110-6496-A51F-26EBDB93D896}"/>
              </a:ext>
            </a:extLst>
          </p:cNvPr>
          <p:cNvGrpSpPr/>
          <p:nvPr/>
        </p:nvGrpSpPr>
        <p:grpSpPr>
          <a:xfrm>
            <a:off x="0" y="158889"/>
            <a:ext cx="12749348" cy="1115736"/>
            <a:chOff x="0" y="0"/>
            <a:chExt cx="12749348" cy="1115736"/>
          </a:xfrm>
        </p:grpSpPr>
        <p:sp>
          <p:nvSpPr>
            <p:cNvPr id="4" name="Google Shape;116;p3">
              <a:extLst>
                <a:ext uri="{FF2B5EF4-FFF2-40B4-BE49-F238E27FC236}">
                  <a16:creationId xmlns:a16="http://schemas.microsoft.com/office/drawing/2014/main" id="{BB6A8D3B-4759-DCE6-FD8E-F7E3D81AE383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5" name="Google Shape;117;p3">
              <a:extLst>
                <a:ext uri="{FF2B5EF4-FFF2-40B4-BE49-F238E27FC236}">
                  <a16:creationId xmlns:a16="http://schemas.microsoft.com/office/drawing/2014/main" id="{0E836FCA-811D-3FF6-EADF-747284C69D29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662730" y="155317"/>
              <a:ext cx="1504919" cy="8051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" name="Google Shape;118;p3">
              <a:extLst>
                <a:ext uri="{FF2B5EF4-FFF2-40B4-BE49-F238E27FC236}">
                  <a16:creationId xmlns:a16="http://schemas.microsoft.com/office/drawing/2014/main" id="{DE22FA0E-BCF1-8C6D-B725-E54BFCBE5A1B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unioffaisalabad</a:t>
              </a:r>
              <a:endParaRPr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7" name="Google Shape;119;p3">
              <a:extLst>
                <a:ext uri="{FF2B5EF4-FFF2-40B4-BE49-F238E27FC236}">
                  <a16:creationId xmlns:a16="http://schemas.microsoft.com/office/drawing/2014/main" id="{9B96FD7D-76B4-CF2E-CEAB-1675696AAA50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906056" y="403986"/>
              <a:ext cx="261610" cy="26161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" name="Google Shape;120;p3">
              <a:extLst>
                <a:ext uri="{FF2B5EF4-FFF2-40B4-BE49-F238E27FC236}">
                  <a16:creationId xmlns:a16="http://schemas.microsoft.com/office/drawing/2014/main" id="{16A6BC57-DB2E-3B92-AAFE-7551AA501536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www.tuf.edu.pk</a:t>
              </a:r>
              <a:endParaRPr/>
            </a:p>
          </p:txBody>
        </p:sp>
        <p:pic>
          <p:nvPicPr>
            <p:cNvPr id="9" name="Google Shape;121;p3">
              <a:extLst>
                <a:ext uri="{FF2B5EF4-FFF2-40B4-BE49-F238E27FC236}">
                  <a16:creationId xmlns:a16="http://schemas.microsoft.com/office/drawing/2014/main" id="{79D619B7-EDC3-F1F4-554E-687E1D10BC03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" name="Google Shape;122;p3">
              <a:extLst>
                <a:ext uri="{FF2B5EF4-FFF2-40B4-BE49-F238E27FC236}">
                  <a16:creationId xmlns:a16="http://schemas.microsoft.com/office/drawing/2014/main" id="{37B06D81-8C09-37A5-8710-07C20CF8E9BC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9442576E-B4E2-CEE4-5BDD-6A4B1A5E4D98}"/>
              </a:ext>
            </a:extLst>
          </p:cNvPr>
          <p:cNvSpPr txBox="1"/>
          <p:nvPr/>
        </p:nvSpPr>
        <p:spPr>
          <a:xfrm>
            <a:off x="662730" y="2609274"/>
            <a:ext cx="9928303" cy="334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Mechanism:</a:t>
            </a:r>
            <a:r>
              <a:rPr lang="en-US" sz="2400" dirty="0"/>
              <a:t> Time is divided into "slots." Every user is given a </a:t>
            </a:r>
            <a:r>
              <a:rPr lang="en-US" sz="2400" b="1" dirty="0"/>
              <a:t>fixed</a:t>
            </a:r>
            <a:r>
              <a:rPr lang="en-US" sz="2400" dirty="0"/>
              <a:t> slot in a fixed order (A, then B, then C).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No Address Needed:</a:t>
            </a:r>
            <a:r>
              <a:rPr lang="en-US" sz="2400" dirty="0"/>
              <a:t> Since the order is fixed, the receiver knows that "Slot 1" is always from User A.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The Flaw (Waste):</a:t>
            </a:r>
            <a:r>
              <a:rPr lang="en-US" sz="2400" dirty="0"/>
              <a:t> If User A is not talking, their slot still goes across the wire </a:t>
            </a:r>
            <a:r>
              <a:rPr lang="en-US" sz="2400" b="1" dirty="0"/>
              <a:t>empty</a:t>
            </a:r>
            <a:r>
              <a:rPr lang="en-US" sz="2400" dirty="0"/>
              <a:t>. This wastes the network's capacity.</a:t>
            </a:r>
          </a:p>
        </p:txBody>
      </p:sp>
    </p:spTree>
    <p:extLst>
      <p:ext uri="{BB962C8B-B14F-4D97-AF65-F5344CB8AC3E}">
        <p14:creationId xmlns:p14="http://schemas.microsoft.com/office/powerpoint/2010/main" val="28864905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3BB6F-084E-15E4-23F7-C873EC718A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21" y="1274624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/>
              <a:t>   Statistical TDM (The Smart Way)</a:t>
            </a:r>
          </a:p>
        </p:txBody>
      </p:sp>
      <p:grpSp>
        <p:nvGrpSpPr>
          <p:cNvPr id="3" name="Google Shape;115;p3">
            <a:extLst>
              <a:ext uri="{FF2B5EF4-FFF2-40B4-BE49-F238E27FC236}">
                <a16:creationId xmlns:a16="http://schemas.microsoft.com/office/drawing/2014/main" id="{6F704B4D-E9D7-BCAA-D38B-D5D35B653D08}"/>
              </a:ext>
            </a:extLst>
          </p:cNvPr>
          <p:cNvGrpSpPr/>
          <p:nvPr/>
        </p:nvGrpSpPr>
        <p:grpSpPr>
          <a:xfrm>
            <a:off x="0" y="158889"/>
            <a:ext cx="12749348" cy="1115736"/>
            <a:chOff x="0" y="0"/>
            <a:chExt cx="12749348" cy="1115736"/>
          </a:xfrm>
        </p:grpSpPr>
        <p:sp>
          <p:nvSpPr>
            <p:cNvPr id="4" name="Google Shape;116;p3">
              <a:extLst>
                <a:ext uri="{FF2B5EF4-FFF2-40B4-BE49-F238E27FC236}">
                  <a16:creationId xmlns:a16="http://schemas.microsoft.com/office/drawing/2014/main" id="{88A9E9E0-9886-3B89-E83D-0BBACE495B0C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5" name="Google Shape;117;p3">
              <a:extLst>
                <a:ext uri="{FF2B5EF4-FFF2-40B4-BE49-F238E27FC236}">
                  <a16:creationId xmlns:a16="http://schemas.microsoft.com/office/drawing/2014/main" id="{692EFDE1-BE99-874B-3876-B7D97BB5F341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662730" y="155317"/>
              <a:ext cx="1504919" cy="8051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" name="Google Shape;118;p3">
              <a:extLst>
                <a:ext uri="{FF2B5EF4-FFF2-40B4-BE49-F238E27FC236}">
                  <a16:creationId xmlns:a16="http://schemas.microsoft.com/office/drawing/2014/main" id="{1FB0D219-9D3B-55C6-8B98-DF5F373E0C68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unioffaisalabad</a:t>
              </a:r>
              <a:endParaRPr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7" name="Google Shape;119;p3">
              <a:extLst>
                <a:ext uri="{FF2B5EF4-FFF2-40B4-BE49-F238E27FC236}">
                  <a16:creationId xmlns:a16="http://schemas.microsoft.com/office/drawing/2014/main" id="{C6D7ED37-2AB3-9DC5-21C2-B36D6BC7B964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906056" y="403986"/>
              <a:ext cx="261610" cy="26161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" name="Google Shape;120;p3">
              <a:extLst>
                <a:ext uri="{FF2B5EF4-FFF2-40B4-BE49-F238E27FC236}">
                  <a16:creationId xmlns:a16="http://schemas.microsoft.com/office/drawing/2014/main" id="{14F5F14E-21A7-7F0F-9F22-EBD745F48F4B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www.tuf.edu.pk</a:t>
              </a:r>
              <a:endParaRPr/>
            </a:p>
          </p:txBody>
        </p:sp>
        <p:pic>
          <p:nvPicPr>
            <p:cNvPr id="9" name="Google Shape;121;p3">
              <a:extLst>
                <a:ext uri="{FF2B5EF4-FFF2-40B4-BE49-F238E27FC236}">
                  <a16:creationId xmlns:a16="http://schemas.microsoft.com/office/drawing/2014/main" id="{3325FD76-C553-B03B-878C-E01E8E177AB0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" name="Google Shape;122;p3">
              <a:extLst>
                <a:ext uri="{FF2B5EF4-FFF2-40B4-BE49-F238E27FC236}">
                  <a16:creationId xmlns:a16="http://schemas.microsoft.com/office/drawing/2014/main" id="{56B10186-1FE0-A89E-BAE5-982595690CB3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" name="Rectangle 1">
            <a:extLst>
              <a:ext uri="{FF2B5EF4-FFF2-40B4-BE49-F238E27FC236}">
                <a16:creationId xmlns:a16="http://schemas.microsoft.com/office/drawing/2014/main" id="{9F19EFC4-3D2E-F0A9-A704-319E07416F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194" y="2404265"/>
            <a:ext cx="10034427" cy="3901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Concept: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Slots are not fixed. A slot is given only to a user who actually has data to send (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On-demand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Rule: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"First come, first served."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Requirement: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Because the order is not fixed, every piece of data must have an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Address Header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so the receiver knows who sent it.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Result: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It is much more efficient than STDM because no slots are wasted.</a:t>
            </a:r>
          </a:p>
        </p:txBody>
      </p:sp>
    </p:spTree>
    <p:extLst>
      <p:ext uri="{BB962C8B-B14F-4D97-AF65-F5344CB8AC3E}">
        <p14:creationId xmlns:p14="http://schemas.microsoft.com/office/powerpoint/2010/main" val="19660200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E02AE-E323-4D8C-A02B-1C66F16D9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105" y="1297165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/>
              <a:t>Statistical Multiplexing Gain (SMG)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36C1E554-33F8-DCB6-21BB-50A15D5C90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9542" y="2462760"/>
            <a:ext cx="10095271" cy="38645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Theory: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It assumes that not everyone will use their full internet speed at the exact same time.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The Benefit: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This allows Internet Providers (ISPs) to connect 100 people to a wire that technically only supports 50. This makes internet much cheaper for us.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Formula: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$SMG = \frac{\text{Total User Speed}}{\text{Actual Link Speed}}$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Logic: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Successful if SMG &gt; 1.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" name="Google Shape;115;p3">
            <a:extLst>
              <a:ext uri="{FF2B5EF4-FFF2-40B4-BE49-F238E27FC236}">
                <a16:creationId xmlns:a16="http://schemas.microsoft.com/office/drawing/2014/main" id="{FE952A95-D12D-9765-F3CE-ABA4BDD7C7B7}"/>
              </a:ext>
            </a:extLst>
          </p:cNvPr>
          <p:cNvGrpSpPr/>
          <p:nvPr/>
        </p:nvGrpSpPr>
        <p:grpSpPr>
          <a:xfrm>
            <a:off x="0" y="158889"/>
            <a:ext cx="12749348" cy="1115736"/>
            <a:chOff x="0" y="0"/>
            <a:chExt cx="12749348" cy="1115736"/>
          </a:xfrm>
        </p:grpSpPr>
        <p:sp>
          <p:nvSpPr>
            <p:cNvPr id="5" name="Google Shape;116;p3">
              <a:extLst>
                <a:ext uri="{FF2B5EF4-FFF2-40B4-BE49-F238E27FC236}">
                  <a16:creationId xmlns:a16="http://schemas.microsoft.com/office/drawing/2014/main" id="{280DD555-CF8B-D148-4CC3-AD8316FA68CA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6" name="Google Shape;117;p3">
              <a:extLst>
                <a:ext uri="{FF2B5EF4-FFF2-40B4-BE49-F238E27FC236}">
                  <a16:creationId xmlns:a16="http://schemas.microsoft.com/office/drawing/2014/main" id="{1EFC4E8F-6A83-752E-EB81-D697899AB915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662730" y="155317"/>
              <a:ext cx="1504919" cy="8051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" name="Google Shape;118;p3">
              <a:extLst>
                <a:ext uri="{FF2B5EF4-FFF2-40B4-BE49-F238E27FC236}">
                  <a16:creationId xmlns:a16="http://schemas.microsoft.com/office/drawing/2014/main" id="{967DB24C-DD44-0C6F-968D-614103CF0C6D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unioffaisalabad</a:t>
              </a:r>
              <a:endParaRPr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8" name="Google Shape;119;p3">
              <a:extLst>
                <a:ext uri="{FF2B5EF4-FFF2-40B4-BE49-F238E27FC236}">
                  <a16:creationId xmlns:a16="http://schemas.microsoft.com/office/drawing/2014/main" id="{B19F5806-0E6E-285D-9621-874C92DD6293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906056" y="403986"/>
              <a:ext cx="261610" cy="26161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" name="Google Shape;120;p3">
              <a:extLst>
                <a:ext uri="{FF2B5EF4-FFF2-40B4-BE49-F238E27FC236}">
                  <a16:creationId xmlns:a16="http://schemas.microsoft.com/office/drawing/2014/main" id="{89184E3F-5818-4627-22E0-BE7CFBAEDFC6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www.tuf.edu.pk</a:t>
              </a:r>
              <a:endParaRPr/>
            </a:p>
          </p:txBody>
        </p:sp>
        <p:pic>
          <p:nvPicPr>
            <p:cNvPr id="10" name="Google Shape;121;p3">
              <a:extLst>
                <a:ext uri="{FF2B5EF4-FFF2-40B4-BE49-F238E27FC236}">
                  <a16:creationId xmlns:a16="http://schemas.microsoft.com/office/drawing/2014/main" id="{03B82C30-398A-E22A-C2C8-DC2B159B19D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" name="Google Shape;122;p3">
              <a:extLst>
                <a:ext uri="{FF2B5EF4-FFF2-40B4-BE49-F238E27FC236}">
                  <a16:creationId xmlns:a16="http://schemas.microsoft.com/office/drawing/2014/main" id="{8E0ED3B9-1A9E-8584-5C66-39E03BB68D91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10852177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CA9A6-537B-AC56-121C-0E38D6FE5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2529" y="1412263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/>
              <a:t>Comparison &amp; Conclusion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B081C48-79C6-CCE5-FAF5-A92F232276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2529" y="2737826"/>
            <a:ext cx="9917784" cy="33478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Circuit Switching: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Best for voice calls because it is steady and reliable.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Packet Switching &amp; ATDM: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Best for the Internet because it is flexible and efficient.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Final Summary: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Switching builds the "Bridge," and Multiplexing makes sure as many people as possible can cross it at once.</a:t>
            </a:r>
          </a:p>
        </p:txBody>
      </p:sp>
      <p:grpSp>
        <p:nvGrpSpPr>
          <p:cNvPr id="4" name="Google Shape;115;p3">
            <a:extLst>
              <a:ext uri="{FF2B5EF4-FFF2-40B4-BE49-F238E27FC236}">
                <a16:creationId xmlns:a16="http://schemas.microsoft.com/office/drawing/2014/main" id="{778D3B7D-2E44-AD10-A5F7-E25733FDD3C2}"/>
              </a:ext>
            </a:extLst>
          </p:cNvPr>
          <p:cNvGrpSpPr/>
          <p:nvPr/>
        </p:nvGrpSpPr>
        <p:grpSpPr>
          <a:xfrm>
            <a:off x="0" y="158889"/>
            <a:ext cx="12749348" cy="1115736"/>
            <a:chOff x="0" y="0"/>
            <a:chExt cx="12749348" cy="1115736"/>
          </a:xfrm>
        </p:grpSpPr>
        <p:sp>
          <p:nvSpPr>
            <p:cNvPr id="5" name="Google Shape;116;p3">
              <a:extLst>
                <a:ext uri="{FF2B5EF4-FFF2-40B4-BE49-F238E27FC236}">
                  <a16:creationId xmlns:a16="http://schemas.microsoft.com/office/drawing/2014/main" id="{A2846DB7-F030-0378-FE14-24F159A8D61F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6" name="Google Shape;117;p3">
              <a:extLst>
                <a:ext uri="{FF2B5EF4-FFF2-40B4-BE49-F238E27FC236}">
                  <a16:creationId xmlns:a16="http://schemas.microsoft.com/office/drawing/2014/main" id="{31A9C6FD-F9B6-2869-1450-E52BA15B24D7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662730" y="155317"/>
              <a:ext cx="1504919" cy="8051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" name="Google Shape;118;p3">
              <a:extLst>
                <a:ext uri="{FF2B5EF4-FFF2-40B4-BE49-F238E27FC236}">
                  <a16:creationId xmlns:a16="http://schemas.microsoft.com/office/drawing/2014/main" id="{AD2FCD4E-1D7A-E28A-75DC-6D2A9B4ABAEB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unioffaisalabad</a:t>
              </a:r>
              <a:endParaRPr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8" name="Google Shape;119;p3">
              <a:extLst>
                <a:ext uri="{FF2B5EF4-FFF2-40B4-BE49-F238E27FC236}">
                  <a16:creationId xmlns:a16="http://schemas.microsoft.com/office/drawing/2014/main" id="{F510AB7C-A705-4854-4060-0CD6E72DA06A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906056" y="403986"/>
              <a:ext cx="261610" cy="26161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" name="Google Shape;120;p3">
              <a:extLst>
                <a:ext uri="{FF2B5EF4-FFF2-40B4-BE49-F238E27FC236}">
                  <a16:creationId xmlns:a16="http://schemas.microsoft.com/office/drawing/2014/main" id="{4FF2ABFF-89AB-651F-3A49-12C16AD77316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www.tuf.edu.pk</a:t>
              </a:r>
              <a:endParaRPr/>
            </a:p>
          </p:txBody>
        </p:sp>
        <p:pic>
          <p:nvPicPr>
            <p:cNvPr id="10" name="Google Shape;121;p3">
              <a:extLst>
                <a:ext uri="{FF2B5EF4-FFF2-40B4-BE49-F238E27FC236}">
                  <a16:creationId xmlns:a16="http://schemas.microsoft.com/office/drawing/2014/main" id="{7EADB02F-4BDE-D5FA-A427-E93A69F94C11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" name="Google Shape;122;p3">
              <a:extLst>
                <a:ext uri="{FF2B5EF4-FFF2-40B4-BE49-F238E27FC236}">
                  <a16:creationId xmlns:a16="http://schemas.microsoft.com/office/drawing/2014/main" id="{ABDF30CE-A9E9-1887-2CD4-FA52CED826B9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5097795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13"/>
          <p:cNvSpPr/>
          <p:nvPr/>
        </p:nvSpPr>
        <p:spPr>
          <a:xfrm>
            <a:off x="901001" y="777623"/>
            <a:ext cx="10528300" cy="5413248"/>
          </a:xfrm>
          <a:prstGeom prst="rect">
            <a:avLst/>
          </a:prstGeom>
          <a:solidFill>
            <a:srgbClr val="D32A2A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D32A2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3"/>
          <p:cNvSpPr txBox="1">
            <a:spLocks noGrp="1"/>
          </p:cNvSpPr>
          <p:nvPr>
            <p:ph type="title"/>
          </p:nvPr>
        </p:nvSpPr>
        <p:spPr>
          <a:xfrm>
            <a:off x="1558671" y="1526859"/>
            <a:ext cx="9061958" cy="1500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</a:pPr>
            <a:r>
              <a:rPr lang="en-US" sz="4800" b="1">
                <a:solidFill>
                  <a:schemeClr val="lt1"/>
                </a:solidFill>
              </a:rPr>
              <a:t>THANK YOU</a:t>
            </a:r>
            <a:endParaRPr sz="4800" i="1"/>
          </a:p>
        </p:txBody>
      </p:sp>
      <p:cxnSp>
        <p:nvCxnSpPr>
          <p:cNvPr id="416" name="Google Shape;416;p13"/>
          <p:cNvCxnSpPr/>
          <p:nvPr/>
        </p:nvCxnSpPr>
        <p:spPr>
          <a:xfrm>
            <a:off x="1558671" y="3484247"/>
            <a:ext cx="9212961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17" name="Google Shape;417;p13"/>
          <p:cNvSpPr txBox="1"/>
          <p:nvPr/>
        </p:nvSpPr>
        <p:spPr>
          <a:xfrm>
            <a:off x="1782572" y="3858962"/>
            <a:ext cx="9061958" cy="1500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7500"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3600" i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</TotalTime>
  <Words>1027</Words>
  <Application>Microsoft Office PowerPoint</Application>
  <PresentationFormat>Widescreen</PresentationFormat>
  <Paragraphs>89</Paragraphs>
  <Slides>13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Calibri</vt:lpstr>
      <vt:lpstr>Arial</vt:lpstr>
      <vt:lpstr>Arial Black</vt:lpstr>
      <vt:lpstr>Google Sans Text</vt:lpstr>
      <vt:lpstr>Office Theme</vt:lpstr>
      <vt:lpstr>Foundations of Switching and Multiplexing </vt:lpstr>
      <vt:lpstr>  The Core Objective of Networking</vt:lpstr>
      <vt:lpstr>   What is Network Switching?</vt:lpstr>
      <vt:lpstr>   Circuit Switching (The Dedicated Path)</vt:lpstr>
      <vt:lpstr> Switching Fabrics (Internal Design)</vt:lpstr>
      <vt:lpstr>  Message Switching (Store-and-Forward)</vt:lpstr>
      <vt:lpstr>Packet Switching (Today's Standard)</vt:lpstr>
      <vt:lpstr>  What is Multiplexing? </vt:lpstr>
      <vt:lpstr> Synchronous TDM (STDM)</vt:lpstr>
      <vt:lpstr>   Statistical TDM (The Smart Way)</vt:lpstr>
      <vt:lpstr>Statistical Multiplexing Gain (SMG)</vt:lpstr>
      <vt:lpstr>Comparison &amp; Conclusion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Knowledge Representation</dc:title>
  <dc:creator>Sofia Sultana</dc:creator>
  <cp:lastModifiedBy>Ayesha Imran</cp:lastModifiedBy>
  <cp:revision>15</cp:revision>
  <dcterms:created xsi:type="dcterms:W3CDTF">2024-06-21T09:49:54Z</dcterms:created>
  <dcterms:modified xsi:type="dcterms:W3CDTF">2026-04-29T19:25:29Z</dcterms:modified>
</cp:coreProperties>
</file>