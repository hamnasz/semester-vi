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2" r:id="rId2"/>
    <p:sldMasterId id="2147483684" r:id="rId3"/>
  </p:sldMasterIdLst>
  <p:notesMasterIdLst>
    <p:notesMasterId r:id="rId27"/>
  </p:notesMasterIdLst>
  <p:sldIdLst>
    <p:sldId id="273" r:id="rId4"/>
    <p:sldId id="953" r:id="rId5"/>
    <p:sldId id="986" r:id="rId6"/>
    <p:sldId id="985" r:id="rId7"/>
    <p:sldId id="954" r:id="rId8"/>
    <p:sldId id="955" r:id="rId9"/>
    <p:sldId id="974" r:id="rId10"/>
    <p:sldId id="971" r:id="rId11"/>
    <p:sldId id="956" r:id="rId12"/>
    <p:sldId id="957" r:id="rId13"/>
    <p:sldId id="958" r:id="rId14"/>
    <p:sldId id="972" r:id="rId15"/>
    <p:sldId id="959" r:id="rId16"/>
    <p:sldId id="975" r:id="rId17"/>
    <p:sldId id="977" r:id="rId18"/>
    <p:sldId id="978" r:id="rId19"/>
    <p:sldId id="979" r:id="rId20"/>
    <p:sldId id="980" r:id="rId21"/>
    <p:sldId id="981" r:id="rId22"/>
    <p:sldId id="983" r:id="rId23"/>
    <p:sldId id="982" r:id="rId24"/>
    <p:sldId id="984" r:id="rId25"/>
    <p:sldId id="970" r:id="rId26"/>
  </p:sldIdLst>
  <p:sldSz cx="12192000" cy="6858000"/>
  <p:notesSz cx="6858000" cy="9144000"/>
  <p:defaultTextStyle>
    <a:defPPr>
      <a:defRPr lang="x-none"/>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2A2A"/>
    <a:srgbClr val="C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609" autoAdjust="0"/>
    <p:restoredTop sz="92140" autoAdjust="0"/>
  </p:normalViewPr>
  <p:slideViewPr>
    <p:cSldViewPr snapToGrid="0">
      <p:cViewPr varScale="1">
        <p:scale>
          <a:sx n="83" d="100"/>
          <a:sy n="83" d="100"/>
        </p:scale>
        <p:origin x="636"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FFDD3B8-2E01-4CE0-B02F-91BFC8CDC8FD}" type="datetimeFigureOut">
              <a:rPr lang="en-US" smtClean="0"/>
              <a:t>2/20/2026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A72658C-66DA-4116-8E6C-1579936CD62C}" type="slidenum">
              <a:rPr lang="en-US" smtClean="0"/>
              <a:t>‹#›</a:t>
            </a:fld>
            <a:endParaRPr lang="en-US"/>
          </a:p>
        </p:txBody>
      </p:sp>
    </p:spTree>
    <p:extLst>
      <p:ext uri="{BB962C8B-B14F-4D97-AF65-F5344CB8AC3E}">
        <p14:creationId xmlns:p14="http://schemas.microsoft.com/office/powerpoint/2010/main" val="20763720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x-none"/>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9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2/20/2026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2/20/2026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x-none"/>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9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37A82C-AEEE-48DB-A866-3B1CA0AC9D5D}" type="datetimeFigureOut">
              <a:rPr lang="x-none" smtClean="0"/>
              <a:t>2/20/2026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p:cNvSpPr>
            <a:spLocks noGrp="1"/>
          </p:cNvSpPr>
          <p:nvPr>
            <p:ph type="dt" sz="half" idx="10"/>
          </p:nvPr>
        </p:nvSpPr>
        <p:spPr/>
        <p:txBody>
          <a:bodyPr/>
          <a:lstStyle/>
          <a:p>
            <a:fld id="{3237A82C-AEEE-48DB-A866-3B1CA0AC9D5D}" type="datetimeFigureOut">
              <a:rPr lang="x-none" smtClean="0"/>
              <a:t>2/20/2026</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x-none"/>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p:cNvSpPr>
            <a:spLocks noGrp="1"/>
          </p:cNvSpPr>
          <p:nvPr>
            <p:ph type="dt" sz="half" idx="10"/>
          </p:nvPr>
        </p:nvSpPr>
        <p:spPr/>
        <p:txBody>
          <a:bodyPr/>
          <a:lstStyle/>
          <a:p>
            <a:fld id="{3237A82C-AEEE-48DB-A866-3B1CA0AC9D5D}" type="datetimeFigureOut">
              <a:rPr lang="x-none" smtClean="0"/>
              <a:t>2/20/2026</a:t>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Date Placeholder 2"/>
          <p:cNvSpPr>
            <a:spLocks noGrp="1"/>
          </p:cNvSpPr>
          <p:nvPr>
            <p:ph type="dt" sz="half" idx="10"/>
          </p:nvPr>
        </p:nvSpPr>
        <p:spPr/>
        <p:txBody>
          <a:bodyPr/>
          <a:lstStyle/>
          <a:p>
            <a:fld id="{3237A82C-AEEE-48DB-A866-3B1CA0AC9D5D}" type="datetimeFigureOut">
              <a:rPr lang="x-none" smtClean="0"/>
              <a:t>2/20/2026</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37A82C-AEEE-48DB-A866-3B1CA0AC9D5D}" type="datetimeFigureOut">
              <a:rPr lang="x-none" smtClean="0"/>
              <a:t>2/20/2026</a:t>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2/20/2026</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Picture Placeholder 2"/>
          <p:cNvSpPr>
            <a:spLocks noGrp="1"/>
          </p:cNvSpPr>
          <p:nvPr>
            <p:ph type="pic" idx="1"/>
          </p:nvPr>
        </p:nvSpPr>
        <p:spPr>
          <a:xfrm>
            <a:off x="5183188"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2/20/2026</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2/20/2026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a:t>Click to edit Master title style</a:t>
            </a:r>
            <a:endParaRPr lang="x-none"/>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2/20/2026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x-none"/>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9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2/20/2026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3834719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2/20/2026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5156529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x-none"/>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9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237A82C-AEEE-48DB-A866-3B1CA0AC9D5D}" type="datetimeFigureOut">
              <a:rPr lang="x-none" smtClean="0"/>
              <a:t>2/20/2026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6562610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sz="half" idx="1"/>
          </p:nvPr>
        </p:nvSpPr>
        <p:spPr>
          <a:xfrm>
            <a:off x="838200" y="1825625"/>
            <a:ext cx="5181600" cy="435133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p:cNvSpPr>
            <a:spLocks noGrp="1"/>
          </p:cNvSpPr>
          <p:nvPr>
            <p:ph sz="half" idx="2"/>
          </p:nvPr>
        </p:nvSpPr>
        <p:spPr>
          <a:xfrm>
            <a:off x="6172200" y="1825625"/>
            <a:ext cx="5181600" cy="435133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p:cNvSpPr>
            <a:spLocks noGrp="1"/>
          </p:cNvSpPr>
          <p:nvPr>
            <p:ph type="dt" sz="half" idx="10"/>
          </p:nvPr>
        </p:nvSpPr>
        <p:spPr/>
        <p:txBody>
          <a:bodyPr/>
          <a:lstStyle/>
          <a:p>
            <a:fld id="{3237A82C-AEEE-48DB-A866-3B1CA0AC9D5D}" type="datetimeFigureOut">
              <a:rPr lang="x-none" smtClean="0"/>
              <a:t>2/20/2026</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156781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x-none"/>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p:cNvSpPr>
            <a:spLocks noGrp="1"/>
          </p:cNvSpPr>
          <p:nvPr>
            <p:ph type="dt" sz="half" idx="10"/>
          </p:nvPr>
        </p:nvSpPr>
        <p:spPr/>
        <p:txBody>
          <a:bodyPr/>
          <a:lstStyle/>
          <a:p>
            <a:fld id="{3237A82C-AEEE-48DB-A866-3B1CA0AC9D5D}" type="datetimeFigureOut">
              <a:rPr lang="x-none" smtClean="0"/>
              <a:t>2/20/2026</a:t>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3508707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Date Placeholder 2"/>
          <p:cNvSpPr>
            <a:spLocks noGrp="1"/>
          </p:cNvSpPr>
          <p:nvPr>
            <p:ph type="dt" sz="half" idx="10"/>
          </p:nvPr>
        </p:nvSpPr>
        <p:spPr/>
        <p:txBody>
          <a:bodyPr/>
          <a:lstStyle/>
          <a:p>
            <a:fld id="{3237A82C-AEEE-48DB-A866-3B1CA0AC9D5D}" type="datetimeFigureOut">
              <a:rPr lang="x-none" smtClean="0"/>
              <a:t>2/20/2026</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4127357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37A82C-AEEE-48DB-A866-3B1CA0AC9D5D}" type="datetimeFigureOut">
              <a:rPr lang="x-none" smtClean="0"/>
              <a:t>2/20/2026</a:t>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8563733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a:t>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2/20/2026</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4217433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Picture Placeholder 2"/>
          <p:cNvSpPr>
            <a:spLocks noGrp="1"/>
          </p:cNvSpPr>
          <p:nvPr>
            <p:ph type="pic" idx="1"/>
          </p:nvPr>
        </p:nvSpPr>
        <p:spPr>
          <a:xfrm>
            <a:off x="5183188"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a:t>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2/20/2026</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4771562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2/20/2026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3222281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a:t>Click to edit Master title style</a:t>
            </a:r>
            <a:endParaRPr lang="x-none"/>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2/20/2026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5954773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x-none"/>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9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2/20/2026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08657228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2/20/2026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28632642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x-none"/>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9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237A82C-AEEE-48DB-A866-3B1CA0AC9D5D}" type="datetimeFigureOut">
              <a:rPr lang="x-none" smtClean="0"/>
              <a:t>2/20/2026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52760560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sz="half" idx="1"/>
          </p:nvPr>
        </p:nvSpPr>
        <p:spPr>
          <a:xfrm>
            <a:off x="838200" y="1825625"/>
            <a:ext cx="5181600" cy="435133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p:cNvSpPr>
            <a:spLocks noGrp="1"/>
          </p:cNvSpPr>
          <p:nvPr>
            <p:ph sz="half" idx="2"/>
          </p:nvPr>
        </p:nvSpPr>
        <p:spPr>
          <a:xfrm>
            <a:off x="6172200" y="1825625"/>
            <a:ext cx="5181600" cy="435133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p:cNvSpPr>
            <a:spLocks noGrp="1"/>
          </p:cNvSpPr>
          <p:nvPr>
            <p:ph type="dt" sz="half" idx="10"/>
          </p:nvPr>
        </p:nvSpPr>
        <p:spPr/>
        <p:txBody>
          <a:bodyPr/>
          <a:lstStyle/>
          <a:p>
            <a:fld id="{3237A82C-AEEE-48DB-A866-3B1CA0AC9D5D}" type="datetimeFigureOut">
              <a:rPr lang="x-none" smtClean="0"/>
              <a:t>2/20/2026</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15883033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x-none"/>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p:cNvSpPr>
            <a:spLocks noGrp="1"/>
          </p:cNvSpPr>
          <p:nvPr>
            <p:ph type="dt" sz="half" idx="10"/>
          </p:nvPr>
        </p:nvSpPr>
        <p:spPr/>
        <p:txBody>
          <a:bodyPr/>
          <a:lstStyle/>
          <a:p>
            <a:fld id="{3237A82C-AEEE-48DB-A866-3B1CA0AC9D5D}" type="datetimeFigureOut">
              <a:rPr lang="x-none" smtClean="0"/>
              <a:t>2/20/2026</a:t>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27694364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Date Placeholder 2"/>
          <p:cNvSpPr>
            <a:spLocks noGrp="1"/>
          </p:cNvSpPr>
          <p:nvPr>
            <p:ph type="dt" sz="half" idx="10"/>
          </p:nvPr>
        </p:nvSpPr>
        <p:spPr/>
        <p:txBody>
          <a:bodyPr/>
          <a:lstStyle/>
          <a:p>
            <a:fld id="{3237A82C-AEEE-48DB-A866-3B1CA0AC9D5D}" type="datetimeFigureOut">
              <a:rPr lang="x-none" smtClean="0"/>
              <a:t>2/20/2026</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141886014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37A82C-AEEE-48DB-A866-3B1CA0AC9D5D}" type="datetimeFigureOut">
              <a:rPr lang="x-none" smtClean="0"/>
              <a:t>2/20/2026</a:t>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94727950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a:t>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2/20/2026</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28264977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Picture Placeholder 2"/>
          <p:cNvSpPr>
            <a:spLocks noGrp="1"/>
          </p:cNvSpPr>
          <p:nvPr>
            <p:ph type="pic" idx="1"/>
          </p:nvPr>
        </p:nvSpPr>
        <p:spPr>
          <a:xfrm>
            <a:off x="5183188"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a:t>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2/20/2026</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124104260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2/20/2026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60697662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a:t>Click to edit Master title style</a:t>
            </a:r>
            <a:endParaRPr lang="x-none"/>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2/20/2026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0865893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18" Type="http://schemas.openxmlformats.org/officeDocument/2006/relationships/image" Target="../media/image4.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17" Type="http://schemas.openxmlformats.org/officeDocument/2006/relationships/image" Target="../media/image5.svg"/><Relationship Id="rId2" Type="http://schemas.openxmlformats.org/officeDocument/2006/relationships/slideLayout" Target="../slideLayouts/slideLayout13.xml"/><Relationship Id="rId16" Type="http://schemas.openxmlformats.org/officeDocument/2006/relationships/image" Target="../media/image3.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3.sv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38" tIns="45719" rIns="91438" bIns="45719" rtlCol="0" anchor="ctr">
            <a:normAutofit/>
          </a:bodyPr>
          <a:lstStyle/>
          <a:p>
            <a:r>
              <a:rPr lang="en-US"/>
              <a:t>Click to edit Master title style</a:t>
            </a:r>
            <a:endParaRPr lang="x-none"/>
          </a:p>
        </p:txBody>
      </p:sp>
      <p:sp>
        <p:nvSpPr>
          <p:cNvPr id="3" name="Text Placeholder 2"/>
          <p:cNvSpPr>
            <a:spLocks noGrp="1"/>
          </p:cNvSpPr>
          <p:nvPr>
            <p:ph type="body" idx="1"/>
          </p:nvPr>
        </p:nvSpPr>
        <p:spPr>
          <a:xfrm>
            <a:off x="838200" y="1825625"/>
            <a:ext cx="10515600" cy="4351339"/>
          </a:xfrm>
          <a:prstGeom prst="rect">
            <a:avLst/>
          </a:prstGeom>
        </p:spPr>
        <p:txBody>
          <a:bodyPr vert="horz" lIns="91438" tIns="45719" rIns="91438" bIns="4571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2"/>
          </p:nvPr>
        </p:nvSpPr>
        <p:spPr>
          <a:xfrm>
            <a:off x="838200" y="6356351"/>
            <a:ext cx="2743200" cy="365125"/>
          </a:xfrm>
          <a:prstGeom prst="rect">
            <a:avLst/>
          </a:prstGeom>
        </p:spPr>
        <p:txBody>
          <a:bodyPr vert="horz" lIns="91438" tIns="45719" rIns="91438" bIns="45719" rtlCol="0" anchor="ctr"/>
          <a:lstStyle>
            <a:lvl1pPr algn="l">
              <a:defRPr sz="1200">
                <a:solidFill>
                  <a:schemeClr val="tx1">
                    <a:tint val="75000"/>
                  </a:schemeClr>
                </a:solidFill>
              </a:defRPr>
            </a:lvl1pPr>
          </a:lstStyle>
          <a:p>
            <a:fld id="{3237A82C-AEEE-48DB-A866-3B1CA0AC9D5D}" type="datetimeFigureOut">
              <a:rPr lang="x-none" smtClean="0"/>
              <a:t>2/20/2026</a:t>
            </a:fld>
            <a:endParaRPr lang="x-none"/>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38" tIns="45719" rIns="91438" bIns="45719" rtlCol="0" anchor="ctr"/>
          <a:lstStyle>
            <a:lvl1pPr algn="ctr">
              <a:defRPr sz="1200">
                <a:solidFill>
                  <a:schemeClr val="tx1">
                    <a:tint val="75000"/>
                  </a:schemeClr>
                </a:solidFill>
              </a:defRPr>
            </a:lvl1pPr>
          </a:lstStyle>
          <a:p>
            <a:endParaRPr lang="x-none"/>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38" tIns="45719" rIns="91438" bIns="45719" rtlCol="0" anchor="ctr"/>
          <a:lstStyle>
            <a:lvl1pPr algn="r">
              <a:defRPr sz="1200">
                <a:solidFill>
                  <a:schemeClr val="tx1">
                    <a:tint val="75000"/>
                  </a:schemeClr>
                </a:solidFill>
              </a:defRPr>
            </a:lvl1pPr>
          </a:lstStyle>
          <a:p>
            <a:fld id="{6EB9F7D7-3C9C-4146-9FA1-B77DEB44278D}" type="slidenum">
              <a:rPr lang="x-none" smtClean="0"/>
              <a:t>‹#›</a:t>
            </a:fld>
            <a:endParaRPr lang="x-non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x-none"/>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38" tIns="45719" rIns="91438" bIns="45719" rtlCol="0" anchor="ctr">
            <a:normAutofit/>
          </a:bodyPr>
          <a:lstStyle/>
          <a:p>
            <a:r>
              <a:rPr lang="en-US"/>
              <a:t>Click to edit Master title style</a:t>
            </a:r>
            <a:endParaRPr lang="x-none"/>
          </a:p>
        </p:txBody>
      </p:sp>
      <p:sp>
        <p:nvSpPr>
          <p:cNvPr id="3" name="Text Placeholder 2"/>
          <p:cNvSpPr>
            <a:spLocks noGrp="1"/>
          </p:cNvSpPr>
          <p:nvPr>
            <p:ph type="body" idx="1"/>
          </p:nvPr>
        </p:nvSpPr>
        <p:spPr>
          <a:xfrm>
            <a:off x="838200" y="1825625"/>
            <a:ext cx="10515600" cy="4351339"/>
          </a:xfrm>
          <a:prstGeom prst="rect">
            <a:avLst/>
          </a:prstGeom>
        </p:spPr>
        <p:txBody>
          <a:bodyPr vert="horz" lIns="91438" tIns="45719" rIns="91438" bIns="45719"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2"/>
          </p:nvPr>
        </p:nvSpPr>
        <p:spPr>
          <a:xfrm>
            <a:off x="838200" y="6356351"/>
            <a:ext cx="2743200" cy="365125"/>
          </a:xfrm>
          <a:prstGeom prst="rect">
            <a:avLst/>
          </a:prstGeom>
        </p:spPr>
        <p:txBody>
          <a:bodyPr vert="horz" lIns="91438" tIns="45719" rIns="91438" bIns="45719" rtlCol="0" anchor="ctr"/>
          <a:lstStyle>
            <a:lvl1pPr algn="l">
              <a:defRPr sz="1200">
                <a:solidFill>
                  <a:schemeClr val="tx1">
                    <a:tint val="75000"/>
                  </a:schemeClr>
                </a:solidFill>
              </a:defRPr>
            </a:lvl1pPr>
          </a:lstStyle>
          <a:p>
            <a:fld id="{3237A82C-AEEE-48DB-A866-3B1CA0AC9D5D}" type="datetimeFigureOut">
              <a:rPr lang="x-none" smtClean="0"/>
              <a:t>2/20/2026</a:t>
            </a:fld>
            <a:endParaRPr lang="x-none"/>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38" tIns="45719" rIns="91438" bIns="45719" rtlCol="0" anchor="ctr"/>
          <a:lstStyle>
            <a:lvl1pPr algn="ctr">
              <a:defRPr sz="1200">
                <a:solidFill>
                  <a:schemeClr val="tx1">
                    <a:tint val="75000"/>
                  </a:schemeClr>
                </a:solidFill>
              </a:defRPr>
            </a:lvl1pPr>
          </a:lstStyle>
          <a:p>
            <a:endParaRPr lang="x-none"/>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38" tIns="45719" rIns="91438" bIns="45719" rtlCol="0" anchor="ctr"/>
          <a:lstStyle>
            <a:lvl1pPr algn="r">
              <a:defRPr sz="1200">
                <a:solidFill>
                  <a:schemeClr val="tx1">
                    <a:tint val="75000"/>
                  </a:schemeClr>
                </a:solidFill>
              </a:defRPr>
            </a:lvl1pPr>
          </a:lstStyle>
          <a:p>
            <a:fld id="{6EB9F7D7-3C9C-4146-9FA1-B77DEB44278D}" type="slidenum">
              <a:rPr lang="x-none" smtClean="0"/>
              <a:t>‹#›</a:t>
            </a:fld>
            <a:endParaRPr lang="x-none"/>
          </a:p>
        </p:txBody>
      </p:sp>
      <p:grpSp>
        <p:nvGrpSpPr>
          <p:cNvPr id="7" name="Group 6">
            <a:extLst>
              <a:ext uri="{FF2B5EF4-FFF2-40B4-BE49-F238E27FC236}">
                <a16:creationId xmlns:a16="http://schemas.microsoft.com/office/drawing/2014/main" id="{BAEFE420-0C07-4D1B-9094-F2C452FF1011}"/>
              </a:ext>
            </a:extLst>
          </p:cNvPr>
          <p:cNvGrpSpPr/>
          <p:nvPr userDrawn="1"/>
        </p:nvGrpSpPr>
        <p:grpSpPr>
          <a:xfrm>
            <a:off x="0" y="0"/>
            <a:ext cx="12749348" cy="1115736"/>
            <a:chOff x="0" y="0"/>
            <a:chExt cx="12749348" cy="1115736"/>
          </a:xfrm>
        </p:grpSpPr>
        <p:sp>
          <p:nvSpPr>
            <p:cNvPr id="8" name="Rectangle 7">
              <a:extLst>
                <a:ext uri="{FF2B5EF4-FFF2-40B4-BE49-F238E27FC236}">
                  <a16:creationId xmlns:a16="http://schemas.microsoft.com/office/drawing/2014/main" id="{6FBB4837-678E-4FCE-A1B7-2AE1B9432890}"/>
                </a:ext>
              </a:extLst>
            </p:cNvPr>
            <p:cNvSpPr/>
            <p:nvPr userDrawn="1"/>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x-non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x-none" dirty="0"/>
            </a:p>
          </p:txBody>
        </p:sp>
        <p:pic>
          <p:nvPicPr>
            <p:cNvPr id="9" name="Picture 8">
              <a:extLst>
                <a:ext uri="{FF2B5EF4-FFF2-40B4-BE49-F238E27FC236}">
                  <a16:creationId xmlns:a16="http://schemas.microsoft.com/office/drawing/2014/main" id="{D279BBF0-3F01-4944-AF8F-73A34B5B9CEF}"/>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0" name="TextBox 10">
              <a:extLst>
                <a:ext uri="{FF2B5EF4-FFF2-40B4-BE49-F238E27FC236}">
                  <a16:creationId xmlns:a16="http://schemas.microsoft.com/office/drawing/2014/main" id="{650112A7-3B60-423A-8682-3EC1CCAA7ABE}"/>
                </a:ext>
              </a:extLst>
            </p:cNvPr>
            <p:cNvSpPr txBox="1"/>
            <p:nvPr userDrawn="1"/>
          </p:nvSpPr>
          <p:spPr>
            <a:xfrm>
              <a:off x="10719753" y="696917"/>
              <a:ext cx="1619033" cy="261610"/>
            </a:xfrm>
            <a:prstGeom prst="rect">
              <a:avLst/>
            </a:prstGeom>
            <a:noFill/>
          </p:spPr>
          <p:txBody>
            <a:bodyPr wrap="square" rtlCol="0">
              <a:spAutoFit/>
            </a:bodyPr>
            <a:ls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err="1">
                  <a:solidFill>
                    <a:schemeClr val="bg1"/>
                  </a:solidFill>
                </a:rPr>
                <a:t>unioffaisalabad</a:t>
              </a:r>
              <a:endParaRPr lang="x-none" sz="1100" dirty="0">
                <a:solidFill>
                  <a:schemeClr val="bg1"/>
                </a:solidFill>
              </a:endParaRPr>
            </a:p>
          </p:txBody>
        </p:sp>
        <p:pic>
          <p:nvPicPr>
            <p:cNvPr id="11" name="Graphic 11">
              <a:extLst>
                <a:ext uri="{FF2B5EF4-FFF2-40B4-BE49-F238E27FC236}">
                  <a16:creationId xmlns:a16="http://schemas.microsoft.com/office/drawing/2014/main" id="{75FFEA7F-8809-458D-BE80-99F7CFB965CA}"/>
                </a:ext>
              </a:extLst>
            </p:cNvPr>
            <p:cNvPicPr>
              <a:picLocks noChangeAspect="1"/>
            </p:cNvPicPr>
            <p:nvPr userDrawn="1"/>
          </p:nvPicPr>
          <p:blipFill>
            <a:blip r:embed="rId14">
              <a:extLst>
                <a:ext uri="{96DAC541-7B7A-43D3-8B79-37D633B846F1}">
                  <asvg:svgBlip xmlns:asvg="http://schemas.microsoft.com/office/drawing/2016/SVG/main" xmlns="" r:embed="rId15"/>
                </a:ext>
              </a:extLst>
            </a:blip>
            <a:stretch>
              <a:fillRect/>
            </a:stretch>
          </p:blipFill>
          <p:spPr>
            <a:xfrm>
              <a:off x="9906056" y="403986"/>
              <a:ext cx="261610" cy="261610"/>
            </a:xfrm>
            <a:prstGeom prst="rect">
              <a:avLst/>
            </a:prstGeom>
          </p:spPr>
        </p:pic>
        <p:sp>
          <p:nvSpPr>
            <p:cNvPr id="12" name="TextBox 12">
              <a:extLst>
                <a:ext uri="{FF2B5EF4-FFF2-40B4-BE49-F238E27FC236}">
                  <a16:creationId xmlns:a16="http://schemas.microsoft.com/office/drawing/2014/main" id="{B3F075CD-8CB0-4BD0-B756-BA559BF9DF2D}"/>
                </a:ext>
              </a:extLst>
            </p:cNvPr>
            <p:cNvSpPr txBox="1"/>
            <p:nvPr userDrawn="1"/>
          </p:nvSpPr>
          <p:spPr>
            <a:xfrm>
              <a:off x="10142944" y="350125"/>
              <a:ext cx="2606404" cy="369332"/>
            </a:xfrm>
            <a:prstGeom prst="rect">
              <a:avLst/>
            </a:prstGeom>
            <a:noFill/>
          </p:spPr>
          <p:txBody>
            <a:bodyPr wrap="square" rtlCol="0">
              <a:spAutoFit/>
            </a:bodyPr>
            <a:ls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3" name="Graphic 13">
              <a:extLst>
                <a:ext uri="{FF2B5EF4-FFF2-40B4-BE49-F238E27FC236}">
                  <a16:creationId xmlns:a16="http://schemas.microsoft.com/office/drawing/2014/main" id="{ACED766F-A0E3-4D45-8A6E-86CCFAFA5D96}"/>
                </a:ext>
              </a:extLst>
            </p:cNvPr>
            <p:cNvPicPr>
              <a:picLocks noChangeAspect="1"/>
            </p:cNvPicPr>
            <p:nvPr userDrawn="1"/>
          </p:nvPicPr>
          <p:blipFill>
            <a:blip r:embed="rId16">
              <a:extLst>
                <a:ext uri="{96DAC541-7B7A-43D3-8B79-37D633B846F1}">
                  <asvg:svgBlip xmlns:asvg="http://schemas.microsoft.com/office/drawing/2016/SVG/main" xmlns="" r:embed="rId17"/>
                </a:ext>
              </a:extLst>
            </a:blip>
            <a:stretch>
              <a:fillRect/>
            </a:stretch>
          </p:blipFill>
          <p:spPr>
            <a:xfrm>
              <a:off x="10591033" y="741997"/>
              <a:ext cx="171450" cy="171450"/>
            </a:xfrm>
            <a:prstGeom prst="rect">
              <a:avLst/>
            </a:prstGeom>
          </p:spPr>
        </p:pic>
        <p:pic>
          <p:nvPicPr>
            <p:cNvPr id="14" name="Picture 13">
              <a:extLst>
                <a:ext uri="{FF2B5EF4-FFF2-40B4-BE49-F238E27FC236}">
                  <a16:creationId xmlns:a16="http://schemas.microsoft.com/office/drawing/2014/main" id="{F83660F3-45D1-4CA0-BE2A-E7E6C1B794A4}"/>
                </a:ext>
              </a:extLst>
            </p:cNvPr>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354240947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x-none"/>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38" tIns="45719" rIns="91438" bIns="45719" rtlCol="0" anchor="ctr">
            <a:normAutofit/>
          </a:bodyPr>
          <a:lstStyle/>
          <a:p>
            <a:r>
              <a:rPr lang="en-US"/>
              <a:t>Click to edit Master title style</a:t>
            </a:r>
            <a:endParaRPr lang="x-none"/>
          </a:p>
        </p:txBody>
      </p:sp>
      <p:sp>
        <p:nvSpPr>
          <p:cNvPr id="3" name="Text Placeholder 2"/>
          <p:cNvSpPr>
            <a:spLocks noGrp="1"/>
          </p:cNvSpPr>
          <p:nvPr>
            <p:ph type="body" idx="1"/>
          </p:nvPr>
        </p:nvSpPr>
        <p:spPr>
          <a:xfrm>
            <a:off x="838200" y="1825625"/>
            <a:ext cx="10515600" cy="4351339"/>
          </a:xfrm>
          <a:prstGeom prst="rect">
            <a:avLst/>
          </a:prstGeom>
        </p:spPr>
        <p:txBody>
          <a:bodyPr vert="horz" lIns="91438" tIns="45719" rIns="91438" bIns="45719"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2"/>
          </p:nvPr>
        </p:nvSpPr>
        <p:spPr>
          <a:xfrm>
            <a:off x="838200" y="6356351"/>
            <a:ext cx="2743200" cy="365125"/>
          </a:xfrm>
          <a:prstGeom prst="rect">
            <a:avLst/>
          </a:prstGeom>
        </p:spPr>
        <p:txBody>
          <a:bodyPr vert="horz" lIns="91438" tIns="45719" rIns="91438" bIns="45719" rtlCol="0" anchor="ctr"/>
          <a:lstStyle>
            <a:lvl1pPr algn="l">
              <a:defRPr sz="1200">
                <a:solidFill>
                  <a:schemeClr val="tx1">
                    <a:tint val="75000"/>
                  </a:schemeClr>
                </a:solidFill>
              </a:defRPr>
            </a:lvl1pPr>
          </a:lstStyle>
          <a:p>
            <a:fld id="{3237A82C-AEEE-48DB-A866-3B1CA0AC9D5D}" type="datetimeFigureOut">
              <a:rPr lang="x-none" smtClean="0"/>
              <a:t>2/20/2026</a:t>
            </a:fld>
            <a:endParaRPr lang="x-none"/>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38" tIns="45719" rIns="91438" bIns="45719" rtlCol="0" anchor="ctr"/>
          <a:lstStyle>
            <a:lvl1pPr algn="ctr">
              <a:defRPr sz="1200">
                <a:solidFill>
                  <a:schemeClr val="tx1">
                    <a:tint val="75000"/>
                  </a:schemeClr>
                </a:solidFill>
              </a:defRPr>
            </a:lvl1pPr>
          </a:lstStyle>
          <a:p>
            <a:endParaRPr lang="x-none"/>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38" tIns="45719" rIns="91438" bIns="45719" rtlCol="0" anchor="ctr"/>
          <a:lstStyle>
            <a:lvl1pPr algn="r">
              <a:defRPr sz="1200">
                <a:solidFill>
                  <a:schemeClr val="tx1">
                    <a:tint val="75000"/>
                  </a:schemeClr>
                </a:solidFill>
              </a:defRPr>
            </a:lvl1pPr>
          </a:lstStyle>
          <a:p>
            <a:fld id="{6EB9F7D7-3C9C-4146-9FA1-B77DEB44278D}" type="slidenum">
              <a:rPr lang="x-none" smtClean="0"/>
              <a:t>‹#›</a:t>
            </a:fld>
            <a:endParaRPr lang="x-none"/>
          </a:p>
        </p:txBody>
      </p:sp>
    </p:spTree>
    <p:extLst>
      <p:ext uri="{BB962C8B-B14F-4D97-AF65-F5344CB8AC3E}">
        <p14:creationId xmlns:p14="http://schemas.microsoft.com/office/powerpoint/2010/main" val="210576896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x-none"/>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7.JP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JP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JP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JP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7.JP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7.JP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7.JP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7.JP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7.JP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31750"/>
            <a:ext cx="12192000" cy="685800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en-GB" dirty="0"/>
          </a:p>
        </p:txBody>
      </p:sp>
      <p:pic>
        <p:nvPicPr>
          <p:cNvPr id="10" name="Graphic 9"/>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8362283" y="0"/>
            <a:ext cx="3611691" cy="3611691"/>
          </a:xfrm>
          <a:prstGeom prst="rect">
            <a:avLst/>
          </a:prstGeom>
        </p:spPr>
      </p:pic>
      <p:pic>
        <p:nvPicPr>
          <p:cNvPr id="1026" name="Picture 2" descr="C:\Users\Administrator\Downloads\Screenshot__117_-removebg-preview.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064" y="393485"/>
            <a:ext cx="1696502" cy="895669"/>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p:cNvSpPr>
            <a:spLocks noGrp="1"/>
          </p:cNvSpPr>
          <p:nvPr>
            <p:ph type="ctrTitle"/>
          </p:nvPr>
        </p:nvSpPr>
        <p:spPr>
          <a:xfrm>
            <a:off x="174532" y="232428"/>
            <a:ext cx="12192000" cy="3784936"/>
          </a:xfrm>
        </p:spPr>
        <p:txBody>
          <a:bodyPr>
            <a:normAutofit fontScale="90000"/>
          </a:bodyPr>
          <a:lstStyle/>
          <a:p>
            <a:r>
              <a:rPr lang="en-US" sz="4400" dirty="0">
                <a:solidFill>
                  <a:schemeClr val="bg1"/>
                </a:solidFill>
                <a:latin typeface="Arial Black" panose="020B0A04020102020204" pitchFamily="34" charset="0"/>
              </a:rPr>
              <a:t/>
            </a:r>
            <a:br>
              <a:rPr lang="en-US" sz="4400" dirty="0">
                <a:solidFill>
                  <a:schemeClr val="bg1"/>
                </a:solidFill>
                <a:latin typeface="Arial Black" panose="020B0A04020102020204" pitchFamily="34" charset="0"/>
              </a:rPr>
            </a:br>
            <a:r>
              <a:rPr lang="en-US" sz="2700" dirty="0">
                <a:solidFill>
                  <a:schemeClr val="bg1"/>
                </a:solidFill>
                <a:latin typeface="Arial Black" panose="020B0A04020102020204" pitchFamily="34" charset="0"/>
              </a:rPr>
              <a:t/>
            </a:r>
            <a:br>
              <a:rPr lang="en-US" sz="2700" dirty="0">
                <a:solidFill>
                  <a:schemeClr val="bg1"/>
                </a:solidFill>
                <a:latin typeface="Arial Black" panose="020B0A04020102020204" pitchFamily="34" charset="0"/>
              </a:rPr>
            </a:br>
            <a:r>
              <a:rPr lang="en-US" sz="4000" dirty="0">
                <a:solidFill>
                  <a:schemeClr val="bg1"/>
                </a:solidFill>
                <a:latin typeface="Arial Black" panose="020B0A04020102020204" pitchFamily="34" charset="0"/>
              </a:rPr>
              <a:t>Network Model</a:t>
            </a:r>
            <a:r>
              <a:rPr lang="en-US" sz="2700" dirty="0">
                <a:solidFill>
                  <a:schemeClr val="bg1"/>
                </a:solidFill>
                <a:latin typeface="Arial Black" panose="020B0A04020102020204" pitchFamily="34" charset="0"/>
              </a:rPr>
              <a:t/>
            </a:r>
            <a:br>
              <a:rPr lang="en-US" sz="2700" dirty="0">
                <a:solidFill>
                  <a:schemeClr val="bg1"/>
                </a:solidFill>
                <a:latin typeface="Arial Black" panose="020B0A04020102020204" pitchFamily="34" charset="0"/>
              </a:rPr>
            </a:br>
            <a:r>
              <a:rPr lang="en-US" sz="2700" dirty="0">
                <a:solidFill>
                  <a:schemeClr val="bg1"/>
                </a:solidFill>
                <a:latin typeface="Arial Narrow" panose="020B0606020202030204" pitchFamily="34" charset="0"/>
              </a:rPr>
              <a:t/>
            </a:r>
            <a:br>
              <a:rPr lang="en-US" sz="2700" dirty="0">
                <a:solidFill>
                  <a:schemeClr val="bg1"/>
                </a:solidFill>
                <a:latin typeface="Arial Narrow" panose="020B0606020202030204" pitchFamily="34" charset="0"/>
              </a:rPr>
            </a:br>
            <a:r>
              <a:rPr lang="en-US" sz="2700" b="1" dirty="0">
                <a:solidFill>
                  <a:schemeClr val="bg1"/>
                </a:solidFill>
                <a:latin typeface="Arial Black" panose="020B0A04020102020204" pitchFamily="34" charset="0"/>
              </a:rPr>
              <a:t>Types of Network: </a:t>
            </a:r>
            <a:br>
              <a:rPr lang="en-US" sz="2700" b="1" dirty="0">
                <a:solidFill>
                  <a:schemeClr val="bg1"/>
                </a:solidFill>
                <a:latin typeface="Arial Black" panose="020B0A04020102020204" pitchFamily="34" charset="0"/>
              </a:rPr>
            </a:br>
            <a:r>
              <a:rPr lang="en-US" sz="2700" dirty="0">
                <a:solidFill>
                  <a:schemeClr val="bg1"/>
                </a:solidFill>
                <a:latin typeface="Arial Black" panose="020B0A04020102020204" pitchFamily="34" charset="0"/>
              </a:rPr>
              <a:t>Personal Area Network,</a:t>
            </a:r>
            <a:br>
              <a:rPr lang="en-US" sz="2700" dirty="0">
                <a:solidFill>
                  <a:schemeClr val="bg1"/>
                </a:solidFill>
                <a:latin typeface="Arial Black" panose="020B0A04020102020204" pitchFamily="34" charset="0"/>
              </a:rPr>
            </a:br>
            <a:r>
              <a:rPr lang="en-US" sz="2700" dirty="0">
                <a:solidFill>
                  <a:schemeClr val="bg1"/>
                </a:solidFill>
                <a:latin typeface="Arial Black" panose="020B0A04020102020204" pitchFamily="34" charset="0"/>
              </a:rPr>
              <a:t> Local Area Network</a:t>
            </a:r>
            <a:br>
              <a:rPr lang="en-US" sz="2700" dirty="0">
                <a:solidFill>
                  <a:schemeClr val="bg1"/>
                </a:solidFill>
                <a:latin typeface="Arial Black" panose="020B0A04020102020204" pitchFamily="34" charset="0"/>
              </a:rPr>
            </a:br>
            <a:r>
              <a:rPr lang="en-US" sz="2700" dirty="0">
                <a:solidFill>
                  <a:schemeClr val="bg1"/>
                </a:solidFill>
                <a:latin typeface="Arial Black" panose="020B0A04020102020204" pitchFamily="34" charset="0"/>
              </a:rPr>
              <a:t>Metropolitan Area Network, </a:t>
            </a:r>
            <a:br>
              <a:rPr lang="en-US" sz="2700" dirty="0">
                <a:solidFill>
                  <a:schemeClr val="bg1"/>
                </a:solidFill>
                <a:latin typeface="Arial Black" panose="020B0A04020102020204" pitchFamily="34" charset="0"/>
              </a:rPr>
            </a:br>
            <a:r>
              <a:rPr lang="en-US" sz="2700" dirty="0">
                <a:solidFill>
                  <a:schemeClr val="bg1"/>
                </a:solidFill>
                <a:latin typeface="Arial Black" panose="020B0A04020102020204" pitchFamily="34" charset="0"/>
              </a:rPr>
              <a:t>Wide Area Network</a:t>
            </a:r>
            <a:r>
              <a:rPr lang="en-GB" sz="2700" dirty="0">
                <a:solidFill>
                  <a:schemeClr val="bg1"/>
                </a:solidFill>
                <a:latin typeface="Arial Black" panose="020B0A04020102020204" pitchFamily="34" charset="0"/>
              </a:rPr>
              <a:t/>
            </a:r>
            <a:br>
              <a:rPr lang="en-GB" sz="2700" dirty="0">
                <a:solidFill>
                  <a:schemeClr val="bg1"/>
                </a:solidFill>
                <a:latin typeface="Arial Black" panose="020B0A04020102020204" pitchFamily="34" charset="0"/>
              </a:rPr>
            </a:br>
            <a:r>
              <a:rPr lang="en-US" sz="2700" dirty="0">
                <a:solidFill>
                  <a:schemeClr val="bg1"/>
                </a:solidFill>
                <a:latin typeface="Arial Black" panose="020B0A04020102020204" pitchFamily="34" charset="0"/>
              </a:rPr>
              <a:t>Piconet, Ethernet, Fast Ethernet, Metro Ethernet, Internetwork</a:t>
            </a:r>
            <a:r>
              <a:rPr lang="en-US" sz="3100" b="1" dirty="0">
                <a:solidFill>
                  <a:schemeClr val="bg1"/>
                </a:solidFill>
                <a:latin typeface="+mn-lt"/>
              </a:rPr>
              <a:t/>
            </a:r>
            <a:br>
              <a:rPr lang="en-US" sz="3100" b="1" dirty="0">
                <a:solidFill>
                  <a:schemeClr val="bg1"/>
                </a:solidFill>
                <a:latin typeface="+mn-lt"/>
              </a:rPr>
            </a:br>
            <a:endParaRPr lang="en-US" sz="3100" b="1" dirty="0">
              <a:solidFill>
                <a:schemeClr val="bg1"/>
              </a:solidFill>
              <a:latin typeface="+mn-lt"/>
            </a:endParaRPr>
          </a:p>
        </p:txBody>
      </p:sp>
      <p:sp>
        <p:nvSpPr>
          <p:cNvPr id="7" name="Subtitle 2"/>
          <p:cNvSpPr>
            <a:spLocks noGrp="1"/>
          </p:cNvSpPr>
          <p:nvPr>
            <p:ph type="subTitle" idx="1"/>
          </p:nvPr>
        </p:nvSpPr>
        <p:spPr>
          <a:xfrm>
            <a:off x="349064" y="3894654"/>
            <a:ext cx="12192000" cy="1655763"/>
          </a:xfrm>
        </p:spPr>
        <p:txBody>
          <a:bodyPr>
            <a:normAutofit/>
          </a:bodyPr>
          <a:lstStyle/>
          <a:p>
            <a:r>
              <a:rPr lang="en-US" b="1" dirty="0">
                <a:solidFill>
                  <a:schemeClr val="bg1"/>
                </a:solidFill>
              </a:rPr>
              <a:t>Lecture # 7 and 8</a:t>
            </a:r>
          </a:p>
          <a:p>
            <a:r>
              <a:rPr lang="en-US" b="1" dirty="0">
                <a:solidFill>
                  <a:schemeClr val="bg1"/>
                </a:solidFill>
              </a:rPr>
              <a:t>Week# 4</a:t>
            </a:r>
          </a:p>
          <a:p>
            <a:r>
              <a:rPr lang="en-US" dirty="0">
                <a:solidFill>
                  <a:schemeClr val="bg1"/>
                </a:solidFill>
              </a:rPr>
              <a:t>Data Communications and Networking, Fourth Edition, Behrouz A. </a:t>
            </a:r>
            <a:r>
              <a:rPr lang="en-US" dirty="0" err="1">
                <a:solidFill>
                  <a:schemeClr val="bg1"/>
                </a:solidFill>
              </a:rPr>
              <a:t>Forouzan</a:t>
            </a:r>
            <a:endParaRPr lang="en-US" dirty="0">
              <a:solidFill>
                <a:schemeClr val="bg1"/>
              </a:solidFill>
            </a:endParaRPr>
          </a:p>
        </p:txBody>
      </p:sp>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44355" y="5695313"/>
            <a:ext cx="3129619" cy="99051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9982" y="244840"/>
            <a:ext cx="10911840" cy="1051560"/>
          </a:xfrm>
        </p:spPr>
        <p:txBody>
          <a:bodyPr>
            <a:normAutofit/>
          </a:bodyPr>
          <a:lstStyle/>
          <a:p>
            <a:pPr algn="ctr"/>
            <a:r>
              <a:rPr lang="en-US" sz="3200" b="1" dirty="0">
                <a:solidFill>
                  <a:schemeClr val="accent4"/>
                </a:solidFill>
              </a:rPr>
              <a:t> </a:t>
            </a:r>
            <a:r>
              <a:rPr lang="en-US" sz="3200" b="1" dirty="0">
                <a:solidFill>
                  <a:schemeClr val="bg1"/>
                </a:solidFill>
                <a:latin typeface="Arial Black" panose="020B0A04020102020204" pitchFamily="34" charset="0"/>
              </a:rPr>
              <a:t>Computer Networks</a:t>
            </a:r>
          </a:p>
        </p:txBody>
      </p:sp>
      <p:sp>
        <p:nvSpPr>
          <p:cNvPr id="3" name="Content Placeholder 2"/>
          <p:cNvSpPr>
            <a:spLocks noGrp="1"/>
          </p:cNvSpPr>
          <p:nvPr>
            <p:ph idx="1"/>
          </p:nvPr>
        </p:nvSpPr>
        <p:spPr>
          <a:xfrm>
            <a:off x="-1" y="1088020"/>
            <a:ext cx="12020273" cy="6030410"/>
          </a:xfrm>
        </p:spPr>
        <p:txBody>
          <a:bodyPr>
            <a:normAutofit/>
          </a:bodyPr>
          <a:lstStyle/>
          <a:p>
            <a:pPr marL="0" indent="0">
              <a:buNone/>
            </a:pPr>
            <a:endParaRPr lang="en-US" sz="2400" dirty="0"/>
          </a:p>
          <a:p>
            <a:pPr algn="just"/>
            <a:r>
              <a:rPr lang="en-US" sz="2000" dirty="0"/>
              <a:t>A computer network is a system of interconnected devices, such as computers, servers, smartphones, and printers, that communicate to exchange data. They communicate using wired or wireless connections and can range from small home networks to the global Internet</a:t>
            </a:r>
          </a:p>
          <a:p>
            <a:r>
              <a:rPr lang="en-US" sz="2000" b="1" dirty="0"/>
              <a:t>Simple Example:</a:t>
            </a:r>
          </a:p>
          <a:p>
            <a:r>
              <a:rPr lang="en-US" sz="2000" dirty="0"/>
              <a:t>Computers in a school lab connected to one printer</a:t>
            </a:r>
          </a:p>
          <a:p>
            <a:r>
              <a:rPr lang="en-US" sz="2000" dirty="0"/>
              <a:t>Mobile phones connected to the same Wi-Fi</a:t>
            </a:r>
          </a:p>
          <a:p>
            <a:r>
              <a:rPr lang="en-US" sz="2000" dirty="0"/>
              <a:t>ATMs connected to bank servers</a:t>
            </a:r>
          </a:p>
          <a:p>
            <a:r>
              <a:rPr lang="en-US" sz="2000" dirty="0"/>
              <a:t>All these are </a:t>
            </a:r>
            <a:r>
              <a:rPr lang="en-US" sz="2000" b="1" dirty="0"/>
              <a:t>computer networks</a:t>
            </a:r>
            <a:endParaRPr lang="en-US" sz="2000" dirty="0"/>
          </a:p>
          <a:p>
            <a:pPr algn="just"/>
            <a:endParaRPr lang="en-US" sz="1600"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6501" y="6511823"/>
            <a:ext cx="1093772" cy="346177"/>
          </a:xfrm>
          <a:prstGeom prst="rect">
            <a:avLst/>
          </a:prstGeom>
        </p:spPr>
      </p:pic>
      <p:pic>
        <p:nvPicPr>
          <p:cNvPr id="7" name="Picture 6">
            <a:extLst>
              <a:ext uri="{FF2B5EF4-FFF2-40B4-BE49-F238E27FC236}">
                <a16:creationId xmlns:a16="http://schemas.microsoft.com/office/drawing/2014/main" id="{4BA557A0-32EA-A707-0597-85C9920012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25552" y="2517848"/>
            <a:ext cx="6466448" cy="3252132"/>
          </a:xfrm>
          <a:prstGeom prst="rect">
            <a:avLst/>
          </a:prstGeom>
        </p:spPr>
      </p:pic>
    </p:spTree>
    <p:extLst>
      <p:ext uri="{BB962C8B-B14F-4D97-AF65-F5344CB8AC3E}">
        <p14:creationId xmlns:p14="http://schemas.microsoft.com/office/powerpoint/2010/main" val="2292962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AE2CD-6F2E-E545-57BD-5821FFF3B8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CD6DEB-8022-9226-754F-0E531100D0FB}"/>
              </a:ext>
            </a:extLst>
          </p:cNvPr>
          <p:cNvSpPr>
            <a:spLocks noGrp="1"/>
          </p:cNvSpPr>
          <p:nvPr>
            <p:ph type="title"/>
          </p:nvPr>
        </p:nvSpPr>
        <p:spPr>
          <a:xfrm>
            <a:off x="789982" y="244840"/>
            <a:ext cx="10911840" cy="1051560"/>
          </a:xfrm>
        </p:spPr>
        <p:txBody>
          <a:bodyPr>
            <a:normAutofit/>
          </a:bodyPr>
          <a:lstStyle/>
          <a:p>
            <a:pPr algn="ctr"/>
            <a:r>
              <a:rPr lang="en-US" sz="3200" b="1" dirty="0">
                <a:solidFill>
                  <a:schemeClr val="bg1"/>
                </a:solidFill>
                <a:latin typeface="Arial Black" panose="020B0A04020102020204" pitchFamily="34" charset="0"/>
              </a:rPr>
              <a:t>Types of Computer Networks</a:t>
            </a:r>
          </a:p>
        </p:txBody>
      </p:sp>
      <p:sp>
        <p:nvSpPr>
          <p:cNvPr id="3" name="Content Placeholder 2">
            <a:extLst>
              <a:ext uri="{FF2B5EF4-FFF2-40B4-BE49-F238E27FC236}">
                <a16:creationId xmlns:a16="http://schemas.microsoft.com/office/drawing/2014/main" id="{1A7B93A1-8B89-B4CC-90BB-F57AE06F0976}"/>
              </a:ext>
            </a:extLst>
          </p:cNvPr>
          <p:cNvSpPr>
            <a:spLocks noGrp="1"/>
          </p:cNvSpPr>
          <p:nvPr>
            <p:ph idx="1"/>
          </p:nvPr>
        </p:nvSpPr>
        <p:spPr>
          <a:xfrm>
            <a:off x="-1" y="1088020"/>
            <a:ext cx="12020273" cy="6030410"/>
          </a:xfrm>
        </p:spPr>
        <p:txBody>
          <a:bodyPr>
            <a:normAutofit/>
          </a:bodyPr>
          <a:lstStyle/>
          <a:p>
            <a:pPr marL="0" indent="0">
              <a:buNone/>
            </a:pPr>
            <a:endParaRPr lang="en-US" sz="2400" dirty="0"/>
          </a:p>
          <a:p>
            <a:pPr algn="just"/>
            <a:endParaRPr lang="en-US" sz="1600" dirty="0"/>
          </a:p>
        </p:txBody>
      </p:sp>
      <p:pic>
        <p:nvPicPr>
          <p:cNvPr id="6" name="Picture 5">
            <a:extLst>
              <a:ext uri="{FF2B5EF4-FFF2-40B4-BE49-F238E27FC236}">
                <a16:creationId xmlns:a16="http://schemas.microsoft.com/office/drawing/2014/main" id="{33521C36-B0A8-96C9-29F7-2BA88617A90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6501" y="6511823"/>
            <a:ext cx="1093772" cy="346177"/>
          </a:xfrm>
          <a:prstGeom prst="rect">
            <a:avLst/>
          </a:prstGeom>
        </p:spPr>
      </p:pic>
      <p:pic>
        <p:nvPicPr>
          <p:cNvPr id="5" name="Picture 4">
            <a:extLst>
              <a:ext uri="{FF2B5EF4-FFF2-40B4-BE49-F238E27FC236}">
                <a16:creationId xmlns:a16="http://schemas.microsoft.com/office/drawing/2014/main" id="{BFDB197E-81D2-2ED8-12CF-D5BA56EA75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7412" y="1296400"/>
            <a:ext cx="9434098" cy="5285658"/>
          </a:xfrm>
          <a:prstGeom prst="rect">
            <a:avLst/>
          </a:prstGeom>
        </p:spPr>
      </p:pic>
    </p:spTree>
    <p:extLst>
      <p:ext uri="{BB962C8B-B14F-4D97-AF65-F5344CB8AC3E}">
        <p14:creationId xmlns:p14="http://schemas.microsoft.com/office/powerpoint/2010/main" val="1199904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1F694-0668-013B-9D36-484A71B20A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FF6E52-D409-EACA-42A0-2A913CA6720B}"/>
              </a:ext>
            </a:extLst>
          </p:cNvPr>
          <p:cNvSpPr>
            <a:spLocks noGrp="1"/>
          </p:cNvSpPr>
          <p:nvPr>
            <p:ph type="title"/>
          </p:nvPr>
        </p:nvSpPr>
        <p:spPr>
          <a:xfrm>
            <a:off x="789982" y="244840"/>
            <a:ext cx="10911840" cy="1051560"/>
          </a:xfrm>
        </p:spPr>
        <p:txBody>
          <a:bodyPr>
            <a:normAutofit/>
          </a:bodyPr>
          <a:lstStyle/>
          <a:p>
            <a:pPr algn="ctr"/>
            <a:r>
              <a:rPr lang="en-US" sz="3200" b="1" dirty="0">
                <a:solidFill>
                  <a:schemeClr val="bg1"/>
                </a:solidFill>
                <a:latin typeface="Arial Black" panose="020B0A04020102020204" pitchFamily="34" charset="0"/>
              </a:rPr>
              <a:t>Personal Area Network (PAN)</a:t>
            </a:r>
            <a:br>
              <a:rPr lang="en-US" sz="3200" b="1" dirty="0">
                <a:solidFill>
                  <a:schemeClr val="bg1"/>
                </a:solidFill>
                <a:latin typeface="Arial Black" panose="020B0A04020102020204" pitchFamily="34" charset="0"/>
              </a:rPr>
            </a:br>
            <a:endParaRPr lang="en-US" sz="3200" b="1" dirty="0">
              <a:solidFill>
                <a:schemeClr val="bg1"/>
              </a:solidFill>
              <a:latin typeface="Arial Black" panose="020B0A04020102020204" pitchFamily="34" charset="0"/>
            </a:endParaRPr>
          </a:p>
        </p:txBody>
      </p:sp>
      <p:sp>
        <p:nvSpPr>
          <p:cNvPr id="3" name="Content Placeholder 2">
            <a:extLst>
              <a:ext uri="{FF2B5EF4-FFF2-40B4-BE49-F238E27FC236}">
                <a16:creationId xmlns:a16="http://schemas.microsoft.com/office/drawing/2014/main" id="{D0F3DCB1-ED76-4596-FB6A-EC42BDF38497}"/>
              </a:ext>
            </a:extLst>
          </p:cNvPr>
          <p:cNvSpPr>
            <a:spLocks noGrp="1"/>
          </p:cNvSpPr>
          <p:nvPr>
            <p:ph idx="1"/>
          </p:nvPr>
        </p:nvSpPr>
        <p:spPr>
          <a:xfrm>
            <a:off x="-1" y="1088020"/>
            <a:ext cx="12020273" cy="6030410"/>
          </a:xfrm>
        </p:spPr>
        <p:txBody>
          <a:bodyPr>
            <a:normAutofit/>
          </a:bodyPr>
          <a:lstStyle/>
          <a:p>
            <a:r>
              <a:rPr lang="en-US" sz="2400" b="1" dirty="0"/>
              <a:t>What is PAN?</a:t>
            </a:r>
          </a:p>
          <a:p>
            <a:r>
              <a:rPr lang="en-US" sz="2400" dirty="0"/>
              <a:t>A </a:t>
            </a:r>
            <a:r>
              <a:rPr lang="en-US" sz="2400" b="1" dirty="0"/>
              <a:t>Personal Area Network</a:t>
            </a:r>
            <a:r>
              <a:rPr lang="en-US" sz="2400" dirty="0"/>
              <a:t> is a </a:t>
            </a:r>
            <a:r>
              <a:rPr lang="en-US" sz="2400" b="1" dirty="0"/>
              <a:t>small network used by one person</a:t>
            </a:r>
            <a:r>
              <a:rPr lang="en-US" sz="2400" dirty="0"/>
              <a:t> to connect personal devices.</a:t>
            </a:r>
          </a:p>
          <a:p>
            <a:pPr marL="0" indent="0">
              <a:buNone/>
            </a:pPr>
            <a:r>
              <a:rPr lang="en-US" sz="2400" dirty="0"/>
              <a:t> </a:t>
            </a:r>
            <a:r>
              <a:rPr lang="en-US" sz="2400" b="1" dirty="0"/>
              <a:t>Range:</a:t>
            </a:r>
            <a:r>
              <a:rPr lang="en-US" sz="2400" dirty="0"/>
              <a:t> Few meters (around a room)</a:t>
            </a:r>
          </a:p>
          <a:p>
            <a:pPr marL="0" indent="0">
              <a:buNone/>
            </a:pPr>
            <a:r>
              <a:rPr lang="en-US" sz="2400" b="1" dirty="0"/>
              <a:t> How PAN Works (Easy)</a:t>
            </a:r>
          </a:p>
          <a:p>
            <a:r>
              <a:rPr lang="en-US" sz="2400" dirty="0"/>
              <a:t>Devices connect using </a:t>
            </a:r>
            <a:r>
              <a:rPr lang="en-US" sz="2400" b="1" dirty="0" smtClean="0"/>
              <a:t>Bluetooth</a:t>
            </a:r>
            <a:r>
              <a:rPr lang="en-US" sz="2400" b="1" dirty="0"/>
              <a:t>.</a:t>
            </a:r>
            <a:endParaRPr lang="en-US" sz="2400" dirty="0"/>
          </a:p>
          <a:p>
            <a:r>
              <a:rPr lang="en-US" sz="2400" dirty="0"/>
              <a:t>One device usually controls others</a:t>
            </a:r>
          </a:p>
          <a:p>
            <a:pPr marL="0" indent="0">
              <a:buNone/>
            </a:pPr>
            <a:r>
              <a:rPr lang="en-US" sz="2400" b="1" dirty="0"/>
              <a:t> Examples</a:t>
            </a:r>
          </a:p>
          <a:p>
            <a:r>
              <a:rPr lang="en-US" sz="2400" dirty="0"/>
              <a:t>Mobile phone connected to </a:t>
            </a:r>
            <a:r>
              <a:rPr lang="en-US" sz="2400" b="1" dirty="0"/>
              <a:t>Bluetooth earbuds</a:t>
            </a:r>
            <a:endParaRPr lang="en-US" sz="2400" dirty="0"/>
          </a:p>
          <a:p>
            <a:r>
              <a:rPr lang="en-US" sz="2400" dirty="0"/>
              <a:t>Laptop connected to </a:t>
            </a:r>
            <a:r>
              <a:rPr lang="en-US" sz="2400" b="1" dirty="0"/>
              <a:t>wireless mouse</a:t>
            </a:r>
            <a:endParaRPr lang="en-US" sz="2400" dirty="0"/>
          </a:p>
          <a:p>
            <a:r>
              <a:rPr lang="en-US" sz="2400" dirty="0"/>
              <a:t>Phone sharing internet via </a:t>
            </a:r>
            <a:r>
              <a:rPr lang="en-US" sz="2400" b="1" dirty="0"/>
              <a:t>hotspot</a:t>
            </a:r>
            <a:endParaRPr lang="en-US" sz="2400" dirty="0"/>
          </a:p>
          <a:p>
            <a:pPr marL="0" indent="0">
              <a:buNone/>
            </a:pPr>
            <a:r>
              <a:rPr lang="en-US" sz="2400" b="1" dirty="0"/>
              <a:t> Real-Life Example</a:t>
            </a:r>
          </a:p>
          <a:p>
            <a:r>
              <a:rPr lang="en-US" sz="2400" dirty="0"/>
              <a:t>Your phone + smartwatch + earbuds = </a:t>
            </a:r>
            <a:r>
              <a:rPr lang="en-US" sz="2400" b="1" dirty="0"/>
              <a:t>PAN</a:t>
            </a:r>
            <a:endParaRPr lang="en-US" sz="2400" dirty="0"/>
          </a:p>
          <a:p>
            <a:pPr marL="0" indent="0">
              <a:buNone/>
            </a:pPr>
            <a:endParaRPr lang="en-US" sz="2400" dirty="0"/>
          </a:p>
          <a:p>
            <a:pPr algn="just"/>
            <a:endParaRPr lang="en-US" sz="1600" dirty="0"/>
          </a:p>
        </p:txBody>
      </p:sp>
      <p:pic>
        <p:nvPicPr>
          <p:cNvPr id="6" name="Picture 5">
            <a:extLst>
              <a:ext uri="{FF2B5EF4-FFF2-40B4-BE49-F238E27FC236}">
                <a16:creationId xmlns:a16="http://schemas.microsoft.com/office/drawing/2014/main" id="{95B4C63C-F97A-B289-D288-590D49E73B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6501" y="6511823"/>
            <a:ext cx="1093772" cy="346177"/>
          </a:xfrm>
          <a:prstGeom prst="rect">
            <a:avLst/>
          </a:prstGeom>
        </p:spPr>
      </p:pic>
    </p:spTree>
    <p:extLst>
      <p:ext uri="{BB962C8B-B14F-4D97-AF65-F5344CB8AC3E}">
        <p14:creationId xmlns:p14="http://schemas.microsoft.com/office/powerpoint/2010/main" val="8302390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6818" y="481089"/>
            <a:ext cx="9119683" cy="346178"/>
          </a:xfrm>
        </p:spPr>
        <p:txBody>
          <a:bodyPr>
            <a:noAutofit/>
          </a:bodyPr>
          <a:lstStyle/>
          <a:p>
            <a:pPr algn="ctr"/>
            <a:r>
              <a:rPr lang="en-US" sz="3600" b="1" dirty="0">
                <a:solidFill>
                  <a:schemeClr val="bg1"/>
                </a:solidFill>
                <a:latin typeface="Arial Black" panose="020B0A04020102020204" pitchFamily="34" charset="0"/>
              </a:rPr>
              <a:t>Personal Area Network (PAN)</a:t>
            </a:r>
            <a:br>
              <a:rPr lang="en-US" sz="3600" b="1" dirty="0">
                <a:solidFill>
                  <a:schemeClr val="bg1"/>
                </a:solidFill>
                <a:latin typeface="Arial Black" panose="020B0A04020102020204" pitchFamily="34" charset="0"/>
              </a:rPr>
            </a:br>
            <a:endParaRPr lang="en-US" sz="3600" b="1" dirty="0">
              <a:solidFill>
                <a:schemeClr val="bg1"/>
              </a:solidFill>
              <a:latin typeface="Arial Black" panose="020B0A04020102020204" pitchFamily="34" charset="0"/>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6501" y="6511823"/>
            <a:ext cx="1093772" cy="346177"/>
          </a:xfrm>
          <a:prstGeom prst="rect">
            <a:avLst/>
          </a:prstGeom>
        </p:spPr>
      </p:pic>
      <p:pic>
        <p:nvPicPr>
          <p:cNvPr id="6" name="Content Placeholder 5">
            <a:extLst>
              <a:ext uri="{FF2B5EF4-FFF2-40B4-BE49-F238E27FC236}">
                <a16:creationId xmlns:a16="http://schemas.microsoft.com/office/drawing/2014/main" id="{A4E1F42F-B84F-08B7-5C71-E3D0717D4CC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71727" y="1268085"/>
            <a:ext cx="6739060" cy="5589915"/>
          </a:xfrm>
        </p:spPr>
      </p:pic>
    </p:spTree>
    <p:extLst>
      <p:ext uri="{BB962C8B-B14F-4D97-AF65-F5344CB8AC3E}">
        <p14:creationId xmlns:p14="http://schemas.microsoft.com/office/powerpoint/2010/main" val="18892775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200" y="270934"/>
            <a:ext cx="10911840" cy="1051560"/>
          </a:xfrm>
        </p:spPr>
        <p:txBody>
          <a:bodyPr>
            <a:normAutofit/>
          </a:bodyPr>
          <a:lstStyle/>
          <a:p>
            <a:pPr algn="ctr"/>
            <a:r>
              <a:rPr lang="en-US" sz="3200" b="1" dirty="0">
                <a:solidFill>
                  <a:schemeClr val="bg1"/>
                </a:solidFill>
                <a:latin typeface="Arial Black" panose="020B0A04020102020204" pitchFamily="34" charset="0"/>
              </a:rPr>
              <a:t> Types of Personal Area Network </a:t>
            </a:r>
            <a:br>
              <a:rPr lang="en-US" sz="3200" b="1" dirty="0">
                <a:solidFill>
                  <a:schemeClr val="bg1"/>
                </a:solidFill>
                <a:latin typeface="Arial Black" panose="020B0A04020102020204" pitchFamily="34" charset="0"/>
              </a:rPr>
            </a:br>
            <a:endParaRPr lang="en-US" sz="3200" b="1" dirty="0">
              <a:solidFill>
                <a:schemeClr val="bg1"/>
              </a:solidFill>
              <a:latin typeface="Arial Black" panose="020B0A04020102020204" pitchFamily="34" charset="0"/>
            </a:endParaRPr>
          </a:p>
        </p:txBody>
      </p:sp>
      <p:sp>
        <p:nvSpPr>
          <p:cNvPr id="3" name="Content Placeholder 2"/>
          <p:cNvSpPr>
            <a:spLocks noGrp="1"/>
          </p:cNvSpPr>
          <p:nvPr>
            <p:ph idx="1"/>
          </p:nvPr>
        </p:nvSpPr>
        <p:spPr>
          <a:xfrm>
            <a:off x="-1" y="1322494"/>
            <a:ext cx="11968223" cy="5761212"/>
          </a:xfrm>
        </p:spPr>
        <p:txBody>
          <a:bodyPr>
            <a:normAutofit/>
          </a:bodyPr>
          <a:lstStyle/>
          <a:p>
            <a:pPr marL="0" indent="0">
              <a:buNone/>
            </a:pPr>
            <a:r>
              <a:rPr lang="en-GB" b="1" dirty="0"/>
              <a:t> </a:t>
            </a: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6501" y="6511823"/>
            <a:ext cx="1093772" cy="346177"/>
          </a:xfrm>
          <a:prstGeom prst="rect">
            <a:avLst/>
          </a:prstGeom>
        </p:spPr>
      </p:pic>
      <p:pic>
        <p:nvPicPr>
          <p:cNvPr id="5" name="Picture 4">
            <a:extLst>
              <a:ext uri="{FF2B5EF4-FFF2-40B4-BE49-F238E27FC236}">
                <a16:creationId xmlns:a16="http://schemas.microsoft.com/office/drawing/2014/main" id="{1C1840B4-6DDB-5DFB-CA89-33648F5008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778" y="1322494"/>
            <a:ext cx="5578320" cy="5408090"/>
          </a:xfrm>
          <a:prstGeom prst="rect">
            <a:avLst/>
          </a:prstGeom>
        </p:spPr>
      </p:pic>
    </p:spTree>
    <p:extLst>
      <p:ext uri="{BB962C8B-B14F-4D97-AF65-F5344CB8AC3E}">
        <p14:creationId xmlns:p14="http://schemas.microsoft.com/office/powerpoint/2010/main" val="28124763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986CF-DF8F-557A-3D3F-B9CC886EEC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F24110-01D0-7F0F-9361-C1FB016E224B}"/>
              </a:ext>
            </a:extLst>
          </p:cNvPr>
          <p:cNvSpPr>
            <a:spLocks noGrp="1"/>
          </p:cNvSpPr>
          <p:nvPr>
            <p:ph type="title"/>
          </p:nvPr>
        </p:nvSpPr>
        <p:spPr>
          <a:xfrm>
            <a:off x="711200" y="270934"/>
            <a:ext cx="10911840" cy="1051560"/>
          </a:xfrm>
        </p:spPr>
        <p:txBody>
          <a:bodyPr>
            <a:normAutofit/>
          </a:bodyPr>
          <a:lstStyle/>
          <a:p>
            <a:pPr algn="ctr"/>
            <a:r>
              <a:rPr lang="en-US" sz="2400" b="1" dirty="0">
                <a:solidFill>
                  <a:schemeClr val="bg1"/>
                </a:solidFill>
                <a:latin typeface="Arial Black" panose="020B0A04020102020204" pitchFamily="34" charset="0"/>
              </a:rPr>
              <a:t>Wired PAN</a:t>
            </a:r>
            <a:br>
              <a:rPr lang="en-US" sz="2400" b="1" dirty="0">
                <a:solidFill>
                  <a:schemeClr val="bg1"/>
                </a:solidFill>
                <a:latin typeface="Arial Black" panose="020B0A04020102020204" pitchFamily="34" charset="0"/>
              </a:rPr>
            </a:br>
            <a:endParaRPr lang="en-US" sz="2400" b="1" dirty="0">
              <a:solidFill>
                <a:schemeClr val="bg1"/>
              </a:solidFill>
              <a:latin typeface="Arial Black" panose="020B0A04020102020204" pitchFamily="34" charset="0"/>
            </a:endParaRPr>
          </a:p>
        </p:txBody>
      </p:sp>
      <p:sp>
        <p:nvSpPr>
          <p:cNvPr id="3" name="Content Placeholder 2">
            <a:extLst>
              <a:ext uri="{FF2B5EF4-FFF2-40B4-BE49-F238E27FC236}">
                <a16:creationId xmlns:a16="http://schemas.microsoft.com/office/drawing/2014/main" id="{F568970E-5156-3293-B974-7AD906D3C682}"/>
              </a:ext>
            </a:extLst>
          </p:cNvPr>
          <p:cNvSpPr>
            <a:spLocks noGrp="1"/>
          </p:cNvSpPr>
          <p:nvPr>
            <p:ph idx="1"/>
          </p:nvPr>
        </p:nvSpPr>
        <p:spPr>
          <a:xfrm>
            <a:off x="-1" y="1322494"/>
            <a:ext cx="11968223" cy="5535506"/>
          </a:xfrm>
        </p:spPr>
        <p:txBody>
          <a:bodyPr>
            <a:normAutofit lnSpcReduction="10000"/>
          </a:bodyPr>
          <a:lstStyle/>
          <a:p>
            <a:pPr marL="0" indent="0">
              <a:buNone/>
            </a:pPr>
            <a:r>
              <a:rPr lang="en-US" dirty="0"/>
              <a:t>A </a:t>
            </a:r>
            <a:r>
              <a:rPr lang="en-US" b="1" dirty="0"/>
              <a:t>Wired PAN</a:t>
            </a:r>
            <a:r>
              <a:rPr lang="en-US" dirty="0"/>
              <a:t> connects personal devices using </a:t>
            </a:r>
            <a:r>
              <a:rPr lang="en-US" b="1" dirty="0"/>
              <a:t>physical cables</a:t>
            </a:r>
            <a:r>
              <a:rPr lang="en-US" dirty="0"/>
              <a:t>.</a:t>
            </a:r>
          </a:p>
          <a:p>
            <a:pPr marL="0" indent="0">
              <a:buNone/>
            </a:pPr>
            <a:r>
              <a:rPr lang="en-US" b="1" dirty="0"/>
              <a:t>How Wired PAN Works</a:t>
            </a:r>
          </a:p>
          <a:p>
            <a:r>
              <a:rPr lang="en-US" dirty="0"/>
              <a:t>Devices are connected </a:t>
            </a:r>
            <a:r>
              <a:rPr lang="en-US" dirty="0" smtClean="0"/>
              <a:t>using </a:t>
            </a:r>
            <a:r>
              <a:rPr lang="en-US" b="1" dirty="0" smtClean="0"/>
              <a:t>data </a:t>
            </a:r>
            <a:r>
              <a:rPr lang="en-US" b="1" dirty="0"/>
              <a:t>cables</a:t>
            </a:r>
            <a:endParaRPr lang="en-US" dirty="0"/>
          </a:p>
          <a:p>
            <a:r>
              <a:rPr lang="en-US" dirty="0"/>
              <a:t>Data travels through </a:t>
            </a:r>
            <a:r>
              <a:rPr lang="en-US" b="1" dirty="0"/>
              <a:t>wires</a:t>
            </a:r>
            <a:endParaRPr lang="en-US" dirty="0"/>
          </a:p>
          <a:p>
            <a:r>
              <a:rPr lang="en-US" dirty="0"/>
              <a:t>Very stable connection</a:t>
            </a:r>
          </a:p>
          <a:p>
            <a:pPr marL="0" indent="0">
              <a:buNone/>
            </a:pPr>
            <a:r>
              <a:rPr lang="en-US" b="1" dirty="0"/>
              <a:t>Examples</a:t>
            </a:r>
          </a:p>
          <a:p>
            <a:r>
              <a:rPr lang="en-US" dirty="0"/>
              <a:t>Mobile phone connected to laptop via </a:t>
            </a:r>
            <a:r>
              <a:rPr lang="en-US" b="1" dirty="0"/>
              <a:t>USB cable</a:t>
            </a:r>
            <a:endParaRPr lang="en-US" dirty="0"/>
          </a:p>
          <a:p>
            <a:r>
              <a:rPr lang="en-US" dirty="0"/>
              <a:t>Printer connected to computer using </a:t>
            </a:r>
            <a:r>
              <a:rPr lang="en-US" b="1" dirty="0"/>
              <a:t>USB</a:t>
            </a:r>
            <a:endParaRPr lang="en-US" dirty="0"/>
          </a:p>
          <a:p>
            <a:r>
              <a:rPr lang="en-US" dirty="0"/>
              <a:t>External hard drive connected to PC</a:t>
            </a:r>
          </a:p>
          <a:p>
            <a:pPr marL="0" indent="0">
              <a:buNone/>
            </a:pPr>
            <a:r>
              <a:rPr lang="en-US" b="1" dirty="0"/>
              <a:t> Real-Life Example</a:t>
            </a:r>
          </a:p>
          <a:p>
            <a:r>
              <a:rPr lang="en-US" dirty="0"/>
              <a:t>Connecting your phone to a laptop using a charging/data cable to transfer photos.</a:t>
            </a:r>
          </a:p>
          <a:p>
            <a:pPr marL="0" indent="0">
              <a:buNone/>
            </a:pPr>
            <a:endParaRPr lang="en-US" dirty="0"/>
          </a:p>
        </p:txBody>
      </p:sp>
      <p:pic>
        <p:nvPicPr>
          <p:cNvPr id="6" name="Picture 5">
            <a:extLst>
              <a:ext uri="{FF2B5EF4-FFF2-40B4-BE49-F238E27FC236}">
                <a16:creationId xmlns:a16="http://schemas.microsoft.com/office/drawing/2014/main" id="{552372A0-3811-7627-141C-7C4D3875556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6501" y="6511823"/>
            <a:ext cx="1093772" cy="346177"/>
          </a:xfrm>
          <a:prstGeom prst="rect">
            <a:avLst/>
          </a:prstGeom>
        </p:spPr>
      </p:pic>
    </p:spTree>
    <p:extLst>
      <p:ext uri="{BB962C8B-B14F-4D97-AF65-F5344CB8AC3E}">
        <p14:creationId xmlns:p14="http://schemas.microsoft.com/office/powerpoint/2010/main" val="14830850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10600-5961-C835-B540-1B594C07CF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8B5AAF-06E3-CC78-5E0E-52922504A88D}"/>
              </a:ext>
            </a:extLst>
          </p:cNvPr>
          <p:cNvSpPr>
            <a:spLocks noGrp="1"/>
          </p:cNvSpPr>
          <p:nvPr>
            <p:ph type="title"/>
          </p:nvPr>
        </p:nvSpPr>
        <p:spPr>
          <a:xfrm>
            <a:off x="711200" y="270934"/>
            <a:ext cx="10911840" cy="1051560"/>
          </a:xfrm>
        </p:spPr>
        <p:txBody>
          <a:bodyPr>
            <a:normAutofit fontScale="90000"/>
          </a:bodyPr>
          <a:lstStyle/>
          <a:p>
            <a:pPr algn="ctr"/>
            <a:r>
              <a:rPr lang="en-US" b="1" dirty="0">
                <a:solidFill>
                  <a:schemeClr val="bg1"/>
                </a:solidFill>
                <a:latin typeface="Arial Black" panose="020B0A04020102020204" pitchFamily="34" charset="0"/>
              </a:rPr>
              <a:t>Wireless PAN (WPAN)</a:t>
            </a:r>
            <a:br>
              <a:rPr lang="en-US" b="1" dirty="0">
                <a:solidFill>
                  <a:schemeClr val="bg1"/>
                </a:solidFill>
                <a:latin typeface="Arial Black" panose="020B0A04020102020204" pitchFamily="34" charset="0"/>
              </a:rPr>
            </a:br>
            <a:endParaRPr lang="en-US" b="1" dirty="0">
              <a:solidFill>
                <a:schemeClr val="bg1"/>
              </a:solidFill>
              <a:latin typeface="Arial Black" panose="020B0A04020102020204" pitchFamily="34" charset="0"/>
            </a:endParaRPr>
          </a:p>
        </p:txBody>
      </p:sp>
      <p:pic>
        <p:nvPicPr>
          <p:cNvPr id="6" name="Picture 5">
            <a:extLst>
              <a:ext uri="{FF2B5EF4-FFF2-40B4-BE49-F238E27FC236}">
                <a16:creationId xmlns:a16="http://schemas.microsoft.com/office/drawing/2014/main" id="{FC7597CA-31DA-AF84-FD2C-1D514054728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6501" y="6511823"/>
            <a:ext cx="1093772" cy="346177"/>
          </a:xfrm>
          <a:prstGeom prst="rect">
            <a:avLst/>
          </a:prstGeom>
        </p:spPr>
      </p:pic>
      <p:sp>
        <p:nvSpPr>
          <p:cNvPr id="4" name="Content Placeholder 3">
            <a:extLst>
              <a:ext uri="{FF2B5EF4-FFF2-40B4-BE49-F238E27FC236}">
                <a16:creationId xmlns:a16="http://schemas.microsoft.com/office/drawing/2014/main" id="{D1B60701-2DE4-4CA4-3C0D-3CA2B611F376}"/>
              </a:ext>
            </a:extLst>
          </p:cNvPr>
          <p:cNvSpPr>
            <a:spLocks noGrp="1"/>
          </p:cNvSpPr>
          <p:nvPr>
            <p:ph idx="1"/>
          </p:nvPr>
        </p:nvSpPr>
        <p:spPr>
          <a:xfrm>
            <a:off x="149902" y="1169233"/>
            <a:ext cx="12042098" cy="5688767"/>
          </a:xfrm>
        </p:spPr>
        <p:txBody>
          <a:bodyPr>
            <a:normAutofit fontScale="92500" lnSpcReduction="20000"/>
          </a:bodyPr>
          <a:lstStyle/>
          <a:p>
            <a:pPr marL="0" indent="0">
              <a:buNone/>
            </a:pPr>
            <a:r>
              <a:rPr lang="en-US" dirty="0"/>
              <a:t> </a:t>
            </a:r>
            <a:r>
              <a:rPr lang="en-US" b="1" dirty="0"/>
              <a:t>Wireless PAN</a:t>
            </a:r>
            <a:r>
              <a:rPr lang="en-US" dirty="0"/>
              <a:t> connects devices </a:t>
            </a:r>
            <a:r>
              <a:rPr lang="en-US" b="1" dirty="0"/>
              <a:t>without cables</a:t>
            </a:r>
            <a:r>
              <a:rPr lang="en-US" dirty="0"/>
              <a:t>, using </a:t>
            </a:r>
            <a:r>
              <a:rPr lang="en-US" b="1" dirty="0"/>
              <a:t>wireless technologies</a:t>
            </a:r>
            <a:r>
              <a:rPr lang="en-US" dirty="0"/>
              <a:t>.</a:t>
            </a:r>
          </a:p>
          <a:p>
            <a:pPr marL="0" indent="0">
              <a:buNone/>
            </a:pPr>
            <a:r>
              <a:rPr lang="en-US" b="1" dirty="0"/>
              <a:t> Technology Used</a:t>
            </a:r>
          </a:p>
          <a:p>
            <a:r>
              <a:rPr lang="en-US" dirty="0"/>
              <a:t>Bluetooth</a:t>
            </a:r>
          </a:p>
          <a:p>
            <a:pPr marL="0" indent="0">
              <a:buNone/>
            </a:pPr>
            <a:r>
              <a:rPr lang="en-US" b="1" dirty="0"/>
              <a:t>How Wireless PAN Works</a:t>
            </a:r>
          </a:p>
          <a:p>
            <a:r>
              <a:rPr lang="en-US" dirty="0"/>
              <a:t>Devices communicate using </a:t>
            </a:r>
            <a:r>
              <a:rPr lang="en-US" b="1" dirty="0" smtClean="0"/>
              <a:t>radio waves</a:t>
            </a:r>
            <a:endParaRPr lang="en-US" dirty="0" smtClean="0"/>
          </a:p>
          <a:p>
            <a:r>
              <a:rPr lang="en-US" dirty="0" smtClean="0"/>
              <a:t>One device may act as </a:t>
            </a:r>
            <a:r>
              <a:rPr lang="en-US" b="1" dirty="0" smtClean="0"/>
              <a:t>controller</a:t>
            </a:r>
            <a:endParaRPr lang="en-US" dirty="0" smtClean="0"/>
          </a:p>
          <a:p>
            <a:r>
              <a:rPr lang="en-US" dirty="0" smtClean="0"/>
              <a:t>Short-range </a:t>
            </a:r>
            <a:r>
              <a:rPr lang="en-US" dirty="0"/>
              <a:t>communication</a:t>
            </a:r>
          </a:p>
          <a:p>
            <a:pPr marL="0" indent="0">
              <a:buNone/>
            </a:pPr>
            <a:r>
              <a:rPr lang="en-US" b="1" dirty="0"/>
              <a:t> Examples</a:t>
            </a:r>
          </a:p>
          <a:p>
            <a:r>
              <a:rPr lang="en-US" dirty="0"/>
              <a:t>Bluetooth headphones connected to phone</a:t>
            </a:r>
          </a:p>
          <a:p>
            <a:r>
              <a:rPr lang="en-US" dirty="0"/>
              <a:t>Wireless mouse and keyboard</a:t>
            </a:r>
          </a:p>
          <a:p>
            <a:r>
              <a:rPr lang="en-US" dirty="0"/>
              <a:t>Smartwatch connected to mobile</a:t>
            </a:r>
          </a:p>
          <a:p>
            <a:pPr marL="0" indent="0">
              <a:buNone/>
            </a:pPr>
            <a:r>
              <a:rPr lang="en-US" b="1" dirty="0"/>
              <a:t> Real-Life Example</a:t>
            </a:r>
          </a:p>
          <a:p>
            <a:r>
              <a:rPr lang="en-US" dirty="0"/>
              <a:t>Phone connected to Bluetooth earbuds = </a:t>
            </a:r>
            <a:r>
              <a:rPr lang="en-US" b="1" dirty="0"/>
              <a:t>Wireless PAN</a:t>
            </a:r>
            <a:endParaRPr lang="en-US" dirty="0"/>
          </a:p>
          <a:p>
            <a:pPr marL="0" indent="0">
              <a:buNone/>
            </a:pPr>
            <a:endParaRPr lang="en-GB" dirty="0"/>
          </a:p>
        </p:txBody>
      </p:sp>
    </p:spTree>
    <p:extLst>
      <p:ext uri="{BB962C8B-B14F-4D97-AF65-F5344CB8AC3E}">
        <p14:creationId xmlns:p14="http://schemas.microsoft.com/office/powerpoint/2010/main" val="40790452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614596"/>
            <a:ext cx="10911840" cy="361377"/>
          </a:xfrm>
        </p:spPr>
        <p:txBody>
          <a:bodyPr>
            <a:noAutofit/>
          </a:bodyPr>
          <a:lstStyle/>
          <a:p>
            <a:pPr algn="ctr"/>
            <a:r>
              <a:rPr lang="en-US" sz="3600" b="1" dirty="0">
                <a:solidFill>
                  <a:schemeClr val="bg1"/>
                </a:solidFill>
                <a:latin typeface="Arial Black" panose="020B0A04020102020204" pitchFamily="34" charset="0"/>
              </a:rPr>
              <a:t>Local Area Network (LAN)</a:t>
            </a:r>
            <a:br>
              <a:rPr lang="en-US" sz="3600" b="1" dirty="0">
                <a:solidFill>
                  <a:schemeClr val="bg1"/>
                </a:solidFill>
                <a:latin typeface="Arial Black" panose="020B0A04020102020204" pitchFamily="34" charset="0"/>
              </a:rPr>
            </a:br>
            <a:endParaRPr lang="en-US" sz="3600" b="1" dirty="0">
              <a:solidFill>
                <a:schemeClr val="bg1"/>
              </a:solidFill>
              <a:latin typeface="Arial Black" panose="020B0A04020102020204" pitchFamily="34" charset="0"/>
            </a:endParaRPr>
          </a:p>
        </p:txBody>
      </p:sp>
      <p:sp>
        <p:nvSpPr>
          <p:cNvPr id="3" name="Content Placeholder 2"/>
          <p:cNvSpPr>
            <a:spLocks noGrp="1"/>
          </p:cNvSpPr>
          <p:nvPr>
            <p:ph idx="1"/>
          </p:nvPr>
        </p:nvSpPr>
        <p:spPr>
          <a:xfrm>
            <a:off x="104172" y="1226916"/>
            <a:ext cx="11979798" cy="5822066"/>
          </a:xfrm>
        </p:spPr>
        <p:txBody>
          <a:bodyPr>
            <a:normAutofit fontScale="62500" lnSpcReduction="20000"/>
          </a:bodyPr>
          <a:lstStyle/>
          <a:p>
            <a:pPr marL="0" indent="0">
              <a:buNone/>
            </a:pPr>
            <a:r>
              <a:rPr lang="en-US" sz="3600" dirty="0"/>
              <a:t> </a:t>
            </a:r>
            <a:r>
              <a:rPr lang="en-US" sz="3600" b="1" dirty="0"/>
              <a:t>Local Area Network</a:t>
            </a:r>
            <a:r>
              <a:rPr lang="en-US" sz="3600" dirty="0"/>
              <a:t> connects computers </a:t>
            </a:r>
            <a:r>
              <a:rPr lang="en-US" sz="3600" b="1" dirty="0"/>
              <a:t>within a small area</a:t>
            </a:r>
            <a:r>
              <a:rPr lang="en-US" sz="3600" dirty="0"/>
              <a:t>, like:</a:t>
            </a:r>
          </a:p>
          <a:p>
            <a:r>
              <a:rPr lang="en-US" sz="3600" dirty="0"/>
              <a:t>Home</a:t>
            </a:r>
          </a:p>
          <a:p>
            <a:r>
              <a:rPr lang="en-US" sz="3600" dirty="0"/>
              <a:t>Office</a:t>
            </a:r>
          </a:p>
          <a:p>
            <a:r>
              <a:rPr lang="en-US" sz="3600" dirty="0"/>
              <a:t>School</a:t>
            </a:r>
          </a:p>
          <a:p>
            <a:r>
              <a:rPr lang="en-US" sz="3600" dirty="0"/>
              <a:t>Lab</a:t>
            </a:r>
          </a:p>
          <a:p>
            <a:r>
              <a:rPr lang="en-US" sz="3600" dirty="0"/>
              <a:t> </a:t>
            </a:r>
            <a:r>
              <a:rPr lang="en-US" sz="3600" b="1" dirty="0"/>
              <a:t>Range:</a:t>
            </a:r>
            <a:r>
              <a:rPr lang="en-US" sz="3600" dirty="0"/>
              <a:t> Building or campus</a:t>
            </a:r>
          </a:p>
          <a:p>
            <a:pPr marL="0" indent="0">
              <a:buNone/>
            </a:pPr>
            <a:r>
              <a:rPr lang="en-US" sz="3600" b="1" dirty="0"/>
              <a:t> How LAN Works</a:t>
            </a:r>
          </a:p>
          <a:p>
            <a:r>
              <a:rPr lang="en-US" sz="3600" dirty="0"/>
              <a:t>Devices connect through </a:t>
            </a:r>
            <a:r>
              <a:rPr lang="en-US" sz="3600" b="1" dirty="0"/>
              <a:t>Ethernet cables or Wi-Fi</a:t>
            </a:r>
            <a:endParaRPr lang="en-US" sz="3600" dirty="0"/>
          </a:p>
          <a:p>
            <a:r>
              <a:rPr lang="en-US" sz="3600" dirty="0"/>
              <a:t>A </a:t>
            </a:r>
            <a:r>
              <a:rPr lang="en-US" sz="3600" b="1" dirty="0"/>
              <a:t>switch or router</a:t>
            </a:r>
            <a:r>
              <a:rPr lang="en-US" sz="3600" dirty="0"/>
              <a:t> manages data flow</a:t>
            </a:r>
          </a:p>
          <a:p>
            <a:pPr marL="0" indent="0">
              <a:buNone/>
            </a:pPr>
            <a:r>
              <a:rPr lang="en-US" sz="3600" b="1" dirty="0"/>
              <a:t>Examples</a:t>
            </a:r>
          </a:p>
          <a:p>
            <a:r>
              <a:rPr lang="en-US" sz="3600" dirty="0"/>
              <a:t>Computer lab in a university</a:t>
            </a:r>
          </a:p>
          <a:p>
            <a:r>
              <a:rPr lang="en-US" sz="3600" dirty="0"/>
              <a:t>Office computers sharing printer</a:t>
            </a:r>
          </a:p>
          <a:p>
            <a:r>
              <a:rPr lang="en-US" sz="3600" dirty="0"/>
              <a:t>Home Wi-Fi network</a:t>
            </a:r>
          </a:p>
          <a:p>
            <a:pPr marL="0" indent="0">
              <a:buNone/>
            </a:pPr>
            <a:r>
              <a:rPr lang="en-US" sz="3600" b="1" dirty="0"/>
              <a:t> Real-Life Example</a:t>
            </a:r>
          </a:p>
          <a:p>
            <a:r>
              <a:rPr lang="en-US" sz="3600" dirty="0"/>
              <a:t>All computers in your department lab connected together = </a:t>
            </a:r>
            <a:r>
              <a:rPr lang="en-US" sz="3600" b="1" dirty="0"/>
              <a:t>LAN</a:t>
            </a:r>
            <a:endParaRPr lang="en-US" sz="3600" dirty="0"/>
          </a:p>
          <a:p>
            <a:pPr marL="0" indent="0">
              <a:buNone/>
            </a:pPr>
            <a:endParaRPr lang="en-US" sz="3600" dirty="0"/>
          </a:p>
          <a:p>
            <a:pPr marL="0" indent="0">
              <a:buNone/>
            </a:pPr>
            <a:endParaRPr lang="en-US" sz="3600" dirty="0"/>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6501" y="6511823"/>
            <a:ext cx="1093772" cy="346177"/>
          </a:xfrm>
          <a:prstGeom prst="rect">
            <a:avLst/>
          </a:prstGeom>
        </p:spPr>
      </p:pic>
    </p:spTree>
    <p:extLst>
      <p:ext uri="{BB962C8B-B14F-4D97-AF65-F5344CB8AC3E}">
        <p14:creationId xmlns:p14="http://schemas.microsoft.com/office/powerpoint/2010/main" val="19415485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2758" y="312739"/>
            <a:ext cx="10911840" cy="1051560"/>
          </a:xfrm>
        </p:spPr>
        <p:txBody>
          <a:bodyPr>
            <a:normAutofit fontScale="90000"/>
          </a:bodyPr>
          <a:lstStyle/>
          <a:p>
            <a:pPr algn="ctr"/>
            <a:r>
              <a:rPr lang="en-US" sz="4000" b="1" dirty="0">
                <a:solidFill>
                  <a:schemeClr val="bg1"/>
                </a:solidFill>
                <a:latin typeface="Arial Black" panose="020B0A04020102020204" pitchFamily="34" charset="0"/>
              </a:rPr>
              <a:t>Local Area Network (LAN)</a:t>
            </a:r>
            <a:br>
              <a:rPr lang="en-US" sz="4000" b="1" dirty="0">
                <a:solidFill>
                  <a:schemeClr val="bg1"/>
                </a:solidFill>
                <a:latin typeface="Arial Black" panose="020B0A04020102020204" pitchFamily="34" charset="0"/>
              </a:rPr>
            </a:br>
            <a:endParaRPr lang="en-US" sz="4000" b="1" dirty="0">
              <a:solidFill>
                <a:schemeClr val="bg1"/>
              </a:solidFill>
              <a:latin typeface="Arial Black" panose="020B0A04020102020204" pitchFamily="34" charset="0"/>
            </a:endParaRPr>
          </a:p>
        </p:txBody>
      </p:sp>
      <p:sp>
        <p:nvSpPr>
          <p:cNvPr id="4100" name="AutoShape 4" descr="Image result for network reliability"/>
          <p:cNvSpPr>
            <a:spLocks noChangeAspect="1" noChangeArrowheads="1"/>
          </p:cNvSpPr>
          <p:nvPr/>
        </p:nvSpPr>
        <p:spPr bwMode="auto">
          <a:xfrm>
            <a:off x="207434" y="-144463"/>
            <a:ext cx="4064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102" name="AutoShape 6" descr="Image result for network reliability"/>
          <p:cNvSpPr>
            <a:spLocks noChangeAspect="1" noChangeArrowheads="1"/>
          </p:cNvSpPr>
          <p:nvPr/>
        </p:nvSpPr>
        <p:spPr bwMode="auto">
          <a:xfrm>
            <a:off x="207434" y="-144463"/>
            <a:ext cx="4064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 name="AutoShape 2" descr="Reliability - Free security icons"/>
          <p:cNvSpPr>
            <a:spLocks noChangeAspect="1" noChangeArrowheads="1"/>
          </p:cNvSpPr>
          <p:nvPr/>
        </p:nvSpPr>
        <p:spPr bwMode="auto">
          <a:xfrm>
            <a:off x="188576" y="-144463"/>
            <a:ext cx="369455"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Reliability - Free security icons"/>
          <p:cNvSpPr>
            <a:spLocks noChangeAspect="1" noChangeArrowheads="1"/>
          </p:cNvSpPr>
          <p:nvPr/>
        </p:nvSpPr>
        <p:spPr bwMode="auto">
          <a:xfrm>
            <a:off x="373303" y="7938"/>
            <a:ext cx="369455"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2" name="Picture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6501" y="6511823"/>
            <a:ext cx="1093772" cy="346177"/>
          </a:xfrm>
          <a:prstGeom prst="rect">
            <a:avLst/>
          </a:prstGeom>
        </p:spPr>
      </p:pic>
      <p:graphicFrame>
        <p:nvGraphicFramePr>
          <p:cNvPr id="3" name="Content Placeholder 2">
            <a:extLst>
              <a:ext uri="{FF2B5EF4-FFF2-40B4-BE49-F238E27FC236}">
                <a16:creationId xmlns:a16="http://schemas.microsoft.com/office/drawing/2014/main" id="{5003E624-4B66-D292-7A0C-F53C9B1B4082}"/>
              </a:ext>
            </a:extLst>
          </p:cNvPr>
          <p:cNvGraphicFramePr>
            <a:graphicFrameLocks noGrp="1"/>
          </p:cNvGraphicFramePr>
          <p:nvPr>
            <p:ph idx="1"/>
            <p:extLst>
              <p:ext uri="{D42A27DB-BD31-4B8C-83A1-F6EECF244321}">
                <p14:modId xmlns:p14="http://schemas.microsoft.com/office/powerpoint/2010/main" val="4145923819"/>
              </p:ext>
            </p:extLst>
          </p:nvPr>
        </p:nvGraphicFramePr>
        <p:xfrm>
          <a:off x="1" y="1199212"/>
          <a:ext cx="12192000" cy="5650848"/>
        </p:xfrm>
        <a:graphic>
          <a:graphicData uri="http://schemas.openxmlformats.org/drawingml/2006/table">
            <a:tbl>
              <a:tblPr/>
              <a:tblGrid>
                <a:gridCol w="5862536">
                  <a:extLst>
                    <a:ext uri="{9D8B030D-6E8A-4147-A177-3AD203B41FA5}">
                      <a16:colId xmlns:a16="http://schemas.microsoft.com/office/drawing/2014/main" val="768451279"/>
                    </a:ext>
                  </a:extLst>
                </a:gridCol>
                <a:gridCol w="6329464">
                  <a:extLst>
                    <a:ext uri="{9D8B030D-6E8A-4147-A177-3AD203B41FA5}">
                      <a16:colId xmlns:a16="http://schemas.microsoft.com/office/drawing/2014/main" val="743171388"/>
                    </a:ext>
                  </a:extLst>
                </a:gridCol>
              </a:tblGrid>
              <a:tr h="706356">
                <a:tc>
                  <a:txBody>
                    <a:bodyPr/>
                    <a:lstStyle/>
                    <a:p>
                      <a:pPr>
                        <a:buNone/>
                      </a:pPr>
                      <a:endParaRPr lang="en-GB" sz="3600" b="1" dirty="0">
                        <a:latin typeface="Arial Black" panose="020B0A04020102020204" pitchFamily="34" charset="0"/>
                      </a:endParaRPr>
                    </a:p>
                  </a:txBody>
                  <a:tcPr anchor="ctr">
                    <a:lnL>
                      <a:noFill/>
                    </a:lnL>
                    <a:lnR>
                      <a:noFill/>
                    </a:lnR>
                    <a:lnT>
                      <a:noFill/>
                    </a:lnT>
                    <a:lnB>
                      <a:noFill/>
                    </a:lnB>
                    <a:noFill/>
                  </a:tcPr>
                </a:tc>
                <a:tc>
                  <a:txBody>
                    <a:bodyPr/>
                    <a:lstStyle/>
                    <a:p>
                      <a:pPr>
                        <a:buNone/>
                      </a:pPr>
                      <a:endParaRPr lang="en-GB" sz="3600" b="1" dirty="0">
                        <a:latin typeface="Arial Black" panose="020B0A04020102020204" pitchFamily="34" charset="0"/>
                      </a:endParaRPr>
                    </a:p>
                  </a:txBody>
                  <a:tcPr anchor="ctr">
                    <a:lnL>
                      <a:noFill/>
                    </a:lnL>
                    <a:lnR>
                      <a:noFill/>
                    </a:lnR>
                    <a:lnT>
                      <a:noFill/>
                    </a:lnT>
                    <a:lnB>
                      <a:noFill/>
                    </a:lnB>
                    <a:noFill/>
                  </a:tcPr>
                </a:tc>
                <a:extLst>
                  <a:ext uri="{0D108BD9-81ED-4DB2-BD59-A6C34878D82A}">
                    <a16:rowId xmlns:a16="http://schemas.microsoft.com/office/drawing/2014/main" val="3543247764"/>
                  </a:ext>
                </a:extLst>
              </a:tr>
              <a:tr h="706356">
                <a:tc>
                  <a:txBody>
                    <a:bodyPr/>
                    <a:lstStyle/>
                    <a:p>
                      <a:pPr>
                        <a:buNone/>
                      </a:pPr>
                      <a:endParaRPr lang="en-GB" dirty="0"/>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extLst>
                  <a:ext uri="{0D108BD9-81ED-4DB2-BD59-A6C34878D82A}">
                    <a16:rowId xmlns:a16="http://schemas.microsoft.com/office/drawing/2014/main" val="3588791202"/>
                  </a:ext>
                </a:extLst>
              </a:tr>
              <a:tr h="706356">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extLst>
                  <a:ext uri="{0D108BD9-81ED-4DB2-BD59-A6C34878D82A}">
                    <a16:rowId xmlns:a16="http://schemas.microsoft.com/office/drawing/2014/main" val="716019671"/>
                  </a:ext>
                </a:extLst>
              </a:tr>
              <a:tr h="706356">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extLst>
                  <a:ext uri="{0D108BD9-81ED-4DB2-BD59-A6C34878D82A}">
                    <a16:rowId xmlns:a16="http://schemas.microsoft.com/office/drawing/2014/main" val="3913443062"/>
                  </a:ext>
                </a:extLst>
              </a:tr>
              <a:tr h="706356">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extLst>
                  <a:ext uri="{0D108BD9-81ED-4DB2-BD59-A6C34878D82A}">
                    <a16:rowId xmlns:a16="http://schemas.microsoft.com/office/drawing/2014/main" val="3158750883"/>
                  </a:ext>
                </a:extLst>
              </a:tr>
              <a:tr h="706356">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extLst>
                  <a:ext uri="{0D108BD9-81ED-4DB2-BD59-A6C34878D82A}">
                    <a16:rowId xmlns:a16="http://schemas.microsoft.com/office/drawing/2014/main" val="2107931479"/>
                  </a:ext>
                </a:extLst>
              </a:tr>
              <a:tr h="706356">
                <a:tc>
                  <a:txBody>
                    <a:bodyPr/>
                    <a:lstStyle/>
                    <a:p>
                      <a:pPr>
                        <a:buNone/>
                      </a:pPr>
                      <a:endParaRPr lang="en-GB"/>
                    </a:p>
                  </a:txBody>
                  <a:tcPr anchor="ctr">
                    <a:lnL>
                      <a:noFill/>
                    </a:lnL>
                    <a:lnR>
                      <a:noFill/>
                    </a:lnR>
                    <a:lnT>
                      <a:noFill/>
                    </a:lnT>
                    <a:lnB>
                      <a:noFill/>
                    </a:lnB>
                    <a:noFill/>
                  </a:tcPr>
                </a:tc>
                <a:tc>
                  <a:txBody>
                    <a:bodyPr/>
                    <a:lstStyle/>
                    <a:p>
                      <a:pPr>
                        <a:buNone/>
                      </a:pPr>
                      <a:endParaRPr lang="en-GB" dirty="0"/>
                    </a:p>
                  </a:txBody>
                  <a:tcPr anchor="ctr">
                    <a:lnL>
                      <a:noFill/>
                    </a:lnL>
                    <a:lnR>
                      <a:noFill/>
                    </a:lnR>
                    <a:lnT>
                      <a:noFill/>
                    </a:lnT>
                    <a:lnB>
                      <a:noFill/>
                    </a:lnB>
                    <a:noFill/>
                  </a:tcPr>
                </a:tc>
                <a:extLst>
                  <a:ext uri="{0D108BD9-81ED-4DB2-BD59-A6C34878D82A}">
                    <a16:rowId xmlns:a16="http://schemas.microsoft.com/office/drawing/2014/main" val="4222789249"/>
                  </a:ext>
                </a:extLst>
              </a:tr>
              <a:tr h="706356">
                <a:tc>
                  <a:txBody>
                    <a:bodyPr/>
                    <a:lstStyle/>
                    <a:p>
                      <a:pPr>
                        <a:buNone/>
                      </a:pPr>
                      <a:endParaRPr lang="en-GB"/>
                    </a:p>
                  </a:txBody>
                  <a:tcPr anchor="ctr">
                    <a:lnL>
                      <a:noFill/>
                    </a:lnL>
                    <a:lnR>
                      <a:noFill/>
                    </a:lnR>
                    <a:lnT>
                      <a:noFill/>
                    </a:lnT>
                    <a:lnB>
                      <a:noFill/>
                    </a:lnB>
                    <a:noFill/>
                  </a:tcPr>
                </a:tc>
                <a:tc>
                  <a:txBody>
                    <a:bodyPr/>
                    <a:lstStyle/>
                    <a:p>
                      <a:pPr>
                        <a:buNone/>
                      </a:pPr>
                      <a:endParaRPr lang="en-GB" dirty="0"/>
                    </a:p>
                  </a:txBody>
                  <a:tcPr anchor="ctr">
                    <a:lnL>
                      <a:noFill/>
                    </a:lnL>
                    <a:lnR>
                      <a:noFill/>
                    </a:lnR>
                    <a:lnT>
                      <a:noFill/>
                    </a:lnT>
                    <a:lnB>
                      <a:noFill/>
                    </a:lnB>
                    <a:noFill/>
                  </a:tcPr>
                </a:tc>
                <a:extLst>
                  <a:ext uri="{0D108BD9-81ED-4DB2-BD59-A6C34878D82A}">
                    <a16:rowId xmlns:a16="http://schemas.microsoft.com/office/drawing/2014/main" val="354145107"/>
                  </a:ext>
                </a:extLst>
              </a:tr>
            </a:tbl>
          </a:graphicData>
        </a:graphic>
      </p:graphicFrame>
      <p:pic>
        <p:nvPicPr>
          <p:cNvPr id="7" name="Picture 6">
            <a:extLst>
              <a:ext uri="{FF2B5EF4-FFF2-40B4-BE49-F238E27FC236}">
                <a16:creationId xmlns:a16="http://schemas.microsoft.com/office/drawing/2014/main" id="{3125ECA2-D544-EF3E-EB3E-35044D5D47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3531" y="1443315"/>
            <a:ext cx="6636482" cy="5019471"/>
          </a:xfrm>
          <a:prstGeom prst="rect">
            <a:avLst/>
          </a:prstGeom>
        </p:spPr>
      </p:pic>
    </p:spTree>
    <p:extLst>
      <p:ext uri="{BB962C8B-B14F-4D97-AF65-F5344CB8AC3E}">
        <p14:creationId xmlns:p14="http://schemas.microsoft.com/office/powerpoint/2010/main" val="4937653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6600" y="262467"/>
            <a:ext cx="10911840" cy="1051560"/>
          </a:xfrm>
        </p:spPr>
        <p:txBody>
          <a:bodyPr>
            <a:normAutofit/>
          </a:bodyPr>
          <a:lstStyle/>
          <a:p>
            <a:pPr algn="ctr"/>
            <a:r>
              <a:rPr lang="en-US" sz="3200" b="1" dirty="0">
                <a:solidFill>
                  <a:schemeClr val="bg1"/>
                </a:solidFill>
                <a:latin typeface="Arial Black" panose="020B0A04020102020204" pitchFamily="34" charset="0"/>
              </a:rPr>
              <a:t>Metropolitan Area Network (MAN)</a:t>
            </a:r>
            <a:br>
              <a:rPr lang="en-US" sz="3200" b="1" dirty="0">
                <a:solidFill>
                  <a:schemeClr val="bg1"/>
                </a:solidFill>
                <a:latin typeface="Arial Black" panose="020B0A04020102020204" pitchFamily="34" charset="0"/>
              </a:rPr>
            </a:br>
            <a:endParaRPr lang="en-US" sz="3200" b="1" dirty="0">
              <a:solidFill>
                <a:schemeClr val="bg1"/>
              </a:solidFill>
              <a:latin typeface="Arial Black" panose="020B0A04020102020204" pitchFamily="34" charset="0"/>
            </a:endParaRPr>
          </a:p>
        </p:txBody>
      </p:sp>
      <p:sp>
        <p:nvSpPr>
          <p:cNvPr id="3" name="Content Placeholder 2"/>
          <p:cNvSpPr>
            <a:spLocks noGrp="1"/>
          </p:cNvSpPr>
          <p:nvPr>
            <p:ph idx="1"/>
          </p:nvPr>
        </p:nvSpPr>
        <p:spPr>
          <a:xfrm>
            <a:off x="104172" y="1215341"/>
            <a:ext cx="12087828" cy="5752617"/>
          </a:xfrm>
        </p:spPr>
        <p:txBody>
          <a:bodyPr>
            <a:normAutofit/>
          </a:bodyPr>
          <a:lstStyle/>
          <a:p>
            <a:pPr marL="0" indent="0">
              <a:buNone/>
            </a:pPr>
            <a:r>
              <a:rPr lang="en-US" sz="2400" dirty="0"/>
              <a:t> </a:t>
            </a:r>
            <a:r>
              <a:rPr lang="en-US" sz="2400" b="1" dirty="0"/>
              <a:t>Metropolitan Area Network</a:t>
            </a:r>
            <a:r>
              <a:rPr lang="en-US" sz="2400" dirty="0"/>
              <a:t> connects </a:t>
            </a:r>
            <a:r>
              <a:rPr lang="en-US" sz="2400" b="1" dirty="0"/>
              <a:t>multiple LANs within a city</a:t>
            </a:r>
            <a:r>
              <a:rPr lang="en-US" sz="2400" dirty="0"/>
              <a:t>.</a:t>
            </a:r>
          </a:p>
          <a:p>
            <a:pPr marL="0" indent="0">
              <a:buNone/>
            </a:pPr>
            <a:r>
              <a:rPr lang="en-US" sz="2400" dirty="0"/>
              <a:t> </a:t>
            </a:r>
            <a:r>
              <a:rPr lang="en-US" sz="2400" b="1" dirty="0"/>
              <a:t>Range:</a:t>
            </a:r>
            <a:r>
              <a:rPr lang="en-US" sz="2400" dirty="0"/>
              <a:t> City or large campus area</a:t>
            </a:r>
          </a:p>
          <a:p>
            <a:pPr marL="0" indent="0">
              <a:buNone/>
            </a:pPr>
            <a:r>
              <a:rPr lang="en-US" sz="2400" b="1" dirty="0"/>
              <a:t>How MAN Works</a:t>
            </a:r>
          </a:p>
          <a:p>
            <a:r>
              <a:rPr lang="en-US" sz="2400" dirty="0"/>
              <a:t>Uses </a:t>
            </a:r>
            <a:r>
              <a:rPr lang="en-US" sz="2400" b="1" dirty="0"/>
              <a:t>fiber optic cables</a:t>
            </a:r>
            <a:endParaRPr lang="en-US" sz="2400" dirty="0"/>
          </a:p>
          <a:p>
            <a:r>
              <a:rPr lang="en-US" sz="2400" dirty="0"/>
              <a:t>Usually managed by </a:t>
            </a:r>
            <a:r>
              <a:rPr lang="en-US" sz="2400" b="1" dirty="0"/>
              <a:t> large organizations</a:t>
            </a:r>
            <a:endParaRPr lang="en-US" sz="2400" dirty="0"/>
          </a:p>
          <a:p>
            <a:pPr marL="0" indent="0">
              <a:buNone/>
            </a:pPr>
            <a:r>
              <a:rPr lang="en-US" sz="2400" b="1" dirty="0"/>
              <a:t> Examples</a:t>
            </a:r>
          </a:p>
          <a:p>
            <a:r>
              <a:rPr lang="en-US" sz="2400" dirty="0"/>
              <a:t>University campuses across a city</a:t>
            </a:r>
          </a:p>
          <a:p>
            <a:r>
              <a:rPr lang="en-US" sz="2400" dirty="0"/>
              <a:t>Cable TV networks</a:t>
            </a:r>
          </a:p>
          <a:p>
            <a:r>
              <a:rPr lang="en-US" sz="2400" dirty="0"/>
              <a:t>City-wide Wi-Fi</a:t>
            </a:r>
          </a:p>
          <a:p>
            <a:pPr marL="0" indent="0">
              <a:buNone/>
            </a:pPr>
            <a:r>
              <a:rPr lang="en-US" sz="2400" b="1" dirty="0"/>
              <a:t> Real-Life Example</a:t>
            </a:r>
          </a:p>
          <a:p>
            <a:r>
              <a:rPr lang="en-US" sz="2400" dirty="0"/>
              <a:t>All branches of a university in one city connected = </a:t>
            </a:r>
            <a:r>
              <a:rPr lang="en-US" sz="2400" b="1" dirty="0"/>
              <a:t>MAN</a:t>
            </a:r>
            <a:endParaRPr lang="en-US" sz="2400" dirty="0"/>
          </a:p>
          <a:p>
            <a:pPr algn="just"/>
            <a:endParaRPr lang="en-US" sz="2400"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6501" y="6511823"/>
            <a:ext cx="1093772" cy="346177"/>
          </a:xfrm>
          <a:prstGeom prst="rect">
            <a:avLst/>
          </a:prstGeom>
        </p:spPr>
      </p:pic>
    </p:spTree>
    <p:extLst>
      <p:ext uri="{BB962C8B-B14F-4D97-AF65-F5344CB8AC3E}">
        <p14:creationId xmlns:p14="http://schemas.microsoft.com/office/powerpoint/2010/main" val="42291852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50884-FF14-FF40-3181-697B3281A7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FE3F01-FBBE-196A-5677-293477BB4949}"/>
              </a:ext>
            </a:extLst>
          </p:cNvPr>
          <p:cNvSpPr>
            <a:spLocks noGrp="1"/>
          </p:cNvSpPr>
          <p:nvPr>
            <p:ph type="title"/>
          </p:nvPr>
        </p:nvSpPr>
        <p:spPr>
          <a:xfrm>
            <a:off x="736600" y="262467"/>
            <a:ext cx="10911840" cy="1051560"/>
          </a:xfrm>
        </p:spPr>
        <p:txBody>
          <a:bodyPr>
            <a:normAutofit/>
          </a:bodyPr>
          <a:lstStyle/>
          <a:p>
            <a:pPr algn="ctr"/>
            <a:r>
              <a:rPr lang="en-US" sz="3200" b="1" dirty="0">
                <a:solidFill>
                  <a:schemeClr val="bg1"/>
                </a:solidFill>
                <a:latin typeface="Arial Black" panose="020B0A04020102020204" pitchFamily="34" charset="0"/>
              </a:rPr>
              <a:t>Metropolitan Area Network (MAN)</a:t>
            </a:r>
            <a:br>
              <a:rPr lang="en-US" sz="3200" b="1" dirty="0">
                <a:solidFill>
                  <a:schemeClr val="bg1"/>
                </a:solidFill>
                <a:latin typeface="Arial Black" panose="020B0A04020102020204" pitchFamily="34" charset="0"/>
              </a:rPr>
            </a:br>
            <a:endParaRPr lang="en-US" sz="3200" b="1" dirty="0">
              <a:solidFill>
                <a:schemeClr val="bg1"/>
              </a:solidFill>
              <a:latin typeface="Arial Black" panose="020B0A04020102020204" pitchFamily="34" charset="0"/>
            </a:endParaRPr>
          </a:p>
        </p:txBody>
      </p:sp>
      <p:sp>
        <p:nvSpPr>
          <p:cNvPr id="3" name="Content Placeholder 2">
            <a:extLst>
              <a:ext uri="{FF2B5EF4-FFF2-40B4-BE49-F238E27FC236}">
                <a16:creationId xmlns:a16="http://schemas.microsoft.com/office/drawing/2014/main" id="{4173FDB2-BD9B-CA1F-84E8-457717EDF847}"/>
              </a:ext>
            </a:extLst>
          </p:cNvPr>
          <p:cNvSpPr>
            <a:spLocks noGrp="1"/>
          </p:cNvSpPr>
          <p:nvPr>
            <p:ph idx="1"/>
          </p:nvPr>
        </p:nvSpPr>
        <p:spPr>
          <a:xfrm>
            <a:off x="104172" y="1215341"/>
            <a:ext cx="12087828" cy="5752617"/>
          </a:xfrm>
        </p:spPr>
        <p:txBody>
          <a:bodyPr>
            <a:normAutofit/>
          </a:bodyPr>
          <a:lstStyle/>
          <a:p>
            <a:pPr marL="0" indent="0">
              <a:buNone/>
            </a:pPr>
            <a:r>
              <a:rPr lang="en-US" sz="2400" dirty="0"/>
              <a:t> </a:t>
            </a:r>
          </a:p>
          <a:p>
            <a:pPr marL="0" indent="0" algn="just">
              <a:buNone/>
            </a:pPr>
            <a:endParaRPr lang="en-US" sz="2400" dirty="0"/>
          </a:p>
        </p:txBody>
      </p:sp>
      <p:pic>
        <p:nvPicPr>
          <p:cNvPr id="6" name="Picture 5">
            <a:extLst>
              <a:ext uri="{FF2B5EF4-FFF2-40B4-BE49-F238E27FC236}">
                <a16:creationId xmlns:a16="http://schemas.microsoft.com/office/drawing/2014/main" id="{E1F441A8-5C52-507F-BEC3-0F45AE7F84E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6501" y="6511823"/>
            <a:ext cx="1093772" cy="346177"/>
          </a:xfrm>
          <a:prstGeom prst="rect">
            <a:avLst/>
          </a:prstGeom>
        </p:spPr>
      </p:pic>
      <p:pic>
        <p:nvPicPr>
          <p:cNvPr id="7" name="Picture 6">
            <a:extLst>
              <a:ext uri="{FF2B5EF4-FFF2-40B4-BE49-F238E27FC236}">
                <a16:creationId xmlns:a16="http://schemas.microsoft.com/office/drawing/2014/main" id="{2F27D8BF-0A33-0047-9B52-04F82AA9FB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3560" y="1314026"/>
            <a:ext cx="8242101" cy="5416557"/>
          </a:xfrm>
          <a:prstGeom prst="rect">
            <a:avLst/>
          </a:prstGeom>
        </p:spPr>
      </p:pic>
    </p:spTree>
    <p:extLst>
      <p:ext uri="{BB962C8B-B14F-4D97-AF65-F5344CB8AC3E}">
        <p14:creationId xmlns:p14="http://schemas.microsoft.com/office/powerpoint/2010/main" val="34564222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71628"/>
            <a:ext cx="10911840" cy="1051560"/>
          </a:xfrm>
        </p:spPr>
        <p:txBody>
          <a:bodyPr>
            <a:noAutofit/>
          </a:bodyPr>
          <a:lstStyle/>
          <a:p>
            <a:pPr algn="ctr"/>
            <a:r>
              <a:rPr lang="en-US" sz="4000" b="1" dirty="0">
                <a:solidFill>
                  <a:schemeClr val="bg1"/>
                </a:solidFill>
                <a:latin typeface="Arial Black" panose="020B0A04020102020204" pitchFamily="34" charset="0"/>
              </a:rPr>
              <a:t>Wide Area Network (WAN)</a:t>
            </a:r>
            <a:br>
              <a:rPr lang="en-US" sz="4000" b="1" dirty="0">
                <a:solidFill>
                  <a:schemeClr val="bg1"/>
                </a:solidFill>
                <a:latin typeface="Arial Black" panose="020B0A04020102020204" pitchFamily="34" charset="0"/>
              </a:rPr>
            </a:br>
            <a:endParaRPr lang="en-US" sz="4000" b="1" dirty="0">
              <a:solidFill>
                <a:schemeClr val="bg1"/>
              </a:solidFill>
              <a:latin typeface="Arial Black" panose="020B0A04020102020204" pitchFamily="34" charset="0"/>
            </a:endParaRPr>
          </a:p>
        </p:txBody>
      </p:sp>
      <p:sp>
        <p:nvSpPr>
          <p:cNvPr id="3" name="Content Placeholder 2"/>
          <p:cNvSpPr>
            <a:spLocks noGrp="1"/>
          </p:cNvSpPr>
          <p:nvPr>
            <p:ph idx="1"/>
          </p:nvPr>
        </p:nvSpPr>
        <p:spPr>
          <a:xfrm>
            <a:off x="0" y="1154243"/>
            <a:ext cx="12192000" cy="5790567"/>
          </a:xfrm>
        </p:spPr>
        <p:txBody>
          <a:bodyPr>
            <a:normAutofit/>
          </a:bodyPr>
          <a:lstStyle/>
          <a:p>
            <a:pPr marL="0" indent="0">
              <a:buNone/>
            </a:pPr>
            <a:r>
              <a:rPr lang="en-US" b="1" dirty="0"/>
              <a:t>Wide Area Network</a:t>
            </a:r>
            <a:r>
              <a:rPr lang="en-US" dirty="0"/>
              <a:t> connects networks </a:t>
            </a:r>
            <a:r>
              <a:rPr lang="en-US" b="1" dirty="0"/>
              <a:t>across countries or the world</a:t>
            </a:r>
            <a:r>
              <a:rPr lang="en-US" dirty="0"/>
              <a:t>.</a:t>
            </a:r>
          </a:p>
          <a:p>
            <a:pPr marL="0" indent="0">
              <a:buNone/>
            </a:pPr>
            <a:r>
              <a:rPr lang="en-US" dirty="0"/>
              <a:t> </a:t>
            </a:r>
            <a:r>
              <a:rPr lang="en-US" b="1" dirty="0"/>
              <a:t>Range:</a:t>
            </a:r>
            <a:r>
              <a:rPr lang="en-US" dirty="0"/>
              <a:t> Country to worldwide</a:t>
            </a:r>
          </a:p>
          <a:p>
            <a:pPr marL="0" indent="0">
              <a:buNone/>
            </a:pPr>
            <a:r>
              <a:rPr lang="en-US" b="1" dirty="0"/>
              <a:t> How WAN Works</a:t>
            </a:r>
          </a:p>
          <a:p>
            <a:r>
              <a:rPr lang="en-US" dirty="0"/>
              <a:t>Uses </a:t>
            </a:r>
            <a:r>
              <a:rPr lang="en-US" b="1" dirty="0"/>
              <a:t>satellites, undersea cables, fiber</a:t>
            </a:r>
            <a:endParaRPr lang="en-US" dirty="0"/>
          </a:p>
          <a:p>
            <a:r>
              <a:rPr lang="en-US" dirty="0"/>
              <a:t>Routers forward data over long distances</a:t>
            </a:r>
          </a:p>
          <a:p>
            <a:pPr marL="0" indent="0">
              <a:buNone/>
            </a:pPr>
            <a:r>
              <a:rPr lang="en-US" b="1" dirty="0"/>
              <a:t> Examples</a:t>
            </a:r>
          </a:p>
          <a:p>
            <a:r>
              <a:rPr lang="en-US" dirty="0"/>
              <a:t>WhatsApp </a:t>
            </a:r>
            <a:r>
              <a:rPr lang="en-US" dirty="0" smtClean="0"/>
              <a:t>Message worldwide</a:t>
            </a:r>
            <a:endParaRPr lang="en-US" dirty="0"/>
          </a:p>
          <a:p>
            <a:r>
              <a:rPr lang="en-US" dirty="0"/>
              <a:t>YouTube Video</a:t>
            </a:r>
            <a:endParaRPr lang="en-US" dirty="0"/>
          </a:p>
          <a:p>
            <a:r>
              <a:rPr lang="en-US" dirty="0"/>
              <a:t>Online Shopping</a:t>
            </a:r>
            <a:endParaRPr lang="en-US" dirty="0"/>
          </a:p>
          <a:p>
            <a:pPr marL="0" indent="0">
              <a:buNone/>
            </a:pPr>
            <a:r>
              <a:rPr lang="en-US" b="1" dirty="0"/>
              <a:t> Real-Life Example</a:t>
            </a:r>
          </a:p>
          <a:p>
            <a:r>
              <a:rPr lang="en-US" dirty="0"/>
              <a:t>You accessing Google servers from Pakistan = </a:t>
            </a:r>
            <a:r>
              <a:rPr lang="en-US" b="1" dirty="0"/>
              <a:t>WAN</a:t>
            </a:r>
            <a:endParaRPr lang="en-US" dirty="0"/>
          </a:p>
          <a:p>
            <a:pPr marL="0" indent="0">
              <a:buNone/>
            </a:pPr>
            <a:endParaRPr lang="en-US" sz="1800" dirty="0"/>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6501" y="6511823"/>
            <a:ext cx="1093772" cy="346177"/>
          </a:xfrm>
          <a:prstGeom prst="rect">
            <a:avLst/>
          </a:prstGeom>
        </p:spPr>
      </p:pic>
    </p:spTree>
    <p:extLst>
      <p:ext uri="{BB962C8B-B14F-4D97-AF65-F5344CB8AC3E}">
        <p14:creationId xmlns:p14="http://schemas.microsoft.com/office/powerpoint/2010/main" val="42672258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D46BE-7EE2-A958-90B7-29AD2C57F4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84B5BA-81E5-DB9E-2FCD-678C5E25A314}"/>
              </a:ext>
            </a:extLst>
          </p:cNvPr>
          <p:cNvSpPr>
            <a:spLocks noGrp="1"/>
          </p:cNvSpPr>
          <p:nvPr>
            <p:ph type="title"/>
          </p:nvPr>
        </p:nvSpPr>
        <p:spPr>
          <a:xfrm>
            <a:off x="640080" y="271628"/>
            <a:ext cx="10911840" cy="1051560"/>
          </a:xfrm>
        </p:spPr>
        <p:txBody>
          <a:bodyPr>
            <a:noAutofit/>
          </a:bodyPr>
          <a:lstStyle/>
          <a:p>
            <a:pPr algn="ctr"/>
            <a:r>
              <a:rPr lang="en-US" sz="4000" b="1" dirty="0">
                <a:solidFill>
                  <a:schemeClr val="bg1"/>
                </a:solidFill>
                <a:latin typeface="Arial Black" panose="020B0A04020102020204" pitchFamily="34" charset="0"/>
              </a:rPr>
              <a:t>Wide Area Network (WAN)</a:t>
            </a:r>
            <a:br>
              <a:rPr lang="en-US" sz="4000" b="1" dirty="0">
                <a:solidFill>
                  <a:schemeClr val="bg1"/>
                </a:solidFill>
                <a:latin typeface="Arial Black" panose="020B0A04020102020204" pitchFamily="34" charset="0"/>
              </a:rPr>
            </a:br>
            <a:endParaRPr lang="en-US" sz="4000" b="1" dirty="0">
              <a:solidFill>
                <a:schemeClr val="bg1"/>
              </a:solidFill>
              <a:latin typeface="Arial Black" panose="020B0A04020102020204" pitchFamily="34" charset="0"/>
            </a:endParaRPr>
          </a:p>
        </p:txBody>
      </p:sp>
      <p:pic>
        <p:nvPicPr>
          <p:cNvPr id="6" name="Content Placeholder 5">
            <a:extLst>
              <a:ext uri="{FF2B5EF4-FFF2-40B4-BE49-F238E27FC236}">
                <a16:creationId xmlns:a16="http://schemas.microsoft.com/office/drawing/2014/main" id="{C23F9CF7-F16E-A9F3-EFB0-5D9522B6412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37730" y="1502581"/>
            <a:ext cx="8516539" cy="4829849"/>
          </a:xfrm>
        </p:spPr>
      </p:pic>
      <p:pic>
        <p:nvPicPr>
          <p:cNvPr id="5" name="Picture 4">
            <a:extLst>
              <a:ext uri="{FF2B5EF4-FFF2-40B4-BE49-F238E27FC236}">
                <a16:creationId xmlns:a16="http://schemas.microsoft.com/office/drawing/2014/main" id="{801F88AC-93AF-E020-54F1-519640F57CF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26501" y="6511823"/>
            <a:ext cx="1093772" cy="346177"/>
          </a:xfrm>
          <a:prstGeom prst="rect">
            <a:avLst/>
          </a:prstGeom>
        </p:spPr>
      </p:pic>
    </p:spTree>
    <p:extLst>
      <p:ext uri="{BB962C8B-B14F-4D97-AF65-F5344CB8AC3E}">
        <p14:creationId xmlns:p14="http://schemas.microsoft.com/office/powerpoint/2010/main" val="34042133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C6E54-B9C4-BCF7-D47F-1A40AC11BC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9383A4-4CD2-3A50-CCCD-935919EF6D79}"/>
              </a:ext>
            </a:extLst>
          </p:cNvPr>
          <p:cNvSpPr>
            <a:spLocks noGrp="1"/>
          </p:cNvSpPr>
          <p:nvPr>
            <p:ph type="title"/>
          </p:nvPr>
        </p:nvSpPr>
        <p:spPr>
          <a:xfrm>
            <a:off x="640080" y="271628"/>
            <a:ext cx="10911840" cy="1051560"/>
          </a:xfrm>
        </p:spPr>
        <p:txBody>
          <a:bodyPr>
            <a:noAutofit/>
          </a:bodyPr>
          <a:lstStyle/>
          <a:p>
            <a:pPr algn="ctr"/>
            <a:r>
              <a:rPr lang="en-US" sz="4000" b="1" dirty="0">
                <a:solidFill>
                  <a:schemeClr val="bg1"/>
                </a:solidFill>
                <a:latin typeface="Arial Black" panose="020B0A04020102020204" pitchFamily="34" charset="0"/>
              </a:rPr>
              <a:t>What is a Piconet? </a:t>
            </a:r>
            <a:br>
              <a:rPr lang="en-US" sz="4000" b="1" dirty="0">
                <a:solidFill>
                  <a:schemeClr val="bg1"/>
                </a:solidFill>
                <a:latin typeface="Arial Black" panose="020B0A04020102020204" pitchFamily="34" charset="0"/>
              </a:rPr>
            </a:br>
            <a:endParaRPr lang="en-US" sz="4000" b="1" dirty="0">
              <a:solidFill>
                <a:schemeClr val="bg1"/>
              </a:solidFill>
              <a:latin typeface="Arial Black" panose="020B0A04020102020204" pitchFamily="34" charset="0"/>
            </a:endParaRPr>
          </a:p>
        </p:txBody>
      </p:sp>
      <p:pic>
        <p:nvPicPr>
          <p:cNvPr id="5" name="Picture 4">
            <a:extLst>
              <a:ext uri="{FF2B5EF4-FFF2-40B4-BE49-F238E27FC236}">
                <a16:creationId xmlns:a16="http://schemas.microsoft.com/office/drawing/2014/main" id="{C2F54C4F-2DEE-0871-856A-6479FDC510A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6501" y="6511823"/>
            <a:ext cx="1093772" cy="346177"/>
          </a:xfrm>
          <a:prstGeom prst="rect">
            <a:avLst/>
          </a:prstGeom>
        </p:spPr>
      </p:pic>
      <p:sp>
        <p:nvSpPr>
          <p:cNvPr id="4" name="Content Placeholder 3">
            <a:extLst>
              <a:ext uri="{FF2B5EF4-FFF2-40B4-BE49-F238E27FC236}">
                <a16:creationId xmlns:a16="http://schemas.microsoft.com/office/drawing/2014/main" id="{84BBD60E-E50C-7202-23D4-B6268DF428E6}"/>
              </a:ext>
            </a:extLst>
          </p:cNvPr>
          <p:cNvSpPr>
            <a:spLocks noGrp="1"/>
          </p:cNvSpPr>
          <p:nvPr>
            <p:ph idx="1"/>
          </p:nvPr>
        </p:nvSpPr>
        <p:spPr>
          <a:xfrm>
            <a:off x="149902" y="1139252"/>
            <a:ext cx="12042098" cy="5718747"/>
          </a:xfrm>
        </p:spPr>
        <p:txBody>
          <a:bodyPr>
            <a:normAutofit fontScale="92500" lnSpcReduction="10000"/>
          </a:bodyPr>
          <a:lstStyle/>
          <a:p>
            <a:r>
              <a:rPr lang="en-US" dirty="0"/>
              <a:t>A </a:t>
            </a:r>
            <a:r>
              <a:rPr lang="en-US" b="1" dirty="0"/>
              <a:t>Piconet</a:t>
            </a:r>
            <a:r>
              <a:rPr lang="en-US" dirty="0"/>
              <a:t> is a </a:t>
            </a:r>
            <a:r>
              <a:rPr lang="en-US" b="1" dirty="0"/>
              <a:t>very small wireless network</a:t>
            </a:r>
            <a:r>
              <a:rPr lang="en-US" dirty="0"/>
              <a:t> made using </a:t>
            </a:r>
            <a:r>
              <a:rPr lang="en-US" b="1" dirty="0"/>
              <a:t>Bluetooth</a:t>
            </a:r>
            <a:r>
              <a:rPr lang="en-US" dirty="0"/>
              <a:t>.</a:t>
            </a:r>
          </a:p>
          <a:p>
            <a:r>
              <a:rPr lang="en-US" b="1" dirty="0"/>
              <a:t>Piconet = One main Bluetooth device + a few nearby Bluetooth devices</a:t>
            </a:r>
            <a:endParaRPr lang="en-US" dirty="0"/>
          </a:p>
          <a:p>
            <a:pPr marL="0" indent="0">
              <a:buNone/>
            </a:pPr>
            <a:r>
              <a:rPr lang="en-US" b="1" dirty="0"/>
              <a:t> Master Device</a:t>
            </a:r>
          </a:p>
          <a:p>
            <a:r>
              <a:rPr lang="en-US" dirty="0"/>
              <a:t>The </a:t>
            </a:r>
            <a:r>
              <a:rPr lang="en-US" b="1" dirty="0"/>
              <a:t>main device</a:t>
            </a:r>
            <a:endParaRPr lang="en-US" dirty="0"/>
          </a:p>
          <a:p>
            <a:r>
              <a:rPr lang="en-US" dirty="0"/>
              <a:t>Controls communication</a:t>
            </a:r>
          </a:p>
          <a:p>
            <a:r>
              <a:rPr lang="en-US" dirty="0"/>
              <a:t>Decides </a:t>
            </a:r>
            <a:r>
              <a:rPr lang="en-US" b="1" dirty="0"/>
              <a:t>who can talk and when</a:t>
            </a:r>
            <a:endParaRPr lang="en-US" dirty="0"/>
          </a:p>
          <a:p>
            <a:pPr marL="0" indent="0">
              <a:buNone/>
            </a:pPr>
            <a:r>
              <a:rPr lang="en-US" b="1" dirty="0"/>
              <a:t> Slave Devices</a:t>
            </a:r>
          </a:p>
          <a:p>
            <a:r>
              <a:rPr lang="en-US" dirty="0"/>
              <a:t>Other devices connected to the master</a:t>
            </a:r>
          </a:p>
          <a:p>
            <a:r>
              <a:rPr lang="en-US" dirty="0"/>
              <a:t>Follow instructions from master</a:t>
            </a:r>
          </a:p>
          <a:p>
            <a:pPr marL="0" indent="0">
              <a:buNone/>
            </a:pPr>
            <a:r>
              <a:rPr lang="en-US" dirty="0"/>
              <a:t> </a:t>
            </a:r>
            <a:r>
              <a:rPr lang="en-US" b="1" dirty="0"/>
              <a:t>Rule:</a:t>
            </a:r>
            <a:endParaRPr lang="en-US" dirty="0"/>
          </a:p>
          <a:p>
            <a:r>
              <a:rPr lang="en-US" b="1" dirty="0"/>
              <a:t>1 master</a:t>
            </a:r>
            <a:endParaRPr lang="en-US" dirty="0"/>
          </a:p>
          <a:p>
            <a:r>
              <a:rPr lang="en-US" b="1" dirty="0"/>
              <a:t>Up to 7 slave devices</a:t>
            </a:r>
            <a:endParaRPr lang="en-US" dirty="0"/>
          </a:p>
          <a:p>
            <a:endParaRPr lang="en-GB" dirty="0"/>
          </a:p>
        </p:txBody>
      </p:sp>
      <p:sp>
        <p:nvSpPr>
          <p:cNvPr id="9" name="TextBox 8">
            <a:extLst>
              <a:ext uri="{FF2B5EF4-FFF2-40B4-BE49-F238E27FC236}">
                <a16:creationId xmlns:a16="http://schemas.microsoft.com/office/drawing/2014/main" id="{36B29D00-3720-12A8-0547-462F34D2764A}"/>
              </a:ext>
            </a:extLst>
          </p:cNvPr>
          <p:cNvSpPr txBox="1"/>
          <p:nvPr/>
        </p:nvSpPr>
        <p:spPr>
          <a:xfrm>
            <a:off x="6715592" y="2190812"/>
            <a:ext cx="5326505" cy="3108543"/>
          </a:xfrm>
          <a:prstGeom prst="rect">
            <a:avLst/>
          </a:prstGeom>
          <a:noFill/>
        </p:spPr>
        <p:txBody>
          <a:bodyPr wrap="square" rtlCol="0">
            <a:spAutoFit/>
          </a:bodyPr>
          <a:lstStyle/>
          <a:p>
            <a:r>
              <a:rPr lang="en-US" sz="2800" b="1" dirty="0"/>
              <a:t>Example </a:t>
            </a:r>
          </a:p>
          <a:p>
            <a:r>
              <a:rPr lang="en-US" sz="2800" dirty="0"/>
              <a:t> You connect:</a:t>
            </a:r>
          </a:p>
          <a:p>
            <a:r>
              <a:rPr lang="en-US" sz="2800" dirty="0"/>
              <a:t>Bluetooth earbuds</a:t>
            </a:r>
          </a:p>
          <a:p>
            <a:r>
              <a:rPr lang="en-US" sz="2800" dirty="0"/>
              <a:t>Smartwatch</a:t>
            </a:r>
          </a:p>
          <a:p>
            <a:r>
              <a:rPr lang="en-US" sz="2800" dirty="0"/>
              <a:t>Car Bluetooth</a:t>
            </a:r>
          </a:p>
          <a:p>
            <a:r>
              <a:rPr lang="en-US" sz="2800" dirty="0"/>
              <a:t>All connected to </a:t>
            </a:r>
            <a:r>
              <a:rPr lang="en-US" sz="2800" b="1" dirty="0"/>
              <a:t>one phone</a:t>
            </a:r>
            <a:endParaRPr lang="en-US" sz="2800" dirty="0"/>
          </a:p>
          <a:p>
            <a:r>
              <a:rPr lang="en-US" sz="2800" dirty="0"/>
              <a:t> This group is called a </a:t>
            </a:r>
            <a:r>
              <a:rPr lang="en-US" sz="2800" b="1" dirty="0"/>
              <a:t>Piconet</a:t>
            </a:r>
            <a:r>
              <a:rPr lang="en-US" dirty="0"/>
              <a:t>.</a:t>
            </a:r>
          </a:p>
        </p:txBody>
      </p:sp>
    </p:spTree>
    <p:extLst>
      <p:ext uri="{BB962C8B-B14F-4D97-AF65-F5344CB8AC3E}">
        <p14:creationId xmlns:p14="http://schemas.microsoft.com/office/powerpoint/2010/main" val="1981850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6E90A-589C-D36A-0B10-6F018A70AF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F8E394-7FE9-21A5-C723-3DE9282D0523}"/>
              </a:ext>
            </a:extLst>
          </p:cNvPr>
          <p:cNvSpPr>
            <a:spLocks noGrp="1"/>
          </p:cNvSpPr>
          <p:nvPr>
            <p:ph type="title"/>
          </p:nvPr>
        </p:nvSpPr>
        <p:spPr>
          <a:xfrm>
            <a:off x="640080" y="271628"/>
            <a:ext cx="10911840" cy="1051560"/>
          </a:xfrm>
        </p:spPr>
        <p:txBody>
          <a:bodyPr>
            <a:noAutofit/>
          </a:bodyPr>
          <a:lstStyle/>
          <a:p>
            <a:pPr algn="ctr"/>
            <a:r>
              <a:rPr lang="en-US" sz="4000" b="1" dirty="0">
                <a:solidFill>
                  <a:schemeClr val="bg1"/>
                </a:solidFill>
                <a:latin typeface="Arial Black" panose="020B0A04020102020204" pitchFamily="34" charset="0"/>
              </a:rPr>
              <a:t> Piconet</a:t>
            </a:r>
            <a:br>
              <a:rPr lang="en-US" sz="4000" b="1" dirty="0">
                <a:solidFill>
                  <a:schemeClr val="bg1"/>
                </a:solidFill>
                <a:latin typeface="Arial Black" panose="020B0A04020102020204" pitchFamily="34" charset="0"/>
              </a:rPr>
            </a:br>
            <a:endParaRPr lang="en-US" sz="4000" b="1" dirty="0">
              <a:solidFill>
                <a:schemeClr val="bg1"/>
              </a:solidFill>
              <a:latin typeface="Arial Black" panose="020B0A04020102020204" pitchFamily="34" charset="0"/>
            </a:endParaRPr>
          </a:p>
        </p:txBody>
      </p:sp>
      <p:pic>
        <p:nvPicPr>
          <p:cNvPr id="5" name="Picture 4">
            <a:extLst>
              <a:ext uri="{FF2B5EF4-FFF2-40B4-BE49-F238E27FC236}">
                <a16:creationId xmlns:a16="http://schemas.microsoft.com/office/drawing/2014/main" id="{279365E4-1426-85E7-8638-045A73717C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6501" y="6511823"/>
            <a:ext cx="1093772" cy="346177"/>
          </a:xfrm>
          <a:prstGeom prst="rect">
            <a:avLst/>
          </a:prstGeom>
        </p:spPr>
      </p:pic>
      <p:sp>
        <p:nvSpPr>
          <p:cNvPr id="4" name="Content Placeholder 3">
            <a:extLst>
              <a:ext uri="{FF2B5EF4-FFF2-40B4-BE49-F238E27FC236}">
                <a16:creationId xmlns:a16="http://schemas.microsoft.com/office/drawing/2014/main" id="{1648643E-1B3A-751D-9DEF-7B3BF6F174BE}"/>
              </a:ext>
            </a:extLst>
          </p:cNvPr>
          <p:cNvSpPr>
            <a:spLocks noGrp="1"/>
          </p:cNvSpPr>
          <p:nvPr>
            <p:ph idx="1"/>
          </p:nvPr>
        </p:nvSpPr>
        <p:spPr>
          <a:xfrm>
            <a:off x="149902" y="1139252"/>
            <a:ext cx="12042098" cy="5718747"/>
          </a:xfrm>
        </p:spPr>
        <p:txBody>
          <a:bodyPr>
            <a:normAutofit/>
          </a:bodyPr>
          <a:lstStyle/>
          <a:p>
            <a:pPr marL="0" indent="0">
              <a:buNone/>
            </a:pPr>
            <a:r>
              <a:rPr lang="en-US" dirty="0"/>
              <a:t> </a:t>
            </a:r>
            <a:endParaRPr lang="en-GB" dirty="0"/>
          </a:p>
        </p:txBody>
      </p:sp>
      <p:pic>
        <p:nvPicPr>
          <p:cNvPr id="6" name="Picture 5">
            <a:extLst>
              <a:ext uri="{FF2B5EF4-FFF2-40B4-BE49-F238E27FC236}">
                <a16:creationId xmlns:a16="http://schemas.microsoft.com/office/drawing/2014/main" id="{DD74CB0C-10BE-073B-D44C-250D041C21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080" y="1323188"/>
            <a:ext cx="7059010" cy="5430007"/>
          </a:xfrm>
          <a:prstGeom prst="rect">
            <a:avLst/>
          </a:prstGeom>
        </p:spPr>
      </p:pic>
    </p:spTree>
    <p:extLst>
      <p:ext uri="{BB962C8B-B14F-4D97-AF65-F5344CB8AC3E}">
        <p14:creationId xmlns:p14="http://schemas.microsoft.com/office/powerpoint/2010/main" val="28142202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D9528-CD45-3201-8593-75D1ABD095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0FF7CE-817D-D813-2381-FE04C111CFE3}"/>
              </a:ext>
            </a:extLst>
          </p:cNvPr>
          <p:cNvSpPr>
            <a:spLocks noGrp="1"/>
          </p:cNvSpPr>
          <p:nvPr>
            <p:ph type="title"/>
          </p:nvPr>
        </p:nvSpPr>
        <p:spPr>
          <a:xfrm>
            <a:off x="640080" y="271628"/>
            <a:ext cx="10911840" cy="1051560"/>
          </a:xfrm>
        </p:spPr>
        <p:txBody>
          <a:bodyPr>
            <a:noAutofit/>
          </a:bodyPr>
          <a:lstStyle/>
          <a:p>
            <a:pPr algn="ctr"/>
            <a:r>
              <a:rPr lang="en-GB" sz="4000" b="1" dirty="0">
                <a:solidFill>
                  <a:schemeClr val="bg1"/>
                </a:solidFill>
                <a:latin typeface="Arial Black" panose="020B0A04020102020204" pitchFamily="34" charset="0"/>
              </a:rPr>
              <a:t>Ethernet</a:t>
            </a:r>
            <a:br>
              <a:rPr lang="en-GB" sz="4000" b="1" dirty="0">
                <a:solidFill>
                  <a:schemeClr val="bg1"/>
                </a:solidFill>
                <a:latin typeface="Arial Black" panose="020B0A04020102020204" pitchFamily="34" charset="0"/>
              </a:rPr>
            </a:br>
            <a:endParaRPr lang="en-US" sz="4000" b="1" dirty="0">
              <a:solidFill>
                <a:schemeClr val="bg1"/>
              </a:solidFill>
              <a:latin typeface="Arial Black" panose="020B0A04020102020204" pitchFamily="34" charset="0"/>
            </a:endParaRPr>
          </a:p>
        </p:txBody>
      </p:sp>
      <p:pic>
        <p:nvPicPr>
          <p:cNvPr id="5" name="Picture 4">
            <a:extLst>
              <a:ext uri="{FF2B5EF4-FFF2-40B4-BE49-F238E27FC236}">
                <a16:creationId xmlns:a16="http://schemas.microsoft.com/office/drawing/2014/main" id="{B0FF9683-BCAA-7CF8-6F8A-28D0559981B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6501" y="6511823"/>
            <a:ext cx="1093772" cy="346177"/>
          </a:xfrm>
          <a:prstGeom prst="rect">
            <a:avLst/>
          </a:prstGeom>
        </p:spPr>
      </p:pic>
      <p:sp>
        <p:nvSpPr>
          <p:cNvPr id="4" name="Content Placeholder 3">
            <a:extLst>
              <a:ext uri="{FF2B5EF4-FFF2-40B4-BE49-F238E27FC236}">
                <a16:creationId xmlns:a16="http://schemas.microsoft.com/office/drawing/2014/main" id="{BB317DE5-FA2F-5F5D-DFBF-845C4E5F54E5}"/>
              </a:ext>
            </a:extLst>
          </p:cNvPr>
          <p:cNvSpPr>
            <a:spLocks noGrp="1"/>
          </p:cNvSpPr>
          <p:nvPr>
            <p:ph idx="1"/>
          </p:nvPr>
        </p:nvSpPr>
        <p:spPr>
          <a:xfrm>
            <a:off x="149902" y="1139252"/>
            <a:ext cx="12042098" cy="5718747"/>
          </a:xfrm>
        </p:spPr>
        <p:txBody>
          <a:bodyPr>
            <a:normAutofit/>
          </a:bodyPr>
          <a:lstStyle/>
          <a:p>
            <a:pPr marL="0" indent="0">
              <a:buNone/>
            </a:pPr>
            <a:r>
              <a:rPr lang="en-US" dirty="0"/>
              <a:t> </a:t>
            </a:r>
            <a:endParaRPr lang="en-GB" dirty="0"/>
          </a:p>
        </p:txBody>
      </p:sp>
      <p:sp>
        <p:nvSpPr>
          <p:cNvPr id="7" name="TextBox 6">
            <a:extLst>
              <a:ext uri="{FF2B5EF4-FFF2-40B4-BE49-F238E27FC236}">
                <a16:creationId xmlns:a16="http://schemas.microsoft.com/office/drawing/2014/main" id="{11543123-3F85-079E-0B55-F83FB1578FC7}"/>
              </a:ext>
            </a:extLst>
          </p:cNvPr>
          <p:cNvSpPr txBox="1"/>
          <p:nvPr/>
        </p:nvSpPr>
        <p:spPr>
          <a:xfrm>
            <a:off x="74951" y="1231060"/>
            <a:ext cx="12042098" cy="5016758"/>
          </a:xfrm>
          <a:prstGeom prst="rect">
            <a:avLst/>
          </a:prstGeom>
          <a:noFill/>
        </p:spPr>
        <p:txBody>
          <a:bodyPr wrap="square">
            <a:spAutoFit/>
          </a:bodyPr>
          <a:lstStyle/>
          <a:p>
            <a:pPr>
              <a:buNone/>
            </a:pPr>
            <a:r>
              <a:rPr lang="en-GB" sz="3200" b="1" dirty="0"/>
              <a:t>Ethernet</a:t>
            </a:r>
            <a:r>
              <a:rPr lang="en-GB" sz="3200" dirty="0"/>
              <a:t> is the most common </a:t>
            </a:r>
            <a:r>
              <a:rPr lang="en-GB" sz="3200" b="1" dirty="0"/>
              <a:t>wired LAN technology</a:t>
            </a:r>
            <a:r>
              <a:rPr lang="en-GB" sz="3200" dirty="0"/>
              <a:t>.</a:t>
            </a:r>
          </a:p>
          <a:p>
            <a:pPr>
              <a:buNone/>
            </a:pPr>
            <a:r>
              <a:rPr lang="en-GB" sz="3200" b="1" dirty="0"/>
              <a:t>How Ethernet Works</a:t>
            </a:r>
          </a:p>
          <a:p>
            <a:pPr>
              <a:buFont typeface="Arial" panose="020B0604020202020204" pitchFamily="34" charset="0"/>
              <a:buChar char="•"/>
            </a:pPr>
            <a:r>
              <a:rPr lang="en-GB" sz="3200" dirty="0"/>
              <a:t>Uses </a:t>
            </a:r>
            <a:r>
              <a:rPr lang="en-GB" sz="3200" b="1" dirty="0"/>
              <a:t>Ethernet cables</a:t>
            </a:r>
            <a:endParaRPr lang="en-GB" sz="3200" dirty="0"/>
          </a:p>
          <a:p>
            <a:pPr>
              <a:buFont typeface="Arial" panose="020B0604020202020204" pitchFamily="34" charset="0"/>
              <a:buChar char="•"/>
            </a:pPr>
            <a:r>
              <a:rPr lang="en-GB" sz="3200" dirty="0"/>
              <a:t>Data sent in frames</a:t>
            </a:r>
          </a:p>
          <a:p>
            <a:pPr>
              <a:buFont typeface="Arial" panose="020B0604020202020204" pitchFamily="34" charset="0"/>
              <a:buChar char="•"/>
            </a:pPr>
            <a:r>
              <a:rPr lang="en-GB" sz="3200" dirty="0"/>
              <a:t>Uses MAC addresses</a:t>
            </a:r>
          </a:p>
          <a:p>
            <a:pPr>
              <a:buNone/>
            </a:pPr>
            <a:r>
              <a:rPr lang="en-GB" sz="3200" b="1" dirty="0"/>
              <a:t>Examples</a:t>
            </a:r>
          </a:p>
          <a:p>
            <a:pPr>
              <a:buFont typeface="Arial" panose="020B0604020202020204" pitchFamily="34" charset="0"/>
              <a:buChar char="•"/>
            </a:pPr>
            <a:r>
              <a:rPr lang="en-GB" sz="3200" dirty="0"/>
              <a:t>Desktop connected via LAN cable</a:t>
            </a:r>
          </a:p>
          <a:p>
            <a:pPr>
              <a:buFont typeface="Arial" panose="020B0604020202020204" pitchFamily="34" charset="0"/>
              <a:buChar char="•"/>
            </a:pPr>
            <a:r>
              <a:rPr lang="en-GB" sz="3200" dirty="0"/>
              <a:t>Office wired networks</a:t>
            </a:r>
          </a:p>
          <a:p>
            <a:pPr>
              <a:buNone/>
            </a:pPr>
            <a:r>
              <a:rPr lang="en-GB" sz="3200" b="1" dirty="0"/>
              <a:t> Speed</a:t>
            </a:r>
          </a:p>
          <a:p>
            <a:pPr>
              <a:buFont typeface="Arial" panose="020B0604020202020204" pitchFamily="34" charset="0"/>
              <a:buChar char="•"/>
            </a:pPr>
            <a:r>
              <a:rPr lang="en-GB" sz="3200" dirty="0"/>
              <a:t>10 Mbps (basic Ethernet)</a:t>
            </a:r>
          </a:p>
        </p:txBody>
      </p:sp>
      <p:pic>
        <p:nvPicPr>
          <p:cNvPr id="9" name="Picture 8">
            <a:extLst>
              <a:ext uri="{FF2B5EF4-FFF2-40B4-BE49-F238E27FC236}">
                <a16:creationId xmlns:a16="http://schemas.microsoft.com/office/drawing/2014/main" id="{DFC60E51-FEA4-3E0E-6040-37F7C8F9A2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25871" y="1959603"/>
            <a:ext cx="4696480" cy="4420217"/>
          </a:xfrm>
          <a:prstGeom prst="rect">
            <a:avLst/>
          </a:prstGeom>
        </p:spPr>
      </p:pic>
    </p:spTree>
    <p:extLst>
      <p:ext uri="{BB962C8B-B14F-4D97-AF65-F5344CB8AC3E}">
        <p14:creationId xmlns:p14="http://schemas.microsoft.com/office/powerpoint/2010/main" val="5341480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326A4-F81E-37C2-D8EC-0B9F60B364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127FD5-0DAA-6E63-E356-3EE613A44386}"/>
              </a:ext>
            </a:extLst>
          </p:cNvPr>
          <p:cNvSpPr>
            <a:spLocks noGrp="1"/>
          </p:cNvSpPr>
          <p:nvPr>
            <p:ph type="title"/>
          </p:nvPr>
        </p:nvSpPr>
        <p:spPr>
          <a:xfrm>
            <a:off x="640080" y="271628"/>
            <a:ext cx="10911840" cy="1051560"/>
          </a:xfrm>
        </p:spPr>
        <p:txBody>
          <a:bodyPr>
            <a:noAutofit/>
          </a:bodyPr>
          <a:lstStyle/>
          <a:p>
            <a:pPr algn="ctr"/>
            <a:r>
              <a:rPr lang="en-US" sz="4000" b="1" dirty="0">
                <a:solidFill>
                  <a:schemeClr val="bg1"/>
                </a:solidFill>
                <a:latin typeface="Arial Black" panose="020B0A04020102020204" pitchFamily="34" charset="0"/>
              </a:rPr>
              <a:t>Fast Ethernet</a:t>
            </a:r>
            <a:br>
              <a:rPr lang="en-US" sz="4000" b="1" dirty="0">
                <a:solidFill>
                  <a:schemeClr val="bg1"/>
                </a:solidFill>
                <a:latin typeface="Arial Black" panose="020B0A04020102020204" pitchFamily="34" charset="0"/>
              </a:rPr>
            </a:br>
            <a:endParaRPr lang="en-US" sz="4000" b="1" dirty="0">
              <a:solidFill>
                <a:schemeClr val="bg1"/>
              </a:solidFill>
              <a:latin typeface="Arial Black" panose="020B0A04020102020204" pitchFamily="34" charset="0"/>
            </a:endParaRPr>
          </a:p>
        </p:txBody>
      </p:sp>
      <p:pic>
        <p:nvPicPr>
          <p:cNvPr id="5" name="Picture 4">
            <a:extLst>
              <a:ext uri="{FF2B5EF4-FFF2-40B4-BE49-F238E27FC236}">
                <a16:creationId xmlns:a16="http://schemas.microsoft.com/office/drawing/2014/main" id="{B4B2D478-8DBF-BF88-A0DD-19283B5900A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6501" y="6511823"/>
            <a:ext cx="1093772" cy="346177"/>
          </a:xfrm>
          <a:prstGeom prst="rect">
            <a:avLst/>
          </a:prstGeom>
        </p:spPr>
      </p:pic>
      <p:sp>
        <p:nvSpPr>
          <p:cNvPr id="4" name="Content Placeholder 3">
            <a:extLst>
              <a:ext uri="{FF2B5EF4-FFF2-40B4-BE49-F238E27FC236}">
                <a16:creationId xmlns:a16="http://schemas.microsoft.com/office/drawing/2014/main" id="{F8561506-191E-6FEE-B65B-2DA3FE80B714}"/>
              </a:ext>
            </a:extLst>
          </p:cNvPr>
          <p:cNvSpPr>
            <a:spLocks noGrp="1"/>
          </p:cNvSpPr>
          <p:nvPr>
            <p:ph idx="1"/>
          </p:nvPr>
        </p:nvSpPr>
        <p:spPr>
          <a:xfrm>
            <a:off x="149902" y="1139252"/>
            <a:ext cx="12042098" cy="5718747"/>
          </a:xfrm>
        </p:spPr>
        <p:txBody>
          <a:bodyPr>
            <a:normAutofit/>
          </a:bodyPr>
          <a:lstStyle/>
          <a:p>
            <a:pPr marL="0" indent="0">
              <a:buNone/>
            </a:pPr>
            <a:r>
              <a:rPr lang="en-US" dirty="0"/>
              <a:t> </a:t>
            </a:r>
            <a:endParaRPr lang="en-GB" dirty="0"/>
          </a:p>
        </p:txBody>
      </p:sp>
      <p:sp>
        <p:nvSpPr>
          <p:cNvPr id="6" name="TextBox 5">
            <a:extLst>
              <a:ext uri="{FF2B5EF4-FFF2-40B4-BE49-F238E27FC236}">
                <a16:creationId xmlns:a16="http://schemas.microsoft.com/office/drawing/2014/main" id="{919C7109-B076-48D0-4D32-BD0B9D5EF308}"/>
              </a:ext>
            </a:extLst>
          </p:cNvPr>
          <p:cNvSpPr txBox="1"/>
          <p:nvPr/>
        </p:nvSpPr>
        <p:spPr>
          <a:xfrm>
            <a:off x="74951" y="1139251"/>
            <a:ext cx="12042098" cy="5693866"/>
          </a:xfrm>
          <a:prstGeom prst="rect">
            <a:avLst/>
          </a:prstGeom>
          <a:noFill/>
        </p:spPr>
        <p:txBody>
          <a:bodyPr wrap="square">
            <a:spAutoFit/>
          </a:bodyPr>
          <a:lstStyle/>
          <a:p>
            <a:pPr lvl="0" eaLnBrk="0" fontAlgn="base" hangingPunct="0">
              <a:spcBef>
                <a:spcPct val="0"/>
              </a:spcBef>
              <a:spcAft>
                <a:spcPct val="0"/>
              </a:spcAft>
            </a:pPr>
            <a:r>
              <a:rPr lang="en-US" altLang="en-US" sz="2800" b="1" dirty="0" smtClean="0">
                <a:latin typeface="Arial" panose="020B0604020202020204" pitchFamily="34" charset="0"/>
              </a:rPr>
              <a:t>Fast </a:t>
            </a:r>
            <a:r>
              <a:rPr lang="en-US" altLang="en-US" sz="2800" b="1" dirty="0">
                <a:latin typeface="Arial" panose="020B0604020202020204" pitchFamily="34" charset="0"/>
              </a:rPr>
              <a:t>Ethernet</a:t>
            </a:r>
            <a:r>
              <a:rPr lang="en-US" altLang="en-US" sz="2800" dirty="0">
                <a:latin typeface="Arial" panose="020B0604020202020204" pitchFamily="34" charset="0"/>
              </a:rPr>
              <a:t> is a faster version of normal Ethernet used in local area networks (LAN).</a:t>
            </a:r>
          </a:p>
          <a:p>
            <a:pPr lvl="0" eaLnBrk="0" fontAlgn="base" hangingPunct="0">
              <a:spcBef>
                <a:spcPct val="0"/>
              </a:spcBef>
              <a:spcAft>
                <a:spcPct val="0"/>
              </a:spcAft>
            </a:pPr>
            <a:r>
              <a:rPr lang="en-US" altLang="en-US" sz="2800" dirty="0">
                <a:latin typeface="Arial" panose="020B0604020202020204" pitchFamily="34" charset="0"/>
              </a:rPr>
              <a:t>Same network type, same cables — but higher speed</a:t>
            </a:r>
            <a:r>
              <a:rPr lang="en-US" sz="2800" dirty="0" smtClean="0"/>
              <a:t>      </a:t>
            </a:r>
            <a:endParaRPr lang="en-US" sz="2800" dirty="0"/>
          </a:p>
          <a:p>
            <a:pPr>
              <a:buNone/>
            </a:pPr>
            <a:r>
              <a:rPr lang="en-US" sz="2800" b="1" dirty="0"/>
              <a:t>How It Works</a:t>
            </a:r>
          </a:p>
          <a:p>
            <a:pPr>
              <a:buFont typeface="Arial" panose="020B0604020202020204" pitchFamily="34" charset="0"/>
              <a:buChar char="•"/>
            </a:pPr>
            <a:r>
              <a:rPr lang="en-US" sz="2800" dirty="0"/>
              <a:t>Same working as Ethernet</a:t>
            </a:r>
          </a:p>
          <a:p>
            <a:pPr>
              <a:buFont typeface="Arial" panose="020B0604020202020204" pitchFamily="34" charset="0"/>
              <a:buChar char="•"/>
            </a:pPr>
            <a:r>
              <a:rPr lang="en-US" sz="2800" dirty="0"/>
              <a:t>Faster data transfer</a:t>
            </a:r>
          </a:p>
          <a:p>
            <a:pPr>
              <a:buNone/>
            </a:pPr>
            <a:r>
              <a:rPr lang="en-US" sz="2800" b="1" dirty="0"/>
              <a:t> Speed</a:t>
            </a:r>
          </a:p>
          <a:p>
            <a:pPr>
              <a:buFont typeface="Arial" panose="020B0604020202020204" pitchFamily="34" charset="0"/>
              <a:buChar char="•"/>
            </a:pPr>
            <a:r>
              <a:rPr lang="en-US" sz="2800" b="1" dirty="0" smtClean="0"/>
              <a:t>100 times better then simple Ethernet</a:t>
            </a:r>
            <a:endParaRPr lang="en-US" sz="2800" dirty="0"/>
          </a:p>
          <a:p>
            <a:pPr>
              <a:buNone/>
            </a:pPr>
            <a:r>
              <a:rPr lang="en-US" sz="2800" b="1" dirty="0"/>
              <a:t> </a:t>
            </a:r>
            <a:r>
              <a:rPr lang="en-US" sz="2800" b="1" dirty="0" smtClean="0"/>
              <a:t>Examples</a:t>
            </a:r>
          </a:p>
          <a:p>
            <a:pPr>
              <a:buNone/>
            </a:pPr>
            <a:r>
              <a:rPr lang="en-US" sz="2800" dirty="0"/>
              <a:t>Small office networks</a:t>
            </a:r>
            <a:endParaRPr lang="en-US" sz="2800" b="1" dirty="0"/>
          </a:p>
          <a:p>
            <a:pPr>
              <a:buNone/>
            </a:pPr>
            <a:endParaRPr lang="en-US" sz="2800" b="1" dirty="0" smtClean="0"/>
          </a:p>
          <a:p>
            <a:pPr>
              <a:buNone/>
            </a:pPr>
            <a:endParaRPr lang="en-US" sz="2800" b="1" dirty="0"/>
          </a:p>
          <a:p>
            <a:pPr>
              <a:buNone/>
            </a:pPr>
            <a:endParaRPr lang="en-US" sz="2800" b="1" dirty="0" smtClean="0"/>
          </a:p>
        </p:txBody>
      </p:sp>
    </p:spTree>
    <p:extLst>
      <p:ext uri="{BB962C8B-B14F-4D97-AF65-F5344CB8AC3E}">
        <p14:creationId xmlns:p14="http://schemas.microsoft.com/office/powerpoint/2010/main" val="15500940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FD827-C6F0-110F-0F21-893518E3DA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2917F9-9DAF-28D2-C045-BBE54AEDC5E1}"/>
              </a:ext>
            </a:extLst>
          </p:cNvPr>
          <p:cNvSpPr>
            <a:spLocks noGrp="1"/>
          </p:cNvSpPr>
          <p:nvPr>
            <p:ph type="title"/>
          </p:nvPr>
        </p:nvSpPr>
        <p:spPr>
          <a:xfrm>
            <a:off x="640080" y="271628"/>
            <a:ext cx="10911840" cy="1051560"/>
          </a:xfrm>
        </p:spPr>
        <p:txBody>
          <a:bodyPr>
            <a:noAutofit/>
          </a:bodyPr>
          <a:lstStyle/>
          <a:p>
            <a:pPr algn="ctr"/>
            <a:r>
              <a:rPr lang="en-US" sz="4000" b="1" dirty="0">
                <a:solidFill>
                  <a:schemeClr val="bg1"/>
                </a:solidFill>
                <a:latin typeface="Arial Black" panose="020B0A04020102020204" pitchFamily="34" charset="0"/>
              </a:rPr>
              <a:t>Metro Ethernet</a:t>
            </a:r>
          </a:p>
        </p:txBody>
      </p:sp>
      <p:pic>
        <p:nvPicPr>
          <p:cNvPr id="5" name="Picture 4">
            <a:extLst>
              <a:ext uri="{FF2B5EF4-FFF2-40B4-BE49-F238E27FC236}">
                <a16:creationId xmlns:a16="http://schemas.microsoft.com/office/drawing/2014/main" id="{290ABD30-338F-B73E-AD9C-7636891818F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6501" y="6511823"/>
            <a:ext cx="1093772" cy="346177"/>
          </a:xfrm>
          <a:prstGeom prst="rect">
            <a:avLst/>
          </a:prstGeom>
        </p:spPr>
      </p:pic>
      <p:sp>
        <p:nvSpPr>
          <p:cNvPr id="4" name="Content Placeholder 3">
            <a:extLst>
              <a:ext uri="{FF2B5EF4-FFF2-40B4-BE49-F238E27FC236}">
                <a16:creationId xmlns:a16="http://schemas.microsoft.com/office/drawing/2014/main" id="{C4B7EF7C-CE99-067D-5BD5-A8C4F266801E}"/>
              </a:ext>
            </a:extLst>
          </p:cNvPr>
          <p:cNvSpPr>
            <a:spLocks noGrp="1"/>
          </p:cNvSpPr>
          <p:nvPr>
            <p:ph idx="1"/>
          </p:nvPr>
        </p:nvSpPr>
        <p:spPr>
          <a:xfrm>
            <a:off x="149902" y="1139252"/>
            <a:ext cx="12042098" cy="5718747"/>
          </a:xfrm>
        </p:spPr>
        <p:txBody>
          <a:bodyPr>
            <a:normAutofit/>
          </a:bodyPr>
          <a:lstStyle/>
          <a:p>
            <a:pPr marL="0" indent="0">
              <a:buNone/>
            </a:pPr>
            <a:r>
              <a:rPr lang="en-US" dirty="0"/>
              <a:t> </a:t>
            </a:r>
            <a:endParaRPr lang="en-GB" dirty="0"/>
          </a:p>
        </p:txBody>
      </p:sp>
      <p:sp>
        <p:nvSpPr>
          <p:cNvPr id="6" name="TextBox 5">
            <a:extLst>
              <a:ext uri="{FF2B5EF4-FFF2-40B4-BE49-F238E27FC236}">
                <a16:creationId xmlns:a16="http://schemas.microsoft.com/office/drawing/2014/main" id="{03106F8A-C305-78C8-4C1D-CF7FEB9AC78F}"/>
              </a:ext>
            </a:extLst>
          </p:cNvPr>
          <p:cNvSpPr txBox="1"/>
          <p:nvPr/>
        </p:nvSpPr>
        <p:spPr>
          <a:xfrm>
            <a:off x="149902" y="1139251"/>
            <a:ext cx="12042098" cy="4832092"/>
          </a:xfrm>
          <a:prstGeom prst="rect">
            <a:avLst/>
          </a:prstGeom>
          <a:noFill/>
        </p:spPr>
        <p:txBody>
          <a:bodyPr wrap="square">
            <a:spAutoFit/>
          </a:bodyPr>
          <a:lstStyle/>
          <a:p>
            <a:r>
              <a:rPr lang="en-US" sz="2800" b="1" dirty="0"/>
              <a:t>Metro Ethernet</a:t>
            </a:r>
            <a:r>
              <a:rPr lang="en-US" sz="2800" dirty="0"/>
              <a:t> extends Ethernet technology to a </a:t>
            </a:r>
            <a:r>
              <a:rPr lang="en-US" sz="2800" b="1" dirty="0"/>
              <a:t>city level network</a:t>
            </a:r>
            <a:r>
              <a:rPr lang="en-US" sz="2800" dirty="0"/>
              <a:t>.</a:t>
            </a:r>
          </a:p>
          <a:p>
            <a:r>
              <a:rPr lang="en-US" sz="2800" dirty="0"/>
              <a:t> Used to connect </a:t>
            </a:r>
            <a:r>
              <a:rPr lang="en-US" sz="2800" b="1" dirty="0"/>
              <a:t>multiple LANs across a city</a:t>
            </a:r>
            <a:r>
              <a:rPr lang="en-US" sz="2800" dirty="0"/>
              <a:t>.</a:t>
            </a:r>
          </a:p>
          <a:p>
            <a:r>
              <a:rPr lang="en-US" sz="2800" b="1" dirty="0"/>
              <a:t>Key Features</a:t>
            </a:r>
          </a:p>
          <a:p>
            <a:r>
              <a:rPr lang="en-US" sz="2800" dirty="0"/>
              <a:t>Covers </a:t>
            </a:r>
            <a:r>
              <a:rPr lang="en-US" sz="2800" b="1" dirty="0"/>
              <a:t>metropolitan (city) area</a:t>
            </a:r>
            <a:endParaRPr lang="en-US" sz="2800" dirty="0"/>
          </a:p>
          <a:p>
            <a:r>
              <a:rPr lang="en-US" sz="2800" dirty="0"/>
              <a:t>Uses </a:t>
            </a:r>
            <a:r>
              <a:rPr lang="en-US" sz="2800" b="1" dirty="0"/>
              <a:t>fiber optic cables</a:t>
            </a:r>
            <a:endParaRPr lang="en-US" sz="2800" dirty="0"/>
          </a:p>
          <a:p>
            <a:r>
              <a:rPr lang="en-US" sz="2800" dirty="0"/>
              <a:t>Very high speed</a:t>
            </a:r>
          </a:p>
          <a:p>
            <a:r>
              <a:rPr lang="en-US" sz="2800" dirty="0"/>
              <a:t>Used by </a:t>
            </a:r>
            <a:r>
              <a:rPr lang="en-US" sz="2800" b="1" dirty="0"/>
              <a:t> large organizations</a:t>
            </a:r>
            <a:endParaRPr lang="en-US" sz="2800" dirty="0"/>
          </a:p>
          <a:p>
            <a:r>
              <a:rPr lang="en-US" sz="2800" b="1" dirty="0"/>
              <a:t> </a:t>
            </a:r>
            <a:r>
              <a:rPr lang="en-US" sz="2800" b="1" dirty="0" smtClean="0"/>
              <a:t>Speed</a:t>
            </a:r>
            <a:endParaRPr lang="en-US" sz="2800" dirty="0"/>
          </a:p>
          <a:p>
            <a:r>
              <a:rPr lang="en-US" sz="2800" b="1" dirty="0"/>
              <a:t> Example</a:t>
            </a:r>
          </a:p>
          <a:p>
            <a:r>
              <a:rPr lang="en-US" sz="2800" dirty="0"/>
              <a:t>Connecting company branches in one city</a:t>
            </a:r>
          </a:p>
          <a:p>
            <a:r>
              <a:rPr lang="en-US" sz="2800" dirty="0"/>
              <a:t>University campuses across a city</a:t>
            </a:r>
          </a:p>
        </p:txBody>
      </p:sp>
    </p:spTree>
    <p:extLst>
      <p:ext uri="{BB962C8B-B14F-4D97-AF65-F5344CB8AC3E}">
        <p14:creationId xmlns:p14="http://schemas.microsoft.com/office/powerpoint/2010/main" val="16319862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2BED2-1358-AAA4-9315-63AE68A234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F02D0A-A1E5-F133-C663-47DDC31BEEF8}"/>
              </a:ext>
            </a:extLst>
          </p:cNvPr>
          <p:cNvSpPr>
            <a:spLocks noGrp="1"/>
          </p:cNvSpPr>
          <p:nvPr>
            <p:ph type="title"/>
          </p:nvPr>
        </p:nvSpPr>
        <p:spPr>
          <a:xfrm>
            <a:off x="640080" y="271628"/>
            <a:ext cx="10911840" cy="1051560"/>
          </a:xfrm>
        </p:spPr>
        <p:txBody>
          <a:bodyPr>
            <a:noAutofit/>
          </a:bodyPr>
          <a:lstStyle/>
          <a:p>
            <a:pPr algn="ctr"/>
            <a:r>
              <a:rPr lang="en-US" sz="4000" b="1" dirty="0">
                <a:solidFill>
                  <a:schemeClr val="bg1"/>
                </a:solidFill>
                <a:latin typeface="Arial Black" panose="020B0A04020102020204" pitchFamily="34" charset="0"/>
              </a:rPr>
              <a:t>Metro Ethernet</a:t>
            </a:r>
          </a:p>
        </p:txBody>
      </p:sp>
      <p:pic>
        <p:nvPicPr>
          <p:cNvPr id="5" name="Picture 4">
            <a:extLst>
              <a:ext uri="{FF2B5EF4-FFF2-40B4-BE49-F238E27FC236}">
                <a16:creationId xmlns:a16="http://schemas.microsoft.com/office/drawing/2014/main" id="{9A3F3B65-BA87-BEA6-9559-6EF1DB8DCB6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6501" y="6511823"/>
            <a:ext cx="1093772" cy="346177"/>
          </a:xfrm>
          <a:prstGeom prst="rect">
            <a:avLst/>
          </a:prstGeom>
        </p:spPr>
      </p:pic>
      <p:sp>
        <p:nvSpPr>
          <p:cNvPr id="4" name="Content Placeholder 3">
            <a:extLst>
              <a:ext uri="{FF2B5EF4-FFF2-40B4-BE49-F238E27FC236}">
                <a16:creationId xmlns:a16="http://schemas.microsoft.com/office/drawing/2014/main" id="{90120762-26FD-459E-DD69-97B0828697C4}"/>
              </a:ext>
            </a:extLst>
          </p:cNvPr>
          <p:cNvSpPr>
            <a:spLocks noGrp="1"/>
          </p:cNvSpPr>
          <p:nvPr>
            <p:ph idx="1"/>
          </p:nvPr>
        </p:nvSpPr>
        <p:spPr>
          <a:xfrm>
            <a:off x="149902" y="1139252"/>
            <a:ext cx="12042098" cy="5718747"/>
          </a:xfrm>
        </p:spPr>
        <p:txBody>
          <a:bodyPr>
            <a:normAutofit/>
          </a:bodyPr>
          <a:lstStyle/>
          <a:p>
            <a:pPr marL="0" indent="0">
              <a:buNone/>
            </a:pPr>
            <a:r>
              <a:rPr lang="en-US" dirty="0"/>
              <a:t> </a:t>
            </a:r>
            <a:endParaRPr lang="en-GB" dirty="0"/>
          </a:p>
        </p:txBody>
      </p:sp>
      <p:pic>
        <p:nvPicPr>
          <p:cNvPr id="7" name="Picture 6">
            <a:extLst>
              <a:ext uri="{FF2B5EF4-FFF2-40B4-BE49-F238E27FC236}">
                <a16:creationId xmlns:a16="http://schemas.microsoft.com/office/drawing/2014/main" id="{1BED4740-BE68-39B6-BBCA-EB00459CF0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7969" y="1248596"/>
            <a:ext cx="7393263" cy="5344713"/>
          </a:xfrm>
          <a:prstGeom prst="rect">
            <a:avLst/>
          </a:prstGeom>
        </p:spPr>
      </p:pic>
    </p:spTree>
    <p:extLst>
      <p:ext uri="{BB962C8B-B14F-4D97-AF65-F5344CB8AC3E}">
        <p14:creationId xmlns:p14="http://schemas.microsoft.com/office/powerpoint/2010/main" val="42018333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75391-329A-4F50-AE07-761C61B3F6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14906C-130B-9D5F-353D-E43B74296EAB}"/>
              </a:ext>
            </a:extLst>
          </p:cNvPr>
          <p:cNvSpPr>
            <a:spLocks noGrp="1"/>
          </p:cNvSpPr>
          <p:nvPr>
            <p:ph type="title"/>
          </p:nvPr>
        </p:nvSpPr>
        <p:spPr>
          <a:xfrm>
            <a:off x="640080" y="271628"/>
            <a:ext cx="10911840" cy="1051560"/>
          </a:xfrm>
        </p:spPr>
        <p:txBody>
          <a:bodyPr>
            <a:noAutofit/>
          </a:bodyPr>
          <a:lstStyle/>
          <a:p>
            <a:pPr algn="ctr"/>
            <a:r>
              <a:rPr lang="en-US" sz="4000" b="1" dirty="0" err="1">
                <a:solidFill>
                  <a:schemeClr val="bg1"/>
                </a:solidFill>
                <a:latin typeface="Arial Black" panose="020B0A04020102020204" pitchFamily="34" charset="0"/>
              </a:rPr>
              <a:t>Comparasion</a:t>
            </a:r>
            <a:r>
              <a:rPr lang="en-US" sz="4000" b="1" dirty="0">
                <a:solidFill>
                  <a:schemeClr val="bg1"/>
                </a:solidFill>
                <a:latin typeface="Arial Black" panose="020B0A04020102020204" pitchFamily="34" charset="0"/>
              </a:rPr>
              <a:t> Table</a:t>
            </a:r>
          </a:p>
        </p:txBody>
      </p:sp>
      <p:pic>
        <p:nvPicPr>
          <p:cNvPr id="5" name="Picture 4">
            <a:extLst>
              <a:ext uri="{FF2B5EF4-FFF2-40B4-BE49-F238E27FC236}">
                <a16:creationId xmlns:a16="http://schemas.microsoft.com/office/drawing/2014/main" id="{225669BD-C08C-048F-524A-0ED5D79C36D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6501" y="6511823"/>
            <a:ext cx="1093772" cy="346177"/>
          </a:xfrm>
          <a:prstGeom prst="rect">
            <a:avLst/>
          </a:prstGeom>
        </p:spPr>
      </p:pic>
      <p:sp>
        <p:nvSpPr>
          <p:cNvPr id="4" name="Content Placeholder 3">
            <a:extLst>
              <a:ext uri="{FF2B5EF4-FFF2-40B4-BE49-F238E27FC236}">
                <a16:creationId xmlns:a16="http://schemas.microsoft.com/office/drawing/2014/main" id="{6DE3D402-4763-58A2-2712-49475C61F167}"/>
              </a:ext>
            </a:extLst>
          </p:cNvPr>
          <p:cNvSpPr>
            <a:spLocks noGrp="1"/>
          </p:cNvSpPr>
          <p:nvPr>
            <p:ph idx="1"/>
          </p:nvPr>
        </p:nvSpPr>
        <p:spPr>
          <a:xfrm>
            <a:off x="149902" y="1139252"/>
            <a:ext cx="12042098" cy="5718747"/>
          </a:xfrm>
        </p:spPr>
        <p:txBody>
          <a:bodyPr>
            <a:normAutofit/>
          </a:bodyPr>
          <a:lstStyle/>
          <a:p>
            <a:pPr marL="0" indent="0">
              <a:buNone/>
            </a:pPr>
            <a:r>
              <a:rPr lang="en-US" dirty="0"/>
              <a:t> </a:t>
            </a:r>
            <a:endParaRPr lang="en-GB" dirty="0"/>
          </a:p>
        </p:txBody>
      </p:sp>
      <p:graphicFrame>
        <p:nvGraphicFramePr>
          <p:cNvPr id="3" name="Table 2">
            <a:extLst>
              <a:ext uri="{FF2B5EF4-FFF2-40B4-BE49-F238E27FC236}">
                <a16:creationId xmlns:a16="http://schemas.microsoft.com/office/drawing/2014/main" id="{5DB2B407-1422-0A67-ABE2-16840CF0E192}"/>
              </a:ext>
            </a:extLst>
          </p:cNvPr>
          <p:cNvGraphicFramePr>
            <a:graphicFrameLocks noGrp="1"/>
          </p:cNvGraphicFramePr>
          <p:nvPr>
            <p:extLst>
              <p:ext uri="{D42A27DB-BD31-4B8C-83A1-F6EECF244321}">
                <p14:modId xmlns:p14="http://schemas.microsoft.com/office/powerpoint/2010/main" val="3592610374"/>
              </p:ext>
            </p:extLst>
          </p:nvPr>
        </p:nvGraphicFramePr>
        <p:xfrm>
          <a:off x="149901" y="1139248"/>
          <a:ext cx="10640711" cy="5718744"/>
        </p:xfrm>
        <a:graphic>
          <a:graphicData uri="http://schemas.openxmlformats.org/drawingml/2006/table">
            <a:tbl>
              <a:tblPr/>
              <a:tblGrid>
                <a:gridCol w="2967593">
                  <a:extLst>
                    <a:ext uri="{9D8B030D-6E8A-4147-A177-3AD203B41FA5}">
                      <a16:colId xmlns:a16="http://schemas.microsoft.com/office/drawing/2014/main" val="1116683569"/>
                    </a:ext>
                  </a:extLst>
                </a:gridCol>
                <a:gridCol w="1737932">
                  <a:extLst>
                    <a:ext uri="{9D8B030D-6E8A-4147-A177-3AD203B41FA5}">
                      <a16:colId xmlns:a16="http://schemas.microsoft.com/office/drawing/2014/main" val="2716413594"/>
                    </a:ext>
                  </a:extLst>
                </a:gridCol>
                <a:gridCol w="2967593">
                  <a:extLst>
                    <a:ext uri="{9D8B030D-6E8A-4147-A177-3AD203B41FA5}">
                      <a16:colId xmlns:a16="http://schemas.microsoft.com/office/drawing/2014/main" val="1826871962"/>
                    </a:ext>
                  </a:extLst>
                </a:gridCol>
                <a:gridCol w="2967593">
                  <a:extLst>
                    <a:ext uri="{9D8B030D-6E8A-4147-A177-3AD203B41FA5}">
                      <a16:colId xmlns:a16="http://schemas.microsoft.com/office/drawing/2014/main" val="3207980019"/>
                    </a:ext>
                  </a:extLst>
                </a:gridCol>
              </a:tblGrid>
              <a:tr h="953124">
                <a:tc>
                  <a:txBody>
                    <a:bodyPr/>
                    <a:lstStyle/>
                    <a:p>
                      <a:pPr>
                        <a:buNone/>
                      </a:pPr>
                      <a:r>
                        <a:rPr lang="en-GB" sz="2400" b="1" dirty="0">
                          <a:latin typeface="Arial Black" panose="020B0A04020102020204" pitchFamily="34" charset="0"/>
                        </a:rPr>
                        <a:t>Feature</a:t>
                      </a:r>
                    </a:p>
                  </a:txBody>
                  <a:tcPr anchor="ctr">
                    <a:lnL>
                      <a:noFill/>
                    </a:lnL>
                    <a:lnR>
                      <a:noFill/>
                    </a:lnR>
                    <a:lnT>
                      <a:noFill/>
                    </a:lnT>
                    <a:lnB>
                      <a:noFill/>
                    </a:lnB>
                    <a:noFill/>
                  </a:tcPr>
                </a:tc>
                <a:tc>
                  <a:txBody>
                    <a:bodyPr/>
                    <a:lstStyle/>
                    <a:p>
                      <a:pPr>
                        <a:buNone/>
                      </a:pPr>
                      <a:r>
                        <a:rPr lang="en-GB" sz="2400" b="1">
                          <a:latin typeface="Arial Black" panose="020B0A04020102020204" pitchFamily="34" charset="0"/>
                        </a:rPr>
                        <a:t>Ethernet</a:t>
                      </a:r>
                    </a:p>
                  </a:txBody>
                  <a:tcPr anchor="ctr">
                    <a:lnL>
                      <a:noFill/>
                    </a:lnL>
                    <a:lnR>
                      <a:noFill/>
                    </a:lnR>
                    <a:lnT>
                      <a:noFill/>
                    </a:lnT>
                    <a:lnB>
                      <a:noFill/>
                    </a:lnB>
                    <a:noFill/>
                  </a:tcPr>
                </a:tc>
                <a:tc>
                  <a:txBody>
                    <a:bodyPr/>
                    <a:lstStyle/>
                    <a:p>
                      <a:pPr>
                        <a:buNone/>
                      </a:pPr>
                      <a:r>
                        <a:rPr lang="en-GB" sz="2400" b="1" dirty="0">
                          <a:latin typeface="Arial Black" panose="020B0A04020102020204" pitchFamily="34" charset="0"/>
                        </a:rPr>
                        <a:t>Fast Ethernet</a:t>
                      </a:r>
                    </a:p>
                  </a:txBody>
                  <a:tcPr anchor="ctr">
                    <a:lnL>
                      <a:noFill/>
                    </a:lnL>
                    <a:lnR>
                      <a:noFill/>
                    </a:lnR>
                    <a:lnT>
                      <a:noFill/>
                    </a:lnT>
                    <a:lnB>
                      <a:noFill/>
                    </a:lnB>
                    <a:noFill/>
                  </a:tcPr>
                </a:tc>
                <a:tc>
                  <a:txBody>
                    <a:bodyPr/>
                    <a:lstStyle/>
                    <a:p>
                      <a:pPr>
                        <a:buNone/>
                      </a:pPr>
                      <a:r>
                        <a:rPr lang="en-GB" sz="2400" b="1" dirty="0">
                          <a:latin typeface="Arial Black" panose="020B0A04020102020204" pitchFamily="34" charset="0"/>
                        </a:rPr>
                        <a:t>Metro Ethernet</a:t>
                      </a:r>
                    </a:p>
                  </a:txBody>
                  <a:tcPr anchor="ctr">
                    <a:lnL>
                      <a:noFill/>
                    </a:lnL>
                    <a:lnR>
                      <a:noFill/>
                    </a:lnR>
                    <a:lnT>
                      <a:noFill/>
                    </a:lnT>
                    <a:lnB>
                      <a:noFill/>
                    </a:lnB>
                    <a:noFill/>
                  </a:tcPr>
                </a:tc>
                <a:extLst>
                  <a:ext uri="{0D108BD9-81ED-4DB2-BD59-A6C34878D82A}">
                    <a16:rowId xmlns:a16="http://schemas.microsoft.com/office/drawing/2014/main" val="1872111998"/>
                  </a:ext>
                </a:extLst>
              </a:tr>
              <a:tr h="953124">
                <a:tc>
                  <a:txBody>
                    <a:bodyPr/>
                    <a:lstStyle/>
                    <a:p>
                      <a:pPr>
                        <a:buNone/>
                      </a:pPr>
                      <a:r>
                        <a:rPr lang="en-GB"/>
                        <a:t>Speed</a:t>
                      </a:r>
                    </a:p>
                  </a:txBody>
                  <a:tcPr anchor="ctr">
                    <a:lnL>
                      <a:noFill/>
                    </a:lnL>
                    <a:lnR>
                      <a:noFill/>
                    </a:lnR>
                    <a:lnT>
                      <a:noFill/>
                    </a:lnT>
                    <a:lnB>
                      <a:noFill/>
                    </a:lnB>
                    <a:noFill/>
                  </a:tcPr>
                </a:tc>
                <a:tc>
                  <a:txBody>
                    <a:bodyPr/>
                    <a:lstStyle/>
                    <a:p>
                      <a:pPr>
                        <a:buNone/>
                      </a:pPr>
                      <a:r>
                        <a:rPr lang="en-GB"/>
                        <a:t>10 Mbps</a:t>
                      </a:r>
                    </a:p>
                  </a:txBody>
                  <a:tcPr anchor="ctr">
                    <a:lnL>
                      <a:noFill/>
                    </a:lnL>
                    <a:lnR>
                      <a:noFill/>
                    </a:lnR>
                    <a:lnT>
                      <a:noFill/>
                    </a:lnT>
                    <a:lnB>
                      <a:noFill/>
                    </a:lnB>
                    <a:noFill/>
                  </a:tcPr>
                </a:tc>
                <a:tc>
                  <a:txBody>
                    <a:bodyPr/>
                    <a:lstStyle/>
                    <a:p>
                      <a:pPr>
                        <a:buNone/>
                      </a:pPr>
                      <a:r>
                        <a:rPr lang="en-GB"/>
                        <a:t>100 Mbps</a:t>
                      </a:r>
                    </a:p>
                  </a:txBody>
                  <a:tcPr anchor="ctr">
                    <a:lnL>
                      <a:noFill/>
                    </a:lnL>
                    <a:lnR>
                      <a:noFill/>
                    </a:lnR>
                    <a:lnT>
                      <a:noFill/>
                    </a:lnT>
                    <a:lnB>
                      <a:noFill/>
                    </a:lnB>
                    <a:noFill/>
                  </a:tcPr>
                </a:tc>
                <a:tc>
                  <a:txBody>
                    <a:bodyPr/>
                    <a:lstStyle/>
                    <a:p>
                      <a:pPr>
                        <a:buNone/>
                      </a:pPr>
                      <a:r>
                        <a:rPr lang="en-GB"/>
                        <a:t>1–10 Gbps</a:t>
                      </a:r>
                    </a:p>
                  </a:txBody>
                  <a:tcPr anchor="ctr">
                    <a:lnL>
                      <a:noFill/>
                    </a:lnL>
                    <a:lnR>
                      <a:noFill/>
                    </a:lnR>
                    <a:lnT>
                      <a:noFill/>
                    </a:lnT>
                    <a:lnB>
                      <a:noFill/>
                    </a:lnB>
                    <a:noFill/>
                  </a:tcPr>
                </a:tc>
                <a:extLst>
                  <a:ext uri="{0D108BD9-81ED-4DB2-BD59-A6C34878D82A}">
                    <a16:rowId xmlns:a16="http://schemas.microsoft.com/office/drawing/2014/main" val="1211337490"/>
                  </a:ext>
                </a:extLst>
              </a:tr>
              <a:tr h="953124">
                <a:tc>
                  <a:txBody>
                    <a:bodyPr/>
                    <a:lstStyle/>
                    <a:p>
                      <a:pPr>
                        <a:buNone/>
                      </a:pPr>
                      <a:r>
                        <a:rPr lang="en-GB" dirty="0"/>
                        <a:t>Area</a:t>
                      </a:r>
                    </a:p>
                  </a:txBody>
                  <a:tcPr anchor="ctr">
                    <a:lnL>
                      <a:noFill/>
                    </a:lnL>
                    <a:lnR>
                      <a:noFill/>
                    </a:lnR>
                    <a:lnT>
                      <a:noFill/>
                    </a:lnT>
                    <a:lnB>
                      <a:noFill/>
                    </a:lnB>
                    <a:noFill/>
                  </a:tcPr>
                </a:tc>
                <a:tc>
                  <a:txBody>
                    <a:bodyPr/>
                    <a:lstStyle/>
                    <a:p>
                      <a:pPr>
                        <a:buNone/>
                      </a:pPr>
                      <a:r>
                        <a:rPr lang="en-GB"/>
                        <a:t>LAN (small)</a:t>
                      </a:r>
                    </a:p>
                  </a:txBody>
                  <a:tcPr anchor="ctr">
                    <a:lnL>
                      <a:noFill/>
                    </a:lnL>
                    <a:lnR>
                      <a:noFill/>
                    </a:lnR>
                    <a:lnT>
                      <a:noFill/>
                    </a:lnT>
                    <a:lnB>
                      <a:noFill/>
                    </a:lnB>
                    <a:noFill/>
                  </a:tcPr>
                </a:tc>
                <a:tc>
                  <a:txBody>
                    <a:bodyPr/>
                    <a:lstStyle/>
                    <a:p>
                      <a:pPr>
                        <a:buNone/>
                      </a:pPr>
                      <a:r>
                        <a:rPr lang="en-GB"/>
                        <a:t>LAN (small/medium)</a:t>
                      </a:r>
                    </a:p>
                  </a:txBody>
                  <a:tcPr anchor="ctr">
                    <a:lnL>
                      <a:noFill/>
                    </a:lnL>
                    <a:lnR>
                      <a:noFill/>
                    </a:lnR>
                    <a:lnT>
                      <a:noFill/>
                    </a:lnT>
                    <a:lnB>
                      <a:noFill/>
                    </a:lnB>
                    <a:noFill/>
                  </a:tcPr>
                </a:tc>
                <a:tc>
                  <a:txBody>
                    <a:bodyPr/>
                    <a:lstStyle/>
                    <a:p>
                      <a:pPr>
                        <a:buNone/>
                      </a:pPr>
                      <a:r>
                        <a:rPr lang="en-GB"/>
                        <a:t>City (MAN)</a:t>
                      </a:r>
                    </a:p>
                  </a:txBody>
                  <a:tcPr anchor="ctr">
                    <a:lnL>
                      <a:noFill/>
                    </a:lnL>
                    <a:lnR>
                      <a:noFill/>
                    </a:lnR>
                    <a:lnT>
                      <a:noFill/>
                    </a:lnT>
                    <a:lnB>
                      <a:noFill/>
                    </a:lnB>
                    <a:noFill/>
                  </a:tcPr>
                </a:tc>
                <a:extLst>
                  <a:ext uri="{0D108BD9-81ED-4DB2-BD59-A6C34878D82A}">
                    <a16:rowId xmlns:a16="http://schemas.microsoft.com/office/drawing/2014/main" val="3269408486"/>
                  </a:ext>
                </a:extLst>
              </a:tr>
              <a:tr h="953124">
                <a:tc>
                  <a:txBody>
                    <a:bodyPr/>
                    <a:lstStyle/>
                    <a:p>
                      <a:pPr>
                        <a:buNone/>
                      </a:pPr>
                      <a:r>
                        <a:rPr lang="en-GB"/>
                        <a:t>Cable</a:t>
                      </a:r>
                    </a:p>
                  </a:txBody>
                  <a:tcPr anchor="ctr">
                    <a:lnL>
                      <a:noFill/>
                    </a:lnL>
                    <a:lnR>
                      <a:noFill/>
                    </a:lnR>
                    <a:lnT>
                      <a:noFill/>
                    </a:lnT>
                    <a:lnB>
                      <a:noFill/>
                    </a:lnB>
                    <a:noFill/>
                  </a:tcPr>
                </a:tc>
                <a:tc>
                  <a:txBody>
                    <a:bodyPr/>
                    <a:lstStyle/>
                    <a:p>
                      <a:pPr>
                        <a:buNone/>
                      </a:pPr>
                      <a:r>
                        <a:rPr lang="en-GB"/>
                        <a:t>Copper</a:t>
                      </a:r>
                    </a:p>
                  </a:txBody>
                  <a:tcPr anchor="ctr">
                    <a:lnL>
                      <a:noFill/>
                    </a:lnL>
                    <a:lnR>
                      <a:noFill/>
                    </a:lnR>
                    <a:lnT>
                      <a:noFill/>
                    </a:lnT>
                    <a:lnB>
                      <a:noFill/>
                    </a:lnB>
                    <a:noFill/>
                  </a:tcPr>
                </a:tc>
                <a:tc>
                  <a:txBody>
                    <a:bodyPr/>
                    <a:lstStyle/>
                    <a:p>
                      <a:pPr>
                        <a:buNone/>
                      </a:pPr>
                      <a:r>
                        <a:rPr lang="en-GB"/>
                        <a:t>Copper</a:t>
                      </a:r>
                    </a:p>
                  </a:txBody>
                  <a:tcPr anchor="ctr">
                    <a:lnL>
                      <a:noFill/>
                    </a:lnL>
                    <a:lnR>
                      <a:noFill/>
                    </a:lnR>
                    <a:lnT>
                      <a:noFill/>
                    </a:lnT>
                    <a:lnB>
                      <a:noFill/>
                    </a:lnB>
                    <a:noFill/>
                  </a:tcPr>
                </a:tc>
                <a:tc>
                  <a:txBody>
                    <a:bodyPr/>
                    <a:lstStyle/>
                    <a:p>
                      <a:pPr>
                        <a:buNone/>
                      </a:pPr>
                      <a:r>
                        <a:rPr lang="en-GB"/>
                        <a:t>Fiber optic</a:t>
                      </a:r>
                    </a:p>
                  </a:txBody>
                  <a:tcPr anchor="ctr">
                    <a:lnL>
                      <a:noFill/>
                    </a:lnL>
                    <a:lnR>
                      <a:noFill/>
                    </a:lnR>
                    <a:lnT>
                      <a:noFill/>
                    </a:lnT>
                    <a:lnB>
                      <a:noFill/>
                    </a:lnB>
                    <a:noFill/>
                  </a:tcPr>
                </a:tc>
                <a:extLst>
                  <a:ext uri="{0D108BD9-81ED-4DB2-BD59-A6C34878D82A}">
                    <a16:rowId xmlns:a16="http://schemas.microsoft.com/office/drawing/2014/main" val="2149646876"/>
                  </a:ext>
                </a:extLst>
              </a:tr>
              <a:tr h="953124">
                <a:tc>
                  <a:txBody>
                    <a:bodyPr/>
                    <a:lstStyle/>
                    <a:p>
                      <a:pPr>
                        <a:buNone/>
                      </a:pPr>
                      <a:r>
                        <a:rPr lang="en-GB"/>
                        <a:t>Cost</a:t>
                      </a:r>
                    </a:p>
                  </a:txBody>
                  <a:tcPr anchor="ctr">
                    <a:lnL>
                      <a:noFill/>
                    </a:lnL>
                    <a:lnR>
                      <a:noFill/>
                    </a:lnR>
                    <a:lnT>
                      <a:noFill/>
                    </a:lnT>
                    <a:lnB>
                      <a:noFill/>
                    </a:lnB>
                    <a:noFill/>
                  </a:tcPr>
                </a:tc>
                <a:tc>
                  <a:txBody>
                    <a:bodyPr/>
                    <a:lstStyle/>
                    <a:p>
                      <a:pPr>
                        <a:buNone/>
                      </a:pPr>
                      <a:r>
                        <a:rPr lang="en-GB"/>
                        <a:t>Low</a:t>
                      </a:r>
                    </a:p>
                  </a:txBody>
                  <a:tcPr anchor="ctr">
                    <a:lnL>
                      <a:noFill/>
                    </a:lnL>
                    <a:lnR>
                      <a:noFill/>
                    </a:lnR>
                    <a:lnT>
                      <a:noFill/>
                    </a:lnT>
                    <a:lnB>
                      <a:noFill/>
                    </a:lnB>
                    <a:noFill/>
                  </a:tcPr>
                </a:tc>
                <a:tc>
                  <a:txBody>
                    <a:bodyPr/>
                    <a:lstStyle/>
                    <a:p>
                      <a:pPr>
                        <a:buNone/>
                      </a:pPr>
                      <a:r>
                        <a:rPr lang="en-GB"/>
                        <a:t>Medium</a:t>
                      </a:r>
                    </a:p>
                  </a:txBody>
                  <a:tcPr anchor="ctr">
                    <a:lnL>
                      <a:noFill/>
                    </a:lnL>
                    <a:lnR>
                      <a:noFill/>
                    </a:lnR>
                    <a:lnT>
                      <a:noFill/>
                    </a:lnT>
                    <a:lnB>
                      <a:noFill/>
                    </a:lnB>
                    <a:noFill/>
                  </a:tcPr>
                </a:tc>
                <a:tc>
                  <a:txBody>
                    <a:bodyPr/>
                    <a:lstStyle/>
                    <a:p>
                      <a:pPr>
                        <a:buNone/>
                      </a:pPr>
                      <a:r>
                        <a:rPr lang="en-GB"/>
                        <a:t>High</a:t>
                      </a:r>
                    </a:p>
                  </a:txBody>
                  <a:tcPr anchor="ctr">
                    <a:lnL>
                      <a:noFill/>
                    </a:lnL>
                    <a:lnR>
                      <a:noFill/>
                    </a:lnR>
                    <a:lnT>
                      <a:noFill/>
                    </a:lnT>
                    <a:lnB>
                      <a:noFill/>
                    </a:lnB>
                    <a:noFill/>
                  </a:tcPr>
                </a:tc>
                <a:extLst>
                  <a:ext uri="{0D108BD9-81ED-4DB2-BD59-A6C34878D82A}">
                    <a16:rowId xmlns:a16="http://schemas.microsoft.com/office/drawing/2014/main" val="1382561509"/>
                  </a:ext>
                </a:extLst>
              </a:tr>
              <a:tr h="953124">
                <a:tc>
                  <a:txBody>
                    <a:bodyPr/>
                    <a:lstStyle/>
                    <a:p>
                      <a:pPr>
                        <a:buNone/>
                      </a:pPr>
                      <a:r>
                        <a:rPr lang="en-GB"/>
                        <a:t>Usage</a:t>
                      </a:r>
                    </a:p>
                  </a:txBody>
                  <a:tcPr anchor="ctr">
                    <a:lnL>
                      <a:noFill/>
                    </a:lnL>
                    <a:lnR>
                      <a:noFill/>
                    </a:lnR>
                    <a:lnT>
                      <a:noFill/>
                    </a:lnT>
                    <a:lnB>
                      <a:noFill/>
                    </a:lnB>
                    <a:noFill/>
                  </a:tcPr>
                </a:tc>
                <a:tc>
                  <a:txBody>
                    <a:bodyPr/>
                    <a:lstStyle/>
                    <a:p>
                      <a:pPr>
                        <a:buNone/>
                      </a:pPr>
                      <a:r>
                        <a:rPr lang="en-GB" dirty="0"/>
                        <a:t>Old LANs</a:t>
                      </a:r>
                    </a:p>
                  </a:txBody>
                  <a:tcPr anchor="ctr">
                    <a:lnL>
                      <a:noFill/>
                    </a:lnL>
                    <a:lnR>
                      <a:noFill/>
                    </a:lnR>
                    <a:lnT>
                      <a:noFill/>
                    </a:lnT>
                    <a:lnB>
                      <a:noFill/>
                    </a:lnB>
                    <a:noFill/>
                  </a:tcPr>
                </a:tc>
                <a:tc>
                  <a:txBody>
                    <a:bodyPr/>
                    <a:lstStyle/>
                    <a:p>
                      <a:pPr>
                        <a:buNone/>
                      </a:pPr>
                      <a:r>
                        <a:rPr lang="en-GB" dirty="0"/>
                        <a:t>Modern LANs</a:t>
                      </a:r>
                    </a:p>
                  </a:txBody>
                  <a:tcPr anchor="ctr">
                    <a:lnL>
                      <a:noFill/>
                    </a:lnL>
                    <a:lnR>
                      <a:noFill/>
                    </a:lnR>
                    <a:lnT>
                      <a:noFill/>
                    </a:lnT>
                    <a:lnB>
                      <a:noFill/>
                    </a:lnB>
                    <a:noFill/>
                  </a:tcPr>
                </a:tc>
                <a:tc>
                  <a:txBody>
                    <a:bodyPr/>
                    <a:lstStyle/>
                    <a:p>
                      <a:pPr>
                        <a:buNone/>
                      </a:pPr>
                      <a:r>
                        <a:rPr lang="en-GB" dirty="0"/>
                        <a:t>City-wide networks</a:t>
                      </a:r>
                    </a:p>
                  </a:txBody>
                  <a:tcPr anchor="ctr">
                    <a:lnL>
                      <a:noFill/>
                    </a:lnL>
                    <a:lnR>
                      <a:noFill/>
                    </a:lnR>
                    <a:lnT>
                      <a:noFill/>
                    </a:lnT>
                    <a:lnB>
                      <a:noFill/>
                    </a:lnB>
                    <a:noFill/>
                  </a:tcPr>
                </a:tc>
                <a:extLst>
                  <a:ext uri="{0D108BD9-81ED-4DB2-BD59-A6C34878D82A}">
                    <a16:rowId xmlns:a16="http://schemas.microsoft.com/office/drawing/2014/main" val="844228109"/>
                  </a:ext>
                </a:extLst>
              </a:tr>
            </a:tbl>
          </a:graphicData>
        </a:graphic>
      </p:graphicFrame>
    </p:spTree>
    <p:extLst>
      <p:ext uri="{BB962C8B-B14F-4D97-AF65-F5344CB8AC3E}">
        <p14:creationId xmlns:p14="http://schemas.microsoft.com/office/powerpoint/2010/main" val="35565622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2E05D-CFC9-DE69-C802-CB75E6BE29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632574-5826-16E7-6F61-2941D236604B}"/>
              </a:ext>
            </a:extLst>
          </p:cNvPr>
          <p:cNvSpPr>
            <a:spLocks noGrp="1"/>
          </p:cNvSpPr>
          <p:nvPr>
            <p:ph type="title"/>
          </p:nvPr>
        </p:nvSpPr>
        <p:spPr>
          <a:xfrm>
            <a:off x="640080" y="271628"/>
            <a:ext cx="10911840" cy="1051560"/>
          </a:xfrm>
        </p:spPr>
        <p:txBody>
          <a:bodyPr>
            <a:noAutofit/>
          </a:bodyPr>
          <a:lstStyle/>
          <a:p>
            <a:pPr algn="ctr"/>
            <a:r>
              <a:rPr lang="en-US" sz="4000" b="1" dirty="0">
                <a:solidFill>
                  <a:schemeClr val="bg1"/>
                </a:solidFill>
                <a:latin typeface="Arial Black" panose="020B0A04020102020204" pitchFamily="34" charset="0"/>
              </a:rPr>
              <a:t>Internetwork</a:t>
            </a:r>
          </a:p>
        </p:txBody>
      </p:sp>
      <p:pic>
        <p:nvPicPr>
          <p:cNvPr id="5" name="Picture 4">
            <a:extLst>
              <a:ext uri="{FF2B5EF4-FFF2-40B4-BE49-F238E27FC236}">
                <a16:creationId xmlns:a16="http://schemas.microsoft.com/office/drawing/2014/main" id="{B983F2B8-474D-352B-B195-8A4C400CE54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6501" y="6511823"/>
            <a:ext cx="1093772" cy="346177"/>
          </a:xfrm>
          <a:prstGeom prst="rect">
            <a:avLst/>
          </a:prstGeom>
        </p:spPr>
      </p:pic>
      <p:sp>
        <p:nvSpPr>
          <p:cNvPr id="4" name="Content Placeholder 3">
            <a:extLst>
              <a:ext uri="{FF2B5EF4-FFF2-40B4-BE49-F238E27FC236}">
                <a16:creationId xmlns:a16="http://schemas.microsoft.com/office/drawing/2014/main" id="{790DA4FC-8D4D-C25C-197C-2EFF650E4708}"/>
              </a:ext>
            </a:extLst>
          </p:cNvPr>
          <p:cNvSpPr>
            <a:spLocks noGrp="1"/>
          </p:cNvSpPr>
          <p:nvPr>
            <p:ph idx="1"/>
          </p:nvPr>
        </p:nvSpPr>
        <p:spPr>
          <a:xfrm>
            <a:off x="149902" y="1139252"/>
            <a:ext cx="12042098" cy="5718747"/>
          </a:xfrm>
        </p:spPr>
        <p:txBody>
          <a:bodyPr>
            <a:normAutofit/>
          </a:bodyPr>
          <a:lstStyle/>
          <a:p>
            <a:pPr marL="0" indent="0">
              <a:buNone/>
            </a:pPr>
            <a:r>
              <a:rPr lang="en-US" dirty="0"/>
              <a:t> </a:t>
            </a:r>
            <a:endParaRPr lang="en-GB" dirty="0"/>
          </a:p>
        </p:txBody>
      </p:sp>
      <p:sp>
        <p:nvSpPr>
          <p:cNvPr id="6" name="TextBox 5">
            <a:extLst>
              <a:ext uri="{FF2B5EF4-FFF2-40B4-BE49-F238E27FC236}">
                <a16:creationId xmlns:a16="http://schemas.microsoft.com/office/drawing/2014/main" id="{6EDE36D8-627C-96B5-15D7-E737B534E0C8}"/>
              </a:ext>
            </a:extLst>
          </p:cNvPr>
          <p:cNvSpPr txBox="1"/>
          <p:nvPr/>
        </p:nvSpPr>
        <p:spPr>
          <a:xfrm>
            <a:off x="0" y="1139251"/>
            <a:ext cx="11707318" cy="7463582"/>
          </a:xfrm>
          <a:prstGeom prst="rect">
            <a:avLst/>
          </a:prstGeom>
          <a:noFill/>
        </p:spPr>
        <p:txBody>
          <a:bodyPr wrap="square" rtlCol="0">
            <a:spAutoFit/>
          </a:bodyPr>
          <a:lstStyle/>
          <a:p>
            <a:r>
              <a:rPr lang="en-US" sz="3200" dirty="0"/>
              <a:t>An </a:t>
            </a:r>
            <a:r>
              <a:rPr lang="en-US" sz="3200" b="1" dirty="0"/>
              <a:t>internetwork</a:t>
            </a:r>
            <a:r>
              <a:rPr lang="en-US" sz="3200" dirty="0"/>
              <a:t> is formed by </a:t>
            </a:r>
            <a:r>
              <a:rPr lang="en-US" sz="3200" b="1" dirty="0"/>
              <a:t>connecting two or more networks</a:t>
            </a:r>
            <a:r>
              <a:rPr lang="en-US" sz="3200" dirty="0" smtClean="0"/>
              <a:t>.</a:t>
            </a:r>
            <a:endParaRPr lang="en-US" sz="3200" b="1" dirty="0"/>
          </a:p>
          <a:p>
            <a:r>
              <a:rPr lang="en-US" sz="3200" dirty="0"/>
              <a:t>Internet (largest internetwork)</a:t>
            </a:r>
          </a:p>
          <a:p>
            <a:r>
              <a:rPr lang="en-US" sz="3200" dirty="0"/>
              <a:t>Company LAN + WAN + MAN </a:t>
            </a:r>
            <a:r>
              <a:rPr lang="en-US" sz="3200" dirty="0" smtClean="0"/>
              <a:t>combined</a:t>
            </a:r>
          </a:p>
          <a:p>
            <a:r>
              <a:rPr lang="en-US" sz="3200" dirty="0"/>
              <a:t>The </a:t>
            </a:r>
            <a:r>
              <a:rPr lang="en-US" sz="3200" b="1" dirty="0"/>
              <a:t>Internet</a:t>
            </a:r>
            <a:r>
              <a:rPr lang="en-US" sz="3200" dirty="0"/>
              <a:t> itself is the largest internetwork</a:t>
            </a:r>
            <a:br>
              <a:rPr lang="en-US" sz="3200" dirty="0"/>
            </a:br>
            <a:r>
              <a:rPr lang="en-US" sz="3200" dirty="0"/>
              <a:t>(because it connects millions of networks worldwide)</a:t>
            </a:r>
            <a:endParaRPr lang="en-US" sz="3200" dirty="0"/>
          </a:p>
          <a:p>
            <a:r>
              <a:rPr lang="en-US" sz="3200" b="1" dirty="0" smtClean="0"/>
              <a:t> </a:t>
            </a:r>
            <a:r>
              <a:rPr lang="en-US" sz="3200" b="1" dirty="0"/>
              <a:t>Example</a:t>
            </a:r>
          </a:p>
          <a:p>
            <a:r>
              <a:rPr lang="en-US" sz="3200" dirty="0" smtClean="0"/>
              <a:t>Your </a:t>
            </a:r>
            <a:r>
              <a:rPr lang="en-US" sz="3200" dirty="0"/>
              <a:t>home Wi-Fi is one network</a:t>
            </a:r>
            <a:br>
              <a:rPr lang="en-US" sz="3200" dirty="0"/>
            </a:br>
            <a:r>
              <a:rPr lang="en-US" sz="3200" dirty="0"/>
              <a:t>Google servers are another network</a:t>
            </a:r>
          </a:p>
          <a:p>
            <a:r>
              <a:rPr lang="en-US" sz="3200" dirty="0"/>
              <a:t>When you open Google:</a:t>
            </a:r>
          </a:p>
          <a:p>
            <a:r>
              <a:rPr lang="en-US" sz="3200" dirty="0" smtClean="0"/>
              <a:t> </a:t>
            </a:r>
            <a:r>
              <a:rPr lang="en-US" sz="3200" dirty="0"/>
              <a:t>Your home network connects to another network</a:t>
            </a:r>
            <a:br>
              <a:rPr lang="en-US" sz="3200" dirty="0"/>
            </a:br>
            <a:r>
              <a:rPr lang="en-US" sz="3200" dirty="0"/>
              <a:t>This connection = </a:t>
            </a:r>
            <a:r>
              <a:rPr lang="en-US" sz="3200" b="1" dirty="0"/>
              <a:t>Internetwork</a:t>
            </a:r>
            <a:endParaRPr lang="en-US" sz="3200" dirty="0"/>
          </a:p>
          <a:p>
            <a:endParaRPr lang="en-US" sz="3200" dirty="0"/>
          </a:p>
          <a:p>
            <a:endParaRPr lang="en-US" dirty="0"/>
          </a:p>
          <a:p>
            <a:endParaRPr lang="en-GB" dirty="0"/>
          </a:p>
          <a:p>
            <a:endParaRPr lang="en-GB" dirty="0"/>
          </a:p>
          <a:p>
            <a:endParaRPr lang="en-GB" dirty="0"/>
          </a:p>
          <a:p>
            <a:endParaRPr lang="en-GB" dirty="0"/>
          </a:p>
        </p:txBody>
      </p:sp>
    </p:spTree>
    <p:extLst>
      <p:ext uri="{BB962C8B-B14F-4D97-AF65-F5344CB8AC3E}">
        <p14:creationId xmlns:p14="http://schemas.microsoft.com/office/powerpoint/2010/main" val="40997906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B420313-4D14-4A70-A7AC-836FE2E9F46E}"/>
              </a:ext>
            </a:extLst>
          </p:cNvPr>
          <p:cNvSpPr/>
          <p:nvPr/>
        </p:nvSpPr>
        <p:spPr>
          <a:xfrm>
            <a:off x="825500" y="1143493"/>
            <a:ext cx="10528300" cy="5413248"/>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rgbClr val="D32A2A"/>
              </a:solidFill>
            </a:endParaRPr>
          </a:p>
        </p:txBody>
      </p:sp>
      <p:sp>
        <p:nvSpPr>
          <p:cNvPr id="2" name="Title 1">
            <a:extLst>
              <a:ext uri="{FF2B5EF4-FFF2-40B4-BE49-F238E27FC236}">
                <a16:creationId xmlns:a16="http://schemas.microsoft.com/office/drawing/2014/main" id="{87906394-C5CE-42DD-B341-066A6E26D664}"/>
              </a:ext>
            </a:extLst>
          </p:cNvPr>
          <p:cNvSpPr>
            <a:spLocks noGrp="1"/>
          </p:cNvSpPr>
          <p:nvPr>
            <p:ph type="title"/>
          </p:nvPr>
        </p:nvSpPr>
        <p:spPr>
          <a:xfrm>
            <a:off x="1558671" y="1526859"/>
            <a:ext cx="9061958" cy="1500188"/>
          </a:xfrm>
        </p:spPr>
        <p:txBody>
          <a:bodyPr>
            <a:normAutofit/>
          </a:bodyPr>
          <a:lstStyle/>
          <a:p>
            <a:pPr algn="ctr"/>
            <a:r>
              <a:rPr lang="en-GB" sz="4800" b="1" dirty="0">
                <a:solidFill>
                  <a:schemeClr val="bg1"/>
                </a:solidFill>
                <a:cs typeface="Arial" panose="020B0604020202020204" pitchFamily="34" charset="0"/>
              </a:rPr>
              <a:t>THANK YOU</a:t>
            </a:r>
            <a:endParaRPr lang="en-GB" sz="4800" i="1" dirty="0"/>
          </a:p>
        </p:txBody>
      </p:sp>
      <p:cxnSp>
        <p:nvCxnSpPr>
          <p:cNvPr id="6" name="Straight Connector 5">
            <a:extLst>
              <a:ext uri="{FF2B5EF4-FFF2-40B4-BE49-F238E27FC236}">
                <a16:creationId xmlns:a16="http://schemas.microsoft.com/office/drawing/2014/main" id="{99F09E0A-6668-4C26-83CB-C97A0AF9773E}"/>
              </a:ext>
            </a:extLst>
          </p:cNvPr>
          <p:cNvCxnSpPr>
            <a:cxnSpLocks/>
          </p:cNvCxnSpPr>
          <p:nvPr/>
        </p:nvCxnSpPr>
        <p:spPr>
          <a:xfrm>
            <a:off x="1558671" y="3484247"/>
            <a:ext cx="921296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itle 1">
            <a:extLst>
              <a:ext uri="{FF2B5EF4-FFF2-40B4-BE49-F238E27FC236}">
                <a16:creationId xmlns:a16="http://schemas.microsoft.com/office/drawing/2014/main" id="{63469167-935F-4853-A76C-2FA002B9FDCE}"/>
              </a:ext>
            </a:extLst>
          </p:cNvPr>
          <p:cNvSpPr txBox="1">
            <a:spLocks/>
          </p:cNvSpPr>
          <p:nvPr/>
        </p:nvSpPr>
        <p:spPr>
          <a:xfrm>
            <a:off x="1782572" y="3858962"/>
            <a:ext cx="9061958" cy="1500188"/>
          </a:xfrm>
          <a:prstGeom prst="rect">
            <a:avLst/>
          </a:prstGeom>
        </p:spPr>
        <p:txBody>
          <a:bodyPr vert="horz" lIns="91440" tIns="45720" rIns="91440" bIns="45720" rtlCol="0" anchor="b">
            <a:normAutofit fontScale="97500"/>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endParaRPr lang="en-GB" sz="3600" i="1" dirty="0">
              <a:solidFill>
                <a:schemeClr val="bg1"/>
              </a:solidFill>
            </a:endParaRPr>
          </a:p>
        </p:txBody>
      </p:sp>
      <p:sp>
        <p:nvSpPr>
          <p:cNvPr id="3" name="TextBox 2"/>
          <p:cNvSpPr txBox="1"/>
          <p:nvPr/>
        </p:nvSpPr>
        <p:spPr>
          <a:xfrm>
            <a:off x="4170003" y="3850117"/>
            <a:ext cx="4950373" cy="1138773"/>
          </a:xfrm>
          <a:prstGeom prst="rect">
            <a:avLst/>
          </a:prstGeom>
          <a:noFill/>
        </p:spPr>
        <p:txBody>
          <a:bodyPr wrap="square" rtlCol="0">
            <a:spAutoFit/>
          </a:bodyPr>
          <a:lstStyle/>
          <a:p>
            <a:r>
              <a:rPr lang="en-US" sz="4800" b="1" dirty="0">
                <a:solidFill>
                  <a:schemeClr val="bg1"/>
                </a:solidFill>
                <a:latin typeface="+mj-lt"/>
                <a:ea typeface="+mj-ea"/>
                <a:cs typeface="Arial" panose="020B0604020202020204" pitchFamily="34" charset="0"/>
              </a:rPr>
              <a:t>You can Find me:</a:t>
            </a:r>
          </a:p>
          <a:p>
            <a:pPr algn="ctr"/>
            <a:r>
              <a:rPr lang="en-US" sz="2000" b="1" dirty="0">
                <a:solidFill>
                  <a:schemeClr val="bg1"/>
                </a:solidFill>
                <a:latin typeface="+mj-lt"/>
                <a:ea typeface="+mj-ea"/>
                <a:cs typeface="Arial" panose="020B0604020202020204" pitchFamily="34" charset="0"/>
              </a:rPr>
              <a:t>mehakrana.CS@tuf.edu.pk</a:t>
            </a:r>
          </a:p>
        </p:txBody>
      </p:sp>
    </p:spTree>
    <p:extLst>
      <p:ext uri="{BB962C8B-B14F-4D97-AF65-F5344CB8AC3E}">
        <p14:creationId xmlns:p14="http://schemas.microsoft.com/office/powerpoint/2010/main" val="34105545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Lecture 6">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1017</TotalTime>
  <Words>875</Words>
  <Application>Microsoft Office PowerPoint</Application>
  <PresentationFormat>Widescreen</PresentationFormat>
  <Paragraphs>203</Paragraphs>
  <Slides>23</Slides>
  <Notes>0</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23</vt:i4>
      </vt:variant>
    </vt:vector>
  </HeadingPairs>
  <TitlesOfParts>
    <vt:vector size="31" baseType="lpstr">
      <vt:lpstr>Arial</vt:lpstr>
      <vt:lpstr>Arial Black</vt:lpstr>
      <vt:lpstr>Arial Narrow</vt:lpstr>
      <vt:lpstr>Calibri</vt:lpstr>
      <vt:lpstr>Calibri Light</vt:lpstr>
      <vt:lpstr>Office Theme</vt:lpstr>
      <vt:lpstr>Lecture 6</vt:lpstr>
      <vt:lpstr>1_Office Theme</vt:lpstr>
      <vt:lpstr>  Network Model  Types of Network:  Personal Area Network,  Local Area Network Metropolitan Area Network,  Wide Area Network Piconet, Ethernet, Fast Ethernet, Metro Ethernet, Internetwork </vt:lpstr>
      <vt:lpstr> Computer Networks</vt:lpstr>
      <vt:lpstr>Types of Computer Networks</vt:lpstr>
      <vt:lpstr>Personal Area Network (PAN) </vt:lpstr>
      <vt:lpstr>Personal Area Network (PAN) </vt:lpstr>
      <vt:lpstr> Types of Personal Area Network  </vt:lpstr>
      <vt:lpstr>Wired PAN </vt:lpstr>
      <vt:lpstr>Wireless PAN (WPAN) </vt:lpstr>
      <vt:lpstr>Local Area Network (LAN) </vt:lpstr>
      <vt:lpstr>Local Area Network (LAN) </vt:lpstr>
      <vt:lpstr>Metropolitan Area Network (MAN) </vt:lpstr>
      <vt:lpstr>Metropolitan Area Network (MAN) </vt:lpstr>
      <vt:lpstr>Wide Area Network (WAN) </vt:lpstr>
      <vt:lpstr>Wide Area Network (WAN) </vt:lpstr>
      <vt:lpstr>What is a Piconet?  </vt:lpstr>
      <vt:lpstr> Piconet </vt:lpstr>
      <vt:lpstr>Ethernet </vt:lpstr>
      <vt:lpstr>Fast Ethernet </vt:lpstr>
      <vt:lpstr>Metro Ethernet</vt:lpstr>
      <vt:lpstr>Metro Ethernet</vt:lpstr>
      <vt:lpstr>Comparasion Table</vt:lpstr>
      <vt:lpstr>Internetwork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Sofia Sultana</dc:creator>
  <cp:lastModifiedBy>Mehak Rana</cp:lastModifiedBy>
  <cp:revision>194</cp:revision>
  <dcterms:created xsi:type="dcterms:W3CDTF">2024-06-21T09:49:00Z</dcterms:created>
  <dcterms:modified xsi:type="dcterms:W3CDTF">2026-02-20T04:43:59Z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D61AE8DE3F6049F98ADA58C240837B38_12</vt:lpwstr>
  </property>
  <property fmtid="{D5CDD505-2E9C-101B-9397-08002B2CF9AE}" pid="3" name="KSOProductBuildVer">
    <vt:lpwstr>1033-12.2.0.13472</vt:lpwstr>
  </property>
</Properties>
</file>