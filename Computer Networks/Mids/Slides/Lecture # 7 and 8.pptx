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8"/>
  </p:notesMasterIdLst>
  <p:sldIdLst>
    <p:sldId id="273" r:id="rId4"/>
    <p:sldId id="953" r:id="rId5"/>
    <p:sldId id="954" r:id="rId6"/>
    <p:sldId id="955" r:id="rId7"/>
    <p:sldId id="974" r:id="rId8"/>
    <p:sldId id="971" r:id="rId9"/>
    <p:sldId id="956" r:id="rId10"/>
    <p:sldId id="957" r:id="rId11"/>
    <p:sldId id="958" r:id="rId12"/>
    <p:sldId id="972" r:id="rId13"/>
    <p:sldId id="959" r:id="rId14"/>
    <p:sldId id="975" r:id="rId15"/>
    <p:sldId id="976" r:id="rId16"/>
    <p:sldId id="970" r:id="rId1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2140" autoAdjust="0"/>
  </p:normalViewPr>
  <p:slideViewPr>
    <p:cSldViewPr snapToGrid="0">
      <p:cViewPr varScale="1">
        <p:scale>
          <a:sx n="83" d="100"/>
          <a:sy n="83" d="100"/>
        </p:scale>
        <p:origin x="6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4" y="393485"/>
            <a:ext cx="1696502" cy="89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220098" y="232428"/>
            <a:ext cx="10146434" cy="3784936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Network Model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  <a:t>Protocols and Standards, Internet Standards</a:t>
            </a:r>
            <a:b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3100" b="1" dirty="0">
                <a:solidFill>
                  <a:schemeClr val="bg1"/>
                </a:solidFill>
                <a:latin typeface="Arial Narrow" panose="020B0606020202030204" pitchFamily="34" charset="0"/>
              </a:rPr>
              <a:t>LAYERED TASKS:</a:t>
            </a:r>
            <a: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  <a:t> Sender, Receiver, and Carrier.</a:t>
            </a:r>
            <a:r>
              <a:rPr lang="en-GB" sz="3100" dirty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GB" sz="31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3100" b="1" dirty="0">
                <a:solidFill>
                  <a:schemeClr val="bg1"/>
                </a:solidFill>
                <a:latin typeface="Arial Narrow" panose="020B0606020202030204" pitchFamily="34" charset="0"/>
              </a:rPr>
              <a:t>THE OSI MODEL:</a:t>
            </a:r>
            <a: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  <a:t> Layered Architecture ,</a:t>
            </a:r>
            <a:b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  <a:t> Peer-to-Peer Processes,</a:t>
            </a:r>
            <a:b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3100" dirty="0">
                <a:solidFill>
                  <a:schemeClr val="bg1"/>
                </a:solidFill>
                <a:latin typeface="Arial Narrow" panose="020B0606020202030204" pitchFamily="34" charset="0"/>
              </a:rPr>
              <a:t> Encapsulation</a:t>
            </a:r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100" b="1" dirty="0">
                <a:solidFill>
                  <a:schemeClr val="bg1"/>
                </a:solidFill>
                <a:latin typeface="+mn-lt"/>
              </a:rPr>
              <a:t/>
            </a:r>
            <a:br>
              <a:rPr lang="en-US" sz="3100" b="1" dirty="0">
                <a:solidFill>
                  <a:schemeClr val="bg1"/>
                </a:solidFill>
                <a:latin typeface="+mn-lt"/>
              </a:rPr>
            </a:br>
            <a:endParaRPr lang="en-US" sz="31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49064" y="3894654"/>
            <a:ext cx="12192000" cy="16557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Lecture # 7 and 8</a:t>
            </a:r>
          </a:p>
          <a:p>
            <a:r>
              <a:rPr lang="en-US" b="1" dirty="0">
                <a:solidFill>
                  <a:schemeClr val="bg1"/>
                </a:solidFill>
              </a:rPr>
              <a:t>Week# 4</a:t>
            </a:r>
          </a:p>
          <a:p>
            <a:r>
              <a:rPr lang="en-US" dirty="0">
                <a:solidFill>
                  <a:schemeClr val="bg1"/>
                </a:solidFill>
              </a:rPr>
              <a:t>Data Communications and Networking, Fourth Edition, Behrouz A. </a:t>
            </a:r>
            <a:r>
              <a:rPr lang="en-US" dirty="0" err="1">
                <a:solidFill>
                  <a:schemeClr val="bg1"/>
                </a:solidFill>
              </a:rPr>
              <a:t>Forouzan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355" y="5695313"/>
            <a:ext cx="3129619" cy="990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982" y="244840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88020"/>
            <a:ext cx="12020273" cy="6030410"/>
          </a:xfrm>
        </p:spPr>
        <p:txBody>
          <a:bodyPr>
            <a:normAutofit/>
          </a:bodyPr>
          <a:lstStyle/>
          <a:p>
            <a:r>
              <a:rPr lang="en-US" sz="2400" b="1" dirty="0"/>
              <a:t>Protocols and Standards</a:t>
            </a:r>
          </a:p>
          <a:p>
            <a:pPr marL="0" indent="0">
              <a:buNone/>
            </a:pPr>
            <a:r>
              <a:rPr lang="en-US" sz="2400" b="1" dirty="0"/>
              <a:t>What is a Protocol?</a:t>
            </a:r>
          </a:p>
          <a:p>
            <a:r>
              <a:rPr lang="en-US" sz="2400" dirty="0"/>
              <a:t>A </a:t>
            </a:r>
            <a:r>
              <a:rPr lang="en-US" sz="2400" b="1" dirty="0"/>
              <a:t>protocol</a:t>
            </a:r>
            <a:r>
              <a:rPr lang="en-US" sz="2400" dirty="0"/>
              <a:t> is a </a:t>
            </a:r>
            <a:r>
              <a:rPr lang="en-US" sz="2400" b="1" dirty="0"/>
              <a:t>set of rules</a:t>
            </a:r>
            <a:r>
              <a:rPr lang="en-US" sz="2400" dirty="0"/>
              <a:t> that computers follow to communicate with each other.</a:t>
            </a:r>
          </a:p>
          <a:p>
            <a:pPr marL="0" indent="0">
              <a:buNone/>
            </a:pPr>
            <a:r>
              <a:rPr lang="en-US" sz="2400" b="1" dirty="0"/>
              <a:t>Protocol = Language of computers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 Example</a:t>
            </a:r>
          </a:p>
          <a:p>
            <a:r>
              <a:rPr lang="en-US" sz="2400" dirty="0"/>
              <a:t>Just like humans use </a:t>
            </a:r>
            <a:r>
              <a:rPr lang="en-US" sz="2400" b="1" dirty="0"/>
              <a:t>English or Urdu</a:t>
            </a:r>
            <a:r>
              <a:rPr lang="en-US" sz="2400" dirty="0"/>
              <a:t> to talk, computers use protocols like:</a:t>
            </a:r>
          </a:p>
          <a:p>
            <a:r>
              <a:rPr lang="en-US" sz="2400" dirty="0"/>
              <a:t>HTTP</a:t>
            </a:r>
          </a:p>
          <a:p>
            <a:r>
              <a:rPr lang="en-US" sz="2400" dirty="0"/>
              <a:t>TCP</a:t>
            </a:r>
          </a:p>
          <a:p>
            <a:r>
              <a:rPr lang="en-US" sz="2400" dirty="0"/>
              <a:t>IP</a:t>
            </a:r>
          </a:p>
          <a:p>
            <a:pPr marL="0" indent="0">
              <a:buNone/>
            </a:pPr>
            <a:r>
              <a:rPr lang="en-US" sz="2400" dirty="0"/>
              <a:t> Without protocols, computers </a:t>
            </a:r>
            <a:r>
              <a:rPr lang="en-US" sz="2400" b="1" dirty="0"/>
              <a:t>cannot understand each other</a:t>
            </a:r>
            <a:r>
              <a:rPr lang="en-US" sz="2400" dirty="0"/>
              <a:t>.</a:t>
            </a:r>
          </a:p>
          <a:p>
            <a:pPr algn="just"/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6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818" y="481089"/>
            <a:ext cx="9119683" cy="34617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Standards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55156-D82A-85F5-DB5D-CA932585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1184223"/>
            <a:ext cx="12057089" cy="567377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are Standards?</a:t>
            </a:r>
          </a:p>
          <a:p>
            <a:r>
              <a:rPr lang="en-US" b="1" dirty="0"/>
              <a:t>Standards</a:t>
            </a:r>
            <a:r>
              <a:rPr lang="en-US" dirty="0"/>
              <a:t> are </a:t>
            </a:r>
            <a:r>
              <a:rPr lang="en-US" b="1" dirty="0"/>
              <a:t>official rules</a:t>
            </a:r>
            <a:r>
              <a:rPr lang="en-US" dirty="0"/>
              <a:t> that ensure:</a:t>
            </a:r>
          </a:p>
          <a:p>
            <a:r>
              <a:rPr lang="en-US" dirty="0"/>
              <a:t>Devices from different companies work together</a:t>
            </a:r>
          </a:p>
          <a:p>
            <a:r>
              <a:rPr lang="en-US" dirty="0"/>
              <a:t>Communication is reliable and correct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Laptop (HP) communicating with server (Dell)</a:t>
            </a:r>
          </a:p>
          <a:p>
            <a:r>
              <a:rPr lang="en-US" dirty="0"/>
              <a:t>Mobile phone connecting to Wi-Fi router</a:t>
            </a:r>
          </a:p>
          <a:p>
            <a:pPr marL="0" indent="0">
              <a:buNone/>
            </a:pPr>
            <a:r>
              <a:rPr lang="en-US" dirty="0"/>
              <a:t> This works because everyone follows the </a:t>
            </a:r>
            <a:r>
              <a:rPr lang="en-US" b="1" dirty="0"/>
              <a:t>same standards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Easy Analogy</a:t>
            </a:r>
          </a:p>
          <a:p>
            <a:r>
              <a:rPr lang="en-US" dirty="0"/>
              <a:t>Traffic rules:</a:t>
            </a:r>
          </a:p>
          <a:p>
            <a:r>
              <a:rPr lang="en-US" dirty="0"/>
              <a:t>Red = Stop</a:t>
            </a:r>
          </a:p>
          <a:p>
            <a:r>
              <a:rPr lang="en-US" dirty="0"/>
              <a:t>Green = Go</a:t>
            </a:r>
            <a:br>
              <a:rPr lang="en-US" dirty="0"/>
            </a:br>
            <a:r>
              <a:rPr lang="en-US" dirty="0"/>
              <a:t>Everyone follows the same rules → no accidents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27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0934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Internet Standards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22494"/>
            <a:ext cx="11968223" cy="57612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 What are Internet Standards?</a:t>
            </a:r>
          </a:p>
          <a:p>
            <a:r>
              <a:rPr lang="en-GB" dirty="0"/>
              <a:t>Internet standards are </a:t>
            </a:r>
            <a:r>
              <a:rPr lang="en-GB" b="1" dirty="0"/>
              <a:t>rules specifically made for the Internet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 They define:</a:t>
            </a:r>
          </a:p>
          <a:p>
            <a:r>
              <a:rPr lang="en-GB" dirty="0"/>
              <a:t>How data is sent</a:t>
            </a:r>
          </a:p>
          <a:p>
            <a:r>
              <a:rPr lang="en-GB" dirty="0"/>
              <a:t>How websites work</a:t>
            </a:r>
          </a:p>
          <a:p>
            <a:r>
              <a:rPr lang="en-GB" dirty="0"/>
              <a:t>How emails are delivered</a:t>
            </a:r>
          </a:p>
          <a:p>
            <a:pPr marL="0" indent="0">
              <a:buNone/>
            </a:pPr>
            <a:r>
              <a:rPr lang="en-GB" b="1" dirty="0"/>
              <a:t>Examples of Internet Standards</a:t>
            </a:r>
          </a:p>
          <a:p>
            <a:r>
              <a:rPr lang="en-GB" b="1" dirty="0"/>
              <a:t>HTTP</a:t>
            </a:r>
            <a:r>
              <a:rPr lang="en-GB" dirty="0"/>
              <a:t> → Web browsing</a:t>
            </a:r>
          </a:p>
          <a:p>
            <a:r>
              <a:rPr lang="en-GB" b="1" dirty="0"/>
              <a:t>FTP</a:t>
            </a:r>
            <a:r>
              <a:rPr lang="en-GB" dirty="0"/>
              <a:t> → File transfer</a:t>
            </a:r>
          </a:p>
          <a:p>
            <a:r>
              <a:rPr lang="en-GB" b="1" dirty="0"/>
              <a:t>SMTP</a:t>
            </a:r>
            <a:r>
              <a:rPr lang="en-GB" dirty="0"/>
              <a:t> → Email sending</a:t>
            </a:r>
          </a:p>
          <a:p>
            <a:r>
              <a:rPr lang="en-GB" b="1" dirty="0"/>
              <a:t>IP</a:t>
            </a:r>
            <a:r>
              <a:rPr lang="en-GB" dirty="0"/>
              <a:t> → Addressing</a:t>
            </a:r>
          </a:p>
          <a:p>
            <a:pPr marL="0" indent="0">
              <a:buNone/>
            </a:pPr>
            <a:r>
              <a:rPr lang="en-GB" b="1" dirty="0"/>
              <a:t> Simple Example</a:t>
            </a:r>
          </a:p>
          <a:p>
            <a:r>
              <a:rPr lang="en-GB" dirty="0"/>
              <a:t>When you open </a:t>
            </a:r>
            <a:r>
              <a:rPr lang="en-GB" b="1" dirty="0"/>
              <a:t>google.com</a:t>
            </a:r>
            <a:r>
              <a:rPr lang="en-GB" dirty="0"/>
              <a:t>, it works because:</a:t>
            </a:r>
          </a:p>
          <a:p>
            <a:r>
              <a:rPr lang="en-GB" dirty="0"/>
              <a:t>Browser</a:t>
            </a:r>
          </a:p>
          <a:p>
            <a:r>
              <a:rPr lang="en-GB" dirty="0"/>
              <a:t>Server</a:t>
            </a:r>
            <a:br>
              <a:rPr lang="en-GB" dirty="0"/>
            </a:br>
            <a:r>
              <a:rPr lang="en-GB" dirty="0"/>
              <a:t>Both follow </a:t>
            </a:r>
            <a:r>
              <a:rPr lang="en-GB" b="1" dirty="0"/>
              <a:t>Internet standards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7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86CF-DF8F-557A-3D3F-B9CC886E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4110-01D0-7F0F-9361-C1FB016E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70934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Layered Tasks: Sender, Receiver, and Carrier</a:t>
            </a:r>
            <a:b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8970E-5156-3293-B974-7AD906D3C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22494"/>
            <a:ext cx="11968223" cy="55355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Communication is divided into </a:t>
            </a:r>
            <a:r>
              <a:rPr lang="en-US" b="1" dirty="0"/>
              <a:t>layers</a:t>
            </a:r>
            <a:r>
              <a:rPr lang="en-US" dirty="0"/>
              <a:t>, and each layer has a </a:t>
            </a:r>
            <a:r>
              <a:rPr lang="en-US" b="1" dirty="0"/>
              <a:t>specific job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u="sng" dirty="0"/>
              <a:t>Sender</a:t>
            </a:r>
          </a:p>
          <a:p>
            <a:r>
              <a:rPr lang="en-US" dirty="0"/>
              <a:t>Prepares data</a:t>
            </a:r>
          </a:p>
          <a:p>
            <a:r>
              <a:rPr lang="en-US" dirty="0"/>
              <a:t>Breaks data into packets</a:t>
            </a:r>
          </a:p>
          <a:p>
            <a:r>
              <a:rPr lang="en-US" dirty="0"/>
              <a:t>Adds address information</a:t>
            </a:r>
          </a:p>
          <a:p>
            <a:pPr marL="0" indent="0">
              <a:buNone/>
            </a:pPr>
            <a:r>
              <a:rPr lang="en-US" dirty="0"/>
              <a:t> Example:</a:t>
            </a:r>
            <a:br>
              <a:rPr lang="en-US" dirty="0"/>
            </a:br>
            <a:r>
              <a:rPr lang="en-US" dirty="0"/>
              <a:t>You send a WhatsApp message.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u="sng" dirty="0"/>
              <a:t>Carrier</a:t>
            </a:r>
          </a:p>
          <a:p>
            <a:r>
              <a:rPr lang="en-US" dirty="0"/>
              <a:t>Carries data through the network</a:t>
            </a:r>
          </a:p>
          <a:p>
            <a:r>
              <a:rPr lang="en-US" dirty="0"/>
              <a:t>Uses cables, Wi-Fi, fiber, etc.</a:t>
            </a:r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Internet cables and Wi-Fi signals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u="sng" dirty="0"/>
              <a:t>Receiver</a:t>
            </a:r>
          </a:p>
          <a:p>
            <a:r>
              <a:rPr lang="en-US" dirty="0"/>
              <a:t>Receives data</a:t>
            </a:r>
          </a:p>
          <a:p>
            <a:r>
              <a:rPr lang="en-US" dirty="0"/>
              <a:t>Reassembles packets</a:t>
            </a:r>
          </a:p>
          <a:p>
            <a:r>
              <a:rPr lang="en-US" dirty="0"/>
              <a:t>Shows message to user</a:t>
            </a:r>
          </a:p>
          <a:p>
            <a:pPr marL="0" indent="0">
              <a:buNone/>
            </a:pPr>
            <a:r>
              <a:rPr lang="en-US" dirty="0"/>
              <a:t> Example:</a:t>
            </a:r>
            <a:br>
              <a:rPr lang="en-US" dirty="0"/>
            </a:br>
            <a:r>
              <a:rPr lang="en-US" dirty="0"/>
              <a:t>Your friend receives and reads the message.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372A0-3811-7627-141C-7C4D387555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0600-5961-C835-B540-1B594C07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5AAF-06E3-CC78-5E0E-52922504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70934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Layered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597CA-31DA-AF84-FD2C-1D51405472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60701-2DE4-4CA4-3C0D-3CA2B611F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2" y="1169233"/>
            <a:ext cx="12042098" cy="5688767"/>
          </a:xfrm>
        </p:spPr>
        <p:txBody>
          <a:bodyPr/>
          <a:lstStyle/>
          <a:p>
            <a:r>
              <a:rPr lang="en-US" b="1" dirty="0"/>
              <a:t>Layered Architecture (OSI Model Concept)</a:t>
            </a:r>
          </a:p>
          <a:p>
            <a:pPr marL="0" indent="0">
              <a:buNone/>
            </a:pPr>
            <a:r>
              <a:rPr lang="en-US" b="1" dirty="0"/>
              <a:t>What is Layered Architecture?</a:t>
            </a:r>
          </a:p>
          <a:p>
            <a:r>
              <a:rPr lang="en-US" dirty="0"/>
              <a:t>Layered architecture means:</a:t>
            </a:r>
          </a:p>
          <a:p>
            <a:r>
              <a:rPr lang="en-US" dirty="0"/>
              <a:t>Each layer performs </a:t>
            </a:r>
            <a:r>
              <a:rPr lang="en-US" b="1" dirty="0"/>
              <a:t>one specific function</a:t>
            </a:r>
            <a:endParaRPr lang="en-US" dirty="0"/>
          </a:p>
          <a:p>
            <a:r>
              <a:rPr lang="en-US" dirty="0"/>
              <a:t>Layers work </a:t>
            </a:r>
            <a:r>
              <a:rPr lang="en-US" b="1" dirty="0"/>
              <a:t>independently</a:t>
            </a:r>
            <a:endParaRPr lang="en-US" dirty="0"/>
          </a:p>
          <a:p>
            <a:r>
              <a:rPr lang="en-GB" dirty="0"/>
              <a:t> </a:t>
            </a:r>
            <a:r>
              <a:rPr lang="en-US" b="1" dirty="0"/>
              <a:t>Example</a:t>
            </a:r>
          </a:p>
          <a:p>
            <a:r>
              <a:rPr lang="en-US" dirty="0"/>
              <a:t>If </a:t>
            </a:r>
            <a:r>
              <a:rPr lang="en-US" b="1" dirty="0"/>
              <a:t>internet is slow</a:t>
            </a:r>
            <a:r>
              <a:rPr lang="en-US" dirty="0"/>
              <a:t>:</a:t>
            </a:r>
          </a:p>
          <a:p>
            <a:r>
              <a:rPr lang="en-US" dirty="0"/>
              <a:t>Physical layer → cable issue</a:t>
            </a:r>
          </a:p>
          <a:p>
            <a:r>
              <a:rPr lang="en-US" dirty="0"/>
              <a:t>Network layer → IP problem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904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51" y="674557"/>
            <a:ext cx="10911840" cy="361377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The OSI Model</a:t>
            </a:r>
            <a:br>
              <a:rPr lang="en-US" sz="5400" b="1" dirty="0">
                <a:solidFill>
                  <a:schemeClr val="bg1"/>
                </a:solidFill>
              </a:rPr>
            </a:br>
            <a:endParaRPr lang="en-US" sz="5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72" y="1226916"/>
            <a:ext cx="11979798" cy="5822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</a:t>
            </a:r>
            <a:r>
              <a:rPr lang="en-US" sz="3600" b="1" dirty="0"/>
              <a:t>OSI Model</a:t>
            </a:r>
            <a:r>
              <a:rPr lang="en-US" sz="3600" dirty="0"/>
              <a:t> is a </a:t>
            </a:r>
            <a:r>
              <a:rPr lang="en-US" sz="3600" b="1" dirty="0"/>
              <a:t>7-layer reference model</a:t>
            </a:r>
            <a:r>
              <a:rPr lang="en-US" sz="3600" dirty="0"/>
              <a:t> that explains </a:t>
            </a:r>
            <a:r>
              <a:rPr lang="en-US" sz="3600" b="1" dirty="0"/>
              <a:t>how data moves from sender to receiver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 OSI = </a:t>
            </a:r>
            <a:r>
              <a:rPr lang="en-US" sz="3600" i="1" dirty="0"/>
              <a:t>Open Systems Interconnection</a:t>
            </a:r>
          </a:p>
          <a:p>
            <a:r>
              <a:rPr lang="en-US" sz="3600" b="1" dirty="0"/>
              <a:t>Why OSI Model?</a:t>
            </a:r>
          </a:p>
          <a:p>
            <a:r>
              <a:rPr lang="en-US" sz="3600" dirty="0"/>
              <a:t>Makes networking easy to understand</a:t>
            </a:r>
          </a:p>
          <a:p>
            <a:r>
              <a:rPr lang="en-US" sz="3600" dirty="0"/>
              <a:t>Divides complex communication into steps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4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758" y="312739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>7 Layers of OSI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100" name="AutoShape 4" descr="Image result for network reliability"/>
          <p:cNvSpPr>
            <a:spLocks noChangeAspect="1" noChangeArrowheads="1"/>
          </p:cNvSpPr>
          <p:nvPr/>
        </p:nvSpPr>
        <p:spPr bwMode="auto">
          <a:xfrm>
            <a:off x="207434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Image result for network reliability"/>
          <p:cNvSpPr>
            <a:spLocks noChangeAspect="1" noChangeArrowheads="1"/>
          </p:cNvSpPr>
          <p:nvPr/>
        </p:nvSpPr>
        <p:spPr bwMode="auto">
          <a:xfrm>
            <a:off x="207434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Reliability - Free security icons"/>
          <p:cNvSpPr>
            <a:spLocks noChangeAspect="1" noChangeArrowheads="1"/>
          </p:cNvSpPr>
          <p:nvPr/>
        </p:nvSpPr>
        <p:spPr bwMode="auto">
          <a:xfrm>
            <a:off x="188576" y="-144463"/>
            <a:ext cx="36945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Reliability - Free security icons"/>
          <p:cNvSpPr>
            <a:spLocks noChangeAspect="1" noChangeArrowheads="1"/>
          </p:cNvSpPr>
          <p:nvPr/>
        </p:nvSpPr>
        <p:spPr bwMode="auto">
          <a:xfrm>
            <a:off x="373303" y="7938"/>
            <a:ext cx="36945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003E624-4B66-D292-7A0C-F53C9B1B4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267188"/>
              </p:ext>
            </p:extLst>
          </p:nvPr>
        </p:nvGraphicFramePr>
        <p:xfrm>
          <a:off x="1" y="1199212"/>
          <a:ext cx="12192000" cy="5650848"/>
        </p:xfrm>
        <a:graphic>
          <a:graphicData uri="http://schemas.openxmlformats.org/drawingml/2006/table">
            <a:tbl>
              <a:tblPr/>
              <a:tblGrid>
                <a:gridCol w="5862536">
                  <a:extLst>
                    <a:ext uri="{9D8B030D-6E8A-4147-A177-3AD203B41FA5}">
                      <a16:colId xmlns:a16="http://schemas.microsoft.com/office/drawing/2014/main" val="768451279"/>
                    </a:ext>
                  </a:extLst>
                </a:gridCol>
                <a:gridCol w="6329464">
                  <a:extLst>
                    <a:ext uri="{9D8B030D-6E8A-4147-A177-3AD203B41FA5}">
                      <a16:colId xmlns:a16="http://schemas.microsoft.com/office/drawing/2014/main" val="743171388"/>
                    </a:ext>
                  </a:extLst>
                </a:gridCol>
              </a:tblGrid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 b="1" dirty="0">
                          <a:latin typeface="Arial Black" panose="020B0A04020102020204" pitchFamily="34" charset="0"/>
                        </a:rPr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600" b="1" dirty="0">
                          <a:latin typeface="Arial Black" panose="020B0A04020102020204" pitchFamily="34" charset="0"/>
                        </a:rPr>
                        <a:t>Purpose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247764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7.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 interaction (Browser, Email)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91202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6.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Format &amp; encryption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019671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5. 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Session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43062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4. Transport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Reliable delivery (TCP/UDP)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750883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3.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Routing &amp; IP addressing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931479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2. Data 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MAC address &amp; framing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789249"/>
                  </a:ext>
                </a:extLst>
              </a:tr>
              <a:tr h="70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1. 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Cables, signals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45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76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62467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Peer-to-Peer Processes</a:t>
            </a:r>
            <a:b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72" y="1215341"/>
            <a:ext cx="12087828" cy="5752617"/>
          </a:xfrm>
        </p:spPr>
        <p:txBody>
          <a:bodyPr>
            <a:normAutofit/>
          </a:bodyPr>
          <a:lstStyle/>
          <a:p>
            <a:r>
              <a:rPr lang="en-US" sz="2400" b="1" dirty="0"/>
              <a:t>What is Peer-to-Peer (P2P)?</a:t>
            </a:r>
          </a:p>
          <a:p>
            <a:r>
              <a:rPr lang="en-US" sz="2400" dirty="0"/>
              <a:t>In </a:t>
            </a:r>
            <a:r>
              <a:rPr lang="en-US" sz="2400" b="1" dirty="0"/>
              <a:t>Peer-to-Peer</a:t>
            </a:r>
            <a:r>
              <a:rPr lang="en-US" sz="2400" dirty="0"/>
              <a:t>, </a:t>
            </a:r>
            <a:r>
              <a:rPr lang="en-US" sz="2400" b="1" dirty="0"/>
              <a:t>both devices act as sender and receiver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 No central server needed.</a:t>
            </a:r>
          </a:p>
          <a:p>
            <a:pPr marL="0" indent="0">
              <a:buNone/>
            </a:pPr>
            <a:r>
              <a:rPr lang="en-US" sz="2400" b="1" dirty="0"/>
              <a:t> Examples</a:t>
            </a:r>
          </a:p>
          <a:p>
            <a:r>
              <a:rPr lang="en-US" sz="2400" dirty="0"/>
              <a:t>File sharing apps</a:t>
            </a:r>
          </a:p>
          <a:p>
            <a:r>
              <a:rPr lang="en-US" sz="2400" dirty="0"/>
              <a:t>Bluetooth file transfer</a:t>
            </a:r>
          </a:p>
          <a:p>
            <a:r>
              <a:rPr lang="en-US" sz="2400" dirty="0"/>
              <a:t>Torrent download</a:t>
            </a:r>
          </a:p>
          <a:p>
            <a:pPr marL="0" indent="0">
              <a:buNone/>
            </a:pPr>
            <a:r>
              <a:rPr lang="en-US" sz="2400" b="1" dirty="0"/>
              <a:t> Easy Example</a:t>
            </a:r>
          </a:p>
          <a:p>
            <a:r>
              <a:rPr lang="en-US" sz="2400" dirty="0"/>
              <a:t>Two friends:</a:t>
            </a:r>
          </a:p>
          <a:p>
            <a:r>
              <a:rPr lang="en-US" sz="2400" dirty="0"/>
              <a:t>Both can talk</a:t>
            </a:r>
          </a:p>
          <a:p>
            <a:r>
              <a:rPr lang="en-US" sz="2400" dirty="0"/>
              <a:t>Both can listen</a:t>
            </a:r>
            <a:br>
              <a:rPr lang="en-US" sz="2400" dirty="0"/>
            </a:br>
            <a:r>
              <a:rPr lang="en-US" sz="2400" dirty="0"/>
              <a:t>No boss in between</a:t>
            </a:r>
          </a:p>
          <a:p>
            <a:pPr algn="just"/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DB545-D87F-F3E5-A351-F9A0E1A8A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966" y="1973337"/>
            <a:ext cx="8587846" cy="442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8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0884-FF14-FF40-3181-697B3281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3F01-FBBE-196A-5677-293477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262467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3FDB2-BD9B-CA1F-84E8-457717EDF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" y="1215341"/>
            <a:ext cx="12087828" cy="5752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What is Encapsulation? </a:t>
            </a:r>
          </a:p>
          <a:p>
            <a:r>
              <a:rPr lang="en-US" sz="2400" b="1" dirty="0"/>
              <a:t>Encapsulation</a:t>
            </a:r>
            <a:r>
              <a:rPr lang="en-US" sz="2400" dirty="0"/>
              <a:t> means </a:t>
            </a:r>
            <a:r>
              <a:rPr lang="en-US" sz="2400" b="1" dirty="0"/>
              <a:t>wrapping data with extra information</a:t>
            </a:r>
            <a:r>
              <a:rPr lang="en-US" sz="2400" dirty="0"/>
              <a:t> as it moves from the </a:t>
            </a:r>
            <a:r>
              <a:rPr lang="en-US" sz="2400" b="1" dirty="0"/>
              <a:t>sender to the receiver</a:t>
            </a:r>
            <a:r>
              <a:rPr lang="en-US" sz="2400" dirty="0"/>
              <a:t>.</a:t>
            </a:r>
          </a:p>
          <a:p>
            <a:r>
              <a:rPr lang="en-US" sz="2400" b="1" dirty="0"/>
              <a:t>Encapsulation = Packing data layer by layer before sending</a:t>
            </a:r>
            <a:endParaRPr lang="en-US" sz="2400" dirty="0"/>
          </a:p>
          <a:p>
            <a:r>
              <a:rPr lang="en-US" sz="2400" dirty="0"/>
              <a:t>When you send a </a:t>
            </a:r>
            <a:r>
              <a:rPr lang="en-US" sz="2400" b="1" dirty="0"/>
              <a:t>message or data</a:t>
            </a:r>
            <a:r>
              <a:rPr lang="en-US" sz="2400" dirty="0"/>
              <a:t>:</a:t>
            </a:r>
          </a:p>
          <a:p>
            <a:r>
              <a:rPr lang="en-US" sz="2400" b="1" dirty="0"/>
              <a:t> Step 1: Application Layer</a:t>
            </a:r>
          </a:p>
          <a:p>
            <a:r>
              <a:rPr lang="en-US" sz="2400" dirty="0"/>
              <a:t>Creates the </a:t>
            </a:r>
            <a:r>
              <a:rPr lang="en-US" sz="2400" b="1" dirty="0"/>
              <a:t>actual message</a:t>
            </a:r>
            <a:endParaRPr lang="en-US" sz="2400" dirty="0"/>
          </a:p>
          <a:p>
            <a:r>
              <a:rPr lang="en-US" sz="2400" dirty="0"/>
              <a:t>Example: “Hello”</a:t>
            </a:r>
          </a:p>
          <a:p>
            <a:r>
              <a:rPr lang="en-US" sz="2400" b="1" dirty="0"/>
              <a:t>Step 2: Transport Layer</a:t>
            </a:r>
          </a:p>
          <a:p>
            <a:r>
              <a:rPr lang="en-US" sz="2400" dirty="0"/>
              <a:t>Adds </a:t>
            </a:r>
            <a:r>
              <a:rPr lang="en-US" sz="2400" b="1" dirty="0"/>
              <a:t>port number</a:t>
            </a:r>
            <a:endParaRPr lang="en-US" sz="2400" dirty="0"/>
          </a:p>
          <a:p>
            <a:r>
              <a:rPr lang="en-US" sz="2400" dirty="0"/>
              <a:t>Helps deliver to correct app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441A8-5C52-507F-BEC3-0F45AE7F8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C7808D-67D1-8A44-94BB-CE7F601B20DA}"/>
              </a:ext>
            </a:extLst>
          </p:cNvPr>
          <p:cNvSpPr txBox="1"/>
          <p:nvPr/>
        </p:nvSpPr>
        <p:spPr>
          <a:xfrm>
            <a:off x="6095999" y="2851502"/>
            <a:ext cx="4457075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3: Network Layer</a:t>
            </a:r>
          </a:p>
          <a:p>
            <a:r>
              <a:rPr lang="en-US" sz="2400" dirty="0"/>
              <a:t>Adds </a:t>
            </a:r>
            <a:r>
              <a:rPr lang="en-US" sz="2400" b="1" dirty="0"/>
              <a:t>IP address</a:t>
            </a:r>
            <a:endParaRPr lang="en-US" sz="2400" dirty="0"/>
          </a:p>
          <a:p>
            <a:r>
              <a:rPr lang="en-US" sz="2400" dirty="0"/>
              <a:t>Finds the path</a:t>
            </a:r>
          </a:p>
          <a:p>
            <a:r>
              <a:rPr lang="en-US" sz="2400" b="1" dirty="0"/>
              <a:t> Step 4: Data Link Layer</a:t>
            </a:r>
          </a:p>
          <a:p>
            <a:r>
              <a:rPr lang="en-US" sz="2400" dirty="0"/>
              <a:t>Adds </a:t>
            </a:r>
            <a:r>
              <a:rPr lang="en-US" sz="2400" b="1" dirty="0"/>
              <a:t>MAC address</a:t>
            </a:r>
            <a:endParaRPr lang="en-US" sz="2400" dirty="0"/>
          </a:p>
          <a:p>
            <a:r>
              <a:rPr lang="en-US" sz="2400" dirty="0"/>
              <a:t>Helps deliver in local network</a:t>
            </a:r>
          </a:p>
          <a:p>
            <a:r>
              <a:rPr lang="en-US" sz="2400" b="1" dirty="0"/>
              <a:t> Step 5: Physical Layer</a:t>
            </a:r>
          </a:p>
          <a:p>
            <a:r>
              <a:rPr lang="en-US" sz="2400" dirty="0"/>
              <a:t>Converts data into </a:t>
            </a:r>
            <a:r>
              <a:rPr lang="en-US" sz="2400" b="1" dirty="0"/>
              <a:t>signals</a:t>
            </a:r>
            <a:endParaRPr lang="en-US" sz="2400" dirty="0"/>
          </a:p>
          <a:p>
            <a:r>
              <a:rPr lang="en-US" sz="2400" dirty="0"/>
              <a:t>Sends through cable or Wi-Fi</a:t>
            </a:r>
          </a:p>
          <a:p>
            <a:r>
              <a:rPr lang="en-US" sz="2400" dirty="0"/>
              <a:t> Like courier carrying the box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42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Encapsulation</a:t>
            </a:r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r>
              <a:rPr lang="en-GB" sz="3200" b="1" dirty="0"/>
              <a:t>WhatsApp Example </a:t>
            </a:r>
          </a:p>
          <a:p>
            <a:pPr marL="0" indent="0">
              <a:buNone/>
            </a:pPr>
            <a:r>
              <a:rPr lang="en-GB" sz="3200" dirty="0"/>
              <a:t>You send </a:t>
            </a:r>
            <a:r>
              <a:rPr lang="en-GB" sz="3200" b="1" dirty="0"/>
              <a:t>“Hi”</a:t>
            </a:r>
            <a:r>
              <a:rPr lang="en-GB" sz="3200" dirty="0"/>
              <a:t> on WhatsApp:</a:t>
            </a:r>
          </a:p>
          <a:p>
            <a:r>
              <a:rPr lang="en-GB" sz="3200" dirty="0"/>
              <a:t>Message created</a:t>
            </a:r>
          </a:p>
          <a:p>
            <a:r>
              <a:rPr lang="en-GB" sz="3200" dirty="0"/>
              <a:t>Port added (WhatsApp app)</a:t>
            </a:r>
          </a:p>
          <a:p>
            <a:r>
              <a:rPr lang="en-GB" sz="3200" dirty="0"/>
              <a:t>IP added (friend’s phone)</a:t>
            </a:r>
          </a:p>
          <a:p>
            <a:r>
              <a:rPr lang="en-GB" sz="3200" dirty="0"/>
              <a:t>MAC added (local delivery)</a:t>
            </a:r>
          </a:p>
          <a:p>
            <a:r>
              <a:rPr lang="en-GB" sz="3200" dirty="0"/>
              <a:t>Data sent as signals</a:t>
            </a:r>
          </a:p>
          <a:p>
            <a:pPr marL="0" indent="0">
              <a:buNone/>
            </a:pPr>
            <a:r>
              <a:rPr lang="en-GB" sz="3200" dirty="0"/>
              <a:t>This full wrapping = </a:t>
            </a:r>
            <a:r>
              <a:rPr lang="en-GB" sz="3200" b="1" dirty="0"/>
              <a:t>Encapsulation</a:t>
            </a:r>
            <a:endParaRPr lang="en-GB" sz="3200" dirty="0"/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19" y="1323188"/>
            <a:ext cx="5464436" cy="496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25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GB" sz="4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Encapsulation Flow</a:t>
            </a:r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Segment (Transport Layer)</a:t>
            </a:r>
          </a:p>
          <a:p>
            <a:r>
              <a:rPr lang="en-US" sz="1800" dirty="0"/>
              <a:t>At the </a:t>
            </a:r>
            <a:r>
              <a:rPr lang="en-US" sz="1800" b="1" dirty="0"/>
              <a:t>Transport Layer</a:t>
            </a:r>
            <a:r>
              <a:rPr lang="en-US" sz="1800" dirty="0"/>
              <a:t>, data is divided into small parts called </a:t>
            </a:r>
            <a:r>
              <a:rPr lang="en-US" sz="1800" b="1" dirty="0"/>
              <a:t>segments</a:t>
            </a:r>
            <a:r>
              <a:rPr lang="en-US" sz="1800" dirty="0"/>
              <a:t>.</a:t>
            </a:r>
          </a:p>
          <a:p>
            <a:r>
              <a:rPr lang="en-US" sz="1800" dirty="0"/>
              <a:t>This helps send data </a:t>
            </a:r>
            <a:r>
              <a:rPr lang="en-US" sz="1800" b="1" dirty="0"/>
              <a:t>reliably and in order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Example: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You send a large file by email. The system </a:t>
            </a:r>
            <a:r>
              <a:rPr lang="en-US" sz="1800" b="1" dirty="0"/>
              <a:t>breaks the file into smaller segments</a:t>
            </a:r>
            <a:r>
              <a:rPr lang="en-US" sz="1800" dirty="0"/>
              <a:t> so it can be transmitted easily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2400" b="1" u="sng" dirty="0"/>
              <a:t>Packet (Network Layer)</a:t>
            </a:r>
          </a:p>
          <a:p>
            <a:r>
              <a:rPr lang="en-US" sz="1800" dirty="0"/>
              <a:t>At the </a:t>
            </a:r>
            <a:r>
              <a:rPr lang="en-US" sz="1800" b="1" dirty="0"/>
              <a:t>Network Layer</a:t>
            </a:r>
            <a:r>
              <a:rPr lang="en-US" sz="1800" dirty="0"/>
              <a:t>, the segment becomes a </a:t>
            </a:r>
            <a:r>
              <a:rPr lang="en-US" sz="1800" b="1" dirty="0"/>
              <a:t>packet</a:t>
            </a:r>
            <a:r>
              <a:rPr lang="en-US" sz="1800" dirty="0"/>
              <a:t>.</a:t>
            </a:r>
          </a:p>
          <a:p>
            <a:r>
              <a:rPr lang="en-US" sz="1800" dirty="0"/>
              <a:t>The packet contains the </a:t>
            </a:r>
            <a:r>
              <a:rPr lang="en-US" sz="1800" b="1" dirty="0"/>
              <a:t>IP address of sender and receiver</a:t>
            </a:r>
            <a:r>
              <a:rPr lang="en-US" sz="1800" dirty="0"/>
              <a:t> so the data can find the correct path across networks.</a:t>
            </a:r>
          </a:p>
          <a:p>
            <a:r>
              <a:rPr lang="en-US" sz="1800" b="1" dirty="0"/>
              <a:t>Example: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When you open a website, packets travel through </a:t>
            </a:r>
            <a:r>
              <a:rPr lang="en-US" sz="1800" b="1" dirty="0"/>
              <a:t>routers on the internet</a:t>
            </a:r>
            <a:r>
              <a:rPr lang="en-US" sz="1800" dirty="0"/>
              <a:t> using IP </a:t>
            </a:r>
            <a:r>
              <a:rPr lang="en-US" sz="1800" dirty="0" smtClean="0"/>
              <a:t>addresses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6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GB" sz="4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Encapsulation Flow</a:t>
            </a:r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/>
              <a:t>Frame </a:t>
            </a:r>
            <a:r>
              <a:rPr lang="en-US" sz="2400" b="1" u="sng" dirty="0"/>
              <a:t>(Data Link Layer)</a:t>
            </a:r>
          </a:p>
          <a:p>
            <a:r>
              <a:rPr lang="en-US" sz="1800" dirty="0"/>
              <a:t>At the </a:t>
            </a:r>
            <a:r>
              <a:rPr lang="en-US" sz="1800" b="1" dirty="0"/>
              <a:t>Data Link Layer</a:t>
            </a:r>
            <a:r>
              <a:rPr lang="en-US" sz="1800" dirty="0"/>
              <a:t>, the packet becomes a </a:t>
            </a:r>
            <a:r>
              <a:rPr lang="en-US" sz="1800" b="1" dirty="0"/>
              <a:t>frame</a:t>
            </a:r>
            <a:r>
              <a:rPr lang="en-US" sz="1800" dirty="0"/>
              <a:t>.</a:t>
            </a:r>
          </a:p>
          <a:p>
            <a:r>
              <a:rPr lang="en-US" sz="1800" dirty="0"/>
              <a:t>The frame contains </a:t>
            </a:r>
            <a:r>
              <a:rPr lang="en-US" sz="1800" b="1" dirty="0"/>
              <a:t>MAC addresses</a:t>
            </a:r>
            <a:r>
              <a:rPr lang="en-US" sz="1800" dirty="0"/>
              <a:t> of the sender and receiver devices.</a:t>
            </a:r>
          </a:p>
          <a:p>
            <a:r>
              <a:rPr lang="en-US" sz="1800" b="1" dirty="0"/>
              <a:t>Example: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Inside a </a:t>
            </a:r>
            <a:r>
              <a:rPr lang="en-US" sz="1800" b="1" dirty="0"/>
              <a:t>Wi-Fi or LAN network</a:t>
            </a:r>
            <a:r>
              <a:rPr lang="en-US" sz="1800" dirty="0"/>
              <a:t>, the router uses MAC addresses to send the frame to the correct computer.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2400" b="1" u="sng" dirty="0"/>
              <a:t>Bits </a:t>
            </a:r>
            <a:r>
              <a:rPr lang="en-US" sz="2400" b="1" u="sng" dirty="0"/>
              <a:t>(Physical Layer)</a:t>
            </a:r>
          </a:p>
          <a:p>
            <a:r>
              <a:rPr lang="en-US" sz="1800" dirty="0"/>
              <a:t>At the </a:t>
            </a:r>
            <a:r>
              <a:rPr lang="en-US" sz="1800" b="1" dirty="0"/>
              <a:t>Physical Layer</a:t>
            </a:r>
            <a:r>
              <a:rPr lang="en-US" sz="1800" dirty="0"/>
              <a:t>, the frame is converted into </a:t>
            </a:r>
            <a:r>
              <a:rPr lang="en-US" sz="1800" b="1" dirty="0"/>
              <a:t>bits (0s and 1s)</a:t>
            </a:r>
            <a:r>
              <a:rPr lang="en-US" sz="1800" dirty="0"/>
              <a:t>.</a:t>
            </a:r>
          </a:p>
          <a:p>
            <a:r>
              <a:rPr lang="en-US" sz="1800" dirty="0"/>
              <a:t>These bits travel through </a:t>
            </a:r>
            <a:r>
              <a:rPr lang="en-US" sz="1800" b="1" dirty="0"/>
              <a:t>network cables, fiber optics, or wireless signals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Example: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In an Ethernet cable, data moves as </a:t>
            </a:r>
            <a:r>
              <a:rPr lang="en-US" sz="1800" b="1" dirty="0"/>
              <a:t>electrical signals representing 0 and 1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8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25500" y="1143493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003" y="3850117"/>
            <a:ext cx="495037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You can Find me: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mehakrana.CS@tuf.edu.pk</a:t>
            </a:r>
          </a:p>
        </p:txBody>
      </p:sp>
    </p:spTree>
    <p:extLst>
      <p:ext uri="{BB962C8B-B14F-4D97-AF65-F5344CB8AC3E}">
        <p14:creationId xmlns:p14="http://schemas.microsoft.com/office/powerpoint/2010/main" val="341055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658</Words>
  <Application>Microsoft Office PowerPoint</Application>
  <PresentationFormat>Widescreen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Arial Narrow</vt:lpstr>
      <vt:lpstr>Calibri</vt:lpstr>
      <vt:lpstr>Calibri Light</vt:lpstr>
      <vt:lpstr>Office Theme</vt:lpstr>
      <vt:lpstr>Lecture 6</vt:lpstr>
      <vt:lpstr>1_Office Theme</vt:lpstr>
      <vt:lpstr>  Network Model Protocols and Standards, Internet Standards LAYERED TASKS: Sender, Receiver, and Carrier. THE OSI MODEL: Layered Architecture ,  Peer-to-Peer Processes,  Encapsulation    </vt:lpstr>
      <vt:lpstr>Protocol</vt:lpstr>
      <vt:lpstr>Standards</vt:lpstr>
      <vt:lpstr>Internet Standards</vt:lpstr>
      <vt:lpstr>Layered Tasks: Sender, Receiver, and Carrier </vt:lpstr>
      <vt:lpstr>Layered Architecture</vt:lpstr>
      <vt:lpstr>The OSI Model </vt:lpstr>
      <vt:lpstr>7 Layers of OSI</vt:lpstr>
      <vt:lpstr>Peer-to-Peer Processes </vt:lpstr>
      <vt:lpstr>Encapsulation</vt:lpstr>
      <vt:lpstr> Encapsulation </vt:lpstr>
      <vt:lpstr> Encapsulation Flow </vt:lpstr>
      <vt:lpstr> Encapsulation Flow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Mehak Rana</cp:lastModifiedBy>
  <cp:revision>188</cp:revision>
  <dcterms:created xsi:type="dcterms:W3CDTF">2024-06-21T09:49:00Z</dcterms:created>
  <dcterms:modified xsi:type="dcterms:W3CDTF">2026-03-05T08:30:18Z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