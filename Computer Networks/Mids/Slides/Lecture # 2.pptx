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sldIdLst>
    <p:sldId id="273" r:id="rId4"/>
    <p:sldId id="944" r:id="rId5"/>
    <p:sldId id="945" r:id="rId6"/>
    <p:sldId id="946" r:id="rId7"/>
    <p:sldId id="947" r:id="rId8"/>
    <p:sldId id="962" r:id="rId9"/>
    <p:sldId id="948" r:id="rId10"/>
    <p:sldId id="950" r:id="rId11"/>
    <p:sldId id="951" r:id="rId12"/>
    <p:sldId id="963" r:id="rId13"/>
    <p:sldId id="952" r:id="rId14"/>
    <p:sldId id="954" r:id="rId15"/>
    <p:sldId id="955" r:id="rId16"/>
    <p:sldId id="957" r:id="rId17"/>
    <p:sldId id="958" r:id="rId18"/>
    <p:sldId id="959" r:id="rId19"/>
    <p:sldId id="961" r:id="rId2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3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18-Feb-26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49063" y="167795"/>
            <a:ext cx="11842937" cy="3670557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solidFill>
                  <a:schemeClr val="accent4"/>
                </a:solidFill>
              </a:rPr>
              <a:t> </a:t>
            </a:r>
            <a:r>
              <a:rPr lang="en-US" sz="5400" b="1" dirty="0" smtClean="0">
                <a:solidFill>
                  <a:schemeClr val="accent4"/>
                </a:solidFill>
              </a:rPr>
              <a:t>                             </a:t>
            </a:r>
            <a: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Computer Network</a:t>
            </a:r>
            <a:b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    </a:t>
            </a:r>
            <a:r>
              <a:rPr lang="en-US" sz="44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Basics </a:t>
            </a:r>
            <a:r>
              <a:rPr lang="en-US" sz="4400" b="1" dirty="0">
                <a:solidFill>
                  <a:schemeClr val="bg1"/>
                </a:solidFill>
                <a:latin typeface="Arial Narrow" panose="020B0606020202030204" pitchFamily="34" charset="0"/>
              </a:rPr>
              <a:t>of Network</a:t>
            </a:r>
            <a: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                              </a:t>
            </a: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Transmission 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Media &amp; </a:t>
            </a: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Types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</a:t>
            </a:r>
            <a:r>
              <a:rPr lang="en-US" sz="2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Guided </a:t>
            </a:r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Media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: Twisted Pair Cable, Unshielded Twisted Pair, </a:t>
            </a: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                              Coaxial 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Cable, Optical Fibers</a:t>
            </a:r>
            <a:b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 </a:t>
            </a:r>
            <a:r>
              <a:rPr lang="en-US" sz="2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Unguided </a:t>
            </a:r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Media: 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Radio waves, Microwaves, Infrared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4974272" y="4055205"/>
            <a:ext cx="2968689" cy="1058087"/>
          </a:xfrm>
        </p:spPr>
        <p:txBody>
          <a:bodyPr>
            <a:norm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Lecture #2</a:t>
            </a:r>
          </a:p>
          <a:p>
            <a:r>
              <a:rPr lang="en-US" sz="1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Week#1</a:t>
            </a:r>
          </a:p>
          <a:p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36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381" y="5790944"/>
            <a:ext cx="3129619" cy="9905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6235" y="5252063"/>
            <a:ext cx="11950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Data Communications and Networking, Fourth Edition, Behrouz A. </a:t>
            </a:r>
            <a:r>
              <a:rPr 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Forouzan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7725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Transmission Media &amp; </a:t>
            </a:r>
            <a:r>
              <a:rPr lang="en-US" b="1" dirty="0" smtClean="0">
                <a:solidFill>
                  <a:schemeClr val="bg1"/>
                </a:solidFill>
              </a:rPr>
              <a:t>Types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4428" y="1275907"/>
            <a:ext cx="12117572" cy="582664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network communications, a </a:t>
            </a:r>
            <a:r>
              <a:rPr lang="en-US" b="1" dirty="0"/>
              <a:t>transmission medium</a:t>
            </a:r>
            <a:r>
              <a:rPr lang="en-US" dirty="0"/>
              <a:t> is a physical connection or an interface between the transmitter and the receiver. </a:t>
            </a:r>
            <a:endParaRPr lang="en-US" dirty="0" smtClean="0"/>
          </a:p>
          <a:p>
            <a:r>
              <a:rPr lang="en-US" dirty="0"/>
              <a:t>A </a:t>
            </a:r>
            <a:r>
              <a:rPr lang="en-US" b="1" dirty="0"/>
              <a:t>transmission medium</a:t>
            </a:r>
            <a:r>
              <a:rPr lang="en-US" dirty="0"/>
              <a:t> is the </a:t>
            </a:r>
            <a:r>
              <a:rPr lang="en-US" b="1" dirty="0"/>
              <a:t>path</a:t>
            </a:r>
            <a:r>
              <a:rPr lang="en-US" dirty="0"/>
              <a:t> through which data travels from one device to another.</a:t>
            </a:r>
          </a:p>
          <a:p>
            <a:r>
              <a:rPr lang="en-US" dirty="0"/>
              <a:t>It acts like a </a:t>
            </a:r>
            <a:r>
              <a:rPr lang="en-US" b="1" dirty="0"/>
              <a:t>bridge</a:t>
            </a:r>
            <a:r>
              <a:rPr lang="en-US" dirty="0"/>
              <a:t> between the </a:t>
            </a:r>
            <a:r>
              <a:rPr lang="en-US" b="1" dirty="0"/>
              <a:t>transmitter</a:t>
            </a:r>
            <a:r>
              <a:rPr lang="en-US" dirty="0"/>
              <a:t> and the </a:t>
            </a:r>
            <a:r>
              <a:rPr lang="en-US" b="1" dirty="0"/>
              <a:t>receiver</a:t>
            </a:r>
            <a:r>
              <a:rPr lang="en-US" dirty="0" smtClean="0"/>
              <a:t>.</a:t>
            </a:r>
          </a:p>
          <a:p>
            <a:r>
              <a:rPr lang="en-US" b="1" dirty="0"/>
              <a:t>What is a Transmitter?</a:t>
            </a:r>
          </a:p>
          <a:p>
            <a:r>
              <a:rPr lang="en-US" dirty="0"/>
              <a:t>The </a:t>
            </a:r>
            <a:r>
              <a:rPr lang="en-US" b="1" dirty="0"/>
              <a:t>transmitter</a:t>
            </a:r>
            <a:r>
              <a:rPr lang="en-US" dirty="0"/>
              <a:t> is the device that </a:t>
            </a:r>
            <a:r>
              <a:rPr lang="en-US" b="1" dirty="0"/>
              <a:t>sends </a:t>
            </a:r>
            <a:r>
              <a:rPr lang="en-US" b="1" dirty="0" smtClean="0"/>
              <a:t>data</a:t>
            </a:r>
            <a:endParaRPr lang="en-US" dirty="0"/>
          </a:p>
          <a:p>
            <a:r>
              <a:rPr lang="en-US" dirty="0"/>
              <a:t>Mobile phone sending a message</a:t>
            </a:r>
          </a:p>
          <a:p>
            <a:r>
              <a:rPr lang="en-US" b="1" dirty="0"/>
              <a:t>What is a Receiver?</a:t>
            </a:r>
          </a:p>
          <a:p>
            <a:r>
              <a:rPr lang="en-US" dirty="0"/>
              <a:t>The </a:t>
            </a:r>
            <a:r>
              <a:rPr lang="en-US" b="1" dirty="0"/>
              <a:t>receiver</a:t>
            </a:r>
            <a:r>
              <a:rPr lang="en-US" dirty="0"/>
              <a:t> is the device that </a:t>
            </a:r>
            <a:r>
              <a:rPr lang="en-US" b="1" dirty="0"/>
              <a:t>receives data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Mobile phone </a:t>
            </a:r>
            <a:r>
              <a:rPr lang="en-US" dirty="0" smtClean="0"/>
              <a:t>receiving </a:t>
            </a:r>
            <a:r>
              <a:rPr lang="en-US" dirty="0"/>
              <a:t>a </a:t>
            </a:r>
            <a:r>
              <a:rPr lang="en-US" dirty="0" smtClean="0"/>
              <a:t>message</a:t>
            </a:r>
            <a:endParaRPr lang="en-US" dirty="0"/>
          </a:p>
          <a:p>
            <a:pPr algn="just"/>
            <a:r>
              <a:rPr lang="en-US" dirty="0"/>
              <a:t>There are two major categories of transmission media, namely </a:t>
            </a:r>
          </a:p>
          <a:p>
            <a:pPr lvl="1" algn="just"/>
            <a:r>
              <a:rPr lang="en-US" sz="2800" dirty="0"/>
              <a:t>Guided </a:t>
            </a:r>
            <a:r>
              <a:rPr lang="en-US" sz="2800" dirty="0" smtClean="0"/>
              <a:t>Media </a:t>
            </a:r>
            <a:r>
              <a:rPr lang="en-US" sz="2800" dirty="0"/>
              <a:t>(Wired Communication)</a:t>
            </a:r>
          </a:p>
          <a:p>
            <a:pPr lvl="1" algn="just"/>
            <a:r>
              <a:rPr lang="en-US" sz="2800" dirty="0"/>
              <a:t>Unguided Media (Wireless Communication)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484" y="6032148"/>
            <a:ext cx="2367516" cy="74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1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types-of-transmission-media_final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116" y="1286555"/>
            <a:ext cx="7880704" cy="440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647" y="6048974"/>
            <a:ext cx="2314353" cy="73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7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46667" y="1957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Guided </a:t>
            </a:r>
            <a:r>
              <a:rPr lang="en-US" b="1" dirty="0" smtClean="0">
                <a:solidFill>
                  <a:schemeClr val="bg1"/>
                </a:solidFill>
              </a:rPr>
              <a:t>Media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3139" y="1272732"/>
            <a:ext cx="10515600" cy="435133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It is also referred to as Wired or Bounded transmission media. </a:t>
            </a:r>
          </a:p>
          <a:p>
            <a:pPr algn="just"/>
            <a:r>
              <a:rPr lang="en-US" sz="3200" dirty="0"/>
              <a:t>Signals being transmitted are directed and confined in a narrow pathway by using physical links. </a:t>
            </a:r>
          </a:p>
          <a:p>
            <a:pPr algn="just" fontAlgn="base"/>
            <a:r>
              <a:rPr lang="en-US" sz="3200" dirty="0">
                <a:solidFill>
                  <a:schemeClr val="accent1"/>
                </a:solidFill>
              </a:rPr>
              <a:t>Features:</a:t>
            </a:r>
            <a:r>
              <a:rPr lang="en-US" sz="3200" dirty="0"/>
              <a:t> </a:t>
            </a:r>
          </a:p>
          <a:p>
            <a:pPr lvl="1" algn="just" fontAlgn="base"/>
            <a:r>
              <a:rPr lang="en-US" sz="3000" dirty="0"/>
              <a:t>High Speed</a:t>
            </a:r>
          </a:p>
          <a:p>
            <a:pPr lvl="1" algn="just" fontAlgn="base"/>
            <a:r>
              <a:rPr lang="en-US" sz="3000" dirty="0"/>
              <a:t>Secure</a:t>
            </a:r>
          </a:p>
          <a:p>
            <a:pPr lvl="1" algn="just" fontAlgn="base"/>
            <a:r>
              <a:rPr lang="en-US" sz="3000" dirty="0"/>
              <a:t>Used for comparatively shorter distances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093" y="6136469"/>
            <a:ext cx="2037907" cy="6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0467" y="941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Twisted Pair Cable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283364"/>
            <a:ext cx="12301870" cy="557463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 consists of 2 separately insulated conductor wires wound about each other. </a:t>
            </a:r>
          </a:p>
          <a:p>
            <a:pPr algn="just"/>
            <a:r>
              <a:rPr lang="en-US" dirty="0"/>
              <a:t>Generally, several such pairs are bundled together in a protective sheath. </a:t>
            </a:r>
          </a:p>
          <a:p>
            <a:pPr algn="just"/>
            <a:r>
              <a:rPr lang="en-US" dirty="0"/>
              <a:t>They are the most widely used Transmission Media. </a:t>
            </a:r>
          </a:p>
          <a:p>
            <a:pPr algn="just"/>
            <a:r>
              <a:rPr lang="en-US" dirty="0"/>
              <a:t>Twisted Pair is of two types:</a:t>
            </a:r>
          </a:p>
          <a:p>
            <a:pPr lvl="1" algn="just"/>
            <a:r>
              <a:rPr lang="en-US" b="1" dirty="0"/>
              <a:t>Unshielded Twisted Pair (UTP</a:t>
            </a:r>
            <a:r>
              <a:rPr lang="en-US" b="1" dirty="0" smtClean="0"/>
              <a:t>)</a:t>
            </a:r>
          </a:p>
          <a:p>
            <a:pPr lvl="1" algn="just"/>
            <a:r>
              <a:rPr lang="en-US" b="1" dirty="0"/>
              <a:t>Shielded Twisted Pair (STP</a:t>
            </a:r>
            <a:r>
              <a:rPr lang="en-US" b="1" dirty="0" smtClean="0"/>
              <a:t>)</a:t>
            </a:r>
          </a:p>
          <a:p>
            <a:r>
              <a:rPr lang="en-US" b="1" dirty="0"/>
              <a:t>Real-life examples:</a:t>
            </a:r>
            <a:endParaRPr lang="en-US" dirty="0"/>
          </a:p>
          <a:p>
            <a:r>
              <a:rPr lang="en-US" dirty="0"/>
              <a:t>Landline telephone wires</a:t>
            </a:r>
          </a:p>
          <a:p>
            <a:r>
              <a:rPr lang="en-US" dirty="0"/>
              <a:t>Ethernet cables in homes/offices</a:t>
            </a:r>
          </a:p>
          <a:p>
            <a:r>
              <a:rPr lang="en-US" dirty="0"/>
              <a:t>Computer lab networking</a:t>
            </a:r>
          </a:p>
          <a:p>
            <a:r>
              <a:rPr lang="en-US" dirty="0" smtClean="0"/>
              <a:t> </a:t>
            </a:r>
            <a:r>
              <a:rPr lang="en-US" dirty="0"/>
              <a:t>Common in LANs (Local Area Networks).</a:t>
            </a:r>
          </a:p>
          <a:p>
            <a:pPr lvl="1"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502" y="6096087"/>
            <a:ext cx="2165498" cy="68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0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0467" y="941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Twisted Pair Cable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283364"/>
            <a:ext cx="12301870" cy="5574636"/>
          </a:xfrm>
        </p:spPr>
        <p:txBody>
          <a:bodyPr>
            <a:normAutofit/>
          </a:bodyPr>
          <a:lstStyle/>
          <a:p>
            <a:pPr lvl="1"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502" y="6096087"/>
            <a:ext cx="2165498" cy="6853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779"/>
            <a:ext cx="12192000" cy="488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2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1266" y="1365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Unshielded Twisted Pair (UTP)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" y="1230202"/>
            <a:ext cx="12333767" cy="5551261"/>
          </a:xfrm>
        </p:spPr>
        <p:txBody>
          <a:bodyPr>
            <a:normAutofit/>
          </a:bodyPr>
          <a:lstStyle/>
          <a:p>
            <a:pPr algn="just" fontAlgn="base"/>
            <a:r>
              <a:rPr lang="en-US" sz="2400" b="1" dirty="0"/>
              <a:t>UTP</a:t>
            </a:r>
            <a:r>
              <a:rPr lang="en-US" sz="2400" dirty="0"/>
              <a:t> is a type of cable made of </a:t>
            </a:r>
            <a:r>
              <a:rPr lang="en-US" sz="2400" b="1" dirty="0"/>
              <a:t>pairs of copper wires twisted together</a:t>
            </a:r>
            <a:r>
              <a:rPr lang="en-US" sz="2400" dirty="0"/>
              <a:t>. UTP is a low-cost twisted pair cable without shielding, commonly used for short-distance data transmission in computer networks.</a:t>
            </a:r>
            <a:endParaRPr lang="en-US" sz="2400" dirty="0" smtClean="0"/>
          </a:p>
          <a:p>
            <a:pPr algn="just" fontAlgn="base"/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The twisting helps </a:t>
            </a:r>
            <a:r>
              <a:rPr lang="en-US" sz="2400" b="1" dirty="0"/>
              <a:t>reduce interference</a:t>
            </a:r>
            <a:r>
              <a:rPr lang="en-US" sz="2400" dirty="0"/>
              <a:t>, even though there is </a:t>
            </a:r>
            <a:r>
              <a:rPr lang="en-US" sz="2400" b="1" dirty="0"/>
              <a:t>no metal shield</a:t>
            </a:r>
            <a:r>
              <a:rPr lang="en-US" sz="2400" dirty="0" smtClean="0"/>
              <a:t>.</a:t>
            </a:r>
          </a:p>
          <a:p>
            <a:pPr algn="just" fontAlgn="base"/>
            <a:r>
              <a:rPr lang="en-US" sz="2400" dirty="0"/>
              <a:t>Data travels </a:t>
            </a:r>
            <a:r>
              <a:rPr lang="en-US" sz="2400" dirty="0" smtClean="0"/>
              <a:t>as </a:t>
            </a:r>
            <a:r>
              <a:rPr lang="en-US" sz="2400" dirty="0"/>
              <a:t>through the copper wires.</a:t>
            </a:r>
            <a:endParaRPr lang="en-US" sz="2400" dirty="0" smtClean="0"/>
          </a:p>
          <a:p>
            <a:pPr algn="just" fontAlgn="base"/>
            <a:r>
              <a:rPr lang="en-US" sz="2400" dirty="0" smtClean="0"/>
              <a:t>It </a:t>
            </a:r>
            <a:r>
              <a:rPr lang="en-US" sz="2400" dirty="0"/>
              <a:t>is used for telephonic applications. </a:t>
            </a:r>
            <a:endParaRPr lang="en-US" sz="2400" dirty="0" smtClean="0"/>
          </a:p>
          <a:p>
            <a:pPr algn="just" fontAlgn="base"/>
            <a:r>
              <a:rPr lang="en-US" sz="2400" b="1" dirty="0" smtClean="0">
                <a:solidFill>
                  <a:schemeClr val="accent1"/>
                </a:solidFill>
              </a:rPr>
              <a:t>Advantages</a:t>
            </a:r>
            <a:r>
              <a:rPr lang="en-US" sz="2400" b="1" dirty="0">
                <a:solidFill>
                  <a:schemeClr val="accent1"/>
                </a:solidFill>
              </a:rPr>
              <a:t>: </a:t>
            </a:r>
          </a:p>
          <a:p>
            <a:pPr lvl="1" algn="just" fontAlgn="base"/>
            <a:r>
              <a:rPr lang="en-US" dirty="0"/>
              <a:t>Least expensive</a:t>
            </a:r>
          </a:p>
          <a:p>
            <a:pPr lvl="1" algn="just" fontAlgn="base"/>
            <a:r>
              <a:rPr lang="en-US" dirty="0"/>
              <a:t>Easy to install</a:t>
            </a:r>
          </a:p>
          <a:p>
            <a:pPr lvl="1" algn="just" fontAlgn="base"/>
            <a:r>
              <a:rPr lang="en-US" dirty="0"/>
              <a:t>High speed </a:t>
            </a:r>
            <a:r>
              <a:rPr lang="en-US" dirty="0" smtClean="0"/>
              <a:t>capacity</a:t>
            </a:r>
            <a:endParaRPr lang="en-US" dirty="0"/>
          </a:p>
          <a:p>
            <a:pPr lvl="1" algn="just" fontAlgn="base"/>
            <a:r>
              <a:rPr lang="en-US" dirty="0"/>
              <a:t>Lower capacity and performance in comparison to STP</a:t>
            </a:r>
          </a:p>
          <a:p>
            <a:pPr lvl="1" algn="just" fontAlgn="base"/>
            <a:r>
              <a:rPr lang="en-US" dirty="0"/>
              <a:t>Short distance transmission </a:t>
            </a:r>
          </a:p>
          <a:p>
            <a:pPr lvl="1" algn="just" fontAlgn="base"/>
            <a:endParaRPr lang="en-US" sz="2000" dirty="0"/>
          </a:p>
        </p:txBody>
      </p:sp>
      <p:pic>
        <p:nvPicPr>
          <p:cNvPr id="2050" name="Picture 2" descr="Unshielded Twisted Pair Pure Copper (UTP-5e) - Insight Infosy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0" r="9651"/>
          <a:stretch/>
        </p:blipFill>
        <p:spPr bwMode="auto">
          <a:xfrm>
            <a:off x="7589015" y="2655336"/>
            <a:ext cx="3747851" cy="297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158" y="5998496"/>
            <a:ext cx="2473842" cy="7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2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5867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Shielded Twisted Pair (STP)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457200" y="1180214"/>
            <a:ext cx="11811000" cy="5677785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STP</a:t>
            </a:r>
            <a:r>
              <a:rPr lang="en-US" dirty="0"/>
              <a:t> is a twisted pair cable in which the copper wires are </a:t>
            </a:r>
            <a:r>
              <a:rPr lang="en-US" b="1" dirty="0"/>
              <a:t>covered with an extra metallic shield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shield protects the signals from </a:t>
            </a:r>
            <a:r>
              <a:rPr lang="en-US" b="1" dirty="0"/>
              <a:t>external interference and noise</a:t>
            </a:r>
            <a:r>
              <a:rPr lang="en-US" dirty="0"/>
              <a:t>.</a:t>
            </a:r>
            <a:endParaRPr lang="en-US" dirty="0" smtClean="0"/>
          </a:p>
          <a:p>
            <a:pPr fontAlgn="base"/>
            <a:r>
              <a:rPr lang="en-US" dirty="0" smtClean="0"/>
              <a:t>It </a:t>
            </a:r>
            <a:r>
              <a:rPr lang="en-US" dirty="0"/>
              <a:t>is used in fast-data-rate Ethernet and in voice and data channels of telephone lines. </a:t>
            </a:r>
            <a:endParaRPr lang="en-US" dirty="0" smtClean="0"/>
          </a:p>
          <a:p>
            <a:pPr fontAlgn="base"/>
            <a:r>
              <a:rPr lang="en-US" b="1" dirty="0" smtClean="0">
                <a:solidFill>
                  <a:schemeClr val="accent1"/>
                </a:solidFill>
              </a:rPr>
              <a:t>Advantages</a:t>
            </a:r>
            <a:r>
              <a:rPr lang="en-US" b="1" dirty="0">
                <a:solidFill>
                  <a:schemeClr val="accent1"/>
                </a:solidFill>
              </a:rPr>
              <a:t>: </a:t>
            </a:r>
          </a:p>
          <a:p>
            <a:pPr lvl="1" fontAlgn="base"/>
            <a:r>
              <a:rPr lang="en-US" dirty="0"/>
              <a:t>Better performance at a higher data rate in comparison to </a:t>
            </a:r>
            <a:r>
              <a:rPr lang="en-US" dirty="0" smtClean="0"/>
              <a:t>UTP</a:t>
            </a:r>
            <a:endParaRPr lang="en-US" dirty="0"/>
          </a:p>
          <a:p>
            <a:pPr lvl="1" fontAlgn="base"/>
            <a:r>
              <a:rPr lang="en-US" dirty="0" err="1"/>
              <a:t>Comparitively</a:t>
            </a:r>
            <a:r>
              <a:rPr lang="en-US" dirty="0"/>
              <a:t> faster</a:t>
            </a:r>
          </a:p>
          <a:p>
            <a:pPr lvl="1" fontAlgn="base"/>
            <a:r>
              <a:rPr lang="en-US" dirty="0" err="1"/>
              <a:t>Comparitively</a:t>
            </a:r>
            <a:r>
              <a:rPr lang="en-US" dirty="0"/>
              <a:t> difficult to install and manufacture</a:t>
            </a:r>
          </a:p>
          <a:p>
            <a:pPr lvl="1" fontAlgn="base"/>
            <a:r>
              <a:rPr lang="en-US" dirty="0"/>
              <a:t>More expensive</a:t>
            </a:r>
          </a:p>
          <a:p>
            <a:r>
              <a:rPr lang="en-US" b="1" dirty="0"/>
              <a:t>Where is it used?</a:t>
            </a:r>
          </a:p>
          <a:p>
            <a:r>
              <a:rPr lang="en-US" dirty="0"/>
              <a:t>Industrial areas </a:t>
            </a:r>
            <a:endParaRPr lang="en-US" dirty="0" smtClean="0"/>
          </a:p>
          <a:p>
            <a:r>
              <a:rPr lang="en-US" dirty="0"/>
              <a:t>Banks </a:t>
            </a:r>
            <a:r>
              <a:rPr lang="en-US" dirty="0" smtClean="0"/>
              <a:t> </a:t>
            </a:r>
            <a:r>
              <a:rPr lang="en-US" dirty="0"/>
              <a:t>networks</a:t>
            </a:r>
          </a:p>
          <a:p>
            <a:pPr marL="457200" lvl="1" indent="0" fontAlgn="base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074" name="Picture 2" descr="Shielded Twisted-pair (STP) Cabling – Network Encyclo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452" y="3987316"/>
            <a:ext cx="4872105" cy="188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237" y="6089356"/>
            <a:ext cx="2186763" cy="69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87400" y="10265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Coaxial Cable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95778"/>
            <a:ext cx="12312502" cy="55856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 smtClean="0"/>
              <a:t>One </a:t>
            </a:r>
            <a:r>
              <a:rPr lang="en-US" sz="2000" b="1" dirty="0"/>
              <a:t>central copper wire</a:t>
            </a:r>
            <a:r>
              <a:rPr lang="en-US" sz="2000" dirty="0"/>
              <a:t> (carries data)</a:t>
            </a:r>
          </a:p>
          <a:p>
            <a:r>
              <a:rPr lang="en-US" sz="2000" b="1" dirty="0"/>
              <a:t>Insulation layer</a:t>
            </a:r>
            <a:endParaRPr lang="en-US" sz="2000" dirty="0"/>
          </a:p>
          <a:p>
            <a:r>
              <a:rPr lang="en-US" sz="2000" b="1" dirty="0"/>
              <a:t>Metal shield</a:t>
            </a:r>
            <a:r>
              <a:rPr lang="en-US" sz="2000" dirty="0"/>
              <a:t> (protects from noise)</a:t>
            </a:r>
          </a:p>
          <a:p>
            <a:r>
              <a:rPr lang="en-US" sz="2000" b="1" dirty="0"/>
              <a:t>Outer plastic cover</a:t>
            </a:r>
            <a:endParaRPr lang="en-US" sz="2000" dirty="0"/>
          </a:p>
          <a:p>
            <a:r>
              <a:rPr lang="en-US" sz="2000" dirty="0" smtClean="0"/>
              <a:t> </a:t>
            </a:r>
            <a:r>
              <a:rPr lang="en-US" sz="2000" dirty="0"/>
              <a:t>Because of the shield, it has </a:t>
            </a:r>
            <a:r>
              <a:rPr lang="en-US" sz="2000" b="1" dirty="0"/>
              <a:t>better protection from noise</a:t>
            </a:r>
            <a:r>
              <a:rPr lang="en-US" sz="2000" dirty="0"/>
              <a:t> than twisted pair cables.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has an outer plastic covering containing 2 </a:t>
            </a:r>
            <a:r>
              <a:rPr lang="en-US" sz="2000" dirty="0" smtClean="0"/>
              <a:t>parallel conductors </a:t>
            </a:r>
            <a:r>
              <a:rPr lang="en-US" sz="2000" dirty="0"/>
              <a:t>each having a separate insulated protection cover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 smtClean="0"/>
              <a:t>Example:</a:t>
            </a:r>
            <a:endParaRPr lang="en-US" sz="2000" dirty="0"/>
          </a:p>
          <a:p>
            <a:r>
              <a:rPr lang="en-US" sz="2000" dirty="0" smtClean="0"/>
              <a:t> Cable </a:t>
            </a:r>
            <a:r>
              <a:rPr lang="en-US" sz="2000" dirty="0"/>
              <a:t>TVs </a:t>
            </a:r>
            <a:r>
              <a:rPr lang="en-US" sz="2000" dirty="0" smtClean="0"/>
              <a:t>widely </a:t>
            </a:r>
            <a:r>
              <a:rPr lang="en-US" sz="2000" dirty="0"/>
              <a:t>use Coaxial cables. </a:t>
            </a:r>
            <a:endParaRPr lang="en-US" sz="2000" dirty="0" smtClean="0"/>
          </a:p>
          <a:p>
            <a:pPr fontAlgn="base"/>
            <a:r>
              <a:rPr lang="en-US" sz="2000" b="1" dirty="0">
                <a:solidFill>
                  <a:schemeClr val="accent1"/>
                </a:solidFill>
              </a:rPr>
              <a:t>Advantages</a:t>
            </a:r>
            <a:r>
              <a:rPr lang="en-US" sz="2000" dirty="0"/>
              <a:t>: </a:t>
            </a:r>
          </a:p>
          <a:p>
            <a:pPr lvl="1" fontAlgn="base"/>
            <a:r>
              <a:rPr lang="en-US" sz="2000" dirty="0" smtClean="0"/>
              <a:t>High </a:t>
            </a:r>
            <a:r>
              <a:rPr lang="en-US" sz="2000" dirty="0"/>
              <a:t>Bandwidth</a:t>
            </a:r>
          </a:p>
          <a:p>
            <a:pPr lvl="1" fontAlgn="base"/>
            <a:r>
              <a:rPr lang="en-US" sz="2000" dirty="0"/>
              <a:t>Better noise Immunity</a:t>
            </a:r>
          </a:p>
          <a:p>
            <a:pPr lvl="1" fontAlgn="base"/>
            <a:r>
              <a:rPr lang="en-US" sz="2000" dirty="0"/>
              <a:t>Easy to install and expand</a:t>
            </a:r>
          </a:p>
          <a:p>
            <a:pPr lvl="1" fontAlgn="base"/>
            <a:r>
              <a:rPr lang="en-US" sz="2000" dirty="0"/>
              <a:t>Inexpensive</a:t>
            </a:r>
          </a:p>
          <a:p>
            <a:pPr fontAlgn="base"/>
            <a:r>
              <a:rPr lang="en-US" sz="2000" b="1" dirty="0">
                <a:solidFill>
                  <a:schemeClr val="accent1"/>
                </a:solidFill>
              </a:rPr>
              <a:t>Disadvantages: 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Single cable failure can disrupt the entire </a:t>
            </a:r>
            <a:r>
              <a:rPr lang="en-US" sz="2000" dirty="0" smtClean="0"/>
              <a:t>network</a:t>
            </a:r>
          </a:p>
          <a:p>
            <a:r>
              <a:rPr lang="en-US" sz="2000" b="1" dirty="0"/>
              <a:t>Real-life examples:</a:t>
            </a:r>
            <a:endParaRPr lang="en-US" sz="2000" dirty="0"/>
          </a:p>
          <a:p>
            <a:r>
              <a:rPr lang="en-US" sz="2000" dirty="0"/>
              <a:t>Cable TV connections</a:t>
            </a:r>
          </a:p>
          <a:p>
            <a:r>
              <a:rPr lang="en-US" sz="2000" dirty="0"/>
              <a:t>CCTV camera </a:t>
            </a:r>
            <a:r>
              <a:rPr lang="en-US" sz="2000" dirty="0" smtClean="0"/>
              <a:t>wiring</a:t>
            </a:r>
            <a:endParaRPr lang="en-US" sz="2000" dirty="0"/>
          </a:p>
          <a:p>
            <a:r>
              <a:rPr lang="en-US" sz="2000" dirty="0" smtClean="0"/>
              <a:t> </a:t>
            </a:r>
            <a:r>
              <a:rPr lang="en-US" sz="2000" dirty="0"/>
              <a:t>Better protection from noise than twisted pair.</a:t>
            </a:r>
          </a:p>
          <a:p>
            <a:pPr fontAlgn="base"/>
            <a:endParaRPr lang="en-US" sz="2000" dirty="0"/>
          </a:p>
        </p:txBody>
      </p:sp>
      <p:pic>
        <p:nvPicPr>
          <p:cNvPr id="4098" name="Picture 2" descr="coa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312" y="3481705"/>
            <a:ext cx="4349307" cy="267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521" y="6160025"/>
            <a:ext cx="1963479" cy="6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0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0467" y="941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Coaxial Cable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5" y="1206163"/>
            <a:ext cx="11428522" cy="5575300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502" y="6096087"/>
            <a:ext cx="2165498" cy="68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09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20425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Optical </a:t>
            </a:r>
            <a:r>
              <a:rPr lang="en-US" b="1" dirty="0" smtClean="0">
                <a:solidFill>
                  <a:schemeClr val="bg1"/>
                </a:solidFill>
              </a:rPr>
              <a:t>Fibers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304402"/>
            <a:ext cx="12047690" cy="5553597"/>
          </a:xfrm>
        </p:spPr>
        <p:txBody>
          <a:bodyPr>
            <a:normAutofit fontScale="92500" lnSpcReduction="10000"/>
          </a:bodyPr>
          <a:lstStyle/>
          <a:p>
            <a:pPr algn="just" fontAlgn="base"/>
            <a:r>
              <a:rPr lang="en-US" sz="2400" dirty="0" smtClean="0"/>
              <a:t>It </a:t>
            </a:r>
            <a:r>
              <a:rPr lang="en-US" sz="2400" dirty="0"/>
              <a:t>uses the concept of reflection of light through a core made up of glass or plastic. </a:t>
            </a:r>
            <a:endParaRPr lang="en-US" sz="2400" dirty="0" smtClean="0"/>
          </a:p>
          <a:p>
            <a:pPr algn="just" fontAlgn="base"/>
            <a:r>
              <a:rPr lang="en-US" sz="2400" dirty="0" smtClean="0"/>
              <a:t>The </a:t>
            </a:r>
            <a:r>
              <a:rPr lang="en-US" sz="2400" dirty="0"/>
              <a:t>core is surrounded by a less dense glass or plastic covering called the cladding. </a:t>
            </a:r>
            <a:endParaRPr lang="en-US" sz="2400" dirty="0" smtClean="0"/>
          </a:p>
          <a:p>
            <a:pPr algn="just" fontAlgn="base"/>
            <a:r>
              <a:rPr lang="en-US" sz="2400" dirty="0" smtClean="0"/>
              <a:t>It </a:t>
            </a:r>
            <a:r>
              <a:rPr lang="en-US" sz="2400" dirty="0"/>
              <a:t>is used for transmission of large volumes of data. </a:t>
            </a:r>
            <a:endParaRPr lang="en-US" sz="2400" dirty="0" smtClean="0"/>
          </a:p>
          <a:p>
            <a:pPr algn="just" fontAlgn="base"/>
            <a:r>
              <a:rPr lang="en-US" sz="2400" dirty="0" smtClean="0"/>
              <a:t>The </a:t>
            </a:r>
            <a:r>
              <a:rPr lang="en-US" sz="2400" dirty="0"/>
              <a:t>WDM (Wavelength Division Multiplexer) supports two modes, namely unidirectional and bidirectional mode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Structure:</a:t>
            </a:r>
            <a:endParaRPr lang="en-US" sz="2400" b="1" dirty="0"/>
          </a:p>
          <a:p>
            <a:r>
              <a:rPr lang="en-US" sz="2400" b="1" dirty="0"/>
              <a:t>Core</a:t>
            </a:r>
            <a:r>
              <a:rPr lang="en-US" sz="2400" dirty="0"/>
              <a:t> → carries light (glass or plastic)</a:t>
            </a:r>
          </a:p>
          <a:p>
            <a:r>
              <a:rPr lang="en-US" sz="2400" b="1" dirty="0"/>
              <a:t>Cladding</a:t>
            </a:r>
            <a:r>
              <a:rPr lang="en-US" sz="2400" dirty="0"/>
              <a:t> → less dense layer around the core</a:t>
            </a:r>
          </a:p>
          <a:p>
            <a:r>
              <a:rPr lang="en-US" sz="2400" b="1" dirty="0"/>
              <a:t>Outer jacket</a:t>
            </a:r>
            <a:r>
              <a:rPr lang="en-US" sz="2400" dirty="0"/>
              <a:t> → protects the fiber</a:t>
            </a:r>
          </a:p>
          <a:p>
            <a:r>
              <a:rPr lang="en-US" sz="2400" dirty="0"/>
              <a:t>The cladding keeps the light </a:t>
            </a:r>
            <a:r>
              <a:rPr lang="en-US" sz="2400" b="1" dirty="0"/>
              <a:t>inside the core</a:t>
            </a:r>
            <a:r>
              <a:rPr lang="en-US" sz="2400" dirty="0"/>
              <a:t> by </a:t>
            </a:r>
            <a:r>
              <a:rPr lang="en-US" sz="2400" dirty="0" smtClean="0"/>
              <a:t>reflection</a:t>
            </a:r>
          </a:p>
          <a:p>
            <a:r>
              <a:rPr lang="en-US" sz="2400" b="1" dirty="0"/>
              <a:t>Real-life examples:</a:t>
            </a:r>
            <a:endParaRPr lang="en-US" sz="2400" dirty="0"/>
          </a:p>
          <a:p>
            <a:r>
              <a:rPr lang="en-US" sz="2400" dirty="0"/>
              <a:t>Fiber internet (</a:t>
            </a:r>
            <a:r>
              <a:rPr lang="en-US" sz="2400" dirty="0" smtClean="0"/>
              <a:t>PTCL)</a:t>
            </a:r>
            <a:endParaRPr lang="en-US" sz="2400" dirty="0"/>
          </a:p>
          <a:p>
            <a:r>
              <a:rPr lang="en-US" sz="2400" dirty="0"/>
              <a:t>Hospital and university high-speed networks</a:t>
            </a:r>
          </a:p>
          <a:p>
            <a:r>
              <a:rPr lang="en-US" sz="2400" dirty="0" smtClean="0"/>
              <a:t>Best </a:t>
            </a:r>
            <a:r>
              <a:rPr lang="en-US" sz="2400" dirty="0"/>
              <a:t>for long distance &amp; high-speed data.</a:t>
            </a:r>
          </a:p>
          <a:p>
            <a:pPr algn="just" fontAlgn="base"/>
            <a:endParaRPr lang="en-US" sz="2400" dirty="0"/>
          </a:p>
        </p:txBody>
      </p:sp>
      <p:pic>
        <p:nvPicPr>
          <p:cNvPr id="4" name="Picture 2" descr="Canon : Canon Technology | Canon Science Lab | Optical Fib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197" y="3615450"/>
            <a:ext cx="5231493" cy="312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2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1267" y="14499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Unguided Media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254643"/>
            <a:ext cx="10515600" cy="501989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It is also referred to as Wireless or Unbounded transmission </a:t>
            </a:r>
            <a:r>
              <a:rPr lang="en-US" dirty="0" err="1"/>
              <a:t>media.No</a:t>
            </a:r>
            <a:r>
              <a:rPr lang="en-US" dirty="0"/>
              <a:t> physical medium is required for the transmission of electromagnetic signals. </a:t>
            </a:r>
          </a:p>
          <a:p>
            <a:pPr fontAlgn="base"/>
            <a:r>
              <a:rPr lang="en-US" dirty="0">
                <a:solidFill>
                  <a:schemeClr val="accent1"/>
                </a:solidFill>
              </a:rPr>
              <a:t>Features:</a:t>
            </a:r>
            <a:r>
              <a:rPr lang="en-US" dirty="0"/>
              <a:t> </a:t>
            </a:r>
          </a:p>
          <a:p>
            <a:pPr lvl="1" fontAlgn="base"/>
            <a:r>
              <a:rPr lang="en-US" dirty="0"/>
              <a:t>Signal is broadcasted through </a:t>
            </a:r>
            <a:r>
              <a:rPr lang="en-US" dirty="0" smtClean="0"/>
              <a:t>air</a:t>
            </a:r>
            <a:endParaRPr lang="en-US" dirty="0"/>
          </a:p>
          <a:p>
            <a:pPr lvl="1" fontAlgn="base"/>
            <a:r>
              <a:rPr lang="en-US" dirty="0"/>
              <a:t>Used for larger distances</a:t>
            </a:r>
          </a:p>
          <a:p>
            <a:pPr fontAlgn="base"/>
            <a:r>
              <a:rPr lang="en-US" dirty="0">
                <a:solidFill>
                  <a:schemeClr val="accent1"/>
                </a:solidFill>
              </a:rPr>
              <a:t>There are 3 major types of Unguided Media</a:t>
            </a:r>
          </a:p>
          <a:p>
            <a:pPr lvl="1"/>
            <a:r>
              <a:rPr lang="en-US" dirty="0" smtClean="0"/>
              <a:t>Radio waves</a:t>
            </a:r>
          </a:p>
          <a:p>
            <a:pPr lvl="1"/>
            <a:r>
              <a:rPr lang="en-US" dirty="0" smtClean="0"/>
              <a:t>Microwaves</a:t>
            </a:r>
          </a:p>
          <a:p>
            <a:pPr lvl="1"/>
            <a:r>
              <a:rPr lang="en-US" dirty="0"/>
              <a:t>Infrared</a:t>
            </a:r>
          </a:p>
        </p:txBody>
      </p:sp>
      <p:pic>
        <p:nvPicPr>
          <p:cNvPr id="2050" name="Picture 2" descr="Waves GIFs - Get the best gif on GIF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557" y="2182713"/>
            <a:ext cx="4086340" cy="361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058" y="6039293"/>
            <a:ext cx="2344942" cy="74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2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9733" y="161925"/>
            <a:ext cx="10515600" cy="1325563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Radiowaves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" y="1241386"/>
            <a:ext cx="12482623" cy="5744205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Radio waves</a:t>
            </a:r>
            <a:r>
              <a:rPr lang="en-US" dirty="0"/>
              <a:t> are </a:t>
            </a:r>
            <a:r>
              <a:rPr lang="en-US" b="1" dirty="0"/>
              <a:t>wireless signals</a:t>
            </a:r>
            <a:r>
              <a:rPr lang="en-US" dirty="0"/>
              <a:t> that carry data </a:t>
            </a:r>
            <a:r>
              <a:rPr lang="en-US" b="1" dirty="0"/>
              <a:t>through </a:t>
            </a:r>
            <a:r>
              <a:rPr lang="en-US" b="1" dirty="0" smtClean="0"/>
              <a:t>air</a:t>
            </a:r>
            <a:r>
              <a:rPr lang="en-US" dirty="0" smtClean="0"/>
              <a:t>. They </a:t>
            </a:r>
            <a:r>
              <a:rPr lang="en-US" dirty="0"/>
              <a:t>do </a:t>
            </a:r>
            <a:r>
              <a:rPr lang="en-US" b="1" dirty="0"/>
              <a:t>not need wires or cables</a:t>
            </a:r>
            <a:r>
              <a:rPr lang="en-US" dirty="0" smtClean="0"/>
              <a:t>.</a:t>
            </a:r>
          </a:p>
          <a:p>
            <a:r>
              <a:rPr lang="en-US" b="1" dirty="0"/>
              <a:t>How do radio waves work?</a:t>
            </a:r>
          </a:p>
          <a:p>
            <a:r>
              <a:rPr lang="en-US" dirty="0"/>
              <a:t>A </a:t>
            </a:r>
            <a:r>
              <a:rPr lang="en-US" b="1" dirty="0"/>
              <a:t>transmitter</a:t>
            </a:r>
            <a:r>
              <a:rPr lang="en-US" dirty="0"/>
              <a:t> sends signals as radio waves</a:t>
            </a:r>
          </a:p>
          <a:p>
            <a:r>
              <a:rPr lang="en-US" dirty="0"/>
              <a:t>The waves travel through air</a:t>
            </a:r>
          </a:p>
          <a:p>
            <a:r>
              <a:rPr lang="en-US" dirty="0"/>
              <a:t>A </a:t>
            </a:r>
            <a:r>
              <a:rPr lang="en-US" b="1" dirty="0"/>
              <a:t>receiver</a:t>
            </a:r>
            <a:r>
              <a:rPr lang="en-US" dirty="0"/>
              <a:t> catches those waves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Like </a:t>
            </a:r>
            <a:r>
              <a:rPr lang="en-US" b="1" dirty="0"/>
              <a:t>talking and listening</a:t>
            </a:r>
            <a:r>
              <a:rPr lang="en-US" dirty="0"/>
              <a:t>, but without wires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  Real-life </a:t>
            </a:r>
            <a:r>
              <a:rPr lang="en-US" b="1" dirty="0"/>
              <a:t>examples:</a:t>
            </a:r>
            <a:endParaRPr lang="en-US" dirty="0"/>
          </a:p>
          <a:p>
            <a:r>
              <a:rPr lang="en-US" dirty="0" smtClean="0"/>
              <a:t>FM radio</a:t>
            </a:r>
            <a:endParaRPr lang="en-US" dirty="0"/>
          </a:p>
          <a:p>
            <a:r>
              <a:rPr lang="en-US" dirty="0"/>
              <a:t>Wi-Fi</a:t>
            </a:r>
          </a:p>
          <a:p>
            <a:r>
              <a:rPr lang="en-US" dirty="0" smtClean="0"/>
              <a:t>Bluetooth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pPr lvl="1" algn="just" fontAlgn="base"/>
            <a:endParaRPr lang="en-US" sz="2800" dirty="0"/>
          </a:p>
          <a:p>
            <a:endParaRPr lang="en-US" dirty="0"/>
          </a:p>
        </p:txBody>
      </p:sp>
      <p:pic>
        <p:nvPicPr>
          <p:cNvPr id="3074" name="Picture 2" descr="Transmitter GIFs - Get the best GIF on GIPHY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806" y="1828799"/>
            <a:ext cx="5586491" cy="277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6106182"/>
            <a:ext cx="2133600" cy="6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8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1266" y="1703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Infrared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272732"/>
            <a:ext cx="11887200" cy="571285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Infrared waves are used for very short distance communication. </a:t>
            </a:r>
            <a:endParaRPr lang="en-US" dirty="0" smtClean="0"/>
          </a:p>
          <a:p>
            <a:r>
              <a:rPr lang="en-US" b="1" dirty="0"/>
              <a:t>How does infrared work?</a:t>
            </a:r>
          </a:p>
          <a:p>
            <a:r>
              <a:rPr lang="en-US" dirty="0"/>
              <a:t>A </a:t>
            </a:r>
            <a:r>
              <a:rPr lang="en-US" b="1" dirty="0"/>
              <a:t>transmitter</a:t>
            </a:r>
            <a:r>
              <a:rPr lang="en-US" dirty="0"/>
              <a:t> sends infrared signals</a:t>
            </a:r>
          </a:p>
          <a:p>
            <a:r>
              <a:rPr lang="en-US" dirty="0"/>
              <a:t>The signal travels </a:t>
            </a:r>
            <a:r>
              <a:rPr lang="en-US" b="1" dirty="0"/>
              <a:t>in a straight line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receiver</a:t>
            </a:r>
            <a:r>
              <a:rPr lang="en-US" dirty="0"/>
              <a:t> detects the signal</a:t>
            </a:r>
          </a:p>
          <a:p>
            <a:r>
              <a:rPr lang="en-US" dirty="0" smtClean="0"/>
              <a:t> </a:t>
            </a:r>
            <a:r>
              <a:rPr lang="en-US" dirty="0"/>
              <a:t>It usually needs </a:t>
            </a:r>
            <a:r>
              <a:rPr lang="en-US" b="1" dirty="0"/>
              <a:t>line of sight</a:t>
            </a:r>
            <a:r>
              <a:rPr lang="en-US" dirty="0"/>
              <a:t> (no walls in between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It is used in TV remotes, wireless mouse, </a:t>
            </a:r>
            <a:r>
              <a:rPr lang="en-US" dirty="0" smtClean="0"/>
              <a:t>keyboard etc.</a:t>
            </a:r>
          </a:p>
          <a:p>
            <a:r>
              <a:rPr lang="en-US" b="1" dirty="0"/>
              <a:t>Real-life examples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TV remote </a:t>
            </a:r>
            <a:r>
              <a:rPr lang="en-US" dirty="0" smtClean="0"/>
              <a:t>control</a:t>
            </a:r>
            <a:endParaRPr lang="en-US" dirty="0"/>
          </a:p>
          <a:p>
            <a:r>
              <a:rPr lang="en-US" dirty="0" smtClean="0"/>
              <a:t>Wireless </a:t>
            </a:r>
            <a:r>
              <a:rPr lang="en-US" dirty="0"/>
              <a:t>headphones </a:t>
            </a:r>
            <a:endParaRPr lang="en-US" dirty="0" smtClean="0"/>
          </a:p>
          <a:p>
            <a:r>
              <a:rPr lang="en-US" dirty="0" smtClean="0"/>
              <a:t>File </a:t>
            </a:r>
            <a:r>
              <a:rPr lang="en-US" dirty="0"/>
              <a:t>transfer between phones </a:t>
            </a:r>
          </a:p>
          <a:p>
            <a:pPr algn="just"/>
            <a:endParaRPr lang="en-US" dirty="0"/>
          </a:p>
        </p:txBody>
      </p:sp>
      <p:pic>
        <p:nvPicPr>
          <p:cNvPr id="6146" name="Picture 2" descr="What Are the Most Common Uses of Infrared? (with pictures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423" y="2109926"/>
            <a:ext cx="2989627" cy="228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237" y="6089356"/>
            <a:ext cx="2186763" cy="69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9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1267" y="15126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Microwaves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69052"/>
            <a:ext cx="11899496" cy="5944129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It is a line of sight transmission i.e. the sending and receiving antennas need to be properly aligned with each other. </a:t>
            </a:r>
            <a:endParaRPr lang="en-US" sz="2000" dirty="0" smtClean="0"/>
          </a:p>
          <a:p>
            <a:pPr algn="just"/>
            <a:r>
              <a:rPr lang="en-US" sz="2000" dirty="0" smtClean="0"/>
              <a:t>The </a:t>
            </a:r>
            <a:r>
              <a:rPr lang="en-US" sz="2000" dirty="0"/>
              <a:t>distance covered by the signal is directly proportional to the height of the antenna. </a:t>
            </a:r>
            <a:r>
              <a:rPr lang="en-US" sz="2000" dirty="0" smtClean="0"/>
              <a:t> </a:t>
            </a:r>
          </a:p>
          <a:p>
            <a:pPr algn="just"/>
            <a:r>
              <a:rPr lang="en-US" sz="2000" dirty="0" smtClean="0"/>
              <a:t>These </a:t>
            </a:r>
            <a:r>
              <a:rPr lang="en-US" sz="2000" dirty="0"/>
              <a:t>are majorly used for mobile phone communication and television distribution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Real-life examples</a:t>
            </a:r>
            <a:r>
              <a:rPr lang="en-US" sz="2000" b="1" dirty="0" smtClean="0"/>
              <a:t>:</a:t>
            </a:r>
          </a:p>
          <a:p>
            <a:r>
              <a:rPr lang="en-US" sz="2000" dirty="0"/>
              <a:t>Mobile Phoone Towers</a:t>
            </a:r>
          </a:p>
          <a:p>
            <a:r>
              <a:rPr lang="en-US" sz="2000" dirty="0"/>
              <a:t>Satellite communication</a:t>
            </a:r>
          </a:p>
          <a:p>
            <a:r>
              <a:rPr lang="en-US" sz="2000" dirty="0"/>
              <a:t>Microwave ovens (same type of waves)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Used for long-distance wireless links.</a:t>
            </a:r>
          </a:p>
          <a:p>
            <a:pPr algn="just"/>
            <a:endParaRPr lang="en-US" sz="2000" dirty="0"/>
          </a:p>
        </p:txBody>
      </p:sp>
      <p:sp>
        <p:nvSpPr>
          <p:cNvPr id="4" name="AutoShape 2" descr="Microwave Transmission – What is a Microwave Transmission? | Computer Notes"/>
          <p:cNvSpPr>
            <a:spLocks noChangeAspect="1" noChangeArrowheads="1"/>
          </p:cNvSpPr>
          <p:nvPr/>
        </p:nvSpPr>
        <p:spPr bwMode="auto">
          <a:xfrm>
            <a:off x="188576" y="-154782"/>
            <a:ext cx="369455" cy="32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5833" tIns="52916" rIns="105833" bIns="5291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Microwave Transmission – What is a Microwave Transmission? | Computer Notes"/>
          <p:cNvSpPr>
            <a:spLocks noChangeAspect="1" noChangeArrowheads="1"/>
          </p:cNvSpPr>
          <p:nvPr/>
        </p:nvSpPr>
        <p:spPr bwMode="auto">
          <a:xfrm>
            <a:off x="373303" y="8504"/>
            <a:ext cx="369455" cy="32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5833" tIns="52916" rIns="105833" bIns="5291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Microwave Transmission – What is a Microwave Transmission? | Computer Notes"/>
          <p:cNvSpPr>
            <a:spLocks noChangeAspect="1" noChangeArrowheads="1"/>
          </p:cNvSpPr>
          <p:nvPr/>
        </p:nvSpPr>
        <p:spPr bwMode="auto">
          <a:xfrm>
            <a:off x="558030" y="171790"/>
            <a:ext cx="369455" cy="32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5833" tIns="52916" rIns="105833" bIns="5291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244" y="3000919"/>
            <a:ext cx="7085899" cy="2726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44" y="6059070"/>
            <a:ext cx="2282456" cy="72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3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58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Microwave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194" name="Picture 2" descr="What is microwave transmission? - theinfozones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096" y="1196922"/>
            <a:ext cx="7655807" cy="506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888" y="6156660"/>
            <a:ext cx="1974112" cy="6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25500" y="1143493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003" y="3850117"/>
            <a:ext cx="495037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You can Find me: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mehakrana.CS@tuf.edu.pk</a:t>
            </a:r>
            <a:endParaRPr lang="en-US" sz="2000" b="1" dirty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5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565</Words>
  <Application>Microsoft Office PowerPoint</Application>
  <PresentationFormat>Widescreen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Arial Narrow</vt:lpstr>
      <vt:lpstr>Calibri</vt:lpstr>
      <vt:lpstr>Calibri Light</vt:lpstr>
      <vt:lpstr>Office Theme</vt:lpstr>
      <vt:lpstr>Lecture 6</vt:lpstr>
      <vt:lpstr>1_Office Theme</vt:lpstr>
      <vt:lpstr>                              Computer Network                              Basics of Network                                                        Transmission Media &amp; Types                         Guided Media: Twisted Pair Cable, Unshielded Twisted Pair,                                                        Coaxial Cable, Optical Fibers                          Unguided Media: Radio waves, Microwaves, Infrared</vt:lpstr>
      <vt:lpstr>Transmission Media &amp; Types</vt:lpstr>
      <vt:lpstr>PowerPoint Presentation</vt:lpstr>
      <vt:lpstr>Guided Media</vt:lpstr>
      <vt:lpstr>Twisted Pair Cable</vt:lpstr>
      <vt:lpstr>Twisted Pair Cable</vt:lpstr>
      <vt:lpstr>Unshielded Twisted Pair (UTP)</vt:lpstr>
      <vt:lpstr>Shielded Twisted Pair (STP)</vt:lpstr>
      <vt:lpstr>Coaxial Cable</vt:lpstr>
      <vt:lpstr>Coaxial Cable</vt:lpstr>
      <vt:lpstr>Optical Fibers</vt:lpstr>
      <vt:lpstr>Unguided Media</vt:lpstr>
      <vt:lpstr>Radiowaves</vt:lpstr>
      <vt:lpstr>Infrared</vt:lpstr>
      <vt:lpstr>Microwaves</vt:lpstr>
      <vt:lpstr>Microwave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CLASS ROOM</cp:lastModifiedBy>
  <cp:revision>177</cp:revision>
  <dcterms:created xsi:type="dcterms:W3CDTF">2024-06-21T09:49:00Z</dcterms:created>
  <dcterms:modified xsi:type="dcterms:W3CDTF">2026-02-18T12:41:22Z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