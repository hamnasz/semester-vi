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sldIdLst>
    <p:sldId id="273" r:id="rId4"/>
    <p:sldId id="918" r:id="rId5"/>
    <p:sldId id="919" r:id="rId6"/>
    <p:sldId id="922" r:id="rId7"/>
    <p:sldId id="923" r:id="rId8"/>
    <p:sldId id="924" r:id="rId9"/>
    <p:sldId id="925" r:id="rId10"/>
    <p:sldId id="926" r:id="rId11"/>
    <p:sldId id="927" r:id="rId12"/>
    <p:sldId id="928" r:id="rId13"/>
    <p:sldId id="929" r:id="rId14"/>
    <p:sldId id="930" r:id="rId15"/>
    <p:sldId id="931" r:id="rId16"/>
    <p:sldId id="932" r:id="rId17"/>
    <p:sldId id="933" r:id="rId18"/>
    <p:sldId id="934" r:id="rId19"/>
    <p:sldId id="935" r:id="rId20"/>
    <p:sldId id="936" r:id="rId21"/>
    <p:sldId id="937" r:id="rId22"/>
    <p:sldId id="938" r:id="rId23"/>
    <p:sldId id="939" r:id="rId24"/>
    <p:sldId id="940" r:id="rId25"/>
    <p:sldId id="941" r:id="rId26"/>
    <p:sldId id="943" r:id="rId27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33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17A439-76A2-4BD0-BB96-FCA81874A3C0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2A3DFCD-1CB2-4329-B211-5001386E231E}">
      <dgm:prSet phldrT="[Text]"/>
      <dgm:spPr/>
      <dgm:t>
        <a:bodyPr/>
        <a:lstStyle/>
        <a:p>
          <a:r>
            <a:rPr lang="en-US" b="1" dirty="0" smtClean="0"/>
            <a:t>DELIVERY</a:t>
          </a:r>
          <a:endParaRPr lang="en-US" dirty="0"/>
        </a:p>
      </dgm:t>
    </dgm:pt>
    <dgm:pt modelId="{39EF04B4-9811-432F-88C5-99E9729033D6}" type="parTrans" cxnId="{B7AA8B13-614A-458E-B5DF-C07A2DB239FF}">
      <dgm:prSet/>
      <dgm:spPr/>
      <dgm:t>
        <a:bodyPr/>
        <a:lstStyle/>
        <a:p>
          <a:endParaRPr lang="en-US"/>
        </a:p>
      </dgm:t>
    </dgm:pt>
    <dgm:pt modelId="{01758609-9CAE-4EBC-99B3-547F4EFBE924}" type="sibTrans" cxnId="{B7AA8B13-614A-458E-B5DF-C07A2DB239FF}">
      <dgm:prSet/>
      <dgm:spPr/>
      <dgm:t>
        <a:bodyPr/>
        <a:lstStyle/>
        <a:p>
          <a:endParaRPr lang="en-US"/>
        </a:p>
      </dgm:t>
    </dgm:pt>
    <dgm:pt modelId="{292C2C7F-7556-4D01-91E1-A209080E7293}">
      <dgm:prSet phldrT="[Text]"/>
      <dgm:spPr/>
      <dgm:t>
        <a:bodyPr/>
        <a:lstStyle/>
        <a:p>
          <a:r>
            <a:rPr lang="en-US" b="1" smtClean="0"/>
            <a:t>ACCURACY</a:t>
          </a:r>
          <a:endParaRPr lang="en-US" dirty="0"/>
        </a:p>
      </dgm:t>
    </dgm:pt>
    <dgm:pt modelId="{BC98FC42-24C9-4950-9F42-0BEBB9959661}" type="parTrans" cxnId="{ABE80BB4-2423-43C5-9752-EF93F6C70F6E}">
      <dgm:prSet/>
      <dgm:spPr/>
      <dgm:t>
        <a:bodyPr/>
        <a:lstStyle/>
        <a:p>
          <a:endParaRPr lang="en-US"/>
        </a:p>
      </dgm:t>
    </dgm:pt>
    <dgm:pt modelId="{0EA5E67B-333A-4A21-95F1-6881553145A5}" type="sibTrans" cxnId="{ABE80BB4-2423-43C5-9752-EF93F6C70F6E}">
      <dgm:prSet/>
      <dgm:spPr/>
      <dgm:t>
        <a:bodyPr/>
        <a:lstStyle/>
        <a:p>
          <a:endParaRPr lang="en-US"/>
        </a:p>
      </dgm:t>
    </dgm:pt>
    <dgm:pt modelId="{699F03EE-E59E-4E97-BB11-92C290F61333}">
      <dgm:prSet phldrT="[Text]"/>
      <dgm:spPr/>
      <dgm:t>
        <a:bodyPr/>
        <a:lstStyle/>
        <a:p>
          <a:r>
            <a:rPr lang="en-US" b="1" smtClean="0"/>
            <a:t>TIMELINESS</a:t>
          </a:r>
          <a:endParaRPr lang="en-US" dirty="0"/>
        </a:p>
      </dgm:t>
    </dgm:pt>
    <dgm:pt modelId="{F8D242D8-144D-4634-A9C6-075C022DDDD3}" type="parTrans" cxnId="{9EB7383F-A094-4B5A-89D3-456D40E4B451}">
      <dgm:prSet/>
      <dgm:spPr/>
      <dgm:t>
        <a:bodyPr/>
        <a:lstStyle/>
        <a:p>
          <a:endParaRPr lang="en-US"/>
        </a:p>
      </dgm:t>
    </dgm:pt>
    <dgm:pt modelId="{49474D04-13ED-463B-B652-604C2B318DBF}" type="sibTrans" cxnId="{9EB7383F-A094-4B5A-89D3-456D40E4B451}">
      <dgm:prSet/>
      <dgm:spPr/>
      <dgm:t>
        <a:bodyPr/>
        <a:lstStyle/>
        <a:p>
          <a:endParaRPr lang="en-US"/>
        </a:p>
      </dgm:t>
    </dgm:pt>
    <dgm:pt modelId="{6F2EE837-7BF3-46DB-8CF0-21B729151394}">
      <dgm:prSet phldrT="[Text]"/>
      <dgm:spPr/>
      <dgm:t>
        <a:bodyPr/>
        <a:lstStyle/>
        <a:p>
          <a:r>
            <a:rPr lang="en-US" b="1" dirty="0" smtClean="0"/>
            <a:t>JITTER</a:t>
          </a:r>
          <a:endParaRPr lang="en-US" dirty="0"/>
        </a:p>
      </dgm:t>
    </dgm:pt>
    <dgm:pt modelId="{A42C834D-D75E-46CC-9F2A-30FCD25D5F75}" type="parTrans" cxnId="{E3C5A452-0871-4B7E-B71B-1CF4ECD4D940}">
      <dgm:prSet/>
      <dgm:spPr/>
      <dgm:t>
        <a:bodyPr/>
        <a:lstStyle/>
        <a:p>
          <a:endParaRPr lang="en-US"/>
        </a:p>
      </dgm:t>
    </dgm:pt>
    <dgm:pt modelId="{889D820D-F5B3-4CF8-920D-CA1AE4CCBD85}" type="sibTrans" cxnId="{E3C5A452-0871-4B7E-B71B-1CF4ECD4D940}">
      <dgm:prSet/>
      <dgm:spPr/>
      <dgm:t>
        <a:bodyPr/>
        <a:lstStyle/>
        <a:p>
          <a:endParaRPr lang="en-US"/>
        </a:p>
      </dgm:t>
    </dgm:pt>
    <dgm:pt modelId="{256B2FC0-5AA1-4066-A3AE-FEA490E998B4}" type="pres">
      <dgm:prSet presAssocID="{B317A439-76A2-4BD0-BB96-FCA81874A3C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881092E-96B5-465F-98AD-40FC62F76A73}" type="pres">
      <dgm:prSet presAssocID="{42A3DFCD-1CB2-4329-B211-5001386E231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7302A5-2317-460E-B8FE-4DD30F7B0B05}" type="pres">
      <dgm:prSet presAssocID="{01758609-9CAE-4EBC-99B3-547F4EFBE924}" presName="sibTrans" presStyleCnt="0"/>
      <dgm:spPr/>
    </dgm:pt>
    <dgm:pt modelId="{AB2BFA5E-B9DA-4C07-8EB0-0AD884B4A8C2}" type="pres">
      <dgm:prSet presAssocID="{292C2C7F-7556-4D01-91E1-A209080E7293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BDF3BD-2654-4B88-BD86-6A131528B165}" type="pres">
      <dgm:prSet presAssocID="{0EA5E67B-333A-4A21-95F1-6881553145A5}" presName="sibTrans" presStyleCnt="0"/>
      <dgm:spPr/>
    </dgm:pt>
    <dgm:pt modelId="{D67D4C0D-AAEB-4E05-B818-28F5901941BE}" type="pres">
      <dgm:prSet presAssocID="{699F03EE-E59E-4E97-BB11-92C290F6133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4E241F-60D0-49E0-ADC9-795ACFC62054}" type="pres">
      <dgm:prSet presAssocID="{49474D04-13ED-463B-B652-604C2B318DBF}" presName="sibTrans" presStyleCnt="0"/>
      <dgm:spPr/>
    </dgm:pt>
    <dgm:pt modelId="{137AC044-C309-482A-8C8A-7A8FD2E69A0D}" type="pres">
      <dgm:prSet presAssocID="{6F2EE837-7BF3-46DB-8CF0-21B729151394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E80BB4-2423-43C5-9752-EF93F6C70F6E}" srcId="{B317A439-76A2-4BD0-BB96-FCA81874A3C0}" destId="{292C2C7F-7556-4D01-91E1-A209080E7293}" srcOrd="1" destOrd="0" parTransId="{BC98FC42-24C9-4950-9F42-0BEBB9959661}" sibTransId="{0EA5E67B-333A-4A21-95F1-6881553145A5}"/>
    <dgm:cxn modelId="{9EB7383F-A094-4B5A-89D3-456D40E4B451}" srcId="{B317A439-76A2-4BD0-BB96-FCA81874A3C0}" destId="{699F03EE-E59E-4E97-BB11-92C290F61333}" srcOrd="2" destOrd="0" parTransId="{F8D242D8-144D-4634-A9C6-075C022DDDD3}" sibTransId="{49474D04-13ED-463B-B652-604C2B318DBF}"/>
    <dgm:cxn modelId="{1B17AC13-8456-4800-A945-24DADFF8706E}" type="presOf" srcId="{B317A439-76A2-4BD0-BB96-FCA81874A3C0}" destId="{256B2FC0-5AA1-4066-A3AE-FEA490E998B4}" srcOrd="0" destOrd="0" presId="urn:microsoft.com/office/officeart/2005/8/layout/default"/>
    <dgm:cxn modelId="{B7AA8B13-614A-458E-B5DF-C07A2DB239FF}" srcId="{B317A439-76A2-4BD0-BB96-FCA81874A3C0}" destId="{42A3DFCD-1CB2-4329-B211-5001386E231E}" srcOrd="0" destOrd="0" parTransId="{39EF04B4-9811-432F-88C5-99E9729033D6}" sibTransId="{01758609-9CAE-4EBC-99B3-547F4EFBE924}"/>
    <dgm:cxn modelId="{AB5FE5F3-189C-449D-944F-744A0DFAD9F6}" type="presOf" srcId="{6F2EE837-7BF3-46DB-8CF0-21B729151394}" destId="{137AC044-C309-482A-8C8A-7A8FD2E69A0D}" srcOrd="0" destOrd="0" presId="urn:microsoft.com/office/officeart/2005/8/layout/default"/>
    <dgm:cxn modelId="{5B9ABB9E-3E83-43D4-8D9D-3E7F4B210371}" type="presOf" srcId="{42A3DFCD-1CB2-4329-B211-5001386E231E}" destId="{2881092E-96B5-465F-98AD-40FC62F76A73}" srcOrd="0" destOrd="0" presId="urn:microsoft.com/office/officeart/2005/8/layout/default"/>
    <dgm:cxn modelId="{E1C046B4-ECAF-4791-919B-5B8AD4F3B08B}" type="presOf" srcId="{699F03EE-E59E-4E97-BB11-92C290F61333}" destId="{D67D4C0D-AAEB-4E05-B818-28F5901941BE}" srcOrd="0" destOrd="0" presId="urn:microsoft.com/office/officeart/2005/8/layout/default"/>
    <dgm:cxn modelId="{E3C5A452-0871-4B7E-B71B-1CF4ECD4D940}" srcId="{B317A439-76A2-4BD0-BB96-FCA81874A3C0}" destId="{6F2EE837-7BF3-46DB-8CF0-21B729151394}" srcOrd="3" destOrd="0" parTransId="{A42C834D-D75E-46CC-9F2A-30FCD25D5F75}" sibTransId="{889D820D-F5B3-4CF8-920D-CA1AE4CCBD85}"/>
    <dgm:cxn modelId="{B2BCBE36-1363-40EB-9757-F77F34053A43}" type="presOf" srcId="{292C2C7F-7556-4D01-91E1-A209080E7293}" destId="{AB2BFA5E-B9DA-4C07-8EB0-0AD884B4A8C2}" srcOrd="0" destOrd="0" presId="urn:microsoft.com/office/officeart/2005/8/layout/default"/>
    <dgm:cxn modelId="{1417B54A-3146-4D43-8D81-DA63E1BE7AFB}" type="presParOf" srcId="{256B2FC0-5AA1-4066-A3AE-FEA490E998B4}" destId="{2881092E-96B5-465F-98AD-40FC62F76A73}" srcOrd="0" destOrd="0" presId="urn:microsoft.com/office/officeart/2005/8/layout/default"/>
    <dgm:cxn modelId="{E8B18EB2-ACCF-4E81-BF90-6E822BBA1410}" type="presParOf" srcId="{256B2FC0-5AA1-4066-A3AE-FEA490E998B4}" destId="{AE7302A5-2317-460E-B8FE-4DD30F7B0B05}" srcOrd="1" destOrd="0" presId="urn:microsoft.com/office/officeart/2005/8/layout/default"/>
    <dgm:cxn modelId="{58F27A04-C8A5-450C-92AB-A2AD6D330AE9}" type="presParOf" srcId="{256B2FC0-5AA1-4066-A3AE-FEA490E998B4}" destId="{AB2BFA5E-B9DA-4C07-8EB0-0AD884B4A8C2}" srcOrd="2" destOrd="0" presId="urn:microsoft.com/office/officeart/2005/8/layout/default"/>
    <dgm:cxn modelId="{747C5B91-E1BA-4CDE-B931-8C1249D193B3}" type="presParOf" srcId="{256B2FC0-5AA1-4066-A3AE-FEA490E998B4}" destId="{17BDF3BD-2654-4B88-BD86-6A131528B165}" srcOrd="3" destOrd="0" presId="urn:microsoft.com/office/officeart/2005/8/layout/default"/>
    <dgm:cxn modelId="{B6EB7822-CCBC-435C-8F27-4A9647BA5042}" type="presParOf" srcId="{256B2FC0-5AA1-4066-A3AE-FEA490E998B4}" destId="{D67D4C0D-AAEB-4E05-B818-28F5901941BE}" srcOrd="4" destOrd="0" presId="urn:microsoft.com/office/officeart/2005/8/layout/default"/>
    <dgm:cxn modelId="{E94A39D2-7A31-4CFC-8AED-83C78E9E233E}" type="presParOf" srcId="{256B2FC0-5AA1-4066-A3AE-FEA490E998B4}" destId="{DD4E241F-60D0-49E0-ADC9-795ACFC62054}" srcOrd="5" destOrd="0" presId="urn:microsoft.com/office/officeart/2005/8/layout/default"/>
    <dgm:cxn modelId="{B688B078-C1A8-4A52-A8E4-F2867CFA1B22}" type="presParOf" srcId="{256B2FC0-5AA1-4066-A3AE-FEA490E998B4}" destId="{137AC044-C309-482A-8C8A-7A8FD2E69A0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1092E-96B5-465F-98AD-40FC62F76A73}">
      <dsp:nvSpPr>
        <dsp:cNvPr id="0" name=""/>
        <dsp:cNvSpPr/>
      </dsp:nvSpPr>
      <dsp:spPr>
        <a:xfrm>
          <a:off x="771" y="127257"/>
          <a:ext cx="3007131" cy="180427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b="1" kern="1200" dirty="0" smtClean="0"/>
            <a:t>DELIVERY</a:t>
          </a:r>
          <a:endParaRPr lang="en-US" sz="4300" kern="1200" dirty="0"/>
        </a:p>
      </dsp:txBody>
      <dsp:txXfrm>
        <a:off x="771" y="127257"/>
        <a:ext cx="3007131" cy="1804279"/>
      </dsp:txXfrm>
    </dsp:sp>
    <dsp:sp modelId="{AB2BFA5E-B9DA-4C07-8EB0-0AD884B4A8C2}">
      <dsp:nvSpPr>
        <dsp:cNvPr id="0" name=""/>
        <dsp:cNvSpPr/>
      </dsp:nvSpPr>
      <dsp:spPr>
        <a:xfrm>
          <a:off x="3308616" y="127257"/>
          <a:ext cx="3007131" cy="1804279"/>
        </a:xfrm>
        <a:prstGeom prst="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b="1" kern="1200" smtClean="0"/>
            <a:t>ACCURACY</a:t>
          </a:r>
          <a:endParaRPr lang="en-US" sz="4300" kern="1200" dirty="0"/>
        </a:p>
      </dsp:txBody>
      <dsp:txXfrm>
        <a:off x="3308616" y="127257"/>
        <a:ext cx="3007131" cy="1804279"/>
      </dsp:txXfrm>
    </dsp:sp>
    <dsp:sp modelId="{D67D4C0D-AAEB-4E05-B818-28F5901941BE}">
      <dsp:nvSpPr>
        <dsp:cNvPr id="0" name=""/>
        <dsp:cNvSpPr/>
      </dsp:nvSpPr>
      <dsp:spPr>
        <a:xfrm>
          <a:off x="771" y="2232250"/>
          <a:ext cx="3007131" cy="1804279"/>
        </a:xfrm>
        <a:prstGeom prst="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b="1" kern="1200" smtClean="0"/>
            <a:t>TIMELINESS</a:t>
          </a:r>
          <a:endParaRPr lang="en-US" sz="4300" kern="1200" dirty="0"/>
        </a:p>
      </dsp:txBody>
      <dsp:txXfrm>
        <a:off x="771" y="2232250"/>
        <a:ext cx="3007131" cy="1804279"/>
      </dsp:txXfrm>
    </dsp:sp>
    <dsp:sp modelId="{137AC044-C309-482A-8C8A-7A8FD2E69A0D}">
      <dsp:nvSpPr>
        <dsp:cNvPr id="0" name=""/>
        <dsp:cNvSpPr/>
      </dsp:nvSpPr>
      <dsp:spPr>
        <a:xfrm>
          <a:off x="3308616" y="2232250"/>
          <a:ext cx="3007131" cy="1804279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b="1" kern="1200" dirty="0" smtClean="0"/>
            <a:t>JITTER</a:t>
          </a:r>
          <a:endParaRPr lang="en-US" sz="4300" kern="1200" dirty="0"/>
        </a:p>
      </dsp:txBody>
      <dsp:txXfrm>
        <a:off x="3308616" y="2232250"/>
        <a:ext cx="3007131" cy="1804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2/17/2026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90858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1" y="211895"/>
            <a:ext cx="2165537" cy="114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852571" y="-516204"/>
            <a:ext cx="9144000" cy="2387600"/>
          </a:xfrm>
        </p:spPr>
        <p:txBody>
          <a:bodyPr/>
          <a:lstStyle/>
          <a:p>
            <a:pPr algn="l"/>
            <a:r>
              <a:rPr lang="en-US" sz="51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  Computer Network                 </a:t>
            </a:r>
            <a:br>
              <a:rPr lang="en-US" sz="51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51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Basics 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of Network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-195429" y="1932929"/>
            <a:ext cx="12192000" cy="384527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smtClean="0">
                <a:solidFill>
                  <a:schemeClr val="accent4"/>
                </a:solidFill>
              </a:rPr>
              <a:t>       </a:t>
            </a:r>
          </a:p>
          <a:p>
            <a:r>
              <a:rPr lang="en-US" sz="3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Lecture# 1 </a:t>
            </a:r>
          </a:p>
          <a:p>
            <a:r>
              <a:rPr lang="en-US" sz="3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Week #1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6700" b="1" dirty="0" smtClean="0">
                <a:solidFill>
                  <a:schemeClr val="accent4"/>
                </a:solidFill>
              </a:rPr>
              <a:t> </a:t>
            </a:r>
            <a:r>
              <a:rPr lang="en-US" sz="6700" b="1" dirty="0">
                <a:solidFill>
                  <a:schemeClr val="bg1"/>
                </a:solidFill>
                <a:latin typeface="Arial Black" panose="020B0A04020102020204" pitchFamily="34" charset="0"/>
              </a:rPr>
              <a:t>Components of Data </a:t>
            </a:r>
            <a:r>
              <a:rPr lang="en-US" sz="67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Communication</a:t>
            </a:r>
          </a:p>
          <a:p>
            <a:r>
              <a:rPr lang="en-US" sz="67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Data Communication characteristics</a:t>
            </a:r>
            <a:r>
              <a:rPr lang="en-US" sz="6700" b="1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endParaRPr lang="en-US" sz="6700" b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67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Data Representation</a:t>
            </a:r>
          </a:p>
          <a:p>
            <a:endParaRPr lang="en-US" sz="2000" b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4500" dirty="0" smtClean="0">
                <a:solidFill>
                  <a:schemeClr val="bg1"/>
                </a:solidFill>
              </a:rPr>
              <a:t>Data </a:t>
            </a:r>
            <a:r>
              <a:rPr lang="en-US" sz="4500" dirty="0">
                <a:solidFill>
                  <a:schemeClr val="bg1"/>
                </a:solidFill>
              </a:rPr>
              <a:t>Communications and Networking, Fourth Edition, Behrouz A. </a:t>
            </a:r>
            <a:r>
              <a:rPr lang="en-US" sz="4500" dirty="0" err="1">
                <a:solidFill>
                  <a:schemeClr val="bg1"/>
                </a:solidFill>
              </a:rPr>
              <a:t>Forouzan</a:t>
            </a:r>
            <a:endParaRPr lang="en-US" sz="4500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1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78" y="5822842"/>
            <a:ext cx="3129619" cy="990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4" y="687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Name of Course: </a:t>
            </a:r>
            <a:r>
              <a:rPr lang="en-US" dirty="0" smtClean="0"/>
              <a:t>Computer Networks </a:t>
            </a:r>
            <a:endParaRPr lang="en-US" dirty="0"/>
          </a:p>
          <a:p>
            <a:r>
              <a:rPr lang="en-US" b="1" dirty="0"/>
              <a:t>Credit Hours: </a:t>
            </a:r>
            <a:r>
              <a:rPr lang="en-US" dirty="0" smtClean="0"/>
              <a:t>4(3-1)</a:t>
            </a:r>
            <a:endParaRPr lang="en-US" dirty="0"/>
          </a:p>
          <a:p>
            <a:r>
              <a:rPr lang="en-US" b="1" dirty="0"/>
              <a:t>No. of Lectures per week: </a:t>
            </a:r>
            <a:r>
              <a:rPr lang="en-US" dirty="0"/>
              <a:t>3 (Duration 1hr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1 Lab per week (Duration 2 </a:t>
            </a:r>
            <a:r>
              <a:rPr lang="en-US" dirty="0" err="1" smtClean="0"/>
              <a:t>Hr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b="1" dirty="0" smtClean="0"/>
              <a:t>Mid </a:t>
            </a:r>
            <a:r>
              <a:rPr lang="en-US" b="1" dirty="0"/>
              <a:t>Exams:</a:t>
            </a:r>
            <a:r>
              <a:rPr lang="en-US" dirty="0"/>
              <a:t> </a:t>
            </a:r>
            <a:r>
              <a:rPr lang="en-US" dirty="0" smtClean="0"/>
              <a:t> </a:t>
            </a:r>
            <a:endParaRPr lang="en-US" b="1" dirty="0"/>
          </a:p>
          <a:p>
            <a:r>
              <a:rPr lang="en-US" b="1" dirty="0" smtClean="0"/>
              <a:t>Final Exams: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1079" y="5936243"/>
            <a:ext cx="2542895" cy="8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0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1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Marks Distribution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Internal Assessment</a:t>
            </a:r>
            <a:r>
              <a:rPr lang="en-US" dirty="0" smtClean="0"/>
              <a:t>: 35 Marks</a:t>
            </a:r>
          </a:p>
          <a:p>
            <a:r>
              <a:rPr lang="en-US" b="1" dirty="0"/>
              <a:t>Mid Semester Examination</a:t>
            </a:r>
            <a:r>
              <a:rPr lang="en-US" dirty="0" smtClean="0"/>
              <a:t>: 25 Marks</a:t>
            </a:r>
          </a:p>
          <a:p>
            <a:r>
              <a:rPr lang="en-US" b="1" dirty="0"/>
              <a:t>Final Semester Examination</a:t>
            </a:r>
            <a:r>
              <a:rPr lang="en-US" dirty="0" smtClean="0"/>
              <a:t>: 40 Marks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037" y="5973260"/>
            <a:ext cx="2425937" cy="76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9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94191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Data Communication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3700" dirty="0"/>
              <a:t>Data Communication is the exchange of data between two devices via some form of transmission</a:t>
            </a:r>
          </a:p>
          <a:p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023" y="3437355"/>
            <a:ext cx="8564802" cy="1956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71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27666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Components of Data Communication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>
                <a:solidFill>
                  <a:schemeClr val="accent1"/>
                </a:solidFill>
              </a:rPr>
              <a:t>Message: </a:t>
            </a:r>
            <a:r>
              <a:rPr lang="en-US" sz="3200" dirty="0"/>
              <a:t>Data</a:t>
            </a:r>
          </a:p>
          <a:p>
            <a:pPr algn="just"/>
            <a:r>
              <a:rPr lang="en-US" sz="3200" b="1" dirty="0">
                <a:solidFill>
                  <a:schemeClr val="accent1"/>
                </a:solidFill>
              </a:rPr>
              <a:t>Sender: </a:t>
            </a:r>
            <a:r>
              <a:rPr lang="en-US" sz="3200" dirty="0"/>
              <a:t>The device that send the message</a:t>
            </a:r>
          </a:p>
          <a:p>
            <a:pPr algn="just"/>
            <a:r>
              <a:rPr lang="en-US" sz="3200" b="1" dirty="0">
                <a:solidFill>
                  <a:schemeClr val="accent1"/>
                </a:solidFill>
              </a:rPr>
              <a:t>Receiver: </a:t>
            </a:r>
            <a:r>
              <a:rPr lang="en-US" sz="3200" dirty="0"/>
              <a:t>The device that receive the message</a:t>
            </a:r>
          </a:p>
          <a:p>
            <a:pPr algn="just"/>
            <a:r>
              <a:rPr lang="en-US" sz="3200" b="1" dirty="0">
                <a:solidFill>
                  <a:schemeClr val="accent1"/>
                </a:solidFill>
              </a:rPr>
              <a:t>Transmission Medium: </a:t>
            </a:r>
            <a:r>
              <a:rPr lang="en-US" sz="3200" dirty="0"/>
              <a:t>The physical path between sender and receiver, the message travel.</a:t>
            </a:r>
          </a:p>
          <a:p>
            <a:pPr algn="just"/>
            <a:r>
              <a:rPr lang="en-US" sz="3200" b="1" dirty="0">
                <a:solidFill>
                  <a:schemeClr val="accent1"/>
                </a:solidFill>
              </a:rPr>
              <a:t>Protocol: </a:t>
            </a:r>
            <a:r>
              <a:rPr lang="en-US" sz="3200" dirty="0"/>
              <a:t>Protocol is a set of rules that governs data communication.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7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i="1" dirty="0">
                <a:solidFill>
                  <a:schemeClr val="accent1"/>
                </a:solidFill>
              </a:rPr>
              <a:t>Message: </a:t>
            </a:r>
            <a:r>
              <a:rPr lang="en-US" sz="3200" dirty="0"/>
              <a:t>The message is the information (data) to be communicated. Popular forms of information include text, numbers, pictures, audio, and video.</a:t>
            </a:r>
          </a:p>
          <a:p>
            <a:pPr marL="52916" indent="0" algn="just">
              <a:buNone/>
            </a:pPr>
            <a:endParaRPr lang="en-US" sz="3200" dirty="0"/>
          </a:p>
          <a:p>
            <a:pPr algn="just"/>
            <a:r>
              <a:rPr lang="en-US" sz="3200" b="1" i="1" dirty="0">
                <a:solidFill>
                  <a:schemeClr val="accent1"/>
                </a:solidFill>
              </a:rPr>
              <a:t>Sender: </a:t>
            </a:r>
            <a:r>
              <a:rPr lang="en-US" sz="3200" dirty="0"/>
              <a:t>The sender is the device that sends the data message. It can be a computer, workstation, telephone handset, video camera, and so 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17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i="1" dirty="0">
                <a:solidFill>
                  <a:schemeClr val="accent1"/>
                </a:solidFill>
              </a:rPr>
              <a:t>Receiver:</a:t>
            </a:r>
            <a:r>
              <a:rPr lang="en-US" b="1" i="1" dirty="0"/>
              <a:t> </a:t>
            </a:r>
            <a:r>
              <a:rPr lang="en-US" dirty="0"/>
              <a:t>The receiver is the device that receives the message. It can be a computer, workstation, telephone handset, television, and so on.</a:t>
            </a:r>
          </a:p>
          <a:p>
            <a:pPr algn="just"/>
            <a:endParaRPr lang="en-US" dirty="0"/>
          </a:p>
          <a:p>
            <a:pPr algn="just"/>
            <a:r>
              <a:rPr lang="en-US" b="1" i="1" dirty="0">
                <a:solidFill>
                  <a:schemeClr val="accent1"/>
                </a:solidFill>
              </a:rPr>
              <a:t>Transmission Medium: </a:t>
            </a:r>
            <a:r>
              <a:rPr lang="en-US" dirty="0"/>
              <a:t>The transmission medium is the physical path by which a message travels from sender to receiver. Some examples of transmission media include twisted-pair wire, coaxial cable, fiber-optic cable, and radio waves.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4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48316"/>
            <a:ext cx="12192000" cy="587980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chemeClr val="accent1"/>
                </a:solidFill>
              </a:rPr>
              <a:t>Protocol</a:t>
            </a:r>
          </a:p>
          <a:p>
            <a:pPr algn="just"/>
            <a:r>
              <a:rPr lang="en-US" dirty="0"/>
              <a:t>A protocol is a set of rules that govern data communications. </a:t>
            </a:r>
          </a:p>
          <a:p>
            <a:r>
              <a:rPr lang="en-US" b="1" dirty="0"/>
              <a:t>Real-Life Example (Human):</a:t>
            </a:r>
          </a:p>
          <a:p>
            <a:r>
              <a:rPr lang="en-US" b="1" dirty="0"/>
              <a:t>Traffic signals 🚦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Everyone follows the same rules:</a:t>
            </a:r>
          </a:p>
          <a:p>
            <a:r>
              <a:rPr lang="en-US" dirty="0"/>
              <a:t>Red → Stop</a:t>
            </a:r>
          </a:p>
          <a:p>
            <a:r>
              <a:rPr lang="en-US" dirty="0"/>
              <a:t>Green → Go</a:t>
            </a:r>
          </a:p>
          <a:p>
            <a:r>
              <a:rPr lang="en-US" dirty="0"/>
              <a:t>If no rules, accidents happen. Same with computers</a:t>
            </a:r>
            <a:r>
              <a:rPr lang="en-US" dirty="0" smtClean="0"/>
              <a:t>.</a:t>
            </a:r>
          </a:p>
          <a:p>
            <a:r>
              <a:rPr lang="en-US" b="1" dirty="0"/>
              <a:t>WhatsApp chatting:</a:t>
            </a:r>
          </a:p>
          <a:p>
            <a:r>
              <a:rPr lang="en-US" dirty="0"/>
              <a:t>One phone sends message</a:t>
            </a:r>
          </a:p>
          <a:p>
            <a:r>
              <a:rPr lang="en-US" dirty="0"/>
              <a:t>Other phone receives</a:t>
            </a:r>
          </a:p>
          <a:p>
            <a:r>
              <a:rPr lang="en-US" dirty="0"/>
              <a:t>Both follow WhatsApp communication rules (protocol)</a:t>
            </a:r>
          </a:p>
          <a:p>
            <a:endParaRPr lang="en-US" dirty="0"/>
          </a:p>
          <a:p>
            <a:pPr algn="just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Data Communication characteristics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2118" y="1236519"/>
            <a:ext cx="11031682" cy="4940446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effectiveness of a data communications system depends on four fundamental characteristics: 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1278203"/>
              </p:ext>
            </p:extLst>
          </p:nvPr>
        </p:nvGraphicFramePr>
        <p:xfrm>
          <a:off x="2919845" y="2286000"/>
          <a:ext cx="6316519" cy="416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99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195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Effectiveness of a data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74173"/>
            <a:ext cx="12192000" cy="5486400"/>
          </a:xfrm>
        </p:spPr>
        <p:txBody>
          <a:bodyPr>
            <a:normAutofit/>
          </a:bodyPr>
          <a:lstStyle/>
          <a:p>
            <a:pPr algn="just"/>
            <a:r>
              <a:rPr lang="en-US" sz="2400" b="1" i="1" u="sng" dirty="0">
                <a:solidFill>
                  <a:schemeClr val="accent1"/>
                </a:solidFill>
              </a:rPr>
              <a:t>Delivery: </a:t>
            </a:r>
            <a:endParaRPr lang="en-US" sz="2400" b="1" i="1" u="sng" dirty="0" smtClean="0">
              <a:solidFill>
                <a:schemeClr val="accent1"/>
              </a:solidFill>
            </a:endParaRPr>
          </a:p>
          <a:p>
            <a:r>
              <a:rPr lang="en-US" sz="2400" dirty="0" smtClean="0"/>
              <a:t>Data </a:t>
            </a:r>
            <a:r>
              <a:rPr lang="en-US" sz="2400" dirty="0"/>
              <a:t>must be delivered to the </a:t>
            </a:r>
            <a:r>
              <a:rPr lang="en-US" sz="2400" b="1" dirty="0"/>
              <a:t>correct destination</a:t>
            </a:r>
            <a:r>
              <a:rPr lang="en-US" sz="2400" dirty="0" smtClean="0"/>
              <a:t>.</a:t>
            </a:r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You send an email to </a:t>
            </a:r>
            <a:r>
              <a:rPr lang="en-US" sz="2400" b="1" dirty="0"/>
              <a:t>Ali</a:t>
            </a:r>
            <a:endParaRPr lang="en-US" sz="2400" dirty="0"/>
          </a:p>
          <a:p>
            <a:r>
              <a:rPr lang="en-US" sz="2400" dirty="0"/>
              <a:t>If the email is delivered to </a:t>
            </a:r>
            <a:r>
              <a:rPr lang="en-US" sz="2400" b="1" dirty="0"/>
              <a:t>Ahmed</a:t>
            </a:r>
            <a:r>
              <a:rPr lang="en-US" sz="2400" dirty="0"/>
              <a:t>, delivery has failed ❌</a:t>
            </a:r>
          </a:p>
          <a:p>
            <a:r>
              <a:rPr lang="en-US" sz="2400" dirty="0"/>
              <a:t>If it reaches </a:t>
            </a:r>
            <a:r>
              <a:rPr lang="en-US" sz="2400" b="1" dirty="0"/>
              <a:t>Ali</a:t>
            </a:r>
            <a:r>
              <a:rPr lang="en-US" sz="2400" dirty="0"/>
              <a:t>, delivery is successful </a:t>
            </a:r>
            <a:r>
              <a:rPr lang="en-US" sz="2400" dirty="0" smtClean="0"/>
              <a:t>✔️</a:t>
            </a:r>
            <a:r>
              <a:rPr lang="en-US" sz="2400" b="1" i="1" dirty="0" smtClean="0">
                <a:solidFill>
                  <a:schemeClr val="accent1"/>
                </a:solidFill>
              </a:rPr>
              <a:t>   </a:t>
            </a:r>
            <a:endParaRPr lang="en-US" sz="2400" b="1" i="1" dirty="0">
              <a:solidFill>
                <a:schemeClr val="accent1"/>
              </a:solidFill>
            </a:endParaRPr>
          </a:p>
          <a:p>
            <a:pPr algn="just"/>
            <a:r>
              <a:rPr lang="en-US" sz="2400" b="1" i="1" u="sng" dirty="0" smtClean="0">
                <a:solidFill>
                  <a:schemeClr val="accent1"/>
                </a:solidFill>
              </a:rPr>
              <a:t>Accuracy</a:t>
            </a:r>
            <a:r>
              <a:rPr lang="en-US" sz="2400" b="1" i="1" u="sng" dirty="0">
                <a:solidFill>
                  <a:schemeClr val="accent1"/>
                </a:solidFill>
              </a:rPr>
              <a:t>: </a:t>
            </a:r>
            <a:endParaRPr lang="en-US" sz="2400" b="1" i="1" u="sng" dirty="0" smtClean="0">
              <a:solidFill>
                <a:schemeClr val="accent1"/>
              </a:solidFill>
            </a:endParaRPr>
          </a:p>
          <a:p>
            <a:pPr algn="just"/>
            <a:r>
              <a:rPr lang="en-US" sz="2400" dirty="0"/>
              <a:t>The received data must be </a:t>
            </a:r>
            <a:r>
              <a:rPr lang="en-US" sz="2400" b="1" dirty="0"/>
              <a:t>exactly the same</a:t>
            </a:r>
            <a:r>
              <a:rPr lang="en-US" sz="2400" dirty="0"/>
              <a:t> as the sent data</a:t>
            </a:r>
            <a:endParaRPr lang="en-US" sz="2400" b="1" dirty="0"/>
          </a:p>
          <a:p>
            <a:r>
              <a:rPr lang="en-US" sz="2400" b="1" dirty="0" smtClean="0"/>
              <a:t>Example</a:t>
            </a:r>
            <a:r>
              <a:rPr lang="en-US" sz="2400" b="1" dirty="0"/>
              <a:t>:</a:t>
            </a:r>
          </a:p>
          <a:p>
            <a:r>
              <a:rPr lang="en-US" sz="2400" dirty="0"/>
              <a:t>You transfer </a:t>
            </a:r>
            <a:r>
              <a:rPr lang="en-US" sz="2400" b="1" dirty="0"/>
              <a:t>$500</a:t>
            </a:r>
            <a:r>
              <a:rPr lang="en-US" sz="2400" dirty="0"/>
              <a:t> online</a:t>
            </a:r>
          </a:p>
          <a:p>
            <a:r>
              <a:rPr lang="en-US" sz="2400" dirty="0"/>
              <a:t>If the receiver gets </a:t>
            </a:r>
            <a:r>
              <a:rPr lang="en-US" sz="2400" b="1" dirty="0"/>
              <a:t>$500</a:t>
            </a:r>
            <a:r>
              <a:rPr lang="en-US" sz="2400" dirty="0"/>
              <a:t>, the data is accurate ✔️</a:t>
            </a:r>
          </a:p>
          <a:p>
            <a:r>
              <a:rPr lang="en-US" sz="2400" dirty="0"/>
              <a:t>If the receiver gets </a:t>
            </a:r>
            <a:r>
              <a:rPr lang="en-US" sz="2400" b="1" dirty="0"/>
              <a:t>$50</a:t>
            </a:r>
            <a:r>
              <a:rPr lang="en-US" sz="2400" dirty="0"/>
              <a:t>, accuracy is lost ❌</a:t>
            </a:r>
          </a:p>
          <a:p>
            <a:endParaRPr lang="en-US" sz="1800" dirty="0"/>
          </a:p>
          <a:p>
            <a:pPr algn="just"/>
            <a:endParaRPr lang="en-US" sz="1800" b="1" i="1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89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4333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Effectiveness of a </a:t>
            </a:r>
            <a:r>
              <a:rPr lang="en-US" b="1" dirty="0" smtClean="0">
                <a:solidFill>
                  <a:schemeClr val="bg1"/>
                </a:solidFill>
              </a:rPr>
              <a:t>data(Cont.)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3517" y="1194955"/>
            <a:ext cx="12011891" cy="5546110"/>
          </a:xfrm>
        </p:spPr>
        <p:txBody>
          <a:bodyPr>
            <a:normAutofit/>
          </a:bodyPr>
          <a:lstStyle/>
          <a:p>
            <a:pPr algn="just"/>
            <a:r>
              <a:rPr lang="en-US" sz="2000" b="1" i="1" dirty="0">
                <a:solidFill>
                  <a:schemeClr val="accent1"/>
                </a:solidFill>
              </a:rPr>
              <a:t>Timeliness</a:t>
            </a:r>
            <a:r>
              <a:rPr lang="en-US" sz="2000" b="1" i="1" dirty="0" smtClean="0">
                <a:solidFill>
                  <a:schemeClr val="accent1"/>
                </a:solidFill>
              </a:rPr>
              <a:t>:</a:t>
            </a:r>
          </a:p>
          <a:p>
            <a:pPr algn="just"/>
            <a:r>
              <a:rPr lang="en-US" sz="2000" dirty="0"/>
              <a:t>Data must be delivered </a:t>
            </a:r>
            <a:r>
              <a:rPr lang="en-US" sz="2000" b="1" dirty="0"/>
              <a:t>on time</a:t>
            </a:r>
            <a:r>
              <a:rPr lang="en-US" sz="2000" dirty="0"/>
              <a:t>.</a:t>
            </a:r>
            <a:r>
              <a:rPr lang="en-US" sz="2000" b="1" i="1" dirty="0" smtClean="0">
                <a:solidFill>
                  <a:schemeClr val="accent1"/>
                </a:solidFill>
              </a:rPr>
              <a:t> </a:t>
            </a:r>
          </a:p>
          <a:p>
            <a:r>
              <a:rPr lang="en-US" sz="2000" b="1" dirty="0"/>
              <a:t>Example:</a:t>
            </a:r>
          </a:p>
          <a:p>
            <a:r>
              <a:rPr lang="en-US" sz="2000" dirty="0"/>
              <a:t>In a </a:t>
            </a:r>
            <a:r>
              <a:rPr lang="en-US" sz="2000" b="1" dirty="0"/>
              <a:t>live online lecture</a:t>
            </a:r>
            <a:r>
              <a:rPr lang="en-US" sz="2000" dirty="0"/>
              <a:t>, voice and video should be received instantly</a:t>
            </a:r>
          </a:p>
          <a:p>
            <a:r>
              <a:rPr lang="en-US" sz="2000" dirty="0"/>
              <a:t>If the video comes </a:t>
            </a:r>
            <a:r>
              <a:rPr lang="en-US" sz="2000" b="1" dirty="0"/>
              <a:t>late</a:t>
            </a:r>
            <a:r>
              <a:rPr lang="en-US" sz="2000" dirty="0"/>
              <a:t>, the lecture becomes difficult to understand </a:t>
            </a:r>
            <a:r>
              <a:rPr lang="en-US" sz="2000" dirty="0" smtClean="0"/>
              <a:t>❌</a:t>
            </a:r>
            <a:endParaRPr lang="en-US" sz="2000" b="1" i="1" dirty="0">
              <a:solidFill>
                <a:schemeClr val="accent1"/>
              </a:solidFill>
            </a:endParaRPr>
          </a:p>
          <a:p>
            <a:pPr algn="just"/>
            <a:r>
              <a:rPr lang="en-US" sz="2000" b="1" i="1" dirty="0" smtClean="0">
                <a:solidFill>
                  <a:schemeClr val="accent1"/>
                </a:solidFill>
              </a:rPr>
              <a:t>Jitter</a:t>
            </a:r>
            <a:r>
              <a:rPr lang="en-US" sz="2000" b="1" i="1" dirty="0">
                <a:solidFill>
                  <a:schemeClr val="accent1"/>
                </a:solidFill>
              </a:rPr>
              <a:t>: </a:t>
            </a:r>
          </a:p>
          <a:p>
            <a:r>
              <a:rPr lang="en-US" sz="2000" dirty="0" smtClean="0"/>
              <a:t>  </a:t>
            </a:r>
            <a:r>
              <a:rPr lang="en-US" sz="2000" dirty="0"/>
              <a:t>Data arrives at </a:t>
            </a:r>
            <a:r>
              <a:rPr lang="en-US" sz="2000" b="1" dirty="0"/>
              <a:t>uneven intervals</a:t>
            </a:r>
            <a:r>
              <a:rPr lang="en-US" sz="2000" dirty="0"/>
              <a:t> (sometimes fast, sometimes slow</a:t>
            </a:r>
            <a:r>
              <a:rPr lang="en-US" sz="2000" dirty="0" smtClean="0"/>
              <a:t>).</a:t>
            </a:r>
          </a:p>
          <a:p>
            <a:r>
              <a:rPr lang="en-US" sz="2000" b="1" dirty="0"/>
              <a:t>Example:</a:t>
            </a:r>
          </a:p>
          <a:p>
            <a:r>
              <a:rPr lang="en-US" sz="2000" dirty="0"/>
              <a:t>During a </a:t>
            </a:r>
            <a:r>
              <a:rPr lang="en-US" sz="2000" b="1" dirty="0"/>
              <a:t>voice or video call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Sound breaks</a:t>
            </a:r>
          </a:p>
          <a:p>
            <a:pPr lvl="1"/>
            <a:r>
              <a:rPr lang="en-US" sz="2000" dirty="0"/>
              <a:t>Video freezes</a:t>
            </a:r>
          </a:p>
          <a:p>
            <a:pPr lvl="1"/>
            <a:r>
              <a:rPr lang="en-US" sz="2000" dirty="0"/>
              <a:t>Words are cut</a:t>
            </a:r>
          </a:p>
          <a:p>
            <a:r>
              <a:rPr lang="en-US" sz="2000" b="1" dirty="0"/>
              <a:t>Jitter is especially important for real-time communication</a:t>
            </a:r>
            <a:r>
              <a:rPr lang="en-US" sz="2000" dirty="0"/>
              <a:t> like voice/video calls and streaming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9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84381" y="1449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 Representation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32609"/>
            <a:ext cx="11353800" cy="5044355"/>
          </a:xfrm>
        </p:spPr>
        <p:txBody>
          <a:bodyPr/>
          <a:lstStyle/>
          <a:p>
            <a:r>
              <a:rPr lang="en-US" sz="2400" b="1" dirty="0"/>
              <a:t>Data representation</a:t>
            </a:r>
            <a:r>
              <a:rPr lang="en-US" sz="2400" dirty="0"/>
              <a:t> is the method of </a:t>
            </a:r>
            <a:r>
              <a:rPr lang="en-US" sz="2400" b="1" dirty="0"/>
              <a:t>converting different types of information into a form that a computer can understand, store, process, and transmit</a:t>
            </a:r>
            <a:r>
              <a:rPr lang="en-US" sz="2400" dirty="0"/>
              <a:t> (usually in binary form: 0s and 1s).</a:t>
            </a:r>
            <a:endParaRPr lang="en-US" sz="2400" dirty="0" smtClean="0"/>
          </a:p>
          <a:p>
            <a:r>
              <a:rPr lang="en-US" sz="2400" dirty="0" smtClean="0"/>
              <a:t>Information </a:t>
            </a:r>
            <a:r>
              <a:rPr lang="en-US" sz="2400" dirty="0"/>
              <a:t>today comes in different forms such as text, numbers, images, audio, and video.</a:t>
            </a:r>
          </a:p>
          <a:p>
            <a:endParaRPr lang="en-US" dirty="0"/>
          </a:p>
        </p:txBody>
      </p:sp>
      <p:pic>
        <p:nvPicPr>
          <p:cNvPr id="1026" name="Picture 2" descr="Data Representation | GCSE Computer Science Lesson Resour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681" y="2761013"/>
            <a:ext cx="3602181" cy="318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51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33" y="186267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US" sz="4200" b="1" dirty="0">
                <a:solidFill>
                  <a:schemeClr val="bg1"/>
                </a:solidFill>
              </a:rPr>
              <a:t>Text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11840" cy="418795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data communications, text is represented as a bit pattern, a sequence of bits (Os or Is). </a:t>
            </a:r>
            <a:endParaRPr lang="en-US" dirty="0" smtClean="0"/>
          </a:p>
          <a:p>
            <a:pPr algn="just"/>
            <a:r>
              <a:rPr lang="en-US" dirty="0"/>
              <a:t> </a:t>
            </a:r>
            <a:r>
              <a:rPr lang="en-US" b="1" dirty="0"/>
              <a:t>Representation:</a:t>
            </a:r>
            <a:r>
              <a:rPr lang="en-US" dirty="0"/>
              <a:t> Characters are represented using codes like </a:t>
            </a:r>
            <a:r>
              <a:rPr lang="en-US" b="1" dirty="0"/>
              <a:t>ASCII</a:t>
            </a:r>
            <a:r>
              <a:rPr lang="en-US" dirty="0"/>
              <a:t> or </a:t>
            </a:r>
            <a:r>
              <a:rPr lang="en-US" b="1" dirty="0"/>
              <a:t>Unicode</a:t>
            </a:r>
            <a:r>
              <a:rPr lang="en-US" dirty="0" smtClean="0"/>
              <a:t>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The letter </a:t>
            </a:r>
            <a:r>
              <a:rPr lang="en-US" b="1" dirty="0"/>
              <a:t>A</a:t>
            </a:r>
            <a:r>
              <a:rPr lang="en-US" dirty="0"/>
              <a:t> → ASCII code </a:t>
            </a:r>
            <a:r>
              <a:rPr lang="en-US" b="1" dirty="0"/>
              <a:t>65</a:t>
            </a:r>
            <a:r>
              <a:rPr lang="en-US" dirty="0"/>
              <a:t> → Binary </a:t>
            </a:r>
            <a:r>
              <a:rPr lang="en-US" b="1" dirty="0"/>
              <a:t>01000001</a:t>
            </a:r>
            <a:endParaRPr lang="en-US" dirty="0"/>
          </a:p>
          <a:p>
            <a:r>
              <a:rPr lang="en-US" dirty="0"/>
              <a:t>Text like emails, documents, messages</a:t>
            </a:r>
          </a:p>
          <a:p>
            <a:pPr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69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066" y="211667"/>
            <a:ext cx="10911840" cy="105156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Numbers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11840" cy="4187952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Numbers are also represented by bit patterns. </a:t>
            </a:r>
            <a:endParaRPr lang="en-US" sz="3200" dirty="0" smtClean="0"/>
          </a:p>
          <a:p>
            <a:pPr algn="just"/>
            <a:r>
              <a:rPr lang="en-US" sz="3200" b="1" dirty="0"/>
              <a:t>Representation:</a:t>
            </a:r>
            <a:r>
              <a:rPr lang="en-US" sz="3200" dirty="0"/>
              <a:t> Numbers are represented in </a:t>
            </a:r>
            <a:r>
              <a:rPr lang="en-US" sz="3200" b="1" dirty="0"/>
              <a:t>binary</a:t>
            </a:r>
            <a:r>
              <a:rPr lang="en-US" sz="3200" dirty="0"/>
              <a:t>, </a:t>
            </a:r>
            <a:r>
              <a:rPr lang="en-US" sz="3200" b="1" dirty="0"/>
              <a:t>decimal</a:t>
            </a:r>
            <a:r>
              <a:rPr lang="en-US" sz="3200" dirty="0"/>
              <a:t>, or </a:t>
            </a:r>
            <a:r>
              <a:rPr lang="en-US" sz="3200" b="1" dirty="0"/>
              <a:t>floating-point</a:t>
            </a:r>
            <a:r>
              <a:rPr lang="en-US" sz="3200" dirty="0"/>
              <a:t> format</a:t>
            </a:r>
            <a:r>
              <a:rPr lang="en-US" sz="3200" dirty="0" smtClean="0"/>
              <a:t>.</a:t>
            </a:r>
          </a:p>
          <a:p>
            <a:r>
              <a:rPr lang="en-US" sz="3200" b="1" dirty="0"/>
              <a:t>Example:</a:t>
            </a:r>
            <a:endParaRPr lang="en-US" sz="3200" dirty="0"/>
          </a:p>
          <a:p>
            <a:r>
              <a:rPr lang="en-US" sz="3200" dirty="0"/>
              <a:t>Number </a:t>
            </a:r>
            <a:r>
              <a:rPr lang="en-US" sz="3200" b="1" dirty="0"/>
              <a:t>5</a:t>
            </a:r>
            <a:r>
              <a:rPr lang="en-US" sz="3200" dirty="0"/>
              <a:t> → Binary </a:t>
            </a:r>
            <a:r>
              <a:rPr lang="en-US" sz="3200" b="1" dirty="0"/>
              <a:t>101</a:t>
            </a:r>
            <a:endParaRPr lang="en-US" sz="3200" dirty="0"/>
          </a:p>
          <a:p>
            <a:r>
              <a:rPr lang="en-US" sz="3200" dirty="0"/>
              <a:t>Marks, prices, calculations</a:t>
            </a:r>
          </a:p>
          <a:p>
            <a:pPr algn="just"/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21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067" y="135466"/>
            <a:ext cx="10911840" cy="105156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Images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11840" cy="418795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Images are also represented by bit patterns.</a:t>
            </a:r>
          </a:p>
          <a:p>
            <a:pPr algn="just"/>
            <a:r>
              <a:rPr lang="en-US" dirty="0"/>
              <a:t>In its simplest form, an image is composed of a matrix of pixels, where each pixel is a small dot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E</a:t>
            </a:r>
            <a:r>
              <a:rPr lang="en-US" dirty="0" smtClean="0"/>
              <a:t>ach </a:t>
            </a:r>
            <a:r>
              <a:rPr lang="en-US" dirty="0"/>
              <a:t>pixel has a color value</a:t>
            </a:r>
            <a:r>
              <a:rPr lang="en-US" dirty="0" smtClean="0"/>
              <a:t>.</a:t>
            </a:r>
          </a:p>
          <a:p>
            <a:r>
              <a:rPr lang="en-US" i="1" dirty="0"/>
              <a:t> </a:t>
            </a:r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A photo made of thousands of pixels</a:t>
            </a:r>
          </a:p>
          <a:p>
            <a:r>
              <a:rPr lang="en-US" dirty="0"/>
              <a:t>Each pixel color is represented in binary (RGB values)</a:t>
            </a:r>
          </a:p>
          <a:p>
            <a:pPr algn="just"/>
            <a:endParaRPr lang="en-US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60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203200"/>
            <a:ext cx="10911840" cy="105156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Audio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11840" cy="4187952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Audio refers to the recording or broadcasting of sound or music. Audio is by nature different from text, numbers, or images. It is </a:t>
            </a:r>
            <a:r>
              <a:rPr lang="en-US" sz="3200" dirty="0" smtClean="0"/>
              <a:t>continuous.</a:t>
            </a:r>
          </a:p>
          <a:p>
            <a:r>
              <a:rPr lang="en-US" sz="3200" dirty="0"/>
              <a:t> </a:t>
            </a:r>
            <a:r>
              <a:rPr lang="en-US" sz="3200" b="1" dirty="0"/>
              <a:t>Example:</a:t>
            </a:r>
            <a:endParaRPr lang="en-US" sz="3200" dirty="0"/>
          </a:p>
          <a:p>
            <a:r>
              <a:rPr lang="en-US" sz="3200" dirty="0"/>
              <a:t>Voice notes, songs</a:t>
            </a:r>
          </a:p>
          <a:p>
            <a:r>
              <a:rPr lang="en-US" sz="3200" dirty="0"/>
              <a:t>Sound converted into digital form using sampling</a:t>
            </a:r>
          </a:p>
          <a:p>
            <a:pPr algn="just"/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61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270934"/>
            <a:ext cx="10911840" cy="105156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Video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909" y="1153391"/>
            <a:ext cx="11417531" cy="5587674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Video refers to the recording or broadcasting of a picture or movie. </a:t>
            </a:r>
          </a:p>
          <a:p>
            <a:pPr algn="just"/>
            <a:r>
              <a:rPr lang="en-US" sz="3200" dirty="0"/>
              <a:t>Video can either be produced as a continuous entity (e.g., by a TV camera), or it can be a combination of images, each a discrete entity, arranged to convey the idea of motion</a:t>
            </a:r>
            <a:r>
              <a:rPr lang="en-US" sz="3200" dirty="0" smtClean="0"/>
              <a:t>.</a:t>
            </a:r>
          </a:p>
          <a:p>
            <a:pPr algn="just"/>
            <a:r>
              <a:rPr lang="en-US" sz="3200" dirty="0"/>
              <a:t> </a:t>
            </a:r>
            <a:r>
              <a:rPr lang="en-US" sz="3200" b="1" dirty="0"/>
              <a:t>Representation:</a:t>
            </a:r>
            <a:r>
              <a:rPr lang="en-US" sz="3200" dirty="0"/>
              <a:t> Video is a sequence of </a:t>
            </a:r>
            <a:r>
              <a:rPr lang="en-US" sz="3200" b="1" dirty="0"/>
              <a:t>images (frames)</a:t>
            </a:r>
            <a:r>
              <a:rPr lang="en-US" sz="3200" dirty="0"/>
              <a:t> with audio</a:t>
            </a:r>
            <a:r>
              <a:rPr lang="en-US" sz="3200" dirty="0" smtClean="0"/>
              <a:t>.</a:t>
            </a:r>
          </a:p>
          <a:p>
            <a:r>
              <a:rPr lang="en-US" sz="3200" b="1" dirty="0"/>
              <a:t>Example:</a:t>
            </a:r>
            <a:endParaRPr lang="en-US" sz="3200" dirty="0"/>
          </a:p>
          <a:p>
            <a:r>
              <a:rPr lang="en-US" sz="3200" dirty="0"/>
              <a:t>YouTube videos</a:t>
            </a:r>
          </a:p>
          <a:p>
            <a:r>
              <a:rPr lang="en-US" sz="3200" dirty="0"/>
              <a:t>Online lectures, movies</a:t>
            </a:r>
          </a:p>
          <a:p>
            <a:pPr algn="just"/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30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5867" y="1619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 </a:t>
            </a:r>
            <a:r>
              <a:rPr lang="en-US" b="1" dirty="0" smtClean="0">
                <a:solidFill>
                  <a:schemeClr val="bg1"/>
                </a:solidFill>
              </a:rPr>
              <a:t>Flow in Communication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6645" y="1236519"/>
            <a:ext cx="11177155" cy="4940446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Data flow communication describes the </a:t>
            </a:r>
            <a:r>
              <a:rPr lang="en-US" b="1" dirty="0"/>
              <a:t>direction in which data moves between two devices</a:t>
            </a:r>
            <a:r>
              <a:rPr lang="en-US" dirty="0"/>
              <a:t>. There are three main types: </a:t>
            </a:r>
            <a:r>
              <a:rPr lang="en-US" b="1" dirty="0"/>
              <a:t>Simplex, Half-Duplex, and Full-Duplex</a:t>
            </a:r>
            <a:r>
              <a:rPr lang="en-US" dirty="0"/>
              <a:t>.</a:t>
            </a:r>
          </a:p>
        </p:txBody>
      </p:sp>
      <p:pic>
        <p:nvPicPr>
          <p:cNvPr id="4" name="Picture 2" descr="Image result for simplex half duplex and full duple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6805" y="2845107"/>
            <a:ext cx="9192819" cy="3366295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655" y="6176964"/>
            <a:ext cx="1782319" cy="56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89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1273" y="1957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Simplex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3490" y="1212424"/>
            <a:ext cx="11390745" cy="5645576"/>
          </a:xfrm>
        </p:spPr>
        <p:txBody>
          <a:bodyPr>
            <a:normAutofit/>
          </a:bodyPr>
          <a:lstStyle/>
          <a:p>
            <a:pPr algn="just"/>
            <a:r>
              <a:rPr lang="en-US" sz="2400" b="1" u="sng" dirty="0"/>
              <a:t>Definition</a:t>
            </a:r>
            <a:r>
              <a:rPr lang="en-US" sz="2400" b="1" u="sng" dirty="0" smtClean="0"/>
              <a:t>:</a:t>
            </a:r>
          </a:p>
          <a:p>
            <a:pPr algn="just"/>
            <a:r>
              <a:rPr lang="en-US" sz="2400" dirty="0" smtClean="0"/>
              <a:t>Data </a:t>
            </a:r>
            <a:r>
              <a:rPr lang="en-US" sz="2400" dirty="0"/>
              <a:t>flows in </a:t>
            </a:r>
            <a:r>
              <a:rPr lang="en-US" sz="2400" b="1" dirty="0"/>
              <a:t>only one direction</a:t>
            </a:r>
            <a:r>
              <a:rPr lang="en-US" sz="2400" dirty="0"/>
              <a:t>. </a:t>
            </a:r>
            <a:endParaRPr lang="en-US" sz="2400" dirty="0" smtClean="0"/>
          </a:p>
          <a:p>
            <a:pPr algn="just"/>
            <a:r>
              <a:rPr lang="en-US" sz="2400" dirty="0"/>
              <a:t> One device </a:t>
            </a:r>
            <a:r>
              <a:rPr lang="en-US" sz="2400" b="1" dirty="0"/>
              <a:t>sends</a:t>
            </a:r>
            <a:r>
              <a:rPr lang="en-US" sz="2400" dirty="0"/>
              <a:t>, and the other device </a:t>
            </a:r>
            <a:r>
              <a:rPr lang="en-US" sz="2400" b="1" dirty="0"/>
              <a:t>receives</a:t>
            </a:r>
            <a:r>
              <a:rPr lang="en-US" sz="2400" dirty="0"/>
              <a:t>, but the receiver </a:t>
            </a:r>
            <a:r>
              <a:rPr lang="en-US" sz="2400" b="1" dirty="0"/>
              <a:t>cannot send back</a:t>
            </a:r>
            <a:r>
              <a:rPr lang="en-US" sz="2400" dirty="0"/>
              <a:t>.</a:t>
            </a:r>
          </a:p>
          <a:p>
            <a:pPr algn="just"/>
            <a:r>
              <a:rPr lang="en-US" sz="2400" b="1" dirty="0" smtClean="0"/>
              <a:t>Example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b="1" dirty="0"/>
              <a:t>Keyboard → Computer</a:t>
            </a:r>
            <a:r>
              <a:rPr lang="en-US" sz="2400" dirty="0"/>
              <a:t>: Keyboard sends data, computer receives it. Keyboard cannot get data back from computer.</a:t>
            </a:r>
          </a:p>
          <a:p>
            <a:r>
              <a:rPr lang="en-US" sz="2400" b="1" dirty="0"/>
              <a:t>TV Broadcast</a:t>
            </a:r>
            <a:r>
              <a:rPr lang="en-US" sz="2400" dirty="0"/>
              <a:t>: TV station sends signals, TVs receive. TVs cannot send signals back.</a:t>
            </a:r>
          </a:p>
          <a:p>
            <a:r>
              <a:rPr lang="en-US" sz="2400" b="1" dirty="0"/>
              <a:t>Key Point:</a:t>
            </a:r>
            <a:r>
              <a:rPr lang="en-US" sz="2400" dirty="0"/>
              <a:t> One-way communication only.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596" y="4311437"/>
            <a:ext cx="4196486" cy="23313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717" y="6183598"/>
            <a:ext cx="1790883" cy="56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29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imple Transmiss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215126"/>
            <a:ext cx="10083029" cy="55074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9768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72066" y="1195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Half-Duplex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4300" y="1240834"/>
            <a:ext cx="11949545" cy="5547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 </a:t>
            </a:r>
            <a:r>
              <a:rPr lang="en-US" sz="2000" b="1" dirty="0"/>
              <a:t>Definition:</a:t>
            </a:r>
            <a:endParaRPr lang="en-US" sz="2000" dirty="0"/>
          </a:p>
          <a:p>
            <a:r>
              <a:rPr lang="en-US" sz="2000" dirty="0"/>
              <a:t>Data flows in </a:t>
            </a:r>
            <a:r>
              <a:rPr lang="en-US" sz="2000" b="1" dirty="0"/>
              <a:t>both directions</a:t>
            </a:r>
            <a:r>
              <a:rPr lang="en-US" sz="2000" dirty="0"/>
              <a:t>, but </a:t>
            </a:r>
            <a:r>
              <a:rPr lang="en-US" sz="2000" b="1" dirty="0"/>
              <a:t>only one device can send at a time</a:t>
            </a:r>
            <a:r>
              <a:rPr lang="en-US" sz="2000" dirty="0"/>
              <a:t>.</a:t>
            </a:r>
          </a:p>
          <a:p>
            <a:r>
              <a:rPr lang="en-US" sz="2000" dirty="0"/>
              <a:t>When one device sends, the other must wait to respond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Example:</a:t>
            </a:r>
            <a:endParaRPr lang="en-US" sz="2000" dirty="0"/>
          </a:p>
          <a:p>
            <a:r>
              <a:rPr lang="en-US" sz="2000" b="1" dirty="0"/>
              <a:t>Walkie-Talkie</a:t>
            </a:r>
            <a:r>
              <a:rPr lang="en-US" sz="2000" dirty="0"/>
              <a:t>: You press the button to speak, the other person listens. Then the other person presses the button to reply.</a:t>
            </a:r>
          </a:p>
          <a:p>
            <a:r>
              <a:rPr lang="en-US" sz="1600" dirty="0" smtClean="0"/>
              <a:t> </a:t>
            </a:r>
            <a:r>
              <a:rPr lang="en-US" sz="1600" b="1" dirty="0"/>
              <a:t>Key Point:</a:t>
            </a:r>
            <a:r>
              <a:rPr lang="en-US" sz="1600" dirty="0"/>
              <a:t> Two-way communication, </a:t>
            </a:r>
            <a:r>
              <a:rPr lang="en-US" sz="1600" b="1" dirty="0"/>
              <a:t>not simultaneous</a:t>
            </a:r>
            <a:r>
              <a:rPr lang="en-US" sz="1600" dirty="0"/>
              <a:t>.</a:t>
            </a:r>
            <a:endParaRPr lang="en-US" sz="1600" dirty="0" smtClean="0"/>
          </a:p>
          <a:p>
            <a:pPr marL="0" indent="0" algn="just">
              <a:buNone/>
            </a:pPr>
            <a:r>
              <a:rPr lang="en-US" sz="1600" dirty="0"/>
              <a:t> </a:t>
            </a:r>
          </a:p>
        </p:txBody>
      </p:sp>
      <p:pic>
        <p:nvPicPr>
          <p:cNvPr id="3074" name="Picture 2" descr="Difference Between Simplex, Half duplex and Full Duplex Transmission Modes  (with Comparison Chart) - Tech Differen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037" y="1157744"/>
            <a:ext cx="2695822" cy="167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948" y="6076195"/>
            <a:ext cx="2250897" cy="7124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175" y="3948814"/>
            <a:ext cx="4710034" cy="270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08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2800" y="15345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Full-Duplex Mode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3909" y="1184565"/>
            <a:ext cx="12088091" cy="555650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b="1" dirty="0"/>
              <a:t>Definition:</a:t>
            </a:r>
            <a:endParaRPr lang="en-US" dirty="0"/>
          </a:p>
          <a:p>
            <a:r>
              <a:rPr lang="en-US" dirty="0"/>
              <a:t>Data flows in </a:t>
            </a:r>
            <a:r>
              <a:rPr lang="en-US" b="1" dirty="0"/>
              <a:t>both directions simultaneously</a:t>
            </a:r>
            <a:r>
              <a:rPr lang="en-US" dirty="0"/>
              <a:t>.</a:t>
            </a:r>
          </a:p>
          <a:p>
            <a:r>
              <a:rPr lang="en-US" dirty="0"/>
              <a:t>Both devices can </a:t>
            </a:r>
            <a:r>
              <a:rPr lang="en-US" b="1" dirty="0"/>
              <a:t>send and receive at the same time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 smtClean="0"/>
              <a:t>Take </a:t>
            </a:r>
            <a:r>
              <a:rPr lang="en-US" dirty="0"/>
              <a:t>telephone as an example, people at both ends of a call can speak and be heard by each other at the same time.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472" y="3614782"/>
            <a:ext cx="5265319" cy="312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56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9734" y="153458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Example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mage result for full duplex commun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762" y="3874049"/>
            <a:ext cx="6003630" cy="179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full duplex transmiss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7057" y="1580075"/>
            <a:ext cx="8128000" cy="1968574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77" y="6028660"/>
            <a:ext cx="2250897" cy="7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56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420313-4D14-4A70-A7AC-836FE2E9F46E}"/>
              </a:ext>
            </a:extLst>
          </p:cNvPr>
          <p:cNvSpPr/>
          <p:nvPr/>
        </p:nvSpPr>
        <p:spPr>
          <a:xfrm>
            <a:off x="825500" y="1143493"/>
            <a:ext cx="10528300" cy="54132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32A2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06394-C5CE-42DD-B341-066A6E26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71" y="1526859"/>
            <a:ext cx="9061958" cy="1500188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en-GB" sz="4800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F09E0A-6668-4C26-83CB-C97A0AF9773E}"/>
              </a:ext>
            </a:extLst>
          </p:cNvPr>
          <p:cNvCxnSpPr>
            <a:cxnSpLocks/>
          </p:cNvCxnSpPr>
          <p:nvPr/>
        </p:nvCxnSpPr>
        <p:spPr>
          <a:xfrm>
            <a:off x="1558671" y="3484247"/>
            <a:ext cx="92129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3469167-935F-4853-A76C-2FA002B9FDCE}"/>
              </a:ext>
            </a:extLst>
          </p:cNvPr>
          <p:cNvSpPr txBox="1">
            <a:spLocks/>
          </p:cNvSpPr>
          <p:nvPr/>
        </p:nvSpPr>
        <p:spPr>
          <a:xfrm>
            <a:off x="1782572" y="3858962"/>
            <a:ext cx="9061958" cy="1500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3600" i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003" y="3850117"/>
            <a:ext cx="495037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You can Find me: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mehakrana.CS@tuf.edu.pk</a:t>
            </a:r>
            <a:endParaRPr lang="en-US" sz="2000" b="1" dirty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639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998</Words>
  <Application>Microsoft Office PowerPoint</Application>
  <PresentationFormat>Widescreen</PresentationFormat>
  <Paragraphs>139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Black</vt:lpstr>
      <vt:lpstr>Arial Narrow</vt:lpstr>
      <vt:lpstr>Calibri</vt:lpstr>
      <vt:lpstr>Calibri Light</vt:lpstr>
      <vt:lpstr>Office Theme</vt:lpstr>
      <vt:lpstr>Lecture 6</vt:lpstr>
      <vt:lpstr>1_Office Theme</vt:lpstr>
      <vt:lpstr>  Computer Network                   Basics of Network</vt:lpstr>
      <vt:lpstr>Course Overview</vt:lpstr>
      <vt:lpstr>Marks Distribution</vt:lpstr>
      <vt:lpstr>Data Communication</vt:lpstr>
      <vt:lpstr>Components of Data Communication</vt:lpstr>
      <vt:lpstr>PowerPoint Presentation</vt:lpstr>
      <vt:lpstr>PowerPoint Presentation</vt:lpstr>
      <vt:lpstr>PowerPoint Presentation</vt:lpstr>
      <vt:lpstr>Data Communication characteristics</vt:lpstr>
      <vt:lpstr>Effectiveness of a data</vt:lpstr>
      <vt:lpstr>Effectiveness of a data(Cont.)</vt:lpstr>
      <vt:lpstr>Data Representation</vt:lpstr>
      <vt:lpstr>Text</vt:lpstr>
      <vt:lpstr>Numbers</vt:lpstr>
      <vt:lpstr>Images</vt:lpstr>
      <vt:lpstr>Audio</vt:lpstr>
      <vt:lpstr>Video</vt:lpstr>
      <vt:lpstr>Data Flow in Communication</vt:lpstr>
      <vt:lpstr>Simplex</vt:lpstr>
      <vt:lpstr>PowerPoint Presentation</vt:lpstr>
      <vt:lpstr>Half-Duplex</vt:lpstr>
      <vt:lpstr>Full-Duplex Mode</vt:lpstr>
      <vt:lpstr>Example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Mehak Rana</cp:lastModifiedBy>
  <cp:revision>166</cp:revision>
  <dcterms:created xsi:type="dcterms:W3CDTF">2024-06-21T09:49:00Z</dcterms:created>
  <dcterms:modified xsi:type="dcterms:W3CDTF">2026-02-17T17:24:54Z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