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2" r:id="rId2"/>
    <p:sldMasterId id="2147483684" r:id="rId3"/>
  </p:sldMasterIdLst>
  <p:notesMasterIdLst>
    <p:notesMasterId r:id="rId21"/>
  </p:notesMasterIdLst>
  <p:sldIdLst>
    <p:sldId id="273" r:id="rId4"/>
    <p:sldId id="953" r:id="rId5"/>
    <p:sldId id="954" r:id="rId6"/>
    <p:sldId id="955" r:id="rId7"/>
    <p:sldId id="956" r:id="rId8"/>
    <p:sldId id="957" r:id="rId9"/>
    <p:sldId id="958" r:id="rId10"/>
    <p:sldId id="959" r:id="rId11"/>
    <p:sldId id="960" r:id="rId12"/>
    <p:sldId id="961" r:id="rId13"/>
    <p:sldId id="962" r:id="rId14"/>
    <p:sldId id="963" r:id="rId15"/>
    <p:sldId id="971" r:id="rId16"/>
    <p:sldId id="964" r:id="rId17"/>
    <p:sldId id="967" r:id="rId18"/>
    <p:sldId id="968" r:id="rId19"/>
    <p:sldId id="970" r:id="rId20"/>
  </p:sldIdLst>
  <p:sldSz cx="12192000" cy="6858000"/>
  <p:notesSz cx="6858000" cy="9144000"/>
  <p:defaultTextStyle>
    <a:defPPr>
      <a:defRPr lang="x-none"/>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2A2A"/>
    <a:srgbClr val="C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609" autoAdjust="0"/>
    <p:restoredTop sz="92140" autoAdjust="0"/>
  </p:normalViewPr>
  <p:slideViewPr>
    <p:cSldViewPr snapToGrid="0">
      <p:cViewPr varScale="1">
        <p:scale>
          <a:sx n="83" d="100"/>
          <a:sy n="83" d="100"/>
        </p:scale>
        <p:origin x="636" y="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notesMaster" Target="notesMasters/notes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FFDD3B8-2E01-4CE0-B02F-91BFC8CDC8FD}" type="datetimeFigureOut">
              <a:rPr lang="en-US" smtClean="0"/>
              <a:t>2/19/2026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A72658C-66DA-4116-8E6C-1579936CD62C}" type="slidenum">
              <a:rPr lang="en-US" smtClean="0"/>
              <a:t>‹#›</a:t>
            </a:fld>
            <a:endParaRPr lang="en-US"/>
          </a:p>
        </p:txBody>
      </p:sp>
    </p:spTree>
    <p:extLst>
      <p:ext uri="{BB962C8B-B14F-4D97-AF65-F5344CB8AC3E}">
        <p14:creationId xmlns:p14="http://schemas.microsoft.com/office/powerpoint/2010/main" val="20763720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A72658C-66DA-4116-8E6C-1579936CD62C}" type="slidenum">
              <a:rPr lang="en-US" smtClean="0"/>
              <a:t>10</a:t>
            </a:fld>
            <a:endParaRPr lang="en-US"/>
          </a:p>
        </p:txBody>
      </p:sp>
    </p:spTree>
    <p:extLst>
      <p:ext uri="{BB962C8B-B14F-4D97-AF65-F5344CB8AC3E}">
        <p14:creationId xmlns:p14="http://schemas.microsoft.com/office/powerpoint/2010/main" val="9863597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x-none"/>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9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2/19/2026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2/19/2026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x-none"/>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9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37A82C-AEEE-48DB-A866-3B1CA0AC9D5D}" type="datetimeFigureOut">
              <a:rPr lang="x-none" smtClean="0"/>
              <a:t>2/19/2026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p:cNvSpPr>
            <a:spLocks noGrp="1"/>
          </p:cNvSpPr>
          <p:nvPr>
            <p:ph type="dt" sz="half" idx="10"/>
          </p:nvPr>
        </p:nvSpPr>
        <p:spPr/>
        <p:txBody>
          <a:bodyPr/>
          <a:lstStyle/>
          <a:p>
            <a:fld id="{3237A82C-AEEE-48DB-A866-3B1CA0AC9D5D}" type="datetimeFigureOut">
              <a:rPr lang="x-none" smtClean="0"/>
              <a:t>2/19/2026</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x-none"/>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p:cNvSpPr>
            <a:spLocks noGrp="1"/>
          </p:cNvSpPr>
          <p:nvPr>
            <p:ph type="dt" sz="half" idx="10"/>
          </p:nvPr>
        </p:nvSpPr>
        <p:spPr/>
        <p:txBody>
          <a:bodyPr/>
          <a:lstStyle/>
          <a:p>
            <a:fld id="{3237A82C-AEEE-48DB-A866-3B1CA0AC9D5D}" type="datetimeFigureOut">
              <a:rPr lang="x-none" smtClean="0"/>
              <a:t>2/19/2026</a:t>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Date Placeholder 2"/>
          <p:cNvSpPr>
            <a:spLocks noGrp="1"/>
          </p:cNvSpPr>
          <p:nvPr>
            <p:ph type="dt" sz="half" idx="10"/>
          </p:nvPr>
        </p:nvSpPr>
        <p:spPr/>
        <p:txBody>
          <a:bodyPr/>
          <a:lstStyle/>
          <a:p>
            <a:fld id="{3237A82C-AEEE-48DB-A866-3B1CA0AC9D5D}" type="datetimeFigureOut">
              <a:rPr lang="x-none" smtClean="0"/>
              <a:t>2/19/2026</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37A82C-AEEE-48DB-A866-3B1CA0AC9D5D}" type="datetimeFigureOut">
              <a:rPr lang="x-none" smtClean="0"/>
              <a:t>2/19/2026</a:t>
            </a:fld>
            <a:endParaRPr lang="x-none"/>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2/19/2026</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Picture Placeholder 2"/>
          <p:cNvSpPr>
            <a:spLocks noGrp="1"/>
          </p:cNvSpPr>
          <p:nvPr>
            <p:ph type="pic" idx="1"/>
          </p:nvPr>
        </p:nvSpPr>
        <p:spPr>
          <a:xfrm>
            <a:off x="5183188"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2/19/2026</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2/19/2026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a:t>Click to edit Master title style</a:t>
            </a:r>
            <a:endParaRPr lang="x-none"/>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2/19/2026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x-none"/>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9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2/19/2026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3834719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2/19/2026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5156529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smtClean="0"/>
              <a:t>Click to edit Master title style</a:t>
            </a:r>
            <a:endParaRPr lang="x-none"/>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9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237A82C-AEEE-48DB-A866-3B1CA0AC9D5D}" type="datetimeFigureOut">
              <a:rPr lang="x-none" smtClean="0"/>
              <a:t>2/19/2026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6562610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Content Placeholder 2"/>
          <p:cNvSpPr>
            <a:spLocks noGrp="1"/>
          </p:cNvSpPr>
          <p:nvPr>
            <p:ph sz="half" idx="1"/>
          </p:nvPr>
        </p:nvSpPr>
        <p:spPr>
          <a:xfrm>
            <a:off x="838200" y="1825625"/>
            <a:ext cx="5181600" cy="435133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Content Placeholder 3"/>
          <p:cNvSpPr>
            <a:spLocks noGrp="1"/>
          </p:cNvSpPr>
          <p:nvPr>
            <p:ph sz="half" idx="2"/>
          </p:nvPr>
        </p:nvSpPr>
        <p:spPr>
          <a:xfrm>
            <a:off x="6172200" y="1825625"/>
            <a:ext cx="5181600" cy="435133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5" name="Date Placeholder 4"/>
          <p:cNvSpPr>
            <a:spLocks noGrp="1"/>
          </p:cNvSpPr>
          <p:nvPr>
            <p:ph type="dt" sz="half" idx="10"/>
          </p:nvPr>
        </p:nvSpPr>
        <p:spPr/>
        <p:txBody>
          <a:bodyPr/>
          <a:lstStyle/>
          <a:p>
            <a:fld id="{3237A82C-AEEE-48DB-A866-3B1CA0AC9D5D}" type="datetimeFigureOut">
              <a:rPr lang="x-none" smtClean="0"/>
              <a:t>2/19/2026</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156781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x-none"/>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7" name="Date Placeholder 6"/>
          <p:cNvSpPr>
            <a:spLocks noGrp="1"/>
          </p:cNvSpPr>
          <p:nvPr>
            <p:ph type="dt" sz="half" idx="10"/>
          </p:nvPr>
        </p:nvSpPr>
        <p:spPr/>
        <p:txBody>
          <a:bodyPr/>
          <a:lstStyle/>
          <a:p>
            <a:fld id="{3237A82C-AEEE-48DB-A866-3B1CA0AC9D5D}" type="datetimeFigureOut">
              <a:rPr lang="x-none" smtClean="0"/>
              <a:t>2/19/2026</a:t>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3508707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Date Placeholder 2"/>
          <p:cNvSpPr>
            <a:spLocks noGrp="1"/>
          </p:cNvSpPr>
          <p:nvPr>
            <p:ph type="dt" sz="half" idx="10"/>
          </p:nvPr>
        </p:nvSpPr>
        <p:spPr/>
        <p:txBody>
          <a:bodyPr/>
          <a:lstStyle/>
          <a:p>
            <a:fld id="{3237A82C-AEEE-48DB-A866-3B1CA0AC9D5D}" type="datetimeFigureOut">
              <a:rPr lang="x-none" smtClean="0"/>
              <a:t>2/19/2026</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4127357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37A82C-AEEE-48DB-A866-3B1CA0AC9D5D}" type="datetimeFigureOut">
              <a:rPr lang="x-none" smtClean="0"/>
              <a:t>2/19/2026</a:t>
            </a:fld>
            <a:endParaRPr lang="x-none"/>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8563733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x-none"/>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smtClean="0"/>
              <a:t>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2/19/2026</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42174338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x-none"/>
          </a:p>
        </p:txBody>
      </p:sp>
      <p:sp>
        <p:nvSpPr>
          <p:cNvPr id="3" name="Picture Placeholder 2"/>
          <p:cNvSpPr>
            <a:spLocks noGrp="1"/>
          </p:cNvSpPr>
          <p:nvPr>
            <p:ph type="pic" idx="1"/>
          </p:nvPr>
        </p:nvSpPr>
        <p:spPr>
          <a:xfrm>
            <a:off x="5183188"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smtClean="0"/>
              <a:t>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2/19/2026</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4771562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2/19/2026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3222281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smtClean="0"/>
              <a:t>Click to edit Master title style</a:t>
            </a:r>
            <a:endParaRPr lang="x-none"/>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2/19/2026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5954773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x-none"/>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9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2/19/2026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08657228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2/19/2026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28632642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smtClean="0"/>
              <a:t>Click to edit Master title style</a:t>
            </a:r>
            <a:endParaRPr lang="x-none"/>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9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237A82C-AEEE-48DB-A866-3B1CA0AC9D5D}" type="datetimeFigureOut">
              <a:rPr lang="x-none" smtClean="0"/>
              <a:t>2/19/2026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52760560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Content Placeholder 2"/>
          <p:cNvSpPr>
            <a:spLocks noGrp="1"/>
          </p:cNvSpPr>
          <p:nvPr>
            <p:ph sz="half" idx="1"/>
          </p:nvPr>
        </p:nvSpPr>
        <p:spPr>
          <a:xfrm>
            <a:off x="838200" y="1825625"/>
            <a:ext cx="5181600" cy="435133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Content Placeholder 3"/>
          <p:cNvSpPr>
            <a:spLocks noGrp="1"/>
          </p:cNvSpPr>
          <p:nvPr>
            <p:ph sz="half" idx="2"/>
          </p:nvPr>
        </p:nvSpPr>
        <p:spPr>
          <a:xfrm>
            <a:off x="6172200" y="1825625"/>
            <a:ext cx="5181600" cy="435133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5" name="Date Placeholder 4"/>
          <p:cNvSpPr>
            <a:spLocks noGrp="1"/>
          </p:cNvSpPr>
          <p:nvPr>
            <p:ph type="dt" sz="half" idx="10"/>
          </p:nvPr>
        </p:nvSpPr>
        <p:spPr/>
        <p:txBody>
          <a:bodyPr/>
          <a:lstStyle/>
          <a:p>
            <a:fld id="{3237A82C-AEEE-48DB-A866-3B1CA0AC9D5D}" type="datetimeFigureOut">
              <a:rPr lang="x-none" smtClean="0"/>
              <a:t>2/19/2026</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15883033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x-none"/>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7" name="Date Placeholder 6"/>
          <p:cNvSpPr>
            <a:spLocks noGrp="1"/>
          </p:cNvSpPr>
          <p:nvPr>
            <p:ph type="dt" sz="half" idx="10"/>
          </p:nvPr>
        </p:nvSpPr>
        <p:spPr/>
        <p:txBody>
          <a:bodyPr/>
          <a:lstStyle/>
          <a:p>
            <a:fld id="{3237A82C-AEEE-48DB-A866-3B1CA0AC9D5D}" type="datetimeFigureOut">
              <a:rPr lang="x-none" smtClean="0"/>
              <a:t>2/19/2026</a:t>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27694364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Date Placeholder 2"/>
          <p:cNvSpPr>
            <a:spLocks noGrp="1"/>
          </p:cNvSpPr>
          <p:nvPr>
            <p:ph type="dt" sz="half" idx="10"/>
          </p:nvPr>
        </p:nvSpPr>
        <p:spPr/>
        <p:txBody>
          <a:bodyPr/>
          <a:lstStyle/>
          <a:p>
            <a:fld id="{3237A82C-AEEE-48DB-A866-3B1CA0AC9D5D}" type="datetimeFigureOut">
              <a:rPr lang="x-none" smtClean="0"/>
              <a:t>2/19/2026</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141886014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37A82C-AEEE-48DB-A866-3B1CA0AC9D5D}" type="datetimeFigureOut">
              <a:rPr lang="x-none" smtClean="0"/>
              <a:t>2/19/2026</a:t>
            </a:fld>
            <a:endParaRPr lang="x-none"/>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94727950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x-none"/>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smtClean="0"/>
              <a:t>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2/19/2026</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28264977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x-none"/>
          </a:p>
        </p:txBody>
      </p:sp>
      <p:sp>
        <p:nvSpPr>
          <p:cNvPr id="3" name="Picture Placeholder 2"/>
          <p:cNvSpPr>
            <a:spLocks noGrp="1"/>
          </p:cNvSpPr>
          <p:nvPr>
            <p:ph type="pic" idx="1"/>
          </p:nvPr>
        </p:nvSpPr>
        <p:spPr>
          <a:xfrm>
            <a:off x="5183188"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smtClean="0"/>
              <a:t>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2/19/2026</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124104260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2/19/2026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60697662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smtClean="0"/>
              <a:t>Click to edit Master title style</a:t>
            </a:r>
            <a:endParaRPr lang="x-none"/>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2/19/2026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0865893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18" Type="http://schemas.openxmlformats.org/officeDocument/2006/relationships/image" Target="../media/image4.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17" Type="http://schemas.openxmlformats.org/officeDocument/2006/relationships/image" Target="../media/image7.svg"/><Relationship Id="rId2" Type="http://schemas.openxmlformats.org/officeDocument/2006/relationships/slideLayout" Target="../slideLayouts/slideLayout13.xml"/><Relationship Id="rId16" Type="http://schemas.openxmlformats.org/officeDocument/2006/relationships/image" Target="../media/image3.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5.sv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38" tIns="45719" rIns="91438" bIns="45719" rtlCol="0" anchor="ctr">
            <a:normAutofit/>
          </a:bodyPr>
          <a:lstStyle/>
          <a:p>
            <a:r>
              <a:rPr lang="en-US"/>
              <a:t>Click to edit Master title style</a:t>
            </a:r>
            <a:endParaRPr lang="x-none"/>
          </a:p>
        </p:txBody>
      </p:sp>
      <p:sp>
        <p:nvSpPr>
          <p:cNvPr id="3" name="Text Placeholder 2"/>
          <p:cNvSpPr>
            <a:spLocks noGrp="1"/>
          </p:cNvSpPr>
          <p:nvPr>
            <p:ph type="body" idx="1"/>
          </p:nvPr>
        </p:nvSpPr>
        <p:spPr>
          <a:xfrm>
            <a:off x="838200" y="1825625"/>
            <a:ext cx="10515600" cy="4351339"/>
          </a:xfrm>
          <a:prstGeom prst="rect">
            <a:avLst/>
          </a:prstGeom>
        </p:spPr>
        <p:txBody>
          <a:bodyPr vert="horz" lIns="91438" tIns="45719" rIns="91438" bIns="4571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2"/>
          </p:nvPr>
        </p:nvSpPr>
        <p:spPr>
          <a:xfrm>
            <a:off x="838200" y="6356351"/>
            <a:ext cx="2743200" cy="365125"/>
          </a:xfrm>
          <a:prstGeom prst="rect">
            <a:avLst/>
          </a:prstGeom>
        </p:spPr>
        <p:txBody>
          <a:bodyPr vert="horz" lIns="91438" tIns="45719" rIns="91438" bIns="45719" rtlCol="0" anchor="ctr"/>
          <a:lstStyle>
            <a:lvl1pPr algn="l">
              <a:defRPr sz="1200">
                <a:solidFill>
                  <a:schemeClr val="tx1">
                    <a:tint val="75000"/>
                  </a:schemeClr>
                </a:solidFill>
              </a:defRPr>
            </a:lvl1pPr>
          </a:lstStyle>
          <a:p>
            <a:fld id="{3237A82C-AEEE-48DB-A866-3B1CA0AC9D5D}" type="datetimeFigureOut">
              <a:rPr lang="x-none" smtClean="0"/>
              <a:t>2/19/2026</a:t>
            </a:fld>
            <a:endParaRPr lang="x-none"/>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38" tIns="45719" rIns="91438" bIns="45719" rtlCol="0" anchor="ctr"/>
          <a:lstStyle>
            <a:lvl1pPr algn="ctr">
              <a:defRPr sz="1200">
                <a:solidFill>
                  <a:schemeClr val="tx1">
                    <a:tint val="75000"/>
                  </a:schemeClr>
                </a:solidFill>
              </a:defRPr>
            </a:lvl1pPr>
          </a:lstStyle>
          <a:p>
            <a:endParaRPr lang="x-none"/>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38" tIns="45719" rIns="91438" bIns="45719" rtlCol="0" anchor="ctr"/>
          <a:lstStyle>
            <a:lvl1pPr algn="r">
              <a:defRPr sz="1200">
                <a:solidFill>
                  <a:schemeClr val="tx1">
                    <a:tint val="75000"/>
                  </a:schemeClr>
                </a:solidFill>
              </a:defRPr>
            </a:lvl1pPr>
          </a:lstStyle>
          <a:p>
            <a:fld id="{6EB9F7D7-3C9C-4146-9FA1-B77DEB44278D}" type="slidenum">
              <a:rPr lang="x-none" smtClean="0"/>
              <a:t>‹#›</a:t>
            </a:fld>
            <a:endParaRPr lang="x-non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x-none"/>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38" tIns="45719" rIns="91438" bIns="45719" rtlCol="0" anchor="ctr">
            <a:normAutofit/>
          </a:bodyPr>
          <a:lstStyle/>
          <a:p>
            <a:r>
              <a:rPr lang="en-US" smtClean="0"/>
              <a:t>Click to edit Master title style</a:t>
            </a:r>
            <a:endParaRPr lang="x-none"/>
          </a:p>
        </p:txBody>
      </p:sp>
      <p:sp>
        <p:nvSpPr>
          <p:cNvPr id="3" name="Text Placeholder 2"/>
          <p:cNvSpPr>
            <a:spLocks noGrp="1"/>
          </p:cNvSpPr>
          <p:nvPr>
            <p:ph type="body" idx="1"/>
          </p:nvPr>
        </p:nvSpPr>
        <p:spPr>
          <a:xfrm>
            <a:off x="838200" y="1825625"/>
            <a:ext cx="10515600" cy="4351339"/>
          </a:xfrm>
          <a:prstGeom prst="rect">
            <a:avLst/>
          </a:prstGeom>
        </p:spPr>
        <p:txBody>
          <a:bodyPr vert="horz" lIns="91438" tIns="45719" rIns="91438" bIns="45719"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Date Placeholder 3"/>
          <p:cNvSpPr>
            <a:spLocks noGrp="1"/>
          </p:cNvSpPr>
          <p:nvPr>
            <p:ph type="dt" sz="half" idx="2"/>
          </p:nvPr>
        </p:nvSpPr>
        <p:spPr>
          <a:xfrm>
            <a:off x="838200" y="6356351"/>
            <a:ext cx="2743200" cy="365125"/>
          </a:xfrm>
          <a:prstGeom prst="rect">
            <a:avLst/>
          </a:prstGeom>
        </p:spPr>
        <p:txBody>
          <a:bodyPr vert="horz" lIns="91438" tIns="45719" rIns="91438" bIns="45719" rtlCol="0" anchor="ctr"/>
          <a:lstStyle>
            <a:lvl1pPr algn="l">
              <a:defRPr sz="1200">
                <a:solidFill>
                  <a:schemeClr val="tx1">
                    <a:tint val="75000"/>
                  </a:schemeClr>
                </a:solidFill>
              </a:defRPr>
            </a:lvl1pPr>
          </a:lstStyle>
          <a:p>
            <a:fld id="{3237A82C-AEEE-48DB-A866-3B1CA0AC9D5D}" type="datetimeFigureOut">
              <a:rPr lang="x-none" smtClean="0"/>
              <a:t>2/19/2026</a:t>
            </a:fld>
            <a:endParaRPr lang="x-none"/>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38" tIns="45719" rIns="91438" bIns="45719" rtlCol="0" anchor="ctr"/>
          <a:lstStyle>
            <a:lvl1pPr algn="ctr">
              <a:defRPr sz="1200">
                <a:solidFill>
                  <a:schemeClr val="tx1">
                    <a:tint val="75000"/>
                  </a:schemeClr>
                </a:solidFill>
              </a:defRPr>
            </a:lvl1pPr>
          </a:lstStyle>
          <a:p>
            <a:endParaRPr lang="x-none"/>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38" tIns="45719" rIns="91438" bIns="45719" rtlCol="0" anchor="ctr"/>
          <a:lstStyle>
            <a:lvl1pPr algn="r">
              <a:defRPr sz="1200">
                <a:solidFill>
                  <a:schemeClr val="tx1">
                    <a:tint val="75000"/>
                  </a:schemeClr>
                </a:solidFill>
              </a:defRPr>
            </a:lvl1pPr>
          </a:lstStyle>
          <a:p>
            <a:fld id="{6EB9F7D7-3C9C-4146-9FA1-B77DEB44278D}" type="slidenum">
              <a:rPr lang="x-none" smtClean="0"/>
              <a:t>‹#›</a:t>
            </a:fld>
            <a:endParaRPr lang="x-none"/>
          </a:p>
        </p:txBody>
      </p:sp>
      <p:grpSp>
        <p:nvGrpSpPr>
          <p:cNvPr id="7" name="Group 6">
            <a:extLst>
              <a:ext uri="{FF2B5EF4-FFF2-40B4-BE49-F238E27FC236}">
                <a16:creationId xmlns:a16="http://schemas.microsoft.com/office/drawing/2014/main" id="{BAEFE420-0C07-4D1B-9094-F2C452FF1011}"/>
              </a:ext>
            </a:extLst>
          </p:cNvPr>
          <p:cNvGrpSpPr/>
          <p:nvPr userDrawn="1"/>
        </p:nvGrpSpPr>
        <p:grpSpPr>
          <a:xfrm>
            <a:off x="0" y="0"/>
            <a:ext cx="12749348" cy="1115736"/>
            <a:chOff x="0" y="0"/>
            <a:chExt cx="12749348" cy="1115736"/>
          </a:xfrm>
        </p:grpSpPr>
        <p:sp>
          <p:nvSpPr>
            <p:cNvPr id="8" name="Rectangle 7">
              <a:extLst>
                <a:ext uri="{FF2B5EF4-FFF2-40B4-BE49-F238E27FC236}">
                  <a16:creationId xmlns:a16="http://schemas.microsoft.com/office/drawing/2014/main" id="{6FBB4837-678E-4FCE-A1B7-2AE1B9432890}"/>
                </a:ext>
              </a:extLst>
            </p:cNvPr>
            <p:cNvSpPr/>
            <p:nvPr userDrawn="1"/>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x-non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x-none" dirty="0"/>
            </a:p>
          </p:txBody>
        </p:sp>
        <p:pic>
          <p:nvPicPr>
            <p:cNvPr id="9" name="Picture 8">
              <a:extLst>
                <a:ext uri="{FF2B5EF4-FFF2-40B4-BE49-F238E27FC236}">
                  <a16:creationId xmlns:a16="http://schemas.microsoft.com/office/drawing/2014/main" id="{D279BBF0-3F01-4944-AF8F-73A34B5B9CEF}"/>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0" name="TextBox 10">
              <a:extLst>
                <a:ext uri="{FF2B5EF4-FFF2-40B4-BE49-F238E27FC236}">
                  <a16:creationId xmlns:a16="http://schemas.microsoft.com/office/drawing/2014/main" id="{650112A7-3B60-423A-8682-3EC1CCAA7ABE}"/>
                </a:ext>
              </a:extLst>
            </p:cNvPr>
            <p:cNvSpPr txBox="1"/>
            <p:nvPr userDrawn="1"/>
          </p:nvSpPr>
          <p:spPr>
            <a:xfrm>
              <a:off x="10719753" y="696917"/>
              <a:ext cx="1619033" cy="261610"/>
            </a:xfrm>
            <a:prstGeom prst="rect">
              <a:avLst/>
            </a:prstGeom>
            <a:noFill/>
          </p:spPr>
          <p:txBody>
            <a:bodyPr wrap="square" rtlCol="0">
              <a:spAutoFit/>
            </a:bodyPr>
            <a:ls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err="1">
                  <a:solidFill>
                    <a:schemeClr val="bg1"/>
                  </a:solidFill>
                </a:rPr>
                <a:t>unioffaisalabad</a:t>
              </a:r>
              <a:endParaRPr lang="x-none" sz="1100" dirty="0">
                <a:solidFill>
                  <a:schemeClr val="bg1"/>
                </a:solidFill>
              </a:endParaRPr>
            </a:p>
          </p:txBody>
        </p:sp>
        <p:pic>
          <p:nvPicPr>
            <p:cNvPr id="11" name="Graphic 11">
              <a:extLst>
                <a:ext uri="{FF2B5EF4-FFF2-40B4-BE49-F238E27FC236}">
                  <a16:creationId xmlns:a16="http://schemas.microsoft.com/office/drawing/2014/main" id="{75FFEA7F-8809-458D-BE80-99F7CFB965CA}"/>
                </a:ext>
              </a:extLst>
            </p:cNvPr>
            <p:cNvPicPr>
              <a:picLocks noChangeAspect="1"/>
            </p:cNvPicPr>
            <p:nvPr userDrawn="1"/>
          </p:nvPicPr>
          <p:blipFill>
            <a:blip r:embed="rId14">
              <a:extLst>
                <a:ext uri="{96DAC541-7B7A-43D3-8B79-37D633B846F1}">
                  <asvg:svgBlip xmlns:lc="http://schemas.openxmlformats.org/drawingml/2006/lockedCanvas" xmlns:asvg="http://schemas.microsoft.com/office/drawing/2016/SVG/main" xmlns="" r:embed="rId15"/>
                </a:ext>
              </a:extLst>
            </a:blip>
            <a:stretch>
              <a:fillRect/>
            </a:stretch>
          </p:blipFill>
          <p:spPr>
            <a:xfrm>
              <a:off x="9906056" y="403986"/>
              <a:ext cx="261610" cy="261610"/>
            </a:xfrm>
            <a:prstGeom prst="rect">
              <a:avLst/>
            </a:prstGeom>
          </p:spPr>
        </p:pic>
        <p:sp>
          <p:nvSpPr>
            <p:cNvPr id="12" name="TextBox 12">
              <a:extLst>
                <a:ext uri="{FF2B5EF4-FFF2-40B4-BE49-F238E27FC236}">
                  <a16:creationId xmlns:a16="http://schemas.microsoft.com/office/drawing/2014/main" id="{B3F075CD-8CB0-4BD0-B756-BA559BF9DF2D}"/>
                </a:ext>
              </a:extLst>
            </p:cNvPr>
            <p:cNvSpPr txBox="1"/>
            <p:nvPr userDrawn="1"/>
          </p:nvSpPr>
          <p:spPr>
            <a:xfrm>
              <a:off x="10142944" y="350125"/>
              <a:ext cx="2606404" cy="369332"/>
            </a:xfrm>
            <a:prstGeom prst="rect">
              <a:avLst/>
            </a:prstGeom>
            <a:noFill/>
          </p:spPr>
          <p:txBody>
            <a:bodyPr wrap="square" rtlCol="0">
              <a:spAutoFit/>
            </a:bodyPr>
            <a:ls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3" name="Graphic 13">
              <a:extLst>
                <a:ext uri="{FF2B5EF4-FFF2-40B4-BE49-F238E27FC236}">
                  <a16:creationId xmlns:a16="http://schemas.microsoft.com/office/drawing/2014/main" id="{ACED766F-A0E3-4D45-8A6E-86CCFAFA5D96}"/>
                </a:ext>
              </a:extLst>
            </p:cNvPr>
            <p:cNvPicPr>
              <a:picLocks noChangeAspect="1"/>
            </p:cNvPicPr>
            <p:nvPr userDrawn="1"/>
          </p:nvPicPr>
          <p:blipFill>
            <a:blip r:embed="rId16">
              <a:extLst>
                <a:ext uri="{96DAC541-7B7A-43D3-8B79-37D633B846F1}">
                  <asvg:svgBlip xmlns:lc="http://schemas.openxmlformats.org/drawingml/2006/lockedCanvas" xmlns:asvg="http://schemas.microsoft.com/office/drawing/2016/SVG/main" xmlns="" r:embed="rId17"/>
                </a:ext>
              </a:extLst>
            </a:blip>
            <a:stretch>
              <a:fillRect/>
            </a:stretch>
          </p:blipFill>
          <p:spPr>
            <a:xfrm>
              <a:off x="10591033" y="741997"/>
              <a:ext cx="171450" cy="171450"/>
            </a:xfrm>
            <a:prstGeom prst="rect">
              <a:avLst/>
            </a:prstGeom>
          </p:spPr>
        </p:pic>
        <p:pic>
          <p:nvPicPr>
            <p:cNvPr id="14" name="Picture 13">
              <a:extLst>
                <a:ext uri="{FF2B5EF4-FFF2-40B4-BE49-F238E27FC236}">
                  <a16:creationId xmlns:a16="http://schemas.microsoft.com/office/drawing/2014/main" id="{F83660F3-45D1-4CA0-BE2A-E7E6C1B794A4}"/>
                </a:ext>
              </a:extLst>
            </p:cNvPr>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354240947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x-none"/>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38" tIns="45719" rIns="91438" bIns="45719" rtlCol="0" anchor="ctr">
            <a:normAutofit/>
          </a:bodyPr>
          <a:lstStyle/>
          <a:p>
            <a:r>
              <a:rPr lang="en-US" smtClean="0"/>
              <a:t>Click to edit Master title style</a:t>
            </a:r>
            <a:endParaRPr lang="x-none"/>
          </a:p>
        </p:txBody>
      </p:sp>
      <p:sp>
        <p:nvSpPr>
          <p:cNvPr id="3" name="Text Placeholder 2"/>
          <p:cNvSpPr>
            <a:spLocks noGrp="1"/>
          </p:cNvSpPr>
          <p:nvPr>
            <p:ph type="body" idx="1"/>
          </p:nvPr>
        </p:nvSpPr>
        <p:spPr>
          <a:xfrm>
            <a:off x="838200" y="1825625"/>
            <a:ext cx="10515600" cy="4351339"/>
          </a:xfrm>
          <a:prstGeom prst="rect">
            <a:avLst/>
          </a:prstGeom>
        </p:spPr>
        <p:txBody>
          <a:bodyPr vert="horz" lIns="91438" tIns="45719" rIns="91438" bIns="45719"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Date Placeholder 3"/>
          <p:cNvSpPr>
            <a:spLocks noGrp="1"/>
          </p:cNvSpPr>
          <p:nvPr>
            <p:ph type="dt" sz="half" idx="2"/>
          </p:nvPr>
        </p:nvSpPr>
        <p:spPr>
          <a:xfrm>
            <a:off x="838200" y="6356351"/>
            <a:ext cx="2743200" cy="365125"/>
          </a:xfrm>
          <a:prstGeom prst="rect">
            <a:avLst/>
          </a:prstGeom>
        </p:spPr>
        <p:txBody>
          <a:bodyPr vert="horz" lIns="91438" tIns="45719" rIns="91438" bIns="45719" rtlCol="0" anchor="ctr"/>
          <a:lstStyle>
            <a:lvl1pPr algn="l">
              <a:defRPr sz="1200">
                <a:solidFill>
                  <a:schemeClr val="tx1">
                    <a:tint val="75000"/>
                  </a:schemeClr>
                </a:solidFill>
              </a:defRPr>
            </a:lvl1pPr>
          </a:lstStyle>
          <a:p>
            <a:fld id="{3237A82C-AEEE-48DB-A866-3B1CA0AC9D5D}" type="datetimeFigureOut">
              <a:rPr lang="x-none" smtClean="0"/>
              <a:t>2/19/2026</a:t>
            </a:fld>
            <a:endParaRPr lang="x-none"/>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38" tIns="45719" rIns="91438" bIns="45719" rtlCol="0" anchor="ctr"/>
          <a:lstStyle>
            <a:lvl1pPr algn="ctr">
              <a:defRPr sz="1200">
                <a:solidFill>
                  <a:schemeClr val="tx1">
                    <a:tint val="75000"/>
                  </a:schemeClr>
                </a:solidFill>
              </a:defRPr>
            </a:lvl1pPr>
          </a:lstStyle>
          <a:p>
            <a:endParaRPr lang="x-none"/>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38" tIns="45719" rIns="91438" bIns="45719" rtlCol="0" anchor="ctr"/>
          <a:lstStyle>
            <a:lvl1pPr algn="r">
              <a:defRPr sz="1200">
                <a:solidFill>
                  <a:schemeClr val="tx1">
                    <a:tint val="75000"/>
                  </a:schemeClr>
                </a:solidFill>
              </a:defRPr>
            </a:lvl1pPr>
          </a:lstStyle>
          <a:p>
            <a:fld id="{6EB9F7D7-3C9C-4146-9FA1-B77DEB44278D}" type="slidenum">
              <a:rPr lang="x-none" smtClean="0"/>
              <a:t>‹#›</a:t>
            </a:fld>
            <a:endParaRPr lang="x-none"/>
          </a:p>
        </p:txBody>
      </p:sp>
    </p:spTree>
    <p:extLst>
      <p:ext uri="{BB962C8B-B14F-4D97-AF65-F5344CB8AC3E}">
        <p14:creationId xmlns:p14="http://schemas.microsoft.com/office/powerpoint/2010/main" val="210576896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x-none"/>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7.JP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7.JPG"/></Relationships>
</file>

<file path=ppt/slides/_rels/slide1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7.JP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7.JP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7.JPG"/><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20.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31750"/>
            <a:ext cx="12192000" cy="6858000"/>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en-GB" dirty="0"/>
          </a:p>
        </p:txBody>
      </p:sp>
      <p:pic>
        <p:nvPicPr>
          <p:cNvPr id="10" name="Graphic 9"/>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8362283" y="0"/>
            <a:ext cx="3611691" cy="3611691"/>
          </a:xfrm>
          <a:prstGeom prst="rect">
            <a:avLst/>
          </a:prstGeom>
        </p:spPr>
      </p:pic>
      <p:pic>
        <p:nvPicPr>
          <p:cNvPr id="1026" name="Picture 2" descr="C:\Users\Administrator\Downloads\Screenshot__117_-removebg-preview.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063" y="393485"/>
            <a:ext cx="2214407" cy="1169097"/>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p:cNvSpPr>
            <a:spLocks noGrp="1"/>
          </p:cNvSpPr>
          <p:nvPr>
            <p:ph type="ctrTitle"/>
          </p:nvPr>
        </p:nvSpPr>
        <p:spPr>
          <a:xfrm>
            <a:off x="3854368" y="520479"/>
            <a:ext cx="7839920" cy="2387600"/>
          </a:xfrm>
        </p:spPr>
        <p:txBody>
          <a:bodyPr>
            <a:normAutofit fontScale="90000"/>
          </a:bodyPr>
          <a:lstStyle/>
          <a:p>
            <a:pPr algn="l"/>
            <a:r>
              <a:rPr lang="en-US" sz="4900" dirty="0">
                <a:solidFill>
                  <a:schemeClr val="bg1"/>
                </a:solidFill>
                <a:latin typeface="Arial Black" panose="020B0A04020102020204" pitchFamily="34" charset="0"/>
              </a:rPr>
              <a:t>Basics of </a:t>
            </a:r>
            <a:r>
              <a:rPr lang="en-US" sz="4900" dirty="0" smtClean="0">
                <a:solidFill>
                  <a:schemeClr val="bg1"/>
                </a:solidFill>
                <a:latin typeface="Arial Black" panose="020B0A04020102020204" pitchFamily="34" charset="0"/>
              </a:rPr>
              <a:t>Network</a:t>
            </a:r>
            <a:r>
              <a:rPr lang="en-US" sz="2000" dirty="0" smtClean="0">
                <a:solidFill>
                  <a:schemeClr val="bg1"/>
                </a:solidFill>
              </a:rPr>
              <a:t/>
            </a:r>
            <a:br>
              <a:rPr lang="en-US" sz="2000" dirty="0" smtClean="0">
                <a:solidFill>
                  <a:schemeClr val="bg1"/>
                </a:solidFill>
              </a:rPr>
            </a:br>
            <a:r>
              <a:rPr lang="en-US" sz="3100" b="1" dirty="0" err="1" smtClean="0">
                <a:solidFill>
                  <a:schemeClr val="bg1"/>
                </a:solidFill>
                <a:latin typeface="+mn-lt"/>
              </a:rPr>
              <a:t>Network</a:t>
            </a:r>
            <a:r>
              <a:rPr lang="en-US" sz="3100" b="1" dirty="0" smtClean="0">
                <a:solidFill>
                  <a:schemeClr val="bg1"/>
                </a:solidFill>
                <a:latin typeface="+mn-lt"/>
              </a:rPr>
              <a:t> Criteria</a:t>
            </a:r>
            <a:r>
              <a:rPr lang="en-US" sz="3100" b="1" dirty="0">
                <a:solidFill>
                  <a:schemeClr val="bg1"/>
                </a:solidFill>
                <a:latin typeface="+mn-lt"/>
              </a:rPr>
              <a:t>: </a:t>
            </a:r>
            <a:r>
              <a:rPr lang="en-US" sz="3100" dirty="0">
                <a:solidFill>
                  <a:schemeClr val="bg1"/>
                </a:solidFill>
                <a:latin typeface="+mn-lt"/>
              </a:rPr>
              <a:t>Performance, Reliability, </a:t>
            </a:r>
            <a:r>
              <a:rPr lang="en-US" sz="3100" dirty="0" smtClean="0">
                <a:solidFill>
                  <a:schemeClr val="bg1"/>
                </a:solidFill>
                <a:latin typeface="+mn-lt"/>
              </a:rPr>
              <a:t>Security</a:t>
            </a:r>
            <a:br>
              <a:rPr lang="en-US" sz="3100" dirty="0" smtClean="0">
                <a:solidFill>
                  <a:schemeClr val="bg1"/>
                </a:solidFill>
                <a:latin typeface="+mn-lt"/>
              </a:rPr>
            </a:br>
            <a:r>
              <a:rPr lang="en-US" sz="3100" b="1" dirty="0">
                <a:solidFill>
                  <a:schemeClr val="bg1"/>
                </a:solidFill>
                <a:latin typeface="+mn-lt"/>
              </a:rPr>
              <a:t>Type of Connection: </a:t>
            </a:r>
            <a:r>
              <a:rPr lang="en-US" sz="3100" dirty="0">
                <a:solidFill>
                  <a:schemeClr val="bg1"/>
                </a:solidFill>
                <a:latin typeface="+mn-lt"/>
              </a:rPr>
              <a:t>Point-to-point, </a:t>
            </a:r>
            <a:r>
              <a:rPr lang="en-US" sz="3100" dirty="0" smtClean="0">
                <a:solidFill>
                  <a:schemeClr val="bg1"/>
                </a:solidFill>
                <a:latin typeface="+mn-lt"/>
              </a:rPr>
              <a:t>Multipoint</a:t>
            </a:r>
            <a:br>
              <a:rPr lang="en-US" sz="3100" dirty="0" smtClean="0">
                <a:solidFill>
                  <a:schemeClr val="bg1"/>
                </a:solidFill>
                <a:latin typeface="+mn-lt"/>
              </a:rPr>
            </a:br>
            <a:r>
              <a:rPr lang="en-US" sz="3100" b="1" dirty="0">
                <a:solidFill>
                  <a:schemeClr val="bg1"/>
                </a:solidFill>
                <a:latin typeface="+mn-lt"/>
              </a:rPr>
              <a:t>Physical Topology: </a:t>
            </a:r>
            <a:r>
              <a:rPr lang="en-US" sz="3100" dirty="0">
                <a:solidFill>
                  <a:schemeClr val="bg1"/>
                </a:solidFill>
                <a:latin typeface="+mn-lt"/>
              </a:rPr>
              <a:t>Mesh, Star, Bus, Ring</a:t>
            </a:r>
            <a:br>
              <a:rPr lang="en-US" sz="3100" dirty="0">
                <a:solidFill>
                  <a:schemeClr val="bg1"/>
                </a:solidFill>
                <a:latin typeface="+mn-lt"/>
              </a:rPr>
            </a:br>
            <a:endParaRPr lang="en-US" sz="3100" dirty="0">
              <a:solidFill>
                <a:schemeClr val="bg1"/>
              </a:solidFill>
              <a:latin typeface="+mn-lt"/>
            </a:endParaRPr>
          </a:p>
        </p:txBody>
      </p:sp>
      <p:sp>
        <p:nvSpPr>
          <p:cNvPr id="7" name="Subtitle 2"/>
          <p:cNvSpPr>
            <a:spLocks noGrp="1"/>
          </p:cNvSpPr>
          <p:nvPr>
            <p:ph type="subTitle" idx="1"/>
          </p:nvPr>
        </p:nvSpPr>
        <p:spPr>
          <a:xfrm>
            <a:off x="349063" y="3026143"/>
            <a:ext cx="12192000" cy="1655763"/>
          </a:xfrm>
        </p:spPr>
        <p:txBody>
          <a:bodyPr>
            <a:normAutofit/>
          </a:bodyPr>
          <a:lstStyle/>
          <a:p>
            <a:r>
              <a:rPr lang="en-US" b="1" dirty="0" smtClean="0">
                <a:solidFill>
                  <a:schemeClr val="bg1"/>
                </a:solidFill>
              </a:rPr>
              <a:t>Lecture # 3 and 4</a:t>
            </a:r>
          </a:p>
          <a:p>
            <a:r>
              <a:rPr lang="en-US" b="1" dirty="0">
                <a:solidFill>
                  <a:schemeClr val="bg1"/>
                </a:solidFill>
              </a:rPr>
              <a:t>Week# </a:t>
            </a:r>
            <a:r>
              <a:rPr lang="en-US" b="1" dirty="0" smtClean="0">
                <a:solidFill>
                  <a:schemeClr val="bg1"/>
                </a:solidFill>
              </a:rPr>
              <a:t>2</a:t>
            </a:r>
          </a:p>
          <a:p>
            <a:r>
              <a:rPr lang="en-US" dirty="0">
                <a:solidFill>
                  <a:schemeClr val="bg1"/>
                </a:solidFill>
              </a:rPr>
              <a:t>Data Communications and Networking, Fourth Edition, Behrouz A. </a:t>
            </a:r>
            <a:r>
              <a:rPr lang="en-US" dirty="0" err="1" smtClean="0">
                <a:solidFill>
                  <a:schemeClr val="bg1"/>
                </a:solidFill>
              </a:rPr>
              <a:t>Forouzan</a:t>
            </a:r>
            <a:endParaRPr lang="en-US" dirty="0">
              <a:solidFill>
                <a:schemeClr val="bg1"/>
              </a:solidFill>
            </a:endParaRPr>
          </a:p>
        </p:txBody>
      </p:sp>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44355" y="5695313"/>
            <a:ext cx="3129619" cy="99051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200" y="304800"/>
            <a:ext cx="10911840" cy="1051560"/>
          </a:xfrm>
        </p:spPr>
        <p:txBody>
          <a:bodyPr/>
          <a:lstStyle/>
          <a:p>
            <a:pPr algn="ctr"/>
            <a:r>
              <a:rPr lang="en-US" b="1" dirty="0" smtClean="0">
                <a:solidFill>
                  <a:schemeClr val="accent4"/>
                </a:solidFill>
              </a:rPr>
              <a:t> </a:t>
            </a:r>
            <a:r>
              <a:rPr lang="en-US" b="1" dirty="0" smtClean="0">
                <a:solidFill>
                  <a:schemeClr val="bg1"/>
                </a:solidFill>
                <a:latin typeface="Arial Black" panose="020B0A04020102020204" pitchFamily="34" charset="0"/>
              </a:rPr>
              <a:t>Computer Networks</a:t>
            </a:r>
            <a:endParaRPr lang="en-US" b="1" dirty="0">
              <a:solidFill>
                <a:schemeClr val="bg1"/>
              </a:solidFill>
              <a:latin typeface="Arial Black" panose="020B0A04020102020204" pitchFamily="34" charset="0"/>
            </a:endParaRPr>
          </a:p>
        </p:txBody>
      </p:sp>
      <p:sp>
        <p:nvSpPr>
          <p:cNvPr id="3" name="Content Placeholder 2"/>
          <p:cNvSpPr>
            <a:spLocks noGrp="1"/>
          </p:cNvSpPr>
          <p:nvPr>
            <p:ph idx="1"/>
          </p:nvPr>
        </p:nvSpPr>
        <p:spPr>
          <a:xfrm>
            <a:off x="-1" y="1088020"/>
            <a:ext cx="12020273" cy="6030410"/>
          </a:xfrm>
        </p:spPr>
        <p:txBody>
          <a:bodyPr>
            <a:normAutofit/>
          </a:bodyPr>
          <a:lstStyle/>
          <a:p>
            <a:pPr algn="just"/>
            <a:r>
              <a:rPr lang="en-US" sz="2400" dirty="0"/>
              <a:t>A computer network is a system of interconnected devices, such as computers, servers, smartphones, and printers, that communicate to exchange data. They communicate using wired or wireless connections and can range from small home networks to the global </a:t>
            </a:r>
            <a:r>
              <a:rPr lang="en-US" sz="2400" dirty="0" smtClean="0"/>
              <a:t>Internet</a:t>
            </a:r>
          </a:p>
          <a:p>
            <a:r>
              <a:rPr lang="en-US" sz="2400" b="1" dirty="0"/>
              <a:t>Simple Example:</a:t>
            </a:r>
          </a:p>
          <a:p>
            <a:r>
              <a:rPr lang="en-US" sz="2400" dirty="0"/>
              <a:t>Computers in a school lab connected to one printer</a:t>
            </a:r>
          </a:p>
          <a:p>
            <a:r>
              <a:rPr lang="en-US" sz="2400" dirty="0"/>
              <a:t>Mobile phones connected to the same Wi-Fi</a:t>
            </a:r>
          </a:p>
          <a:p>
            <a:r>
              <a:rPr lang="en-US" sz="2400" dirty="0"/>
              <a:t>ATMs connected to bank servers</a:t>
            </a:r>
          </a:p>
          <a:p>
            <a:r>
              <a:rPr lang="en-US" sz="2400" dirty="0"/>
              <a:t>All these are </a:t>
            </a:r>
            <a:r>
              <a:rPr lang="en-US" sz="2400" b="1" dirty="0"/>
              <a:t>computer networks</a:t>
            </a:r>
            <a:endParaRPr lang="en-US" sz="2400" dirty="0"/>
          </a:p>
          <a:p>
            <a:pPr algn="just"/>
            <a:endParaRPr lang="en-US" sz="16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28957" y="3687629"/>
            <a:ext cx="5959711" cy="2997282"/>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26501" y="6511823"/>
            <a:ext cx="1093772" cy="346177"/>
          </a:xfrm>
          <a:prstGeom prst="rect">
            <a:avLst/>
          </a:prstGeom>
        </p:spPr>
      </p:pic>
    </p:spTree>
    <p:extLst>
      <p:ext uri="{BB962C8B-B14F-4D97-AF65-F5344CB8AC3E}">
        <p14:creationId xmlns:p14="http://schemas.microsoft.com/office/powerpoint/2010/main" val="2292962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200" y="262467"/>
            <a:ext cx="10911840" cy="1051560"/>
          </a:xfrm>
        </p:spPr>
        <p:txBody>
          <a:bodyPr/>
          <a:lstStyle/>
          <a:p>
            <a:pPr algn="ctr"/>
            <a:r>
              <a:rPr lang="en-US" b="1" dirty="0" smtClean="0">
                <a:solidFill>
                  <a:schemeClr val="bg1"/>
                </a:solidFill>
                <a:latin typeface="Arial Black" panose="020B0A04020102020204" pitchFamily="34" charset="0"/>
              </a:rPr>
              <a:t>Network Criteria</a:t>
            </a:r>
            <a:endParaRPr lang="en-US" b="1" dirty="0">
              <a:solidFill>
                <a:schemeClr val="bg1"/>
              </a:solidFill>
              <a:latin typeface="Arial Black" panose="020B0A04020102020204" pitchFamily="34" charset="0"/>
            </a:endParaRPr>
          </a:p>
        </p:txBody>
      </p:sp>
      <p:sp>
        <p:nvSpPr>
          <p:cNvPr id="3" name="Content Placeholder 2"/>
          <p:cNvSpPr>
            <a:spLocks noGrp="1"/>
          </p:cNvSpPr>
          <p:nvPr>
            <p:ph idx="1"/>
          </p:nvPr>
        </p:nvSpPr>
        <p:spPr>
          <a:xfrm>
            <a:off x="71120" y="1209854"/>
            <a:ext cx="12192000" cy="5966449"/>
          </a:xfrm>
        </p:spPr>
        <p:txBody>
          <a:bodyPr>
            <a:normAutofit/>
          </a:bodyPr>
          <a:lstStyle/>
          <a:p>
            <a:r>
              <a:rPr lang="en-US" sz="2000" dirty="0"/>
              <a:t>These are standards used to judge how good a network is</a:t>
            </a:r>
          </a:p>
          <a:p>
            <a:endParaRPr lang="en-US" sz="2400" b="1" dirty="0"/>
          </a:p>
          <a:p>
            <a:endParaRPr lang="en-US" sz="2400" b="1" dirty="0" smtClean="0"/>
          </a:p>
          <a:p>
            <a:endParaRPr lang="en-US" sz="2400" b="1" dirty="0" smtClean="0"/>
          </a:p>
          <a:p>
            <a:endParaRPr lang="en-US" sz="2000" b="1" dirty="0" smtClean="0"/>
          </a:p>
          <a:p>
            <a:pPr marL="0" indent="0">
              <a:buNone/>
            </a:pPr>
            <a:endParaRPr lang="en-US" sz="2000" b="1" dirty="0" smtClean="0"/>
          </a:p>
          <a:p>
            <a:pPr marL="0" indent="0">
              <a:buNone/>
            </a:pPr>
            <a:r>
              <a:rPr lang="en-US" sz="2000" b="1" dirty="0" smtClean="0"/>
              <a:t>Performance</a:t>
            </a:r>
            <a:endParaRPr lang="en-US" sz="2000" b="1" dirty="0"/>
          </a:p>
          <a:p>
            <a:r>
              <a:rPr lang="en-US" sz="2000" b="1" dirty="0"/>
              <a:t>Meaning:</a:t>
            </a:r>
            <a:r>
              <a:rPr lang="en-US" sz="2000" dirty="0"/>
              <a:t> How fast data is sent and received.</a:t>
            </a:r>
          </a:p>
          <a:p>
            <a:r>
              <a:rPr lang="en-US" sz="2000" dirty="0"/>
              <a:t>Includes:</a:t>
            </a:r>
          </a:p>
          <a:p>
            <a:r>
              <a:rPr lang="en-US" sz="2000" dirty="0"/>
              <a:t>Speed (bandwidth)</a:t>
            </a:r>
          </a:p>
          <a:p>
            <a:r>
              <a:rPr lang="en-US" sz="2000" dirty="0"/>
              <a:t>Delay (latency)</a:t>
            </a:r>
          </a:p>
          <a:p>
            <a:r>
              <a:rPr lang="en-US" sz="2000" dirty="0"/>
              <a:t>Response </a:t>
            </a:r>
            <a:r>
              <a:rPr lang="en-US" sz="2000" dirty="0" smtClean="0"/>
              <a:t>time</a:t>
            </a:r>
          </a:p>
          <a:p>
            <a:r>
              <a:rPr lang="en-US" sz="2000" b="1" dirty="0"/>
              <a:t>Real-life example:</a:t>
            </a:r>
            <a:r>
              <a:rPr lang="en-US" sz="2000" dirty="0"/>
              <a:t/>
            </a:r>
            <a:br>
              <a:rPr lang="en-US" sz="2000" dirty="0"/>
            </a:br>
            <a:r>
              <a:rPr lang="en-US" sz="2000" dirty="0"/>
              <a:t>If your online class video loads smoothly without buffering, the network performance is good</a:t>
            </a:r>
            <a:r>
              <a:rPr lang="en-US" sz="2400" dirty="0"/>
              <a:t>.</a:t>
            </a:r>
          </a:p>
          <a:p>
            <a:pPr algn="just"/>
            <a:endParaRPr lang="en-US" sz="30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64034" y="2261414"/>
            <a:ext cx="6159006" cy="3803720"/>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26501" y="6511823"/>
            <a:ext cx="1093772" cy="346177"/>
          </a:xfrm>
          <a:prstGeom prst="rect">
            <a:avLst/>
          </a:prstGeom>
        </p:spPr>
      </p:pic>
    </p:spTree>
    <p:extLst>
      <p:ext uri="{BB962C8B-B14F-4D97-AF65-F5344CB8AC3E}">
        <p14:creationId xmlns:p14="http://schemas.microsoft.com/office/powerpoint/2010/main" val="1889277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200" y="270934"/>
            <a:ext cx="10911840" cy="1051560"/>
          </a:xfrm>
        </p:spPr>
        <p:txBody>
          <a:bodyPr/>
          <a:lstStyle/>
          <a:p>
            <a:pPr algn="ctr"/>
            <a:r>
              <a:rPr lang="en-US" dirty="0">
                <a:solidFill>
                  <a:schemeClr val="bg1"/>
                </a:solidFill>
                <a:latin typeface="Arial Black" panose="020B0A04020102020204" pitchFamily="34" charset="0"/>
              </a:rPr>
              <a:t>Reliability</a:t>
            </a:r>
          </a:p>
        </p:txBody>
      </p:sp>
      <p:sp>
        <p:nvSpPr>
          <p:cNvPr id="3" name="Content Placeholder 2"/>
          <p:cNvSpPr>
            <a:spLocks noGrp="1"/>
          </p:cNvSpPr>
          <p:nvPr>
            <p:ph idx="1"/>
          </p:nvPr>
        </p:nvSpPr>
        <p:spPr>
          <a:xfrm>
            <a:off x="-1" y="1322494"/>
            <a:ext cx="11968223" cy="5761212"/>
          </a:xfrm>
        </p:spPr>
        <p:txBody>
          <a:bodyPr>
            <a:normAutofit/>
          </a:bodyPr>
          <a:lstStyle/>
          <a:p>
            <a:r>
              <a:rPr lang="en-US" b="1" dirty="0"/>
              <a:t>Meaning:</a:t>
            </a:r>
            <a:r>
              <a:rPr lang="en-US" dirty="0"/>
              <a:t> How dependable the network is (how often it fails).</a:t>
            </a:r>
          </a:p>
          <a:p>
            <a:r>
              <a:rPr lang="en-US" dirty="0"/>
              <a:t>Includes:</a:t>
            </a:r>
          </a:p>
          <a:p>
            <a:r>
              <a:rPr lang="en-US" dirty="0"/>
              <a:t>Frequency of failure</a:t>
            </a:r>
          </a:p>
          <a:p>
            <a:r>
              <a:rPr lang="en-US" dirty="0"/>
              <a:t>Recovery time</a:t>
            </a:r>
          </a:p>
          <a:p>
            <a:r>
              <a:rPr lang="en-US" dirty="0"/>
              <a:t>Backup </a:t>
            </a:r>
            <a:r>
              <a:rPr lang="en-US" dirty="0" smtClean="0"/>
              <a:t>links</a:t>
            </a:r>
          </a:p>
          <a:p>
            <a:r>
              <a:rPr lang="en-US" b="1" dirty="0" smtClean="0"/>
              <a:t>Real-life example:</a:t>
            </a:r>
            <a:endParaRPr lang="en-US" dirty="0" smtClean="0"/>
          </a:p>
          <a:p>
            <a:r>
              <a:rPr lang="en-US" dirty="0" smtClean="0"/>
              <a:t>University </a:t>
            </a:r>
            <a:r>
              <a:rPr lang="en-US" dirty="0"/>
              <a:t>Wi-Fi working all day </a:t>
            </a:r>
            <a:r>
              <a:rPr lang="en-US" dirty="0" smtClean="0"/>
              <a:t>without</a:t>
            </a:r>
          </a:p>
          <a:p>
            <a:pPr marL="0" indent="0">
              <a:buNone/>
            </a:pPr>
            <a:r>
              <a:rPr lang="en-US" dirty="0" smtClean="0"/>
              <a:t> </a:t>
            </a:r>
            <a:r>
              <a:rPr lang="en-US" dirty="0"/>
              <a:t>disconnecting = reliable network</a:t>
            </a:r>
            <a:r>
              <a:rPr lang="en-US" sz="1400" dirty="0"/>
              <a: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67120" y="2093167"/>
            <a:ext cx="4942391" cy="4219865"/>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26501" y="6511823"/>
            <a:ext cx="1093772" cy="346177"/>
          </a:xfrm>
          <a:prstGeom prst="rect">
            <a:avLst/>
          </a:prstGeom>
        </p:spPr>
      </p:pic>
    </p:spTree>
    <p:extLst>
      <p:ext uri="{BB962C8B-B14F-4D97-AF65-F5344CB8AC3E}">
        <p14:creationId xmlns:p14="http://schemas.microsoft.com/office/powerpoint/2010/main" val="28124763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200" y="296333"/>
            <a:ext cx="10911840" cy="1051560"/>
          </a:xfrm>
        </p:spPr>
        <p:txBody>
          <a:bodyPr>
            <a:normAutofit/>
          </a:bodyPr>
          <a:lstStyle/>
          <a:p>
            <a:pPr algn="ctr"/>
            <a:r>
              <a:rPr lang="en-US" sz="5400" dirty="0">
                <a:solidFill>
                  <a:schemeClr val="bg1"/>
                </a:solidFill>
                <a:latin typeface="Arial Black" panose="020B0A04020102020204" pitchFamily="34" charset="0"/>
              </a:rPr>
              <a:t>Security</a:t>
            </a:r>
          </a:p>
        </p:txBody>
      </p:sp>
      <p:sp>
        <p:nvSpPr>
          <p:cNvPr id="3" name="Content Placeholder 2"/>
          <p:cNvSpPr>
            <a:spLocks noGrp="1"/>
          </p:cNvSpPr>
          <p:nvPr>
            <p:ph idx="1"/>
          </p:nvPr>
        </p:nvSpPr>
        <p:spPr>
          <a:xfrm>
            <a:off x="104172" y="1226916"/>
            <a:ext cx="11979798" cy="5822066"/>
          </a:xfrm>
        </p:spPr>
        <p:txBody>
          <a:bodyPr>
            <a:normAutofit/>
          </a:bodyPr>
          <a:lstStyle/>
          <a:p>
            <a:r>
              <a:rPr lang="en-US" sz="3600" b="1" dirty="0"/>
              <a:t>Meaning:</a:t>
            </a:r>
            <a:r>
              <a:rPr lang="en-US" sz="3600" dirty="0"/>
              <a:t> Protecting data from unauthorized access</a:t>
            </a:r>
            <a:r>
              <a:rPr lang="en-US" sz="3600" dirty="0" smtClean="0"/>
              <a:t>.</a:t>
            </a:r>
          </a:p>
          <a:p>
            <a:r>
              <a:rPr lang="en-US" sz="3600" dirty="0"/>
              <a:t>Includes:</a:t>
            </a:r>
          </a:p>
          <a:p>
            <a:r>
              <a:rPr lang="en-US" sz="3600" dirty="0"/>
              <a:t>Passwords</a:t>
            </a:r>
          </a:p>
          <a:p>
            <a:r>
              <a:rPr lang="en-US" sz="3600" dirty="0"/>
              <a:t>Firewalls</a:t>
            </a:r>
          </a:p>
          <a:p>
            <a:r>
              <a:rPr lang="en-US" sz="3600" dirty="0"/>
              <a:t>Encryption</a:t>
            </a:r>
          </a:p>
          <a:p>
            <a:r>
              <a:rPr lang="en-US" sz="3600" b="1" dirty="0"/>
              <a:t>Real-life example:</a:t>
            </a:r>
            <a:r>
              <a:rPr lang="en-US" sz="3600" dirty="0"/>
              <a:t/>
            </a:r>
            <a:br>
              <a:rPr lang="en-US" sz="3600" dirty="0"/>
            </a:br>
            <a:r>
              <a:rPr lang="en-US" sz="3600" dirty="0"/>
              <a:t>Only students with login credentials can access LMS portal → security.</a:t>
            </a:r>
          </a:p>
          <a:p>
            <a:endParaRPr lang="en-US" sz="3600" dirty="0"/>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6501" y="6511823"/>
            <a:ext cx="1093772" cy="346177"/>
          </a:xfrm>
          <a:prstGeom prst="rect">
            <a:avLst/>
          </a:prstGeom>
        </p:spPr>
      </p:pic>
    </p:spTree>
    <p:extLst>
      <p:ext uri="{BB962C8B-B14F-4D97-AF65-F5344CB8AC3E}">
        <p14:creationId xmlns:p14="http://schemas.microsoft.com/office/powerpoint/2010/main" val="19415485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2758" y="312739"/>
            <a:ext cx="10911840" cy="1051560"/>
          </a:xfrm>
        </p:spPr>
        <p:txBody>
          <a:bodyPr/>
          <a:lstStyle/>
          <a:p>
            <a:pPr algn="ctr"/>
            <a:r>
              <a:rPr lang="en-US" dirty="0">
                <a:solidFill>
                  <a:schemeClr val="bg1"/>
                </a:solidFill>
                <a:latin typeface="Arial Black" panose="020B0A04020102020204" pitchFamily="34" charset="0"/>
              </a:rPr>
              <a:t>Type of Connection</a:t>
            </a:r>
            <a:endParaRPr lang="en-US" b="1" dirty="0">
              <a:solidFill>
                <a:schemeClr val="bg1"/>
              </a:solidFill>
              <a:latin typeface="Arial Black" panose="020B0A04020102020204" pitchFamily="34" charset="0"/>
            </a:endParaRPr>
          </a:p>
        </p:txBody>
      </p:sp>
      <p:sp>
        <p:nvSpPr>
          <p:cNvPr id="4100" name="AutoShape 4" descr="Image result for network reliability"/>
          <p:cNvSpPr>
            <a:spLocks noChangeAspect="1" noChangeArrowheads="1"/>
          </p:cNvSpPr>
          <p:nvPr/>
        </p:nvSpPr>
        <p:spPr bwMode="auto">
          <a:xfrm>
            <a:off x="207434" y="-144463"/>
            <a:ext cx="4064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102" name="AutoShape 6" descr="Image result for network reliability"/>
          <p:cNvSpPr>
            <a:spLocks noChangeAspect="1" noChangeArrowheads="1"/>
          </p:cNvSpPr>
          <p:nvPr/>
        </p:nvSpPr>
        <p:spPr bwMode="auto">
          <a:xfrm>
            <a:off x="207434" y="-144463"/>
            <a:ext cx="4064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 name="AutoShape 2" descr="Reliability - Free security icons"/>
          <p:cNvSpPr>
            <a:spLocks noChangeAspect="1" noChangeArrowheads="1"/>
          </p:cNvSpPr>
          <p:nvPr/>
        </p:nvSpPr>
        <p:spPr bwMode="auto">
          <a:xfrm>
            <a:off x="188576" y="-144463"/>
            <a:ext cx="369455"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Reliability - Free security icons"/>
          <p:cNvSpPr>
            <a:spLocks noChangeAspect="1" noChangeArrowheads="1"/>
          </p:cNvSpPr>
          <p:nvPr/>
        </p:nvSpPr>
        <p:spPr bwMode="auto">
          <a:xfrm>
            <a:off x="373303" y="7938"/>
            <a:ext cx="369455"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Content Placeholder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28790" y="1364299"/>
            <a:ext cx="9596388" cy="5392533"/>
          </a:xfrm>
        </p:spPr>
      </p:pic>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26501" y="6511823"/>
            <a:ext cx="1093772" cy="346177"/>
          </a:xfrm>
          <a:prstGeom prst="rect">
            <a:avLst/>
          </a:prstGeom>
        </p:spPr>
      </p:pic>
    </p:spTree>
    <p:extLst>
      <p:ext uri="{BB962C8B-B14F-4D97-AF65-F5344CB8AC3E}">
        <p14:creationId xmlns:p14="http://schemas.microsoft.com/office/powerpoint/2010/main" val="4937653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6600" y="262467"/>
            <a:ext cx="10911840" cy="1051560"/>
          </a:xfrm>
        </p:spPr>
        <p:txBody>
          <a:bodyPr>
            <a:normAutofit fontScale="90000"/>
          </a:bodyPr>
          <a:lstStyle/>
          <a:p>
            <a:pPr algn="ctr"/>
            <a:r>
              <a:rPr lang="en-US" dirty="0">
                <a:solidFill>
                  <a:schemeClr val="bg1"/>
                </a:solidFill>
                <a:latin typeface="Arial Black" panose="020B0A04020102020204" pitchFamily="34" charset="0"/>
              </a:rPr>
              <a:t>Point-to-Point</a:t>
            </a:r>
            <a:br>
              <a:rPr lang="en-US" dirty="0">
                <a:solidFill>
                  <a:schemeClr val="bg1"/>
                </a:solidFill>
                <a:latin typeface="Arial Black" panose="020B0A04020102020204" pitchFamily="34" charset="0"/>
              </a:rPr>
            </a:br>
            <a:endParaRPr lang="en-US" b="1" dirty="0">
              <a:solidFill>
                <a:schemeClr val="bg1"/>
              </a:solidFill>
              <a:latin typeface="Arial Black" panose="020B0A04020102020204" pitchFamily="34" charset="0"/>
            </a:endParaRPr>
          </a:p>
        </p:txBody>
      </p:sp>
      <p:sp>
        <p:nvSpPr>
          <p:cNvPr id="3" name="Content Placeholder 2"/>
          <p:cNvSpPr>
            <a:spLocks noGrp="1"/>
          </p:cNvSpPr>
          <p:nvPr>
            <p:ph idx="1"/>
          </p:nvPr>
        </p:nvSpPr>
        <p:spPr>
          <a:xfrm>
            <a:off x="104172" y="1215341"/>
            <a:ext cx="12087828" cy="5752617"/>
          </a:xfrm>
        </p:spPr>
        <p:txBody>
          <a:bodyPr>
            <a:normAutofit/>
          </a:bodyPr>
          <a:lstStyle/>
          <a:p>
            <a:pPr algn="just"/>
            <a:r>
              <a:rPr lang="en-US" sz="2400" dirty="0" smtClean="0"/>
              <a:t>Point-to-Point</a:t>
            </a:r>
          </a:p>
          <a:p>
            <a:r>
              <a:rPr lang="en-US" sz="2400" b="1" dirty="0"/>
              <a:t>Meaning:</a:t>
            </a:r>
            <a:r>
              <a:rPr lang="en-US" sz="2400" dirty="0"/>
              <a:t> Direct connection between two devices.</a:t>
            </a:r>
          </a:p>
          <a:p>
            <a:r>
              <a:rPr lang="en-US" sz="2400" dirty="0"/>
              <a:t>Only two devices </a:t>
            </a:r>
            <a:r>
              <a:rPr lang="en-US" sz="2400" dirty="0" smtClean="0"/>
              <a:t>communicate</a:t>
            </a:r>
          </a:p>
          <a:p>
            <a:r>
              <a:rPr lang="en-US" sz="2400" b="1" dirty="0" smtClean="0"/>
              <a:t>Example</a:t>
            </a:r>
            <a:r>
              <a:rPr lang="en-US" sz="2400" b="1" dirty="0"/>
              <a:t>:</a:t>
            </a:r>
            <a:r>
              <a:rPr lang="en-US" sz="2400" dirty="0"/>
              <a:t/>
            </a:r>
            <a:br>
              <a:rPr lang="en-US" sz="2400" dirty="0"/>
            </a:br>
            <a:r>
              <a:rPr lang="en-US" sz="2400" dirty="0"/>
              <a:t>Computer connected directly to printer </a:t>
            </a:r>
            <a:r>
              <a:rPr lang="en-US" sz="2400" dirty="0" smtClean="0"/>
              <a:t>.</a:t>
            </a:r>
            <a:endParaRPr lang="en-US" sz="24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03979" y="3449307"/>
            <a:ext cx="7575591" cy="3020941"/>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26501" y="6511823"/>
            <a:ext cx="1093772" cy="346177"/>
          </a:xfrm>
          <a:prstGeom prst="rect">
            <a:avLst/>
          </a:prstGeom>
        </p:spPr>
      </p:pic>
    </p:spTree>
    <p:extLst>
      <p:ext uri="{BB962C8B-B14F-4D97-AF65-F5344CB8AC3E}">
        <p14:creationId xmlns:p14="http://schemas.microsoft.com/office/powerpoint/2010/main" val="42291852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4267" y="211667"/>
            <a:ext cx="10911840" cy="1051560"/>
          </a:xfrm>
        </p:spPr>
        <p:txBody>
          <a:bodyPr/>
          <a:lstStyle/>
          <a:p>
            <a:pPr algn="ctr"/>
            <a:r>
              <a:rPr lang="en-US" b="1" dirty="0">
                <a:solidFill>
                  <a:schemeClr val="bg1"/>
                </a:solidFill>
                <a:latin typeface="Arial Black" panose="020B0A04020102020204" pitchFamily="34" charset="0"/>
              </a:rPr>
              <a:t>Multipoint</a:t>
            </a:r>
          </a:p>
        </p:txBody>
      </p:sp>
      <p:sp>
        <p:nvSpPr>
          <p:cNvPr id="3" name="Content Placeholder 2"/>
          <p:cNvSpPr>
            <a:spLocks noGrp="1"/>
          </p:cNvSpPr>
          <p:nvPr>
            <p:ph idx="1"/>
          </p:nvPr>
        </p:nvSpPr>
        <p:spPr>
          <a:xfrm>
            <a:off x="104172" y="1388962"/>
            <a:ext cx="12087828" cy="5555848"/>
          </a:xfrm>
        </p:spPr>
        <p:txBody>
          <a:bodyPr>
            <a:normAutofit/>
          </a:bodyPr>
          <a:lstStyle/>
          <a:p>
            <a:r>
              <a:rPr lang="en-US" sz="1800" dirty="0"/>
              <a:t>A </a:t>
            </a:r>
            <a:r>
              <a:rPr lang="en-US" sz="1800" b="1" dirty="0"/>
              <a:t>Multipoint</a:t>
            </a:r>
            <a:r>
              <a:rPr lang="en-US" sz="1800" dirty="0"/>
              <a:t> connection is when </a:t>
            </a:r>
            <a:r>
              <a:rPr lang="en-US" sz="1800" b="1" dirty="0"/>
              <a:t>more than two devices share the same communication link</a:t>
            </a:r>
            <a:r>
              <a:rPr lang="en-US" sz="1800" dirty="0"/>
              <a:t>.</a:t>
            </a:r>
          </a:p>
          <a:p>
            <a:r>
              <a:rPr lang="en-US" sz="1800" dirty="0"/>
              <a:t>Many devices communicate together.</a:t>
            </a:r>
          </a:p>
          <a:p>
            <a:r>
              <a:rPr lang="en-US" sz="1800" b="1" dirty="0"/>
              <a:t>Example:</a:t>
            </a:r>
          </a:p>
          <a:p>
            <a:r>
              <a:rPr lang="en-US" sz="1800" dirty="0"/>
              <a:t>Many students using one Wi-Fi router</a:t>
            </a:r>
          </a:p>
          <a:p>
            <a:r>
              <a:rPr lang="en-US" sz="1800" dirty="0"/>
              <a:t>Computers in a lab connected to one switch</a:t>
            </a:r>
          </a:p>
          <a:p>
            <a:r>
              <a:rPr lang="en-US" sz="1800" dirty="0"/>
              <a:t>Multiple mobiles connected to same hotspot</a:t>
            </a:r>
          </a:p>
          <a:p>
            <a:pPr marL="0" indent="0" algn="just">
              <a:buNone/>
            </a:pPr>
            <a:endParaRPr lang="en-US" sz="2800" dirty="0" smtClean="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8521" y="3703772"/>
            <a:ext cx="5479130" cy="2916947"/>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26501" y="6511823"/>
            <a:ext cx="1093772" cy="346177"/>
          </a:xfrm>
          <a:prstGeom prst="rect">
            <a:avLst/>
          </a:prstGeom>
        </p:spPr>
      </p:pic>
    </p:spTree>
    <p:extLst>
      <p:ext uri="{BB962C8B-B14F-4D97-AF65-F5344CB8AC3E}">
        <p14:creationId xmlns:p14="http://schemas.microsoft.com/office/powerpoint/2010/main" val="42672258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4267" y="287867"/>
            <a:ext cx="10911840" cy="1051560"/>
          </a:xfrm>
        </p:spPr>
        <p:txBody>
          <a:bodyPr/>
          <a:lstStyle/>
          <a:p>
            <a:pPr algn="ctr"/>
            <a:r>
              <a:rPr lang="en-US" b="1" dirty="0">
                <a:solidFill>
                  <a:schemeClr val="bg1"/>
                </a:solidFill>
                <a:latin typeface="Arial Black" panose="020B0A04020102020204" pitchFamily="34" charset="0"/>
              </a:rPr>
              <a:t>Network </a:t>
            </a:r>
            <a:r>
              <a:rPr lang="en-US" b="1" dirty="0" smtClean="0">
                <a:solidFill>
                  <a:schemeClr val="bg1"/>
                </a:solidFill>
                <a:latin typeface="Arial Black" panose="020B0A04020102020204" pitchFamily="34" charset="0"/>
              </a:rPr>
              <a:t>Topology</a:t>
            </a:r>
            <a:endParaRPr lang="en-US" b="1" dirty="0">
              <a:solidFill>
                <a:schemeClr val="bg1"/>
              </a:solidFill>
              <a:latin typeface="Arial Black" panose="020B0A04020102020204" pitchFamily="34" charset="0"/>
            </a:endParaRPr>
          </a:p>
        </p:txBody>
      </p:sp>
      <p:sp>
        <p:nvSpPr>
          <p:cNvPr id="3" name="Content Placeholder 2"/>
          <p:cNvSpPr>
            <a:spLocks noGrp="1"/>
          </p:cNvSpPr>
          <p:nvPr>
            <p:ph idx="1"/>
          </p:nvPr>
        </p:nvSpPr>
        <p:spPr>
          <a:xfrm>
            <a:off x="104171" y="1203767"/>
            <a:ext cx="12002947" cy="5856790"/>
          </a:xfrm>
        </p:spPr>
        <p:txBody>
          <a:bodyPr>
            <a:normAutofit/>
          </a:bodyPr>
          <a:lstStyle/>
          <a:p>
            <a:pPr algn="just"/>
            <a:r>
              <a:rPr lang="en-US" b="1" dirty="0"/>
              <a:t>Network topology</a:t>
            </a:r>
            <a:r>
              <a:rPr lang="en-US" dirty="0"/>
              <a:t> is the </a:t>
            </a:r>
            <a:r>
              <a:rPr lang="en-US" b="1" dirty="0"/>
              <a:t>physical or logical arrangement (layout)</a:t>
            </a:r>
            <a:r>
              <a:rPr lang="en-US" dirty="0"/>
              <a:t> of computers and cables in a network</a:t>
            </a:r>
            <a:r>
              <a:rPr lang="en-US" dirty="0" smtClean="0"/>
              <a:t>.</a:t>
            </a:r>
          </a:p>
          <a:p>
            <a:r>
              <a:rPr lang="en-US" dirty="0"/>
              <a:t>There are mainly eight types of topology in computer networks:</a:t>
            </a:r>
          </a:p>
          <a:p>
            <a:pPr marL="514350" indent="-514350">
              <a:buFont typeface="+mj-lt"/>
              <a:buAutoNum type="arabicPeriod"/>
            </a:pPr>
            <a:r>
              <a:rPr lang="en-US" dirty="0"/>
              <a:t>Mesh Topology</a:t>
            </a:r>
          </a:p>
          <a:p>
            <a:pPr marL="514350" indent="-514350">
              <a:buFont typeface="+mj-lt"/>
              <a:buAutoNum type="arabicPeriod"/>
            </a:pPr>
            <a:r>
              <a:rPr lang="en-US" dirty="0"/>
              <a:t>Star Topology</a:t>
            </a:r>
          </a:p>
          <a:p>
            <a:pPr marL="514350" indent="-514350">
              <a:buFont typeface="+mj-lt"/>
              <a:buAutoNum type="arabicPeriod"/>
            </a:pPr>
            <a:r>
              <a:rPr lang="en-US" dirty="0"/>
              <a:t>Bus Topology</a:t>
            </a:r>
          </a:p>
          <a:p>
            <a:pPr marL="514350" indent="-514350">
              <a:buFont typeface="+mj-lt"/>
              <a:buAutoNum type="arabicPeriod"/>
            </a:pPr>
            <a:r>
              <a:rPr lang="en-US" dirty="0"/>
              <a:t>Ring Topology</a:t>
            </a:r>
          </a:p>
          <a:p>
            <a:pPr marL="514350" indent="-514350">
              <a:buFont typeface="+mj-lt"/>
              <a:buAutoNum type="arabicPeriod"/>
            </a:pPr>
            <a:r>
              <a:rPr lang="en-US" dirty="0" smtClean="0"/>
              <a:t>Hybrid Topology</a:t>
            </a:r>
          </a:p>
          <a:p>
            <a:pPr marL="514350" indent="-514350">
              <a:buFont typeface="+mj-lt"/>
              <a:buAutoNum type="arabicPeriod"/>
            </a:pPr>
            <a:r>
              <a:rPr lang="en-US" dirty="0" smtClean="0"/>
              <a:t>P2P Topology</a:t>
            </a:r>
          </a:p>
          <a:p>
            <a:pPr marL="514350" indent="-514350">
              <a:buFont typeface="+mj-lt"/>
              <a:buAutoNum type="arabicPeriod"/>
            </a:pPr>
            <a:r>
              <a:rPr lang="en-US" dirty="0" smtClean="0"/>
              <a:t>Daisy Chain Topology</a:t>
            </a:r>
          </a:p>
          <a:p>
            <a:pPr algn="just"/>
            <a:endParaRPr lang="en-US" dirty="0"/>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6501" y="6511823"/>
            <a:ext cx="1093772" cy="346177"/>
          </a:xfrm>
          <a:prstGeom prst="rect">
            <a:avLst/>
          </a:prstGeom>
        </p:spPr>
      </p:pic>
    </p:spTree>
    <p:extLst>
      <p:ext uri="{BB962C8B-B14F-4D97-AF65-F5344CB8AC3E}">
        <p14:creationId xmlns:p14="http://schemas.microsoft.com/office/powerpoint/2010/main" val="23544261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200" y="262466"/>
            <a:ext cx="10911840" cy="1051560"/>
          </a:xfrm>
        </p:spPr>
        <p:txBody>
          <a:bodyPr/>
          <a:lstStyle/>
          <a:p>
            <a:pPr algn="ctr"/>
            <a:r>
              <a:rPr lang="en-US" dirty="0">
                <a:solidFill>
                  <a:schemeClr val="bg1"/>
                </a:solidFill>
                <a:latin typeface="Arial Black" panose="020B0A04020102020204" pitchFamily="34" charset="0"/>
              </a:rPr>
              <a:t>Star Topology</a:t>
            </a:r>
          </a:p>
        </p:txBody>
      </p:sp>
      <p:sp>
        <p:nvSpPr>
          <p:cNvPr id="3" name="Content Placeholder 2"/>
          <p:cNvSpPr>
            <a:spLocks noGrp="1"/>
          </p:cNvSpPr>
          <p:nvPr>
            <p:ph idx="1"/>
          </p:nvPr>
        </p:nvSpPr>
        <p:spPr>
          <a:xfrm>
            <a:off x="104172" y="1134319"/>
            <a:ext cx="12087828" cy="5822066"/>
          </a:xfrm>
        </p:spPr>
        <p:txBody>
          <a:bodyPr>
            <a:normAutofit/>
          </a:bodyPr>
          <a:lstStyle/>
          <a:p>
            <a:pPr marL="0" indent="0">
              <a:buNone/>
            </a:pPr>
            <a:r>
              <a:rPr lang="en-US" sz="2400" dirty="0"/>
              <a:t> </a:t>
            </a:r>
            <a:r>
              <a:rPr lang="en-US" sz="2400" dirty="0" smtClean="0"/>
              <a:t>  </a:t>
            </a:r>
            <a:r>
              <a:rPr lang="en-US" sz="2400" b="1" dirty="0" smtClean="0"/>
              <a:t>Definition</a:t>
            </a:r>
            <a:endParaRPr lang="en-US" sz="2400" b="1" dirty="0"/>
          </a:p>
          <a:p>
            <a:r>
              <a:rPr lang="en-US" sz="2400" dirty="0"/>
              <a:t>All devices connect to a </a:t>
            </a:r>
            <a:r>
              <a:rPr lang="en-US" sz="2400" b="1" dirty="0"/>
              <a:t>central hub or switch</a:t>
            </a:r>
            <a:r>
              <a:rPr lang="en-US" sz="2400" dirty="0"/>
              <a:t>.</a:t>
            </a:r>
          </a:p>
          <a:p>
            <a:r>
              <a:rPr lang="en-US" sz="2400" b="1" dirty="0" smtClean="0"/>
              <a:t> </a:t>
            </a:r>
            <a:r>
              <a:rPr lang="en-US" sz="2400" b="1" dirty="0"/>
              <a:t>Real-life Example</a:t>
            </a:r>
          </a:p>
          <a:p>
            <a:r>
              <a:rPr lang="en-US" sz="2400" dirty="0"/>
              <a:t>Computer labs in schools.</a:t>
            </a:r>
          </a:p>
          <a:p>
            <a:r>
              <a:rPr lang="en-US" sz="2400" b="1" dirty="0" smtClean="0"/>
              <a:t> </a:t>
            </a:r>
            <a:r>
              <a:rPr lang="en-US" sz="2400" b="1" dirty="0"/>
              <a:t>Advantages</a:t>
            </a:r>
          </a:p>
          <a:p>
            <a:r>
              <a:rPr lang="en-US" sz="2400" dirty="0"/>
              <a:t>Easy to install and manage</a:t>
            </a:r>
          </a:p>
          <a:p>
            <a:r>
              <a:rPr lang="en-US" sz="2400" dirty="0"/>
              <a:t>One cable failure doesn’t affect others</a:t>
            </a:r>
          </a:p>
          <a:p>
            <a:r>
              <a:rPr lang="en-US" sz="2400" dirty="0"/>
              <a:t>Easy to add new computers</a:t>
            </a:r>
          </a:p>
          <a:p>
            <a:r>
              <a:rPr lang="en-US" sz="2400" b="1" dirty="0" smtClean="0"/>
              <a:t> </a:t>
            </a:r>
            <a:r>
              <a:rPr lang="en-US" sz="2400" b="1" dirty="0"/>
              <a:t>Disadvantages</a:t>
            </a:r>
          </a:p>
          <a:p>
            <a:r>
              <a:rPr lang="en-US" sz="2400" dirty="0"/>
              <a:t>If hub fails → entire network stops</a:t>
            </a:r>
          </a:p>
          <a:p>
            <a:r>
              <a:rPr lang="en-US" sz="2400" dirty="0"/>
              <a:t>Needs more cable</a:t>
            </a:r>
          </a:p>
          <a:p>
            <a:pPr algn="just"/>
            <a:endParaRPr lang="en-US" sz="2400" dirty="0" smtClean="0"/>
          </a:p>
          <a:p>
            <a:pPr algn="just"/>
            <a:endParaRPr lang="en-US" sz="2400"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52011" y="1720743"/>
            <a:ext cx="5739989" cy="3823529"/>
          </a:xfrm>
          <a:prstGeom prst="rect">
            <a:avLst/>
          </a:prstGeom>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926501" y="6511823"/>
            <a:ext cx="1093772" cy="346177"/>
          </a:xfrm>
          <a:prstGeom prst="rect">
            <a:avLst/>
          </a:prstGeom>
        </p:spPr>
      </p:pic>
    </p:spTree>
    <p:extLst>
      <p:ext uri="{BB962C8B-B14F-4D97-AF65-F5344CB8AC3E}">
        <p14:creationId xmlns:p14="http://schemas.microsoft.com/office/powerpoint/2010/main" val="40137143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6600" y="296333"/>
            <a:ext cx="10911840" cy="1051560"/>
          </a:xfrm>
        </p:spPr>
        <p:txBody>
          <a:bodyPr>
            <a:normAutofit fontScale="90000"/>
          </a:bodyPr>
          <a:lstStyle/>
          <a:p>
            <a:pPr algn="ctr"/>
            <a:r>
              <a:rPr lang="en-US" b="1" dirty="0">
                <a:solidFill>
                  <a:schemeClr val="bg1"/>
                </a:solidFill>
                <a:latin typeface="Arial Black" panose="020B0A04020102020204" pitchFamily="34" charset="0"/>
              </a:rPr>
              <a:t>Ring Topology</a:t>
            </a:r>
            <a:r>
              <a:rPr lang="en-US" b="1" dirty="0"/>
              <a:t/>
            </a:r>
            <a:br>
              <a:rPr lang="en-US" b="1" dirty="0"/>
            </a:br>
            <a:endParaRPr lang="en-US" b="1" dirty="0">
              <a:solidFill>
                <a:schemeClr val="accent4"/>
              </a:solidFill>
            </a:endParaRPr>
          </a:p>
        </p:txBody>
      </p:sp>
      <p:sp>
        <p:nvSpPr>
          <p:cNvPr id="3" name="Content Placeholder 2"/>
          <p:cNvSpPr>
            <a:spLocks noGrp="1"/>
          </p:cNvSpPr>
          <p:nvPr>
            <p:ph idx="1"/>
          </p:nvPr>
        </p:nvSpPr>
        <p:spPr>
          <a:xfrm>
            <a:off x="-92597" y="1169043"/>
            <a:ext cx="12284597" cy="6018835"/>
          </a:xfrm>
        </p:spPr>
        <p:txBody>
          <a:bodyPr>
            <a:normAutofit/>
          </a:bodyPr>
          <a:lstStyle/>
          <a:p>
            <a:pPr marL="0" indent="0">
              <a:buNone/>
            </a:pPr>
            <a:r>
              <a:rPr lang="en-US" sz="2400" b="1" dirty="0" smtClean="0"/>
              <a:t>   Definition</a:t>
            </a:r>
            <a:endParaRPr lang="en-US" sz="2400" b="1" dirty="0"/>
          </a:p>
          <a:p>
            <a:r>
              <a:rPr lang="en-US" sz="2400" dirty="0"/>
              <a:t>Devices are connected in a </a:t>
            </a:r>
            <a:r>
              <a:rPr lang="en-US" sz="2400" b="1" dirty="0"/>
              <a:t>circular form</a:t>
            </a:r>
            <a:r>
              <a:rPr lang="en-US" sz="2400" dirty="0"/>
              <a:t> and data moves in one direction.</a:t>
            </a:r>
          </a:p>
          <a:p>
            <a:r>
              <a:rPr lang="en-US" sz="2400" b="1" dirty="0" smtClean="0"/>
              <a:t> </a:t>
            </a:r>
            <a:r>
              <a:rPr lang="en-US" sz="2400" b="1" dirty="0"/>
              <a:t>Real-life Example</a:t>
            </a:r>
          </a:p>
          <a:p>
            <a:r>
              <a:rPr lang="en-US" sz="2400" dirty="0"/>
              <a:t>In some cities, the internet company connects buildings in a circle using fiber-optic cable, so the signal goes around the loop until it reaches your </a:t>
            </a:r>
            <a:r>
              <a:rPr lang="en-US" sz="2400" dirty="0" smtClean="0"/>
              <a:t>home</a:t>
            </a:r>
            <a:r>
              <a:rPr lang="en-US" sz="2400" dirty="0"/>
              <a:t>.</a:t>
            </a:r>
          </a:p>
          <a:p>
            <a:r>
              <a:rPr lang="en-US" sz="2400" b="1" dirty="0" smtClean="0"/>
              <a:t> </a:t>
            </a:r>
            <a:r>
              <a:rPr lang="en-US" sz="2400" b="1" dirty="0"/>
              <a:t>Advantages</a:t>
            </a:r>
          </a:p>
          <a:p>
            <a:r>
              <a:rPr lang="en-US" sz="2400" dirty="0"/>
              <a:t>Equal access for all devices</a:t>
            </a:r>
          </a:p>
          <a:p>
            <a:r>
              <a:rPr lang="en-US" sz="2400" dirty="0"/>
              <a:t>No data collision</a:t>
            </a:r>
          </a:p>
          <a:p>
            <a:r>
              <a:rPr lang="en-US" sz="2400" b="1" dirty="0" smtClean="0"/>
              <a:t>Disadvantages</a:t>
            </a:r>
            <a:endParaRPr lang="en-US" sz="2400" b="1" dirty="0"/>
          </a:p>
          <a:p>
            <a:r>
              <a:rPr lang="en-US" sz="2400" dirty="0"/>
              <a:t>One device failure affects whole </a:t>
            </a:r>
            <a:r>
              <a:rPr lang="en-US" sz="2400" dirty="0" smtClean="0"/>
              <a:t>network</a:t>
            </a:r>
            <a:endParaRPr lang="en-US" sz="2400" dirty="0"/>
          </a:p>
          <a:p>
            <a:pPr marL="0" indent="0" algn="just">
              <a:buNone/>
            </a:pPr>
            <a:endParaRPr lang="en-US" sz="21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51072" y="3505490"/>
            <a:ext cx="4170043" cy="3179421"/>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26501" y="6511823"/>
            <a:ext cx="1093772" cy="346177"/>
          </a:xfrm>
          <a:prstGeom prst="rect">
            <a:avLst/>
          </a:prstGeom>
        </p:spPr>
      </p:pic>
    </p:spTree>
    <p:extLst>
      <p:ext uri="{BB962C8B-B14F-4D97-AF65-F5344CB8AC3E}">
        <p14:creationId xmlns:p14="http://schemas.microsoft.com/office/powerpoint/2010/main" val="3879646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1250066"/>
            <a:ext cx="12192000" cy="5856789"/>
          </a:xfrm>
        </p:spPr>
        <p:txBody>
          <a:bodyPr>
            <a:normAutofit fontScale="92500" lnSpcReduction="10000"/>
          </a:bodyPr>
          <a:lstStyle/>
          <a:p>
            <a:r>
              <a:rPr lang="en-US" b="1" dirty="0" smtClean="0"/>
              <a:t> </a:t>
            </a:r>
            <a:r>
              <a:rPr lang="en-US" b="1" dirty="0"/>
              <a:t>Definition</a:t>
            </a:r>
          </a:p>
          <a:p>
            <a:r>
              <a:rPr lang="en-US" dirty="0"/>
              <a:t>All devices share a </a:t>
            </a:r>
            <a:r>
              <a:rPr lang="en-US" b="1" dirty="0"/>
              <a:t>single main cable (backbone)</a:t>
            </a:r>
            <a:r>
              <a:rPr lang="en-US" dirty="0"/>
              <a:t>.</a:t>
            </a:r>
          </a:p>
          <a:p>
            <a:r>
              <a:rPr lang="en-US" b="1" dirty="0" smtClean="0"/>
              <a:t> </a:t>
            </a:r>
            <a:r>
              <a:rPr lang="en-US" b="1" dirty="0"/>
              <a:t>Real-life Example</a:t>
            </a:r>
          </a:p>
          <a:p>
            <a:r>
              <a:rPr lang="en-US" dirty="0"/>
              <a:t>A cable TV line runs along the street, and every house connects to the same main wire.</a:t>
            </a:r>
            <a:br>
              <a:rPr lang="en-US" dirty="0"/>
            </a:br>
            <a:r>
              <a:rPr lang="en-US" dirty="0"/>
              <a:t>If the main wire is cut, everyone loses the signal</a:t>
            </a:r>
          </a:p>
          <a:p>
            <a:r>
              <a:rPr lang="en-US" b="1" dirty="0" smtClean="0"/>
              <a:t> </a:t>
            </a:r>
            <a:r>
              <a:rPr lang="en-US" b="1" dirty="0"/>
              <a:t>Advantages</a:t>
            </a:r>
          </a:p>
          <a:p>
            <a:r>
              <a:rPr lang="en-US" dirty="0"/>
              <a:t>Cheap</a:t>
            </a:r>
          </a:p>
          <a:p>
            <a:r>
              <a:rPr lang="en-US" dirty="0"/>
              <a:t>Simple for small networks</a:t>
            </a:r>
          </a:p>
          <a:p>
            <a:r>
              <a:rPr lang="en-US" dirty="0"/>
              <a:t>Uses less cable</a:t>
            </a:r>
          </a:p>
          <a:p>
            <a:r>
              <a:rPr lang="en-US" b="1" dirty="0" smtClean="0"/>
              <a:t> </a:t>
            </a:r>
            <a:r>
              <a:rPr lang="en-US" b="1" dirty="0"/>
              <a:t>Disadvantages</a:t>
            </a:r>
          </a:p>
          <a:p>
            <a:r>
              <a:rPr lang="en-US" dirty="0"/>
              <a:t>If main cable breaks → network fails</a:t>
            </a:r>
          </a:p>
          <a:p>
            <a:r>
              <a:rPr lang="en-US" dirty="0"/>
              <a:t>Limited number of devices can be </a:t>
            </a:r>
            <a:r>
              <a:rPr lang="en-US" dirty="0" smtClean="0"/>
              <a:t>connected</a:t>
            </a:r>
          </a:p>
          <a:p>
            <a:r>
              <a:rPr lang="en-US" dirty="0"/>
              <a:t>Low security</a:t>
            </a:r>
          </a:p>
          <a:p>
            <a:endParaRPr lang="en-US" dirty="0"/>
          </a:p>
        </p:txBody>
      </p:sp>
      <p:sp>
        <p:nvSpPr>
          <p:cNvPr id="3" name="Rectangle 2"/>
          <p:cNvSpPr/>
          <p:nvPr/>
        </p:nvSpPr>
        <p:spPr>
          <a:xfrm>
            <a:off x="3981691" y="261947"/>
            <a:ext cx="3622876" cy="646331"/>
          </a:xfrm>
          <a:prstGeom prst="rect">
            <a:avLst/>
          </a:prstGeom>
        </p:spPr>
        <p:txBody>
          <a:bodyPr wrap="square">
            <a:spAutoFit/>
          </a:bodyPr>
          <a:lstStyle/>
          <a:p>
            <a:r>
              <a:rPr lang="en-US" sz="3600" b="1" dirty="0">
                <a:solidFill>
                  <a:schemeClr val="bg1"/>
                </a:solidFill>
                <a:latin typeface="Arial Black" panose="020B0A04020102020204" pitchFamily="34" charset="0"/>
              </a:rPr>
              <a:t>Bus Topology</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3105" y="3402338"/>
            <a:ext cx="5675559" cy="3282573"/>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26501" y="6511823"/>
            <a:ext cx="1093772" cy="346177"/>
          </a:xfrm>
          <a:prstGeom prst="rect">
            <a:avLst/>
          </a:prstGeom>
        </p:spPr>
      </p:pic>
    </p:spTree>
    <p:extLst>
      <p:ext uri="{BB962C8B-B14F-4D97-AF65-F5344CB8AC3E}">
        <p14:creationId xmlns:p14="http://schemas.microsoft.com/office/powerpoint/2010/main" val="2549050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1250066"/>
            <a:ext cx="12192000" cy="5856789"/>
          </a:xfrm>
        </p:spPr>
        <p:txBody>
          <a:bodyPr>
            <a:normAutofit lnSpcReduction="10000"/>
          </a:bodyPr>
          <a:lstStyle/>
          <a:p>
            <a:r>
              <a:rPr lang="en-US" sz="2000" dirty="0"/>
              <a:t>In </a:t>
            </a:r>
            <a:r>
              <a:rPr lang="en-US" sz="2000" b="1" dirty="0"/>
              <a:t>Mesh topology</a:t>
            </a:r>
            <a:r>
              <a:rPr lang="en-US" sz="2000" dirty="0"/>
              <a:t>, every device is connected to </a:t>
            </a:r>
            <a:r>
              <a:rPr lang="en-US" sz="2000" b="1" dirty="0"/>
              <a:t>many or all other devices</a:t>
            </a:r>
            <a:r>
              <a:rPr lang="en-US" sz="2000" dirty="0"/>
              <a:t>.</a:t>
            </a:r>
            <a:r>
              <a:rPr lang="en-US" sz="2000" b="1" dirty="0" smtClean="0"/>
              <a:t> </a:t>
            </a:r>
          </a:p>
          <a:p>
            <a:r>
              <a:rPr lang="en-US" sz="2000" b="1" dirty="0" smtClean="0"/>
              <a:t>Example:</a:t>
            </a:r>
            <a:endParaRPr lang="en-US" sz="2000" b="1" dirty="0"/>
          </a:p>
          <a:p>
            <a:r>
              <a:rPr lang="en-US" sz="2000" dirty="0" smtClean="0"/>
              <a:t>Imagine </a:t>
            </a:r>
            <a:r>
              <a:rPr lang="en-US" sz="2000" dirty="0"/>
              <a:t>a bank ATM machine is connected to </a:t>
            </a:r>
            <a:r>
              <a:rPr lang="en-US" sz="2000" b="1" dirty="0"/>
              <a:t>multiple bank servers/branches</a:t>
            </a:r>
            <a:r>
              <a:rPr lang="en-US" sz="2000" dirty="0"/>
              <a:t>:</a:t>
            </a:r>
          </a:p>
          <a:p>
            <a:r>
              <a:rPr lang="en-US" sz="2000" dirty="0"/>
              <a:t>ATM ↔ Branch A</a:t>
            </a:r>
          </a:p>
          <a:p>
            <a:r>
              <a:rPr lang="en-US" sz="2000" dirty="0"/>
              <a:t>ATM ↔ Branch B</a:t>
            </a:r>
          </a:p>
          <a:p>
            <a:r>
              <a:rPr lang="en-US" sz="2000" dirty="0"/>
              <a:t>ATM ↔ Main Bank Server</a:t>
            </a:r>
          </a:p>
          <a:p>
            <a:r>
              <a:rPr lang="en-US" sz="2000" dirty="0"/>
              <a:t>Now:</a:t>
            </a:r>
          </a:p>
          <a:p>
            <a:r>
              <a:rPr lang="en-US" sz="2000" dirty="0" smtClean="0"/>
              <a:t> </a:t>
            </a:r>
            <a:r>
              <a:rPr lang="en-US" sz="2000" dirty="0"/>
              <a:t>If Branch A is unavailable or busy</a:t>
            </a:r>
            <a:br>
              <a:rPr lang="en-US" sz="2000" dirty="0"/>
            </a:br>
            <a:r>
              <a:rPr lang="en-US" sz="2000" dirty="0"/>
              <a:t>→ The ATM automatically sends the request to Branch B or the main server</a:t>
            </a:r>
            <a:br>
              <a:rPr lang="en-US" sz="2000" dirty="0"/>
            </a:br>
            <a:r>
              <a:rPr lang="en-US" sz="2000" dirty="0"/>
              <a:t>→ You can still withdraw money</a:t>
            </a:r>
          </a:p>
          <a:p>
            <a:r>
              <a:rPr lang="en-US" sz="2000" b="1" dirty="0"/>
              <a:t>Advantages</a:t>
            </a:r>
          </a:p>
          <a:p>
            <a:r>
              <a:rPr lang="en-US" sz="2000" dirty="0" smtClean="0"/>
              <a:t> </a:t>
            </a:r>
            <a:r>
              <a:rPr lang="en-US" sz="2000" dirty="0"/>
              <a:t>Very reliable (no single point of failure)</a:t>
            </a:r>
            <a:br>
              <a:rPr lang="en-US" sz="2000" dirty="0"/>
            </a:br>
            <a:r>
              <a:rPr lang="en-US" sz="2000" dirty="0" smtClean="0"/>
              <a:t>Fast </a:t>
            </a:r>
            <a:r>
              <a:rPr lang="en-US" sz="2000" dirty="0"/>
              <a:t>communication</a:t>
            </a:r>
            <a:br>
              <a:rPr lang="en-US" sz="2000" dirty="0"/>
            </a:br>
            <a:r>
              <a:rPr lang="en-US" sz="2000" dirty="0" smtClean="0"/>
              <a:t> </a:t>
            </a:r>
            <a:r>
              <a:rPr lang="en-US" sz="2000" dirty="0"/>
              <a:t>Data can take alternate </a:t>
            </a:r>
            <a:r>
              <a:rPr lang="en-US" sz="2000" dirty="0" smtClean="0"/>
              <a:t>path</a:t>
            </a:r>
          </a:p>
          <a:p>
            <a:r>
              <a:rPr lang="en-US" sz="2000" b="1" dirty="0"/>
              <a:t>Disadvantages</a:t>
            </a:r>
          </a:p>
          <a:p>
            <a:r>
              <a:rPr lang="en-US" sz="2000" dirty="0" smtClean="0"/>
              <a:t> </a:t>
            </a:r>
            <a:r>
              <a:rPr lang="en-US" sz="2000" dirty="0"/>
              <a:t>Very </a:t>
            </a:r>
            <a:r>
              <a:rPr lang="en-US" sz="2000" dirty="0" smtClean="0"/>
              <a:t>expensive</a:t>
            </a:r>
            <a:r>
              <a:rPr lang="en-US" sz="2000" dirty="0"/>
              <a:t/>
            </a:r>
            <a:br>
              <a:rPr lang="en-US" sz="2000" dirty="0"/>
            </a:br>
            <a:r>
              <a:rPr lang="en-US" sz="2000" dirty="0" smtClean="0"/>
              <a:t>Complex </a:t>
            </a:r>
            <a:r>
              <a:rPr lang="en-US" sz="2000" dirty="0"/>
              <a:t>setup</a:t>
            </a:r>
          </a:p>
          <a:p>
            <a:endParaRPr lang="en-US" sz="2000" dirty="0"/>
          </a:p>
          <a:p>
            <a:pPr marL="0" indent="0">
              <a:buNone/>
            </a:pPr>
            <a:endParaRPr lang="en-US" sz="2000" dirty="0"/>
          </a:p>
          <a:p>
            <a:endParaRPr lang="en-US" sz="2000" b="1" dirty="0"/>
          </a:p>
        </p:txBody>
      </p:sp>
      <p:sp>
        <p:nvSpPr>
          <p:cNvPr id="3" name="Rectangle 2"/>
          <p:cNvSpPr/>
          <p:nvPr/>
        </p:nvSpPr>
        <p:spPr>
          <a:xfrm>
            <a:off x="3738623" y="340981"/>
            <a:ext cx="4907666" cy="646331"/>
          </a:xfrm>
          <a:prstGeom prst="rect">
            <a:avLst/>
          </a:prstGeom>
        </p:spPr>
        <p:txBody>
          <a:bodyPr wrap="square">
            <a:spAutoFit/>
          </a:bodyPr>
          <a:lstStyle/>
          <a:p>
            <a:r>
              <a:rPr lang="en-US" sz="3600" b="1" dirty="0" smtClean="0">
                <a:solidFill>
                  <a:schemeClr val="bg1"/>
                </a:solidFill>
                <a:latin typeface="Arial Black" panose="020B0A04020102020204" pitchFamily="34" charset="0"/>
              </a:rPr>
              <a:t>Mash </a:t>
            </a:r>
            <a:r>
              <a:rPr lang="en-US" sz="3600" b="1" dirty="0">
                <a:solidFill>
                  <a:schemeClr val="bg1"/>
                </a:solidFill>
                <a:latin typeface="Arial Black" panose="020B0A04020102020204" pitchFamily="34" charset="0"/>
              </a:rPr>
              <a:t>Topology</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6501" y="6511823"/>
            <a:ext cx="1093772" cy="346177"/>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30522" y="1469984"/>
            <a:ext cx="3289752" cy="3819645"/>
          </a:xfrm>
          <a:prstGeom prst="rect">
            <a:avLst/>
          </a:prstGeom>
        </p:spPr>
      </p:pic>
    </p:spTree>
    <p:extLst>
      <p:ext uri="{BB962C8B-B14F-4D97-AF65-F5344CB8AC3E}">
        <p14:creationId xmlns:p14="http://schemas.microsoft.com/office/powerpoint/2010/main" val="29408082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04172" y="1250066"/>
            <a:ext cx="12087828" cy="5764191"/>
          </a:xfrm>
        </p:spPr>
        <p:txBody>
          <a:bodyPr>
            <a:normAutofit fontScale="92500" lnSpcReduction="10000"/>
          </a:bodyPr>
          <a:lstStyle/>
          <a:p>
            <a:r>
              <a:rPr lang="en-US" b="1" dirty="0" smtClean="0"/>
              <a:t>Definition</a:t>
            </a:r>
            <a:endParaRPr lang="en-US" b="1" dirty="0"/>
          </a:p>
          <a:p>
            <a:r>
              <a:rPr lang="en-US" dirty="0"/>
              <a:t>Hybrid topology is a </a:t>
            </a:r>
            <a:r>
              <a:rPr lang="en-US" b="1" dirty="0"/>
              <a:t>combination of two </a:t>
            </a:r>
            <a:r>
              <a:rPr lang="en-US" b="1" dirty="0" smtClean="0"/>
              <a:t>or more topologies</a:t>
            </a:r>
            <a:r>
              <a:rPr lang="en-US" dirty="0" smtClean="0"/>
              <a:t>(Star</a:t>
            </a:r>
            <a:r>
              <a:rPr lang="en-US" dirty="0"/>
              <a:t>, Bus, Ring, Mesh</a:t>
            </a:r>
            <a:r>
              <a:rPr lang="en-US" dirty="0" smtClean="0"/>
              <a:t>).</a:t>
            </a:r>
            <a:endParaRPr lang="en-US" dirty="0"/>
          </a:p>
          <a:p>
            <a:r>
              <a:rPr lang="en-US" b="1" dirty="0" smtClean="0"/>
              <a:t>Real-life </a:t>
            </a:r>
            <a:r>
              <a:rPr lang="en-US" b="1" dirty="0"/>
              <a:t>Example</a:t>
            </a:r>
          </a:p>
          <a:p>
            <a:pPr marL="0" indent="0">
              <a:buNone/>
            </a:pPr>
            <a:r>
              <a:rPr lang="en-US" dirty="0"/>
              <a:t>In a university network, the computers inside each </a:t>
            </a:r>
            <a:r>
              <a:rPr lang="en-US" dirty="0" smtClean="0"/>
              <a:t>faculty Rooms  </a:t>
            </a:r>
            <a:r>
              <a:rPr lang="en-US" dirty="0"/>
              <a:t>are connected in a star topology using a </a:t>
            </a:r>
            <a:r>
              <a:rPr lang="en-US" dirty="0" smtClean="0"/>
              <a:t>switch.Then </a:t>
            </a:r>
            <a:r>
              <a:rPr lang="en-US" dirty="0"/>
              <a:t>all </a:t>
            </a:r>
            <a:r>
              <a:rPr lang="en-US" dirty="0" smtClean="0"/>
              <a:t>Faculty Rooms  </a:t>
            </a:r>
            <a:r>
              <a:rPr lang="en-US" dirty="0"/>
              <a:t>are connected to one main cable using bus </a:t>
            </a:r>
            <a:r>
              <a:rPr lang="en-US" dirty="0" smtClean="0"/>
              <a:t>topology.Together</a:t>
            </a:r>
            <a:r>
              <a:rPr lang="en-US" dirty="0"/>
              <a:t>, this forms a hybrid topology.</a:t>
            </a:r>
          </a:p>
          <a:p>
            <a:r>
              <a:rPr lang="en-US" b="1" dirty="0" smtClean="0"/>
              <a:t>Advantages</a:t>
            </a:r>
            <a:endParaRPr lang="en-US" b="1" dirty="0"/>
          </a:p>
          <a:p>
            <a:r>
              <a:rPr lang="en-US" dirty="0"/>
              <a:t>Flexible design</a:t>
            </a:r>
          </a:p>
          <a:p>
            <a:r>
              <a:rPr lang="en-US" dirty="0"/>
              <a:t>Reliable</a:t>
            </a:r>
          </a:p>
          <a:p>
            <a:r>
              <a:rPr lang="en-US" dirty="0"/>
              <a:t>Scalable</a:t>
            </a:r>
          </a:p>
          <a:p>
            <a:r>
              <a:rPr lang="en-US" b="1" dirty="0" smtClean="0"/>
              <a:t> Disadvantages                                </a:t>
            </a:r>
            <a:endParaRPr lang="en-US" b="1" dirty="0"/>
          </a:p>
          <a:p>
            <a:r>
              <a:rPr lang="en-US" dirty="0"/>
              <a:t>Expensive</a:t>
            </a:r>
          </a:p>
          <a:p>
            <a:r>
              <a:rPr lang="en-US" dirty="0"/>
              <a:t>Complex setup</a:t>
            </a:r>
          </a:p>
          <a:p>
            <a:endParaRPr lang="en-US" dirty="0"/>
          </a:p>
        </p:txBody>
      </p:sp>
      <p:sp>
        <p:nvSpPr>
          <p:cNvPr id="3" name="Rectangle 2"/>
          <p:cNvSpPr/>
          <p:nvPr/>
        </p:nvSpPr>
        <p:spPr>
          <a:xfrm>
            <a:off x="4103373" y="423992"/>
            <a:ext cx="4714367" cy="707886"/>
          </a:xfrm>
          <a:prstGeom prst="rect">
            <a:avLst/>
          </a:prstGeom>
        </p:spPr>
        <p:txBody>
          <a:bodyPr wrap="none">
            <a:spAutoFit/>
          </a:bodyPr>
          <a:lstStyle/>
          <a:p>
            <a:r>
              <a:rPr lang="en-US" sz="4000" b="1" dirty="0">
                <a:solidFill>
                  <a:schemeClr val="bg1"/>
                </a:solidFill>
                <a:latin typeface="Arial Black" panose="020B0A04020102020204" pitchFamily="34" charset="0"/>
              </a:rPr>
              <a:t>Hybrid Topology</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6501" y="6511823"/>
            <a:ext cx="1093772" cy="346177"/>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53710" y="3832038"/>
            <a:ext cx="4258549" cy="2818682"/>
          </a:xfrm>
          <a:prstGeom prst="rect">
            <a:avLst/>
          </a:prstGeom>
        </p:spPr>
      </p:pic>
    </p:spTree>
    <p:extLst>
      <p:ext uri="{BB962C8B-B14F-4D97-AF65-F5344CB8AC3E}">
        <p14:creationId xmlns:p14="http://schemas.microsoft.com/office/powerpoint/2010/main" val="21784970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56772" y="450508"/>
            <a:ext cx="7784939" cy="822707"/>
          </a:xfrm>
        </p:spPr>
        <p:txBody>
          <a:bodyPr>
            <a:normAutofit fontScale="90000"/>
          </a:bodyPr>
          <a:lstStyle/>
          <a:p>
            <a:pPr algn="ctr"/>
            <a:r>
              <a:rPr lang="en-US" b="1" dirty="0">
                <a:solidFill>
                  <a:schemeClr val="bg1"/>
                </a:solidFill>
                <a:latin typeface="Arial Black" panose="020B0A04020102020204" pitchFamily="34" charset="0"/>
              </a:rPr>
              <a:t>P2P (Peer-to-Peer) Topology</a:t>
            </a:r>
            <a:r>
              <a:rPr lang="en-US" b="1" dirty="0">
                <a:latin typeface="Arial Black" panose="020B0A04020102020204" pitchFamily="34" charset="0"/>
              </a:rPr>
              <a:t/>
            </a:r>
            <a:br>
              <a:rPr lang="en-US" b="1" dirty="0">
                <a:latin typeface="Arial Black" panose="020B0A04020102020204" pitchFamily="34" charset="0"/>
              </a:rPr>
            </a:br>
            <a:endParaRPr lang="en-US" b="1" dirty="0">
              <a:solidFill>
                <a:schemeClr val="accent4"/>
              </a:solidFill>
              <a:latin typeface="Arial Black" panose="020B0A04020102020204" pitchFamily="34" charset="0"/>
            </a:endParaRPr>
          </a:p>
        </p:txBody>
      </p:sp>
      <p:sp>
        <p:nvSpPr>
          <p:cNvPr id="3" name="Content Placeholder 2"/>
          <p:cNvSpPr>
            <a:spLocks noGrp="1"/>
          </p:cNvSpPr>
          <p:nvPr>
            <p:ph sz="half" idx="1"/>
          </p:nvPr>
        </p:nvSpPr>
        <p:spPr>
          <a:xfrm>
            <a:off x="0" y="1273215"/>
            <a:ext cx="12192000" cy="5584785"/>
          </a:xfrm>
        </p:spPr>
        <p:txBody>
          <a:bodyPr>
            <a:normAutofit fontScale="70000" lnSpcReduction="20000"/>
          </a:bodyPr>
          <a:lstStyle/>
          <a:p>
            <a:r>
              <a:rPr lang="en-US" b="1" dirty="0"/>
              <a:t>P2P (Peer-to-Peer) Topology</a:t>
            </a:r>
          </a:p>
          <a:p>
            <a:r>
              <a:rPr lang="en-US" b="1" dirty="0" smtClean="0"/>
              <a:t> </a:t>
            </a:r>
            <a:r>
              <a:rPr lang="en-US" b="1" dirty="0"/>
              <a:t>Definition</a:t>
            </a:r>
          </a:p>
          <a:p>
            <a:r>
              <a:rPr lang="en-US" dirty="0"/>
              <a:t>All computers are </a:t>
            </a:r>
            <a:r>
              <a:rPr lang="en-US" b="1" dirty="0"/>
              <a:t>equal</a:t>
            </a:r>
            <a:r>
              <a:rPr lang="en-US" dirty="0"/>
              <a:t> and share resources directly without central server.</a:t>
            </a:r>
          </a:p>
          <a:p>
            <a:r>
              <a:rPr lang="en-US" b="1" dirty="0" smtClean="0"/>
              <a:t> </a:t>
            </a:r>
            <a:r>
              <a:rPr lang="en-US" b="1" dirty="0"/>
              <a:t>Real-life Example</a:t>
            </a:r>
          </a:p>
          <a:p>
            <a:r>
              <a:rPr lang="en-US" b="1" dirty="0"/>
              <a:t>Two Laptops Sharing Files</a:t>
            </a:r>
          </a:p>
          <a:p>
            <a:r>
              <a:rPr lang="en-US" dirty="0"/>
              <a:t>You connect two laptops using a LAN cable or Wi-Fi hotspot.</a:t>
            </a:r>
          </a:p>
          <a:p>
            <a:r>
              <a:rPr lang="en-US" dirty="0"/>
              <a:t>Laptop A sends movie to Laptop B</a:t>
            </a:r>
          </a:p>
          <a:p>
            <a:r>
              <a:rPr lang="en-US" dirty="0"/>
              <a:t>No router server needed</a:t>
            </a:r>
          </a:p>
          <a:p>
            <a:r>
              <a:rPr lang="en-US" dirty="0"/>
              <a:t>Both computers directly talk to each </a:t>
            </a:r>
            <a:r>
              <a:rPr lang="en-US" dirty="0" smtClean="0"/>
              <a:t>other</a:t>
            </a:r>
            <a:endParaRPr lang="en-US" dirty="0"/>
          </a:p>
          <a:p>
            <a:r>
              <a:rPr lang="en-US" b="1" dirty="0" smtClean="0"/>
              <a:t> </a:t>
            </a:r>
            <a:r>
              <a:rPr lang="en-US" b="1" dirty="0"/>
              <a:t>Advantages</a:t>
            </a:r>
          </a:p>
          <a:p>
            <a:r>
              <a:rPr lang="en-US" dirty="0"/>
              <a:t>Easy setup</a:t>
            </a:r>
          </a:p>
          <a:p>
            <a:r>
              <a:rPr lang="en-US" dirty="0"/>
              <a:t>No server needed</a:t>
            </a:r>
          </a:p>
          <a:p>
            <a:r>
              <a:rPr lang="en-US" dirty="0"/>
              <a:t>Low cost</a:t>
            </a:r>
          </a:p>
          <a:p>
            <a:r>
              <a:rPr lang="en-US" b="1" dirty="0" smtClean="0"/>
              <a:t> </a:t>
            </a:r>
            <a:r>
              <a:rPr lang="en-US" b="1" dirty="0"/>
              <a:t>Disadvantages</a:t>
            </a:r>
          </a:p>
          <a:p>
            <a:r>
              <a:rPr lang="en-US" dirty="0"/>
              <a:t>Less secure</a:t>
            </a:r>
          </a:p>
          <a:p>
            <a:r>
              <a:rPr lang="en-US" dirty="0"/>
              <a:t>Not suitable for large networks</a:t>
            </a:r>
          </a:p>
          <a:p>
            <a:endParaRPr lang="en-US" dirty="0"/>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6501" y="6511823"/>
            <a:ext cx="1093772" cy="346177"/>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22731" y="2349754"/>
            <a:ext cx="4696409" cy="3750715"/>
          </a:xfrm>
          <a:prstGeom prst="rect">
            <a:avLst/>
          </a:prstGeom>
        </p:spPr>
      </p:pic>
    </p:spTree>
    <p:extLst>
      <p:ext uri="{BB962C8B-B14F-4D97-AF65-F5344CB8AC3E}">
        <p14:creationId xmlns:p14="http://schemas.microsoft.com/office/powerpoint/2010/main" val="33109673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3200"/>
            <a:ext cx="10515600" cy="1325563"/>
          </a:xfrm>
        </p:spPr>
        <p:txBody>
          <a:bodyPr/>
          <a:lstStyle/>
          <a:p>
            <a:pPr algn="ctr"/>
            <a:r>
              <a:rPr lang="en-US" b="1" dirty="0" smtClean="0">
                <a:solidFill>
                  <a:schemeClr val="bg1"/>
                </a:solidFill>
                <a:latin typeface="Arial Black" panose="020B0A04020102020204" pitchFamily="34" charset="0"/>
              </a:rPr>
              <a:t>Daisy </a:t>
            </a:r>
            <a:r>
              <a:rPr lang="en-US" b="1" dirty="0">
                <a:solidFill>
                  <a:schemeClr val="bg1"/>
                </a:solidFill>
                <a:latin typeface="Arial Black" panose="020B0A04020102020204" pitchFamily="34" charset="0"/>
              </a:rPr>
              <a:t>Chain Topology</a:t>
            </a:r>
            <a:r>
              <a:rPr lang="en-US" b="1" dirty="0">
                <a:latin typeface="Arial Black" panose="020B0A04020102020204" pitchFamily="34" charset="0"/>
              </a:rPr>
              <a:t/>
            </a:r>
            <a:br>
              <a:rPr lang="en-US" b="1" dirty="0">
                <a:latin typeface="Arial Black" panose="020B0A04020102020204" pitchFamily="34" charset="0"/>
              </a:rPr>
            </a:br>
            <a:r>
              <a:rPr lang="en-US" b="1" dirty="0" smtClean="0">
                <a:solidFill>
                  <a:schemeClr val="accent4"/>
                </a:solidFill>
                <a:latin typeface="Arial Black" panose="020B0A04020102020204" pitchFamily="34" charset="0"/>
              </a:rPr>
              <a:t> </a:t>
            </a:r>
            <a:endParaRPr lang="en-US" b="1" dirty="0">
              <a:solidFill>
                <a:schemeClr val="accent4"/>
              </a:solidFill>
              <a:latin typeface="Arial Black" panose="020B0A04020102020204" pitchFamily="34" charset="0"/>
            </a:endParaRPr>
          </a:p>
        </p:txBody>
      </p:sp>
      <p:sp>
        <p:nvSpPr>
          <p:cNvPr id="3" name="Content Placeholder 2"/>
          <p:cNvSpPr>
            <a:spLocks noGrp="1"/>
          </p:cNvSpPr>
          <p:nvPr>
            <p:ph sz="half" idx="1"/>
          </p:nvPr>
        </p:nvSpPr>
        <p:spPr>
          <a:xfrm>
            <a:off x="0" y="1273215"/>
            <a:ext cx="12192000" cy="5584785"/>
          </a:xfrm>
        </p:spPr>
        <p:txBody>
          <a:bodyPr>
            <a:normAutofit lnSpcReduction="10000"/>
          </a:bodyPr>
          <a:lstStyle/>
          <a:p>
            <a:r>
              <a:rPr lang="en-US" b="1" dirty="0"/>
              <a:t>Daisy Chain Topology</a:t>
            </a:r>
          </a:p>
          <a:p>
            <a:r>
              <a:rPr lang="en-US" b="1" dirty="0" smtClean="0"/>
              <a:t> </a:t>
            </a:r>
            <a:r>
              <a:rPr lang="en-US" b="1" dirty="0"/>
              <a:t>Definition</a:t>
            </a:r>
          </a:p>
          <a:p>
            <a:r>
              <a:rPr lang="en-US" dirty="0"/>
              <a:t>Devices are connected </a:t>
            </a:r>
            <a:r>
              <a:rPr lang="en-US" b="1" dirty="0"/>
              <a:t>one after another in a line</a:t>
            </a:r>
            <a:r>
              <a:rPr lang="en-US" dirty="0"/>
              <a:t>.</a:t>
            </a:r>
          </a:p>
          <a:p>
            <a:r>
              <a:rPr lang="en-US" b="1" dirty="0" smtClean="0"/>
              <a:t>Example</a:t>
            </a:r>
            <a:endParaRPr lang="en-US" b="1" dirty="0"/>
          </a:p>
          <a:p>
            <a:r>
              <a:rPr lang="en-US" dirty="0"/>
              <a:t>Printers or monitors connected in series.</a:t>
            </a:r>
          </a:p>
          <a:p>
            <a:r>
              <a:rPr lang="en-US" b="1" dirty="0" smtClean="0"/>
              <a:t>Advantages</a:t>
            </a:r>
            <a:endParaRPr lang="en-US" b="1" dirty="0"/>
          </a:p>
          <a:p>
            <a:r>
              <a:rPr lang="en-US" dirty="0"/>
              <a:t>Simple setup</a:t>
            </a:r>
          </a:p>
          <a:p>
            <a:r>
              <a:rPr lang="en-US" dirty="0"/>
              <a:t>Uses less cable</a:t>
            </a:r>
          </a:p>
          <a:p>
            <a:r>
              <a:rPr lang="en-US" b="1" dirty="0" smtClean="0"/>
              <a:t> </a:t>
            </a:r>
            <a:r>
              <a:rPr lang="en-US" b="1" dirty="0"/>
              <a:t>Disadvantages</a:t>
            </a:r>
          </a:p>
          <a:p>
            <a:r>
              <a:rPr lang="en-US" dirty="0"/>
              <a:t>If </a:t>
            </a:r>
            <a:r>
              <a:rPr lang="en-US" dirty="0" smtClean="0"/>
              <a:t> </a:t>
            </a:r>
            <a:r>
              <a:rPr lang="en-US" dirty="0"/>
              <a:t>device fails, others stop</a:t>
            </a:r>
          </a:p>
          <a:p>
            <a:r>
              <a:rPr lang="en-US" dirty="0"/>
              <a:t>Limited expansion</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41110" y="3822539"/>
            <a:ext cx="5774490" cy="3035461"/>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806914" y="6714380"/>
            <a:ext cx="1093772" cy="346177"/>
          </a:xfrm>
          <a:prstGeom prst="rect">
            <a:avLst/>
          </a:prstGeom>
        </p:spPr>
      </p:pic>
    </p:spTree>
    <p:extLst>
      <p:ext uri="{BB962C8B-B14F-4D97-AF65-F5344CB8AC3E}">
        <p14:creationId xmlns:p14="http://schemas.microsoft.com/office/powerpoint/2010/main" val="14724331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B420313-4D14-4A70-A7AC-836FE2E9F46E}"/>
              </a:ext>
            </a:extLst>
          </p:cNvPr>
          <p:cNvSpPr/>
          <p:nvPr/>
        </p:nvSpPr>
        <p:spPr>
          <a:xfrm>
            <a:off x="825500" y="1143493"/>
            <a:ext cx="10528300" cy="5413248"/>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rgbClr val="D32A2A"/>
              </a:solidFill>
            </a:endParaRPr>
          </a:p>
        </p:txBody>
      </p:sp>
      <p:sp>
        <p:nvSpPr>
          <p:cNvPr id="2" name="Title 1">
            <a:extLst>
              <a:ext uri="{FF2B5EF4-FFF2-40B4-BE49-F238E27FC236}">
                <a16:creationId xmlns:a16="http://schemas.microsoft.com/office/drawing/2014/main" id="{87906394-C5CE-42DD-B341-066A6E26D664}"/>
              </a:ext>
            </a:extLst>
          </p:cNvPr>
          <p:cNvSpPr>
            <a:spLocks noGrp="1"/>
          </p:cNvSpPr>
          <p:nvPr>
            <p:ph type="title"/>
          </p:nvPr>
        </p:nvSpPr>
        <p:spPr>
          <a:xfrm>
            <a:off x="1558671" y="1526859"/>
            <a:ext cx="9061958" cy="1500188"/>
          </a:xfrm>
        </p:spPr>
        <p:txBody>
          <a:bodyPr>
            <a:normAutofit/>
          </a:bodyPr>
          <a:lstStyle/>
          <a:p>
            <a:pPr algn="ctr"/>
            <a:r>
              <a:rPr lang="en-GB" sz="4800" b="1" dirty="0">
                <a:solidFill>
                  <a:schemeClr val="bg1"/>
                </a:solidFill>
                <a:cs typeface="Arial" panose="020B0604020202020204" pitchFamily="34" charset="0"/>
              </a:rPr>
              <a:t>THANK YOU</a:t>
            </a:r>
            <a:endParaRPr lang="en-GB" sz="4800" i="1" dirty="0"/>
          </a:p>
        </p:txBody>
      </p:sp>
      <p:cxnSp>
        <p:nvCxnSpPr>
          <p:cNvPr id="6" name="Straight Connector 5">
            <a:extLst>
              <a:ext uri="{FF2B5EF4-FFF2-40B4-BE49-F238E27FC236}">
                <a16:creationId xmlns:a16="http://schemas.microsoft.com/office/drawing/2014/main" id="{99F09E0A-6668-4C26-83CB-C97A0AF9773E}"/>
              </a:ext>
            </a:extLst>
          </p:cNvPr>
          <p:cNvCxnSpPr>
            <a:cxnSpLocks/>
          </p:cNvCxnSpPr>
          <p:nvPr/>
        </p:nvCxnSpPr>
        <p:spPr>
          <a:xfrm>
            <a:off x="1558671" y="3484247"/>
            <a:ext cx="921296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itle 1">
            <a:extLst>
              <a:ext uri="{FF2B5EF4-FFF2-40B4-BE49-F238E27FC236}">
                <a16:creationId xmlns:a16="http://schemas.microsoft.com/office/drawing/2014/main" id="{63469167-935F-4853-A76C-2FA002B9FDCE}"/>
              </a:ext>
            </a:extLst>
          </p:cNvPr>
          <p:cNvSpPr txBox="1">
            <a:spLocks/>
          </p:cNvSpPr>
          <p:nvPr/>
        </p:nvSpPr>
        <p:spPr>
          <a:xfrm>
            <a:off x="1782572" y="3858962"/>
            <a:ext cx="9061958" cy="1500188"/>
          </a:xfrm>
          <a:prstGeom prst="rect">
            <a:avLst/>
          </a:prstGeom>
        </p:spPr>
        <p:txBody>
          <a:bodyPr vert="horz" lIns="91440" tIns="45720" rIns="91440" bIns="45720" rtlCol="0" anchor="b">
            <a:normAutofit fontScale="97500"/>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endParaRPr lang="en-GB" sz="3600" i="1" dirty="0">
              <a:solidFill>
                <a:schemeClr val="bg1"/>
              </a:solidFill>
            </a:endParaRPr>
          </a:p>
        </p:txBody>
      </p:sp>
      <p:sp>
        <p:nvSpPr>
          <p:cNvPr id="3" name="TextBox 2"/>
          <p:cNvSpPr txBox="1"/>
          <p:nvPr/>
        </p:nvSpPr>
        <p:spPr>
          <a:xfrm>
            <a:off x="4170003" y="3850117"/>
            <a:ext cx="4950373" cy="1138773"/>
          </a:xfrm>
          <a:prstGeom prst="rect">
            <a:avLst/>
          </a:prstGeom>
          <a:noFill/>
        </p:spPr>
        <p:txBody>
          <a:bodyPr wrap="square" rtlCol="0">
            <a:spAutoFit/>
          </a:bodyPr>
          <a:lstStyle/>
          <a:p>
            <a:r>
              <a:rPr lang="en-US" sz="4800" b="1" dirty="0">
                <a:solidFill>
                  <a:schemeClr val="bg1"/>
                </a:solidFill>
                <a:latin typeface="+mj-lt"/>
                <a:ea typeface="+mj-ea"/>
                <a:cs typeface="Arial" panose="020B0604020202020204" pitchFamily="34" charset="0"/>
              </a:rPr>
              <a:t>You can Find me:</a:t>
            </a:r>
          </a:p>
          <a:p>
            <a:pPr algn="ctr"/>
            <a:r>
              <a:rPr lang="en-US" sz="2000" b="1" dirty="0" smtClean="0">
                <a:solidFill>
                  <a:schemeClr val="bg1"/>
                </a:solidFill>
                <a:latin typeface="+mj-lt"/>
                <a:ea typeface="+mj-ea"/>
                <a:cs typeface="Arial" panose="020B0604020202020204" pitchFamily="34" charset="0"/>
              </a:rPr>
              <a:t>mehakrana.CS@tuf.edu.pk</a:t>
            </a:r>
            <a:endParaRPr lang="en-US" sz="2000" b="1" dirty="0">
              <a:solidFill>
                <a:schemeClr val="bg1"/>
              </a:solidFill>
              <a:latin typeface="+mj-lt"/>
              <a:ea typeface="+mj-ea"/>
              <a:cs typeface="Arial" panose="020B0604020202020204" pitchFamily="34" charset="0"/>
            </a:endParaRPr>
          </a:p>
        </p:txBody>
      </p:sp>
    </p:spTree>
    <p:extLst>
      <p:ext uri="{BB962C8B-B14F-4D97-AF65-F5344CB8AC3E}">
        <p14:creationId xmlns:p14="http://schemas.microsoft.com/office/powerpoint/2010/main" val="341055455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Lecture 6">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928</TotalTime>
  <Words>713</Words>
  <Application>Microsoft Office PowerPoint</Application>
  <PresentationFormat>Widescreen</PresentationFormat>
  <Paragraphs>158</Paragraphs>
  <Slides>17</Slides>
  <Notes>1</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17</vt:i4>
      </vt:variant>
    </vt:vector>
  </HeadingPairs>
  <TitlesOfParts>
    <vt:vector size="24" baseType="lpstr">
      <vt:lpstr>Arial</vt:lpstr>
      <vt:lpstr>Arial Black</vt:lpstr>
      <vt:lpstr>Calibri</vt:lpstr>
      <vt:lpstr>Calibri Light</vt:lpstr>
      <vt:lpstr>Office Theme</vt:lpstr>
      <vt:lpstr>Lecture 6</vt:lpstr>
      <vt:lpstr>1_Office Theme</vt:lpstr>
      <vt:lpstr>Basics of Network Network Criteria: Performance, Reliability, Security Type of Connection: Point-to-point, Multipoint Physical Topology: Mesh, Star, Bus, Ring </vt:lpstr>
      <vt:lpstr> Computer Networks</vt:lpstr>
      <vt:lpstr>Network Criteria</vt:lpstr>
      <vt:lpstr>Reliability</vt:lpstr>
      <vt:lpstr>Security</vt:lpstr>
      <vt:lpstr>Type of Connection</vt:lpstr>
      <vt:lpstr>Point-to-Point </vt:lpstr>
      <vt:lpstr>Multipoint</vt:lpstr>
      <vt:lpstr>Network Topology</vt:lpstr>
      <vt:lpstr>Star Topology</vt:lpstr>
      <vt:lpstr>Ring Topology </vt:lpstr>
      <vt:lpstr>PowerPoint Presentation</vt:lpstr>
      <vt:lpstr>PowerPoint Presentation</vt:lpstr>
      <vt:lpstr>PowerPoint Presentation</vt:lpstr>
      <vt:lpstr>P2P (Peer-to-Peer) Topology </vt:lpstr>
      <vt:lpstr>Daisy Chain Topology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Sofia Sultana</dc:creator>
  <cp:lastModifiedBy>Mehak Rana</cp:lastModifiedBy>
  <cp:revision>183</cp:revision>
  <dcterms:created xsi:type="dcterms:W3CDTF">2024-06-21T09:49:00Z</dcterms:created>
  <dcterms:modified xsi:type="dcterms:W3CDTF">2026-02-19T09:20:56Z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D61AE8DE3F6049F98ADA58C240837B38_12</vt:lpwstr>
  </property>
  <property fmtid="{D5CDD505-2E9C-101B-9397-08002B2CF9AE}" pid="3" name="KSOProductBuildVer">
    <vt:lpwstr>1033-12.2.0.13472</vt:lpwstr>
  </property>
</Properties>
</file>