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10"/>
  </p:notesMasterIdLst>
  <p:sldIdLst>
    <p:sldId id="273" r:id="rId4"/>
    <p:sldId id="953" r:id="rId5"/>
    <p:sldId id="954" r:id="rId6"/>
    <p:sldId id="956" r:id="rId7"/>
    <p:sldId id="958" r:id="rId8"/>
    <p:sldId id="959" r:id="rId9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9" autoAdjust="0"/>
    <p:restoredTop sz="92140" autoAdjust="0"/>
  </p:normalViewPr>
  <p:slideViewPr>
    <p:cSldViewPr snapToGrid="0">
      <p:cViewPr varScale="1">
        <p:scale>
          <a:sx n="83" d="100"/>
          <a:sy n="83" d="100"/>
        </p:scale>
        <p:origin x="63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72658C-66DA-4116-8E6C-1579936CD6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66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3/4/2026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557184" y="612045"/>
            <a:ext cx="10092267" cy="2387600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    </a:t>
            </a:r>
            <a: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Network Topology</a:t>
            </a:r>
            <a:b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Bus Topology &amp; Collision Handling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2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-218026" y="3993299"/>
            <a:ext cx="12192000" cy="1655763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Abraham </a:t>
            </a:r>
            <a:r>
              <a:rPr lang="en-US" sz="2000" b="1" dirty="0">
                <a:solidFill>
                  <a:schemeClr val="bg1"/>
                </a:solidFill>
              </a:rPr>
              <a:t>Silberschats, Peter Baer Galvin, Gerg Gagne, Operating System Concepts, 9</a:t>
            </a:r>
            <a:r>
              <a:rPr lang="en-US" sz="2000" b="1" baseline="30000" dirty="0">
                <a:solidFill>
                  <a:schemeClr val="bg1"/>
                </a:solidFill>
              </a:rPr>
              <a:t>th</a:t>
            </a:r>
            <a:r>
              <a:rPr lang="en-US" sz="2000" b="1" dirty="0">
                <a:solidFill>
                  <a:schemeClr val="bg1"/>
                </a:solidFill>
              </a:rPr>
              <a:t> Edition, Wiley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318" y="5899231"/>
            <a:ext cx="3129619" cy="990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267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Collision in Networking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99" y="1207911"/>
            <a:ext cx="12090401" cy="5650089"/>
          </a:xfrm>
        </p:spPr>
        <p:txBody>
          <a:bodyPr>
            <a:normAutofit fontScale="25000" lnSpcReduction="20000"/>
          </a:bodyPr>
          <a:lstStyle/>
          <a:p>
            <a:r>
              <a:rPr lang="en-US" sz="12800" b="1" dirty="0"/>
              <a:t>Define Collision in Networking</a:t>
            </a:r>
          </a:p>
          <a:p>
            <a:r>
              <a:rPr lang="en-US" sz="8000" dirty="0"/>
              <a:t>A </a:t>
            </a:r>
            <a:r>
              <a:rPr lang="en-US" sz="8000" b="1" dirty="0"/>
              <a:t>collision</a:t>
            </a:r>
            <a:r>
              <a:rPr lang="en-US" sz="8000" dirty="0"/>
              <a:t> happens when </a:t>
            </a:r>
            <a:r>
              <a:rPr lang="en-US" sz="8000" b="1" dirty="0"/>
              <a:t>two or more computers send data at the same time on the same network cable</a:t>
            </a:r>
            <a:r>
              <a:rPr lang="en-US" sz="8000" dirty="0"/>
              <a:t>.</a:t>
            </a:r>
            <a:br>
              <a:rPr lang="en-US" sz="8000" dirty="0"/>
            </a:br>
            <a:r>
              <a:rPr lang="en-US" sz="8000" dirty="0"/>
              <a:t>Because the data mixes together, the message becomes </a:t>
            </a:r>
            <a:r>
              <a:rPr lang="en-US" sz="8000" b="1" dirty="0"/>
              <a:t>corrupted</a:t>
            </a:r>
            <a:r>
              <a:rPr lang="en-US" sz="8000" dirty="0"/>
              <a:t> and must be sent again.</a:t>
            </a:r>
          </a:p>
          <a:p>
            <a:endParaRPr lang="en-US" sz="12800" b="1" dirty="0" smtClean="0"/>
          </a:p>
          <a:p>
            <a:r>
              <a:rPr lang="en-US" sz="12800" b="1" dirty="0" smtClean="0"/>
              <a:t>Why </a:t>
            </a:r>
            <a:r>
              <a:rPr lang="en-US" sz="12800" b="1" dirty="0"/>
              <a:t>Collisions Occur in Bus Topology</a:t>
            </a:r>
          </a:p>
          <a:p>
            <a:r>
              <a:rPr lang="en-US" sz="8000" dirty="0"/>
              <a:t>In </a:t>
            </a:r>
            <a:r>
              <a:rPr lang="en-US" sz="8000" b="1" dirty="0"/>
              <a:t>Bus topology</a:t>
            </a:r>
            <a:r>
              <a:rPr lang="en-US" sz="8000" dirty="0"/>
              <a:t>, all devices use </a:t>
            </a:r>
            <a:r>
              <a:rPr lang="en-US" sz="8000" b="1" dirty="0"/>
              <a:t>one main cable (backbone)</a:t>
            </a:r>
            <a:r>
              <a:rPr lang="en-US" sz="8000" dirty="0"/>
              <a:t> to send data.</a:t>
            </a:r>
          </a:p>
          <a:p>
            <a:r>
              <a:rPr lang="en-US" sz="8000" dirty="0"/>
              <a:t>So:</a:t>
            </a:r>
          </a:p>
          <a:p>
            <a:r>
              <a:rPr lang="en-US" sz="8000" dirty="0"/>
              <a:t>Many computers share the </a:t>
            </a:r>
            <a:r>
              <a:rPr lang="en-US" sz="8000" b="1" dirty="0"/>
              <a:t>same cable</a:t>
            </a:r>
            <a:endParaRPr lang="en-US" sz="8000" dirty="0"/>
          </a:p>
          <a:p>
            <a:r>
              <a:rPr lang="en-US" sz="8000" dirty="0"/>
              <a:t>If two devices send data </a:t>
            </a:r>
            <a:r>
              <a:rPr lang="en-US" sz="8000" b="1" dirty="0"/>
              <a:t>at the same time</a:t>
            </a:r>
            <a:endParaRPr lang="en-US" sz="8000" dirty="0"/>
          </a:p>
          <a:p>
            <a:r>
              <a:rPr lang="en-US" sz="8000" dirty="0"/>
              <a:t>Their signals </a:t>
            </a:r>
            <a:r>
              <a:rPr lang="en-US" sz="8000" b="1" dirty="0"/>
              <a:t>collide</a:t>
            </a:r>
            <a:endParaRPr lang="en-US" sz="8000" dirty="0"/>
          </a:p>
          <a:p>
            <a:r>
              <a:rPr lang="en-US" sz="8000" dirty="0" smtClean="0"/>
              <a:t> </a:t>
            </a:r>
            <a:r>
              <a:rPr lang="en-US" sz="8000" dirty="0"/>
              <a:t>Example:</a:t>
            </a:r>
            <a:br>
              <a:rPr lang="en-US" sz="8000" dirty="0"/>
            </a:br>
            <a:r>
              <a:rPr lang="en-US" sz="8000" dirty="0"/>
              <a:t>If </a:t>
            </a:r>
            <a:r>
              <a:rPr lang="en-US" sz="8000" b="1" dirty="0"/>
              <a:t>Computer A</a:t>
            </a:r>
            <a:r>
              <a:rPr lang="en-US" sz="8000" dirty="0"/>
              <a:t> and </a:t>
            </a:r>
            <a:r>
              <a:rPr lang="en-US" sz="8000" b="1" dirty="0"/>
              <a:t>Computer B</a:t>
            </a:r>
            <a:r>
              <a:rPr lang="en-US" sz="8000" dirty="0"/>
              <a:t> send messages at the same time on the same cable → </a:t>
            </a:r>
            <a:r>
              <a:rPr lang="en-US" sz="8000" b="1" dirty="0"/>
              <a:t>collision occurs</a:t>
            </a:r>
            <a:r>
              <a:rPr lang="en-US" sz="8000" dirty="0"/>
              <a:t>.</a:t>
            </a:r>
          </a:p>
          <a:p>
            <a:pPr marL="0" indent="0">
              <a:buNone/>
            </a:pPr>
            <a:r>
              <a:rPr lang="en-US" sz="8000" b="1" dirty="0" err="1" smtClean="0">
                <a:solidFill>
                  <a:schemeClr val="bg1"/>
                </a:solidFill>
              </a:rPr>
              <a:t>ecurity</a:t>
            </a:r>
            <a:endParaRPr lang="en-US" sz="8000" dirty="0" smtClean="0"/>
          </a:p>
          <a:p>
            <a:endParaRPr lang="en-US" dirty="0"/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</a:rPr>
              <a:t>Proce</a:t>
            </a:r>
            <a:r>
              <a:rPr lang="en-US" b="1" dirty="0">
                <a:solidFill>
                  <a:schemeClr val="bg1"/>
                </a:solidFill>
              </a:rPr>
              <a:t> Process Management,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Memory Management,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Storage Management,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Protection and Security </a:t>
            </a:r>
            <a:r>
              <a:rPr lang="en-US" b="1" dirty="0" smtClean="0">
                <a:solidFill>
                  <a:schemeClr val="bg1"/>
                </a:solidFill>
              </a:rPr>
              <a:t>vss </a:t>
            </a:r>
            <a:r>
              <a:rPr lang="en-US" b="1" dirty="0">
                <a:solidFill>
                  <a:schemeClr val="bg1"/>
                </a:solidFill>
              </a:rPr>
              <a:t>Management,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Memory Management,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Storage Management,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Protection and </a:t>
            </a:r>
            <a:r>
              <a:rPr lang="en-US" b="1" dirty="0" smtClean="0">
                <a:solidFill>
                  <a:schemeClr val="bg1"/>
                </a:solidFill>
              </a:rPr>
              <a:t>Security</a:t>
            </a:r>
            <a:r>
              <a:rPr lang="en-US" b="1" dirty="0">
                <a:solidFill>
                  <a:schemeClr val="bg1"/>
                </a:solidFill>
              </a:rPr>
              <a:t> Process Management,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Memory Management,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Storage Management,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Protection and Security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004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26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Bus Topology</a:t>
            </a:r>
            <a:b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97" y="1157468"/>
            <a:ext cx="11748304" cy="585678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Definition</a:t>
            </a:r>
            <a:endParaRPr lang="en-US" b="1" dirty="0"/>
          </a:p>
          <a:p>
            <a:r>
              <a:rPr lang="en-US" dirty="0"/>
              <a:t>All devices share a </a:t>
            </a:r>
            <a:r>
              <a:rPr lang="en-US" b="1" dirty="0"/>
              <a:t>single main cable (backbone)</a:t>
            </a:r>
            <a:r>
              <a:rPr lang="en-US" dirty="0"/>
              <a:t>.</a:t>
            </a:r>
          </a:p>
          <a:p>
            <a:r>
              <a:rPr lang="en-US" b="1" dirty="0"/>
              <a:t> Real-life Example</a:t>
            </a:r>
          </a:p>
          <a:p>
            <a:r>
              <a:rPr lang="en-US" dirty="0"/>
              <a:t>A cable TV line runs along the street, and every house connects to the same main wire.</a:t>
            </a:r>
            <a:br>
              <a:rPr lang="en-US" dirty="0"/>
            </a:br>
            <a:r>
              <a:rPr lang="en-US" dirty="0"/>
              <a:t>If the main wire is cut, everyone loses the signal</a:t>
            </a:r>
          </a:p>
          <a:p>
            <a:r>
              <a:rPr lang="en-US" b="1" dirty="0"/>
              <a:t> Advantages</a:t>
            </a:r>
          </a:p>
          <a:p>
            <a:r>
              <a:rPr lang="en-US" dirty="0"/>
              <a:t>Cheap</a:t>
            </a:r>
          </a:p>
          <a:p>
            <a:r>
              <a:rPr lang="en-US" dirty="0"/>
              <a:t>Simple for small networks</a:t>
            </a:r>
          </a:p>
          <a:p>
            <a:r>
              <a:rPr lang="en-US" dirty="0"/>
              <a:t>Uses less cable</a:t>
            </a:r>
          </a:p>
          <a:p>
            <a:r>
              <a:rPr lang="en-US" b="1" dirty="0"/>
              <a:t> Disadvantages</a:t>
            </a:r>
          </a:p>
          <a:p>
            <a:r>
              <a:rPr lang="en-US" dirty="0"/>
              <a:t>If main cable breaks → network fails</a:t>
            </a:r>
          </a:p>
          <a:p>
            <a:r>
              <a:rPr lang="en-US" dirty="0"/>
              <a:t>Limited number of devices can be connected</a:t>
            </a:r>
          </a:p>
          <a:p>
            <a:r>
              <a:rPr lang="en-US" dirty="0"/>
              <a:t>Low security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Topology</a:t>
            </a:r>
          </a:p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Bus Topology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650" y="3034862"/>
            <a:ext cx="4829991" cy="279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5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333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How CSMA/CD Work</a:t>
            </a:r>
            <a:endParaRPr lang="en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89" y="1230489"/>
            <a:ext cx="11921067" cy="55428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1600" b="1" dirty="0"/>
          </a:p>
          <a:p>
            <a:r>
              <a:rPr lang="en-US" b="1" dirty="0"/>
              <a:t>CSMA/CD = Carrier Sense Multiple Access /</a:t>
            </a:r>
            <a:r>
              <a:rPr lang="en-US" b="1" dirty="0" smtClean="0"/>
              <a:t> </a:t>
            </a:r>
            <a:r>
              <a:rPr lang="en-US" b="1" dirty="0"/>
              <a:t>Collision Detection</a:t>
            </a:r>
            <a:endParaRPr lang="en-US" dirty="0"/>
          </a:p>
          <a:p>
            <a:r>
              <a:rPr lang="en-US" dirty="0"/>
              <a:t>It is a method used to </a:t>
            </a:r>
            <a:r>
              <a:rPr lang="en-US" b="1" dirty="0"/>
              <a:t>control collisions in bus networks</a:t>
            </a:r>
            <a:r>
              <a:rPr lang="en-US" dirty="0"/>
              <a:t>.</a:t>
            </a:r>
          </a:p>
          <a:p>
            <a:r>
              <a:rPr lang="en-US" dirty="0"/>
              <a:t>Steps:</a:t>
            </a:r>
          </a:p>
          <a:p>
            <a:r>
              <a:rPr lang="en-US" b="1" dirty="0"/>
              <a:t>Carrier Sense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computer first </a:t>
            </a:r>
            <a:r>
              <a:rPr lang="en-US" b="1" dirty="0"/>
              <a:t>checks the cable</a:t>
            </a:r>
            <a:r>
              <a:rPr lang="en-US" dirty="0"/>
              <a:t> to see if someone is sending data.</a:t>
            </a:r>
          </a:p>
          <a:p>
            <a:r>
              <a:rPr lang="en-US" b="1" dirty="0" smtClean="0"/>
              <a:t>If </a:t>
            </a:r>
            <a:r>
              <a:rPr lang="en-US" b="1" dirty="0"/>
              <a:t>the cable is free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computer </a:t>
            </a:r>
            <a:r>
              <a:rPr lang="en-US" b="1" dirty="0"/>
              <a:t>sends the data</a:t>
            </a:r>
            <a:r>
              <a:rPr lang="en-US" dirty="0"/>
              <a:t>.</a:t>
            </a:r>
          </a:p>
          <a:p>
            <a:r>
              <a:rPr lang="en-US" b="1" dirty="0" smtClean="0"/>
              <a:t>Collision </a:t>
            </a:r>
            <a:r>
              <a:rPr lang="en-US" b="1" dirty="0"/>
              <a:t>Detection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If two computers send data at the same time, the system </a:t>
            </a:r>
            <a:r>
              <a:rPr lang="en-US" b="1" dirty="0"/>
              <a:t>detects the collision</a:t>
            </a:r>
            <a:r>
              <a:rPr lang="en-US" dirty="0"/>
              <a:t>.</a:t>
            </a:r>
          </a:p>
          <a:p>
            <a:r>
              <a:rPr lang="en-US" b="1" dirty="0" smtClean="0"/>
              <a:t>Stop </a:t>
            </a:r>
            <a:r>
              <a:rPr lang="en-US" b="1" dirty="0"/>
              <a:t>Transmission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Both computers </a:t>
            </a:r>
            <a:r>
              <a:rPr lang="en-US" b="1" dirty="0"/>
              <a:t>stop sending data</a:t>
            </a:r>
            <a:r>
              <a:rPr lang="en-US" dirty="0"/>
              <a:t>.</a:t>
            </a:r>
          </a:p>
          <a:p>
            <a:r>
              <a:rPr lang="en-US" b="1" dirty="0" smtClean="0"/>
              <a:t>Random </a:t>
            </a:r>
            <a:r>
              <a:rPr lang="en-US" b="1" dirty="0"/>
              <a:t>Wait Time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Each computer waits for a </a:t>
            </a:r>
            <a:r>
              <a:rPr lang="en-US" b="1" dirty="0"/>
              <a:t>random time</a:t>
            </a:r>
            <a:r>
              <a:rPr lang="en-US" dirty="0"/>
              <a:t>.</a:t>
            </a:r>
          </a:p>
          <a:p>
            <a:r>
              <a:rPr lang="en-US" b="1" dirty="0" smtClean="0"/>
              <a:t>Resend </a:t>
            </a:r>
            <a:r>
              <a:rPr lang="en-US" b="1" dirty="0"/>
              <a:t>Data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waiting, they </a:t>
            </a:r>
            <a:r>
              <a:rPr lang="en-US" b="1" dirty="0"/>
              <a:t>send the data again</a:t>
            </a:r>
            <a:endParaRPr lang="en-US" dirty="0"/>
          </a:p>
          <a:p>
            <a:pPr lvl="0" algn="just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5983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044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Working Mechanism of CSMA/CD</a:t>
            </a:r>
            <a:b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9043"/>
            <a:ext cx="11353800" cy="500792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 smtClean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775" y="1325563"/>
            <a:ext cx="6622138" cy="46200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14333" y="5945660"/>
            <a:ext cx="67326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CSMA/CD is a network protocol used in bus topology where devices first check the cable before sending data and resend the data if a collision occurs.</a:t>
            </a:r>
          </a:p>
        </p:txBody>
      </p:sp>
    </p:spTree>
    <p:extLst>
      <p:ext uri="{BB962C8B-B14F-4D97-AF65-F5344CB8AC3E}">
        <p14:creationId xmlns:p14="http://schemas.microsoft.com/office/powerpoint/2010/main" val="299777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667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CSMA/CD – Features and Limitations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2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9332" y="1196622"/>
            <a:ext cx="11898489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Features</a:t>
            </a:r>
          </a:p>
          <a:p>
            <a:r>
              <a:rPr lang="en-US" b="1" dirty="0"/>
              <a:t>Collision detection:</a:t>
            </a:r>
            <a:r>
              <a:rPr lang="en-US" dirty="0"/>
              <a:t> Detects when two devices send data at the same time.</a:t>
            </a:r>
          </a:p>
          <a:p>
            <a:r>
              <a:rPr lang="en-US" b="1" dirty="0"/>
              <a:t>Carrier sensing:</a:t>
            </a:r>
            <a:r>
              <a:rPr lang="en-US" dirty="0"/>
              <a:t> Device checks the cable before sending data.</a:t>
            </a:r>
          </a:p>
          <a:p>
            <a:r>
              <a:rPr lang="en-US" b="1" dirty="0"/>
              <a:t>Retransmission:</a:t>
            </a:r>
            <a:r>
              <a:rPr lang="en-US" dirty="0"/>
              <a:t> If a collision occurs, data is sent again after waiting.</a:t>
            </a:r>
          </a:p>
          <a:p>
            <a:r>
              <a:rPr lang="en-US" b="1" dirty="0"/>
              <a:t>Efficient for small networks:</a:t>
            </a:r>
            <a:r>
              <a:rPr lang="en-US" dirty="0"/>
              <a:t> Works well when few devices are connected.</a:t>
            </a:r>
          </a:p>
          <a:p>
            <a:r>
              <a:rPr lang="en-US" b="1" dirty="0"/>
              <a:t>Simple method:</a:t>
            </a:r>
            <a:r>
              <a:rPr lang="en-US" dirty="0"/>
              <a:t> Easy to implement in bus or early Ethernet networks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400" b="1" dirty="0">
                <a:latin typeface="Arial Black" panose="020B0A04020102020204" pitchFamily="34" charset="0"/>
              </a:rPr>
              <a:t>Limitations</a:t>
            </a:r>
          </a:p>
          <a:p>
            <a:endParaRPr lang="en-US" dirty="0" smtClean="0"/>
          </a:p>
          <a:p>
            <a:r>
              <a:rPr lang="en-US" b="1" dirty="0" smtClean="0"/>
              <a:t>Performance </a:t>
            </a:r>
            <a:r>
              <a:rPr lang="en-US" b="1" dirty="0"/>
              <a:t>decreases with many users:</a:t>
            </a:r>
            <a:r>
              <a:rPr lang="en-US" dirty="0"/>
              <a:t> More devices → more collisions.</a:t>
            </a:r>
          </a:p>
          <a:p>
            <a:r>
              <a:rPr lang="en-US" b="1" dirty="0"/>
              <a:t>Network becomes slow:</a:t>
            </a:r>
            <a:r>
              <a:rPr lang="en-US" dirty="0"/>
              <a:t> Frequent collisions reduce speed.</a:t>
            </a:r>
          </a:p>
          <a:p>
            <a:r>
              <a:rPr lang="en-US" b="1" dirty="0"/>
              <a:t>Works only in shared networks:</a:t>
            </a:r>
            <a:r>
              <a:rPr lang="en-US" dirty="0"/>
              <a:t> Not used in modern switched Ethernet.</a:t>
            </a:r>
          </a:p>
          <a:p>
            <a:r>
              <a:rPr lang="en-US" b="1" dirty="0"/>
              <a:t>Limited distance:</a:t>
            </a:r>
            <a:r>
              <a:rPr lang="en-US" dirty="0"/>
              <a:t> Cable length affects collision detection.</a:t>
            </a:r>
          </a:p>
          <a:p>
            <a:r>
              <a:rPr lang="en-US" b="1" dirty="0"/>
              <a:t>Less efficient for large networks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080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261</Words>
  <Application>Microsoft Office PowerPoint</Application>
  <PresentationFormat>Widescreen</PresentationFormat>
  <Paragraphs>64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Office Theme</vt:lpstr>
      <vt:lpstr>Lecture 6</vt:lpstr>
      <vt:lpstr>1_Office Theme</vt:lpstr>
      <vt:lpstr>            Network Topology Bus Topology &amp; Collision Handling  </vt:lpstr>
      <vt:lpstr>Collision in Networking</vt:lpstr>
      <vt:lpstr>Bus Topology </vt:lpstr>
      <vt:lpstr>How CSMA/CD Work</vt:lpstr>
      <vt:lpstr>Working Mechanism of CSMA/CD </vt:lpstr>
      <vt:lpstr>CSMA/CD – Features and Limitations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Mehak Rana</cp:lastModifiedBy>
  <cp:revision>187</cp:revision>
  <dcterms:created xsi:type="dcterms:W3CDTF">2024-06-21T09:49:00Z</dcterms:created>
  <dcterms:modified xsi:type="dcterms:W3CDTF">2026-03-04T04:10:31Z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