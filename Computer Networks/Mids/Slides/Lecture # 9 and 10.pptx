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29"/>
  </p:notesMasterIdLst>
  <p:sldIdLst>
    <p:sldId id="273" r:id="rId4"/>
    <p:sldId id="953" r:id="rId5"/>
    <p:sldId id="954" r:id="rId6"/>
    <p:sldId id="955" r:id="rId7"/>
    <p:sldId id="974" r:id="rId8"/>
    <p:sldId id="971" r:id="rId9"/>
    <p:sldId id="956" r:id="rId10"/>
    <p:sldId id="958" r:id="rId11"/>
    <p:sldId id="972" r:id="rId12"/>
    <p:sldId id="959" r:id="rId13"/>
    <p:sldId id="983" r:id="rId14"/>
    <p:sldId id="976" r:id="rId15"/>
    <p:sldId id="975" r:id="rId16"/>
    <p:sldId id="977" r:id="rId17"/>
    <p:sldId id="984" r:id="rId18"/>
    <p:sldId id="978" r:id="rId19"/>
    <p:sldId id="979" r:id="rId20"/>
    <p:sldId id="988" r:id="rId21"/>
    <p:sldId id="985" r:id="rId22"/>
    <p:sldId id="987" r:id="rId23"/>
    <p:sldId id="980" r:id="rId24"/>
    <p:sldId id="981" r:id="rId25"/>
    <p:sldId id="986" r:id="rId26"/>
    <p:sldId id="982" r:id="rId27"/>
    <p:sldId id="970" r:id="rId2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09" autoAdjust="0"/>
    <p:restoredTop sz="92140" autoAdjust="0"/>
  </p:normalViewPr>
  <p:slideViewPr>
    <p:cSldViewPr snapToGrid="0">
      <p:cViewPr varScale="1">
        <p:scale>
          <a:sx n="83" d="100"/>
          <a:sy n="83" d="100"/>
        </p:scale>
        <p:origin x="63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5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=""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=""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3/5/2026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hyperlink" Target="http://www.youtube.com/" TargetMode="Externa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4" y="393485"/>
            <a:ext cx="1696502" cy="895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696502" y="1143043"/>
            <a:ext cx="10146434" cy="3784936"/>
          </a:xfrm>
        </p:spPr>
        <p:txBody>
          <a:bodyPr>
            <a:normAutofit fontScale="90000"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4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4000" dirty="0">
                <a:solidFill>
                  <a:schemeClr val="bg1"/>
                </a:solidFill>
                <a:latin typeface="Arial Black" panose="020B0A04020102020204" pitchFamily="34" charset="0"/>
              </a:rPr>
              <a:t>Network Models</a:t>
            </a:r>
            <a: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200" dirty="0">
                <a:solidFill>
                  <a:schemeClr val="bg1"/>
                </a:solidFill>
                <a:latin typeface="Arial Narrow" panose="020B0606020202030204" pitchFamily="34" charset="0"/>
              </a:rPr>
              <a:t/>
            </a:r>
            <a:br>
              <a:rPr lang="en-US" sz="2200" dirty="0">
                <a:solidFill>
                  <a:schemeClr val="bg1"/>
                </a:solidFill>
                <a:latin typeface="Arial Narrow" panose="020B0606020202030204" pitchFamily="34" charset="0"/>
              </a:rPr>
            </a:b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LAYERS IN THE OSI MODEL:</a:t>
            </a:r>
            <a:b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b="1" dirty="0">
                <a:solidFill>
                  <a:schemeClr val="bg1"/>
                </a:solidFill>
                <a:latin typeface="Arial Black" panose="020B0A04020102020204" pitchFamily="34" charset="0"/>
              </a:rPr>
              <a:t>7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      Application </a:t>
            </a: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Layer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6   </a:t>
            </a: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Presentation Layer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5       </a:t>
            </a: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Session Layer </a:t>
            </a:r>
            <a:b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4   Transport 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Layer</a:t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3        </a:t>
            </a: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Network Layer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2       Data </a:t>
            </a: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link layer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>  1          </a:t>
            </a:r>
            <a:r>
              <a:rPr lang="en-US" sz="27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physical Layer  </a:t>
            </a:r>
            <a: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7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100" b="1" dirty="0">
                <a:solidFill>
                  <a:schemeClr val="bg1"/>
                </a:solidFill>
                <a:latin typeface="+mn-lt"/>
              </a:rPr>
              <a:t/>
            </a:r>
            <a:br>
              <a:rPr lang="en-US" sz="3100" b="1" dirty="0">
                <a:solidFill>
                  <a:schemeClr val="bg1"/>
                </a:solidFill>
                <a:latin typeface="+mn-lt"/>
              </a:rPr>
            </a:br>
            <a:endParaRPr lang="en-US" sz="31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49064" y="4289084"/>
            <a:ext cx="12192000" cy="16557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Lecture # 9 and 10</a:t>
            </a:r>
          </a:p>
          <a:p>
            <a:r>
              <a:rPr lang="en-US" b="1" dirty="0">
                <a:solidFill>
                  <a:schemeClr val="bg1"/>
                </a:solidFill>
              </a:rPr>
              <a:t>Week# 5</a:t>
            </a:r>
          </a:p>
          <a:p>
            <a:r>
              <a:rPr lang="en-US" dirty="0">
                <a:solidFill>
                  <a:schemeClr val="bg1"/>
                </a:solidFill>
              </a:rPr>
              <a:t>Data Communications and Networking, Fourth Edition, Behrouz A. </a:t>
            </a:r>
            <a:r>
              <a:rPr lang="en-US" dirty="0" err="1">
                <a:solidFill>
                  <a:schemeClr val="bg1"/>
                </a:solidFill>
              </a:rPr>
              <a:t>Forouzan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4355" y="5695313"/>
            <a:ext cx="3129619" cy="9905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982" y="244840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OSI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55E2EC-B46B-FBA4-6462-CBD1C5422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4178" y="1179441"/>
            <a:ext cx="8344183" cy="5678559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267" y="6310859"/>
            <a:ext cx="1728733" cy="547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962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6818" y="481089"/>
            <a:ext cx="9119683" cy="34617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chemeClr val="bg1"/>
                </a:solidFill>
                <a:latin typeface="Arial Black" panose="020B0A04020102020204" pitchFamily="34" charset="0"/>
              </a:rPr>
              <a:t>OSI Model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55156-D82A-85F5-DB5D-CA9325858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911" y="1184223"/>
            <a:ext cx="12057089" cy="56737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The </a:t>
            </a:r>
            <a:r>
              <a:rPr lang="en-US" sz="1800" b="1" dirty="0"/>
              <a:t>OSI (Open Systems Interconnection) Model</a:t>
            </a:r>
            <a:r>
              <a:rPr lang="en-US" sz="1800" dirty="0"/>
              <a:t> is a </a:t>
            </a:r>
            <a:r>
              <a:rPr lang="en-US" sz="1800" b="1" dirty="0"/>
              <a:t>conceptual framework</a:t>
            </a:r>
            <a:r>
              <a:rPr lang="en-US" sz="1800" dirty="0"/>
              <a:t> that divides the process of network communication into </a:t>
            </a:r>
            <a:r>
              <a:rPr lang="en-US" sz="1800" b="1" dirty="0"/>
              <a:t>seven layers</a:t>
            </a:r>
            <a:r>
              <a:rPr lang="en-US" sz="1800" dirty="0"/>
              <a:t>, where each layer performs a specific function to enable data transfer between devices.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OSI Model breaks network communication into 7 easy steps (layers).</a:t>
            </a:r>
            <a:endParaRPr lang="en-US" sz="1800" dirty="0"/>
          </a:p>
          <a:p>
            <a:r>
              <a:rPr lang="en-US" sz="1800" b="1" dirty="0"/>
              <a:t>Why Do We Use OSI Model?</a:t>
            </a:r>
          </a:p>
          <a:p>
            <a:r>
              <a:rPr lang="en-US" sz="1800" dirty="0"/>
              <a:t>To </a:t>
            </a:r>
            <a:r>
              <a:rPr lang="en-US" sz="1800" b="1" dirty="0"/>
              <a:t>understand networking easily</a:t>
            </a:r>
            <a:endParaRPr lang="en-US" sz="1800" dirty="0"/>
          </a:p>
          <a:p>
            <a:r>
              <a:rPr lang="en-US" sz="1800" dirty="0"/>
              <a:t>To </a:t>
            </a:r>
            <a:r>
              <a:rPr lang="en-US" sz="1800" b="1" dirty="0"/>
              <a:t>design networks</a:t>
            </a:r>
            <a:endParaRPr lang="en-US" sz="1800" dirty="0"/>
          </a:p>
          <a:p>
            <a:r>
              <a:rPr lang="en-US" sz="1800" dirty="0"/>
              <a:t>To </a:t>
            </a:r>
            <a:r>
              <a:rPr lang="en-US" sz="1800" b="1" dirty="0"/>
              <a:t>find and fix network problems</a:t>
            </a:r>
          </a:p>
          <a:p>
            <a:r>
              <a:rPr lang="en-GB" sz="1800" dirty="0"/>
              <a:t>Easy Memory Trick</a:t>
            </a:r>
          </a:p>
          <a:p>
            <a:r>
              <a:rPr lang="en-US" sz="1800" dirty="0"/>
              <a:t>OSI Model is not software or hardware — it is a </a:t>
            </a:r>
            <a:r>
              <a:rPr lang="en-US" sz="1800" b="1" dirty="0"/>
              <a:t>way to understand networking</a:t>
            </a:r>
            <a:endParaRPr lang="en-US" sz="1800" dirty="0"/>
          </a:p>
          <a:p>
            <a:r>
              <a:rPr lang="en-US" sz="1800" b="1" dirty="0"/>
              <a:t>A P S T N D P</a:t>
            </a:r>
            <a:r>
              <a:rPr lang="en-US" sz="1800" dirty="0"/>
              <a:t/>
            </a:r>
            <a:br>
              <a:rPr lang="en-US" sz="1800" dirty="0"/>
            </a:br>
            <a:r>
              <a:rPr lang="en-US" sz="1800" b="1" dirty="0"/>
              <a:t>All People </a:t>
            </a:r>
            <a:r>
              <a:rPr lang="en-US" sz="1800" b="1" dirty="0" smtClean="0"/>
              <a:t>See </a:t>
            </a:r>
            <a:r>
              <a:rPr lang="en-US" sz="1800" b="1" dirty="0"/>
              <a:t>To Need Data Processing</a:t>
            </a:r>
          </a:p>
          <a:p>
            <a:r>
              <a:rPr lang="en-US" sz="1800" b="1" dirty="0"/>
              <a:t> </a:t>
            </a:r>
            <a:r>
              <a:rPr lang="en-US" sz="1800" dirty="0"/>
              <a:t>Important note for students:</a:t>
            </a:r>
          </a:p>
          <a:p>
            <a:r>
              <a:rPr lang="en-US" sz="1800" dirty="0"/>
              <a:t>OSI Model is </a:t>
            </a:r>
            <a:r>
              <a:rPr lang="en-US" sz="1800" b="1" dirty="0"/>
              <a:t>not software</a:t>
            </a:r>
            <a:endParaRPr lang="en-US" sz="1800" dirty="0"/>
          </a:p>
          <a:p>
            <a:r>
              <a:rPr lang="en-US" sz="1800" dirty="0"/>
              <a:t>OSI Model is </a:t>
            </a:r>
            <a:r>
              <a:rPr lang="en-US" sz="1800" b="1" dirty="0"/>
              <a:t>not hardware</a:t>
            </a:r>
            <a:endParaRPr lang="en-US" sz="1800" dirty="0"/>
          </a:p>
          <a:p>
            <a:r>
              <a:rPr lang="en-US" sz="1800" dirty="0"/>
              <a:t>It is a </a:t>
            </a:r>
            <a:r>
              <a:rPr lang="en-US" sz="1800" b="1" dirty="0"/>
              <a:t>concept / reference model</a:t>
            </a:r>
            <a:endParaRPr lang="en-US" sz="1800" dirty="0"/>
          </a:p>
          <a:p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889277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15148" y="223998"/>
            <a:ext cx="7968105" cy="85529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7. Application Layer</a:t>
            </a:r>
            <a:b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2494"/>
            <a:ext cx="6062134" cy="576121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7. Application </a:t>
            </a:r>
            <a:r>
              <a:rPr lang="en-US" b="1" dirty="0" smtClean="0"/>
              <a:t>Layer   (User level)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 What it Does</a:t>
            </a:r>
          </a:p>
          <a:p>
            <a:r>
              <a:rPr lang="en-US" dirty="0"/>
              <a:t>Directly interacts with the </a:t>
            </a:r>
            <a:r>
              <a:rPr lang="en-US" b="1" dirty="0"/>
              <a:t>user</a:t>
            </a:r>
            <a:endParaRPr lang="en-US" dirty="0"/>
          </a:p>
          <a:p>
            <a:r>
              <a:rPr lang="en-US" dirty="0"/>
              <a:t>Provides network services to </a:t>
            </a:r>
            <a:r>
              <a:rPr lang="en-US" dirty="0" smtClean="0"/>
              <a:t>applications      </a:t>
            </a:r>
            <a:endParaRPr lang="en-US" dirty="0"/>
          </a:p>
          <a:p>
            <a:r>
              <a:rPr lang="en-US" dirty="0"/>
              <a:t> This is the </a:t>
            </a:r>
            <a:r>
              <a:rPr lang="en-US" b="1" dirty="0"/>
              <a:t>user-facing layer</a:t>
            </a:r>
            <a:r>
              <a:rPr lang="en-US" dirty="0" smtClean="0"/>
              <a:t>.</a:t>
            </a:r>
          </a:p>
          <a:p>
            <a:r>
              <a:rPr lang="en-US" b="1" dirty="0"/>
              <a:t>Work</a:t>
            </a:r>
            <a:r>
              <a:rPr lang="en-US" b="1" dirty="0" smtClean="0"/>
              <a:t>:                                               </a:t>
            </a:r>
            <a:endParaRPr lang="en-US" dirty="0"/>
          </a:p>
          <a:p>
            <a:r>
              <a:rPr lang="en-US" dirty="0"/>
              <a:t>Takes your message</a:t>
            </a:r>
          </a:p>
          <a:p>
            <a:r>
              <a:rPr lang="en-US" dirty="0"/>
              <a:t>Prepares it for </a:t>
            </a:r>
            <a:r>
              <a:rPr lang="en-US" dirty="0" smtClean="0"/>
              <a:t>sending</a:t>
            </a:r>
          </a:p>
          <a:p>
            <a:pPr marL="0" indent="0">
              <a:buNone/>
            </a:pPr>
            <a:r>
              <a:rPr lang="en-US" b="1" dirty="0" smtClean="0"/>
              <a:t>Examples</a:t>
            </a:r>
            <a:endParaRPr lang="en-US" b="1" dirty="0"/>
          </a:p>
          <a:p>
            <a:r>
              <a:rPr lang="en-US" dirty="0"/>
              <a:t>Web browser (Chrome)</a:t>
            </a:r>
          </a:p>
          <a:p>
            <a:r>
              <a:rPr lang="en-US" dirty="0"/>
              <a:t>Email (Gmail</a:t>
            </a:r>
            <a:r>
              <a:rPr lang="en-US" dirty="0" smtClean="0"/>
              <a:t>)</a:t>
            </a:r>
            <a:endParaRPr lang="en-US" dirty="0"/>
          </a:p>
          <a:p>
            <a:r>
              <a:rPr lang="en-US" dirty="0"/>
              <a:t>WhatsApp</a:t>
            </a:r>
          </a:p>
          <a:p>
            <a:pPr marL="0" indent="0">
              <a:buNone/>
            </a:pPr>
            <a:r>
              <a:rPr lang="en-US" b="1" dirty="0"/>
              <a:t>Real-Life Example</a:t>
            </a:r>
          </a:p>
          <a:p>
            <a:r>
              <a:rPr lang="en-US" dirty="0"/>
              <a:t>You opening a website → </a:t>
            </a:r>
            <a:r>
              <a:rPr lang="en-US" b="1" dirty="0"/>
              <a:t>Application Layer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267" y="6310859"/>
            <a:ext cx="1728733" cy="5471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055556" y="1941689"/>
            <a:ext cx="29221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</a:t>
            </a:r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488515"/>
              </p:ext>
            </p:extLst>
          </p:nvPr>
        </p:nvGraphicFramePr>
        <p:xfrm>
          <a:off x="5034843" y="3060100"/>
          <a:ext cx="6804378" cy="2286000"/>
        </p:xfrm>
        <a:graphic>
          <a:graphicData uri="http://schemas.openxmlformats.org/drawingml/2006/table">
            <a:tbl>
              <a:tblPr/>
              <a:tblGrid>
                <a:gridCol w="34021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21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5914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Protocol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914">
                <a:tc>
                  <a:txBody>
                    <a:bodyPr/>
                    <a:lstStyle/>
                    <a:p>
                      <a:r>
                        <a:rPr lang="en-US"/>
                        <a:t>HTTP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Open websites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914">
                <a:tc>
                  <a:txBody>
                    <a:bodyPr/>
                    <a:lstStyle/>
                    <a:p>
                      <a:r>
                        <a:rPr lang="en-US"/>
                        <a:t>HTTPS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Secure websites 🔒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914">
                <a:tc>
                  <a:txBody>
                    <a:bodyPr/>
                    <a:lstStyle/>
                    <a:p>
                      <a:r>
                        <a:rPr lang="en-US"/>
                        <a:t>FTP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Download/upload files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914">
                <a:tc>
                  <a:txBody>
                    <a:bodyPr/>
                    <a:lstStyle/>
                    <a:p>
                      <a:r>
                        <a:rPr lang="en-US"/>
                        <a:t>SMTP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Send 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91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476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86CF-DF8F-557A-3D3F-B9CC886EE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24110-01D0-7F0F-9361-C1FB016E2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70934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 Black" panose="020B0A04020102020204" pitchFamily="34" charset="0"/>
              </a:rPr>
              <a:t>7. Application Layer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3A9440-AD66-2A41-5232-FEBEBC45A8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43" y="1403129"/>
            <a:ext cx="11759446" cy="39139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2372A0-3811-7627-141C-7C4D38755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11046" y="6321056"/>
            <a:ext cx="1680954" cy="53201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06311" y="5397702"/>
            <a:ext cx="8417594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    </a:t>
            </a:r>
          </a:p>
          <a:p>
            <a:r>
              <a:rPr lang="en-US" dirty="0"/>
              <a:t>Application layer provides network services directly to user applications </a:t>
            </a:r>
            <a:endParaRPr lang="en-US" dirty="0" smtClean="0"/>
          </a:p>
          <a:p>
            <a:r>
              <a:rPr lang="en-US" dirty="0" smtClean="0"/>
              <a:t>and </a:t>
            </a:r>
            <a:r>
              <a:rPr lang="en-US" dirty="0"/>
              <a:t>handles request and response between client and server</a:t>
            </a:r>
          </a:p>
        </p:txBody>
      </p:sp>
    </p:spTree>
    <p:extLst>
      <p:ext uri="{BB962C8B-B14F-4D97-AF65-F5344CB8AC3E}">
        <p14:creationId xmlns:p14="http://schemas.microsoft.com/office/powerpoint/2010/main" val="14830850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10600-5961-C835-B540-1B594C07C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B5AAF-06E3-CC78-5E0E-52922504A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0" y="270934"/>
            <a:ext cx="10911840" cy="1051560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bg1"/>
                </a:solidFill>
                <a:latin typeface="Arial Black" panose="020B0A04020102020204" pitchFamily="34" charset="0"/>
              </a:rPr>
              <a:t>6. Presentation Layer</a:t>
            </a:r>
            <a:br>
              <a:rPr lang="en-GB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7597CA-31DA-AF84-FD2C-1D51405472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19" y="6370820"/>
            <a:ext cx="1539281" cy="48718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B60701-2DE4-4CA4-3C0D-3CA2B611F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902" y="1169233"/>
            <a:ext cx="12042098" cy="5688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Presentation Layer — </a:t>
            </a:r>
            <a:r>
              <a:rPr lang="en-US" sz="1800" b="1" dirty="0" smtClean="0"/>
              <a:t>Translator</a:t>
            </a:r>
            <a:endParaRPr lang="en-GB" sz="1800" b="1" dirty="0"/>
          </a:p>
          <a:p>
            <a:pPr marL="0" indent="0">
              <a:buNone/>
            </a:pPr>
            <a:r>
              <a:rPr lang="en-GB" sz="1800" b="1" dirty="0" smtClean="0"/>
              <a:t> </a:t>
            </a:r>
            <a:r>
              <a:rPr lang="en-US" sz="1800" dirty="0" smtClean="0"/>
              <a:t>1</a:t>
            </a:r>
            <a:r>
              <a:rPr lang="en-US" sz="1800" dirty="0"/>
              <a:t>) Translation (Format Conversion</a:t>
            </a:r>
            <a:r>
              <a:rPr lang="en-US" sz="1800" dirty="0" smtClean="0"/>
              <a:t>)</a:t>
            </a:r>
          </a:p>
          <a:p>
            <a:pPr marL="0" indent="0">
              <a:buNone/>
            </a:pPr>
            <a:r>
              <a:rPr lang="en-US" sz="1800" dirty="0"/>
              <a:t>Computer doesn’t understand</a:t>
            </a:r>
            <a:r>
              <a:rPr lang="en-US" sz="1800" dirty="0" smtClean="0"/>
              <a:t>:</a:t>
            </a:r>
          </a:p>
          <a:p>
            <a:pPr marL="0" indent="0">
              <a:buNone/>
            </a:pPr>
            <a:r>
              <a:rPr lang="en-US" sz="1800" dirty="0" smtClean="0"/>
              <a:t>text</a:t>
            </a:r>
            <a:r>
              <a:rPr lang="en-US" sz="1800" dirty="0"/>
              <a:t>, image, video formats directly</a:t>
            </a:r>
            <a:endParaRPr lang="en-GB" sz="1800" b="1" dirty="0" smtClean="0"/>
          </a:p>
          <a:p>
            <a:pPr marL="0" indent="0">
              <a:buNone/>
            </a:pPr>
            <a:endParaRPr lang="en-GB" b="1" dirty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 smtClean="0"/>
          </a:p>
          <a:p>
            <a:pPr marL="0" indent="0">
              <a:buNone/>
            </a:pPr>
            <a:endParaRPr lang="en-GB" b="1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824974"/>
              </p:ext>
            </p:extLst>
          </p:nvPr>
        </p:nvGraphicFramePr>
        <p:xfrm>
          <a:off x="149902" y="2700450"/>
          <a:ext cx="11094156" cy="1740017"/>
        </p:xfrm>
        <a:graphic>
          <a:graphicData uri="http://schemas.openxmlformats.org/drawingml/2006/table">
            <a:tbl>
              <a:tblPr/>
              <a:tblGrid>
                <a:gridCol w="55470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470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3750">
                <a:tc>
                  <a:txBody>
                    <a:bodyPr/>
                    <a:lstStyle/>
                    <a:p>
                      <a:r>
                        <a:rPr lang="en-US" sz="1600" b="1" dirty="0"/>
                        <a:t>Human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Machine 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50">
                <a:tc>
                  <a:txBody>
                    <a:bodyPr/>
                    <a:lstStyle/>
                    <a:p>
                      <a:r>
                        <a:rPr lang="en-US" sz="1600" dirty="0"/>
                        <a:t>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ASCII / Unicode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50">
                <a:tc>
                  <a:txBody>
                    <a:bodyPr/>
                    <a:lstStyle/>
                    <a:p>
                      <a:r>
                        <a:rPr lang="en-US" sz="1600"/>
                        <a:t>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JPEG format rules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1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Video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MP4 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569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149902" y="4141129"/>
            <a:ext cx="3783408" cy="30162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2) Encryption 🔐 (Security</a:t>
            </a:r>
            <a:r>
              <a:rPr lang="en-US" dirty="0" smtClean="0"/>
              <a:t>)</a:t>
            </a:r>
          </a:p>
          <a:p>
            <a:r>
              <a:rPr lang="en-US" dirty="0"/>
              <a:t>It hides data so hackers can’t read it</a:t>
            </a:r>
            <a:r>
              <a:rPr lang="en-US" dirty="0" smtClean="0"/>
              <a:t>.</a:t>
            </a:r>
          </a:p>
          <a:p>
            <a:r>
              <a:rPr lang="en-US" dirty="0"/>
              <a:t>Example</a:t>
            </a:r>
            <a:r>
              <a:rPr lang="en-US" dirty="0" smtClean="0"/>
              <a:t>:</a:t>
            </a:r>
          </a:p>
          <a:p>
            <a:r>
              <a:rPr lang="en-US" dirty="0"/>
              <a:t>Hello → A7#K9@P</a:t>
            </a:r>
            <a:r>
              <a:rPr lang="en-US" dirty="0" smtClean="0"/>
              <a:t>$%</a:t>
            </a:r>
          </a:p>
          <a:p>
            <a:r>
              <a:rPr lang="en-US" dirty="0"/>
              <a:t>Only receiver can unlock.</a:t>
            </a:r>
          </a:p>
          <a:p>
            <a:r>
              <a:rPr lang="en-US" dirty="0"/>
              <a:t>Used in:</a:t>
            </a:r>
          </a:p>
          <a:p>
            <a:r>
              <a:rPr lang="en-US" dirty="0"/>
              <a:t>HTTPS</a:t>
            </a:r>
          </a:p>
          <a:p>
            <a:r>
              <a:rPr lang="en-US" dirty="0"/>
              <a:t>Online banking</a:t>
            </a:r>
          </a:p>
          <a:p>
            <a:r>
              <a:rPr lang="en-US" dirty="0"/>
              <a:t>WhatsApp messages</a:t>
            </a:r>
          </a:p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5156524" y="4247077"/>
            <a:ext cx="3848682" cy="18466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3) Compression 🗜 (Reduce Size)</a:t>
            </a:r>
          </a:p>
          <a:p>
            <a:r>
              <a:rPr lang="en-US" dirty="0"/>
              <a:t>Makes data smaller → faster internet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Image 5MB → 1MB</a:t>
            </a:r>
          </a:p>
          <a:p>
            <a:r>
              <a:rPr lang="en-US" dirty="0"/>
              <a:t>Video 100MB → 20MB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0452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6151" y="674557"/>
            <a:ext cx="10911840" cy="361377"/>
          </a:xfrm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6. Presentation Layer</a:t>
            </a:r>
            <a:br>
              <a:rPr lang="en-GB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72" y="1226916"/>
            <a:ext cx="11979798" cy="582206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A441C4-FC6C-8117-9041-A8A931D494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0083" y="1542895"/>
            <a:ext cx="7899650" cy="2595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5111" y="4328931"/>
            <a:ext cx="3027752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Protocols / Formats used</a:t>
            </a:r>
          </a:p>
          <a:p>
            <a:r>
              <a:rPr lang="en-US" dirty="0"/>
              <a:t>SSL / TLS (security)</a:t>
            </a:r>
          </a:p>
          <a:p>
            <a:r>
              <a:rPr lang="en-US" dirty="0"/>
              <a:t>JPEG, PNG (images)</a:t>
            </a:r>
          </a:p>
          <a:p>
            <a:r>
              <a:rPr lang="en-US" dirty="0"/>
              <a:t>MP3, MP4 (audio/video)</a:t>
            </a:r>
          </a:p>
          <a:p>
            <a:r>
              <a:rPr lang="en-US" dirty="0"/>
              <a:t>ASCII / Unicode (text format)</a:t>
            </a:r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580195" y="4328930"/>
            <a:ext cx="184731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580195" y="4323100"/>
            <a:ext cx="784189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          </a:t>
            </a:r>
            <a:endParaRPr lang="en-US" dirty="0"/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5097955" y="4605929"/>
            <a:ext cx="5987734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Presentation layer translates, encrypts 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compresses data before transmission.</a:t>
            </a:r>
          </a:p>
        </p:txBody>
      </p:sp>
    </p:spTree>
    <p:extLst>
      <p:ext uri="{BB962C8B-B14F-4D97-AF65-F5344CB8AC3E}">
        <p14:creationId xmlns:p14="http://schemas.microsoft.com/office/powerpoint/2010/main" val="194154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600" y="262467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5. Session Layer</a:t>
            </a:r>
            <a:b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32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172" y="1215341"/>
            <a:ext cx="12087828" cy="575261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400" dirty="0" smtClean="0"/>
              <a:t>This </a:t>
            </a:r>
            <a:r>
              <a:rPr lang="en-US" sz="2400" dirty="0"/>
              <a:t>layer </a:t>
            </a:r>
            <a:r>
              <a:rPr lang="en-US" sz="2400" b="1" dirty="0"/>
              <a:t>starts, maintains, and ends the communication</a:t>
            </a:r>
            <a:r>
              <a:rPr lang="en-US" sz="2400" dirty="0"/>
              <a:t> between two </a:t>
            </a:r>
            <a:r>
              <a:rPr lang="en-US" sz="2400" dirty="0" smtClean="0"/>
              <a:t>devices</a:t>
            </a:r>
          </a:p>
          <a:p>
            <a:r>
              <a:rPr lang="en-US" sz="2400" b="1" dirty="0"/>
              <a:t>phone call</a:t>
            </a:r>
            <a:r>
              <a:rPr lang="en-US" sz="2400" dirty="0"/>
              <a:t> </a:t>
            </a:r>
            <a:r>
              <a:rPr lang="en-US" sz="2400" dirty="0" smtClean="0"/>
              <a:t>📞</a:t>
            </a:r>
            <a:endParaRPr lang="en-US" sz="2400" dirty="0"/>
          </a:p>
          <a:p>
            <a:r>
              <a:rPr lang="en-US" sz="2400" dirty="0"/>
              <a:t>dial</a:t>
            </a:r>
          </a:p>
          <a:p>
            <a:r>
              <a:rPr lang="en-US" sz="2400" dirty="0"/>
              <a:t>talk</a:t>
            </a:r>
          </a:p>
          <a:p>
            <a:r>
              <a:rPr lang="en-US" sz="2400" dirty="0"/>
              <a:t>hang up</a:t>
            </a:r>
          </a:p>
          <a:p>
            <a:r>
              <a:rPr lang="en-US" sz="2400" dirty="0"/>
              <a:t>That whole conversation control = </a:t>
            </a:r>
            <a:r>
              <a:rPr lang="en-US" sz="2400" b="1" dirty="0"/>
              <a:t>Session Layer</a:t>
            </a:r>
            <a:endParaRPr lang="en-US" sz="2400" dirty="0"/>
          </a:p>
          <a:p>
            <a:r>
              <a:rPr lang="en-US" sz="2400" b="1" dirty="0"/>
              <a:t>1) Start Session (Establish connection)</a:t>
            </a:r>
          </a:p>
          <a:p>
            <a:r>
              <a:rPr lang="en-US" sz="2400" dirty="0"/>
              <a:t>Before data transfer, devices say:</a:t>
            </a:r>
          </a:p>
          <a:p>
            <a:pPr marL="0" indent="0">
              <a:buNone/>
            </a:pPr>
            <a:r>
              <a:rPr lang="en-US" sz="2400" dirty="0"/>
              <a:t>“Are you ready to communicate</a:t>
            </a:r>
            <a:r>
              <a:rPr lang="en-US" sz="2400" dirty="0" smtClean="0"/>
              <a:t>?”</a:t>
            </a:r>
          </a:p>
          <a:p>
            <a:pPr marL="0" indent="0">
              <a:buNone/>
            </a:pPr>
            <a:r>
              <a:rPr lang="en-US" sz="2400" dirty="0"/>
              <a:t>Like WhatsApp shows </a:t>
            </a:r>
            <a:r>
              <a:rPr lang="en-US" sz="2400" b="1" dirty="0"/>
              <a:t>online / </a:t>
            </a:r>
            <a:r>
              <a:rPr lang="en-US" sz="2400" b="1" dirty="0" smtClean="0"/>
              <a:t>connected</a:t>
            </a:r>
          </a:p>
          <a:p>
            <a:r>
              <a:rPr lang="en-US" sz="2400" b="1" dirty="0"/>
              <a:t>2) Maintain Session (Keep connection alive)</a:t>
            </a:r>
          </a:p>
          <a:p>
            <a:r>
              <a:rPr lang="en-US" sz="2400" dirty="0"/>
              <a:t>While chatting:</a:t>
            </a:r>
          </a:p>
          <a:p>
            <a:r>
              <a:rPr lang="en-US" sz="2400" dirty="0"/>
              <a:t>keeps connection active</a:t>
            </a:r>
          </a:p>
          <a:p>
            <a:r>
              <a:rPr lang="en-US" sz="2400" dirty="0"/>
              <a:t>if internet drops → pauses</a:t>
            </a:r>
          </a:p>
          <a:p>
            <a:r>
              <a:rPr lang="en-US" sz="2400" dirty="0"/>
              <a:t>reconnects </a:t>
            </a:r>
            <a:r>
              <a:rPr lang="en-US" sz="2400" dirty="0" smtClean="0"/>
              <a:t>automatically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/>
              <a:t> </a:t>
            </a:r>
            <a:endParaRPr lang="en-US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4805" y="6415790"/>
            <a:ext cx="1397195" cy="4422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33066" y="3014133"/>
            <a:ext cx="510838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3) End Session (Terminate connection)</a:t>
            </a:r>
          </a:p>
          <a:p>
            <a:r>
              <a:rPr lang="en-US" dirty="0"/>
              <a:t>After work finished:</a:t>
            </a:r>
          </a:p>
          <a:p>
            <a:r>
              <a:rPr lang="en-US" dirty="0"/>
              <a:t>connection </a:t>
            </a:r>
            <a:r>
              <a:rPr lang="en-US" dirty="0" smtClean="0"/>
              <a:t>closed</a:t>
            </a:r>
          </a:p>
          <a:p>
            <a:r>
              <a:rPr lang="en-US" dirty="0"/>
              <a:t>Like ending Zoom meeting or logging out of Gmail</a:t>
            </a:r>
          </a:p>
        </p:txBody>
      </p:sp>
    </p:spTree>
    <p:extLst>
      <p:ext uri="{BB962C8B-B14F-4D97-AF65-F5344CB8AC3E}">
        <p14:creationId xmlns:p14="http://schemas.microsoft.com/office/powerpoint/2010/main" val="42291852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50884-FF14-FF40-3181-697B3281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3F01-FBBE-196A-5677-293477BB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600" y="262467"/>
            <a:ext cx="10911840" cy="105156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Arial Black" panose="020B0A04020102020204" pitchFamily="34" charset="0"/>
              </a:rPr>
              <a:t>5. Session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3FDB2-BD9B-CA1F-84E8-457717EDF8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172" y="1215341"/>
            <a:ext cx="12087828" cy="57526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 </a:t>
            </a:r>
            <a:r>
              <a:rPr lang="en-US" sz="2400" dirty="0"/>
              <a:t> </a:t>
            </a:r>
          </a:p>
          <a:p>
            <a:pPr marL="0" indent="0" algn="just">
              <a:buNone/>
            </a:pPr>
            <a:endParaRPr lang="en-US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1F441A8-5C52-507F-BEC3-0F45AE7F84E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2547" y="6423832"/>
            <a:ext cx="1371786" cy="434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7E15000-FE8F-5934-D47E-855750E97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860" y="1215341"/>
            <a:ext cx="4479652" cy="283062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1142079"/>
              </p:ext>
            </p:extLst>
          </p:nvPr>
        </p:nvGraphicFramePr>
        <p:xfrm>
          <a:off x="555977" y="4091649"/>
          <a:ext cx="10515600" cy="19050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Real Life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Session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Call dialing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Session start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Talking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Session active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Session pause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Hang 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Session 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422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4. Transport Layer</a:t>
            </a:r>
            <a:b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r>
              <a:rPr lang="en-US" sz="1800" dirty="0"/>
              <a:t> </a:t>
            </a:r>
            <a:r>
              <a:rPr lang="en-GB" sz="2400" b="1" dirty="0"/>
              <a:t>Transport </a:t>
            </a:r>
            <a:r>
              <a:rPr lang="en-GB" sz="2400" b="1" dirty="0" smtClean="0"/>
              <a:t>Layer   (</a:t>
            </a:r>
            <a:r>
              <a:rPr lang="en-US" sz="2400" dirty="0" smtClean="0"/>
              <a:t>Delivery Manager)</a:t>
            </a:r>
            <a:endParaRPr lang="en-GB" sz="2400" b="1" dirty="0"/>
          </a:p>
          <a:p>
            <a:pPr marL="0" indent="0">
              <a:buNone/>
            </a:pPr>
            <a:r>
              <a:rPr lang="en-US" sz="2400" dirty="0"/>
              <a:t>This layer makes sure </a:t>
            </a:r>
            <a:r>
              <a:rPr lang="en-US" sz="2400" b="1" dirty="0"/>
              <a:t>data reaches correctly and </a:t>
            </a:r>
            <a:r>
              <a:rPr lang="en-US" sz="2400" b="1" dirty="0" smtClean="0"/>
              <a:t>completely.</a:t>
            </a:r>
          </a:p>
          <a:p>
            <a:pPr marL="0" indent="0">
              <a:buNone/>
            </a:pPr>
            <a:r>
              <a:rPr lang="en-US" sz="2400" dirty="0"/>
              <a:t>It takes big data and sends it </a:t>
            </a:r>
            <a:r>
              <a:rPr lang="en-US" sz="2400" dirty="0" smtClean="0"/>
              <a:t>safely.</a:t>
            </a:r>
          </a:p>
          <a:p>
            <a:r>
              <a:rPr lang="en-US" sz="2400" b="1" dirty="0"/>
              <a:t>Imagine Sending a Long Message</a:t>
            </a:r>
          </a:p>
          <a:p>
            <a:r>
              <a:rPr lang="en-US" sz="2400" dirty="0"/>
              <a:t>You send:</a:t>
            </a:r>
          </a:p>
          <a:p>
            <a:pPr marL="0" indent="0">
              <a:buNone/>
            </a:pPr>
            <a:r>
              <a:rPr lang="en-GB" sz="2400" b="1" dirty="0"/>
              <a:t>HELLO HOW ARE </a:t>
            </a:r>
            <a:r>
              <a:rPr lang="en-GB" sz="2400" b="1" dirty="0" smtClean="0"/>
              <a:t>YOU</a:t>
            </a:r>
          </a:p>
          <a:p>
            <a:pPr marL="0" indent="0">
              <a:buNone/>
            </a:pPr>
            <a:r>
              <a:rPr lang="en-US" sz="2400" dirty="0"/>
              <a:t>Internet cannot send big data at once </a:t>
            </a:r>
            <a:br>
              <a:rPr lang="en-US" sz="2400" dirty="0"/>
            </a:br>
            <a:r>
              <a:rPr lang="en-US" sz="2400" dirty="0"/>
              <a:t>So Transport Layer </a:t>
            </a:r>
            <a:r>
              <a:rPr lang="en-US" sz="2400" b="1" dirty="0"/>
              <a:t>breaks it into </a:t>
            </a:r>
            <a:r>
              <a:rPr lang="en-US" sz="2400" b="1" dirty="0" smtClean="0"/>
              <a:t>pieces</a:t>
            </a:r>
          </a:p>
          <a:p>
            <a:pPr marL="0" indent="0">
              <a:buNone/>
            </a:pPr>
            <a:r>
              <a:rPr lang="en-GB" sz="2400" b="1" dirty="0"/>
              <a:t>HELLO</a:t>
            </a:r>
          </a:p>
          <a:p>
            <a:pPr marL="0" indent="0">
              <a:buNone/>
            </a:pPr>
            <a:r>
              <a:rPr lang="en-GB" sz="2400" b="1" dirty="0"/>
              <a:t>HOW</a:t>
            </a:r>
          </a:p>
          <a:p>
            <a:pPr marL="0" indent="0">
              <a:buNone/>
            </a:pPr>
            <a:r>
              <a:rPr lang="en-GB" sz="2400" b="1" dirty="0"/>
              <a:t>ARE</a:t>
            </a:r>
          </a:p>
          <a:p>
            <a:pPr marL="0" indent="0">
              <a:buNone/>
            </a:pPr>
            <a:r>
              <a:rPr lang="en-GB" sz="2400" b="1" dirty="0" smtClean="0"/>
              <a:t>YOU</a:t>
            </a:r>
          </a:p>
          <a:p>
            <a:pPr marL="0" indent="0">
              <a:buNone/>
            </a:pPr>
            <a:r>
              <a:rPr lang="en-US" sz="2400" dirty="0"/>
              <a:t>These pieces are called </a:t>
            </a:r>
            <a:r>
              <a:rPr lang="en-US" sz="2400" b="1" dirty="0"/>
              <a:t>segments / packets</a:t>
            </a:r>
            <a:endParaRPr lang="en-GB" sz="2400" b="1" dirty="0" smtClean="0"/>
          </a:p>
          <a:p>
            <a:pPr marL="0" indent="0">
              <a:buNone/>
            </a:pPr>
            <a:endParaRPr lang="en-GB" sz="3200" b="1" dirty="0"/>
          </a:p>
          <a:p>
            <a:pPr marL="0" indent="0">
              <a:buNone/>
            </a:pPr>
            <a:endParaRPr lang="en-GB" sz="3200" b="1" dirty="0" smtClean="0"/>
          </a:p>
          <a:p>
            <a:pPr marL="0" indent="0">
              <a:buNone/>
            </a:pPr>
            <a:endParaRPr lang="en-GB" sz="3200" b="1" dirty="0"/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22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4. Transport Layer</a:t>
            </a:r>
            <a:b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 </a:t>
            </a:r>
            <a:r>
              <a:rPr lang="en-US" sz="2400" b="1" dirty="0"/>
              <a:t>Main Jobs of Transport Layer</a:t>
            </a:r>
          </a:p>
          <a:p>
            <a:r>
              <a:rPr lang="en-US" sz="2400" b="1" dirty="0"/>
              <a:t>1) Segmentation (Break into parts)</a:t>
            </a:r>
          </a:p>
          <a:p>
            <a:r>
              <a:rPr lang="en-US" sz="2400" dirty="0"/>
              <a:t>Big data → small packets</a:t>
            </a:r>
          </a:p>
          <a:p>
            <a:r>
              <a:rPr lang="en-US" sz="2400" b="1" dirty="0"/>
              <a:t>2) Error Checking (No missing data)</a:t>
            </a:r>
          </a:p>
          <a:p>
            <a:r>
              <a:rPr lang="en-US" sz="2400" dirty="0"/>
              <a:t>If packet lost:</a:t>
            </a:r>
          </a:p>
          <a:p>
            <a:r>
              <a:rPr lang="en-US" sz="2400" dirty="0"/>
              <a:t>Server says:</a:t>
            </a:r>
          </a:p>
          <a:p>
            <a:pPr marL="0" indent="0">
              <a:buNone/>
            </a:pPr>
            <a:r>
              <a:rPr lang="en-GB" sz="2400" b="1" dirty="0" smtClean="0"/>
              <a:t>    </a:t>
            </a:r>
            <a:r>
              <a:rPr lang="en-US" sz="2400" dirty="0"/>
              <a:t>“Send packet </a:t>
            </a:r>
            <a:r>
              <a:rPr lang="en-US" sz="2400" dirty="0" smtClean="0"/>
              <a:t> again”</a:t>
            </a:r>
          </a:p>
          <a:p>
            <a:pPr marL="0" indent="0">
              <a:buNone/>
            </a:pPr>
            <a:r>
              <a:rPr lang="en-US" sz="2400" dirty="0" smtClean="0"/>
              <a:t>Only </a:t>
            </a:r>
            <a:r>
              <a:rPr lang="en-US" sz="2400" dirty="0"/>
              <a:t>missing part resent </a:t>
            </a:r>
            <a:endParaRPr lang="en-US" sz="2400" dirty="0" smtClean="0"/>
          </a:p>
          <a:p>
            <a:r>
              <a:rPr lang="en-US" sz="2400" b="1" dirty="0"/>
              <a:t>3) Flow Control (Control speed)</a:t>
            </a:r>
          </a:p>
          <a:p>
            <a:r>
              <a:rPr lang="en-US" sz="2400" dirty="0"/>
              <a:t>If receiver slow → sender slows down</a:t>
            </a:r>
            <a:br>
              <a:rPr lang="en-US" sz="2400" dirty="0"/>
            </a:br>
            <a:r>
              <a:rPr lang="en-US" sz="2400" dirty="0"/>
              <a:t>If receiver fast → sender speeds up</a:t>
            </a:r>
          </a:p>
          <a:p>
            <a:pPr marL="0" indent="0">
              <a:buNone/>
            </a:pPr>
            <a:endParaRPr lang="en-GB" sz="2400" b="1" dirty="0"/>
          </a:p>
          <a:p>
            <a:pPr marL="0" indent="0">
              <a:buNone/>
            </a:pPr>
            <a:endParaRPr lang="en-GB" sz="3200" b="1" dirty="0"/>
          </a:p>
          <a:p>
            <a:pPr marL="0" indent="0">
              <a:buNone/>
            </a:pPr>
            <a:endParaRPr lang="en-GB" sz="3200" b="1" dirty="0" smtClean="0"/>
          </a:p>
          <a:p>
            <a:pPr marL="0" indent="0">
              <a:buNone/>
            </a:pPr>
            <a:endParaRPr lang="en-GB" sz="3200" b="1" dirty="0"/>
          </a:p>
          <a:p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827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81AC06-EE63-9698-F976-42590CAFB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DFDAB-7791-0344-EB8F-FF75764EB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TCP and </a:t>
            </a:r>
            <a:r>
              <a:rPr lang="en-US" sz="4000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UDP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51A79-7F0D-B3F7-15DD-A2FBC0154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r>
              <a:rPr lang="en-US" b="1" dirty="0"/>
              <a:t>TCP </a:t>
            </a:r>
            <a:r>
              <a:rPr lang="en-GB" dirty="0"/>
              <a:t>Transmission Control Protocol</a:t>
            </a:r>
            <a:endParaRPr lang="en-US" b="1" dirty="0"/>
          </a:p>
          <a:p>
            <a:r>
              <a:rPr lang="en-US" dirty="0"/>
              <a:t>Data is sent </a:t>
            </a:r>
            <a:r>
              <a:rPr lang="en-US" b="1" dirty="0"/>
              <a:t>carefully</a:t>
            </a:r>
            <a:endParaRPr lang="en-US" dirty="0"/>
          </a:p>
          <a:p>
            <a:r>
              <a:rPr lang="en-US" dirty="0"/>
              <a:t>If data is lost → it is </a:t>
            </a:r>
            <a:r>
              <a:rPr lang="en-US" b="1" dirty="0"/>
              <a:t>sent again</a:t>
            </a:r>
            <a:endParaRPr lang="en-US" dirty="0"/>
          </a:p>
          <a:p>
            <a:r>
              <a:rPr lang="en-US" dirty="0"/>
              <a:t>Data arrives </a:t>
            </a:r>
            <a:r>
              <a:rPr lang="en-US" b="1" dirty="0"/>
              <a:t>in correct order</a:t>
            </a:r>
          </a:p>
          <a:p>
            <a:r>
              <a:rPr lang="en-US" dirty="0"/>
              <a:t> </a:t>
            </a:r>
            <a:r>
              <a:rPr lang="en-US" b="1" dirty="0"/>
              <a:t>Used when data is important</a:t>
            </a:r>
            <a:endParaRPr lang="en-US" dirty="0"/>
          </a:p>
          <a:p>
            <a:r>
              <a:rPr lang="en-US" b="1" dirty="0"/>
              <a:t>Examples:</a:t>
            </a:r>
            <a:endParaRPr lang="en-US" dirty="0"/>
          </a:p>
          <a:p>
            <a:r>
              <a:rPr lang="en-US" dirty="0"/>
              <a:t>File download</a:t>
            </a:r>
          </a:p>
          <a:p>
            <a:r>
              <a:rPr lang="en-US" dirty="0"/>
              <a:t>Email</a:t>
            </a:r>
          </a:p>
          <a:p>
            <a:r>
              <a:rPr lang="en-US" dirty="0"/>
              <a:t>Web browsing</a:t>
            </a:r>
          </a:p>
          <a:p>
            <a:r>
              <a:rPr lang="en-US" sz="1800" dirty="0"/>
              <a:t>Example:</a:t>
            </a:r>
            <a:br>
              <a:rPr lang="en-US" sz="1800" dirty="0"/>
            </a:br>
            <a:r>
              <a:rPr lang="en-US" sz="1800" dirty="0"/>
              <a:t>Bank transfer </a:t>
            </a:r>
            <a:r>
              <a:rPr lang="en-US" sz="1800" dirty="0" smtClean="0"/>
              <a:t>must </a:t>
            </a:r>
            <a:r>
              <a:rPr lang="en-US" sz="1800" dirty="0"/>
              <a:t>use TCP</a:t>
            </a:r>
          </a:p>
          <a:p>
            <a:pPr marL="0" indent="0">
              <a:buNone/>
            </a:pP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927B7E-7B80-E727-44C9-0AF1EDFD5BB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70213C-286B-05E8-4F3D-FD6BCAB10B09}"/>
              </a:ext>
            </a:extLst>
          </p:cNvPr>
          <p:cNvSpPr txBox="1"/>
          <p:nvPr/>
        </p:nvSpPr>
        <p:spPr>
          <a:xfrm>
            <a:off x="5430096" y="1625718"/>
            <a:ext cx="6590177" cy="44473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UDP   </a:t>
            </a:r>
            <a:r>
              <a:rPr lang="en-GB" sz="2400" dirty="0"/>
              <a:t>User Datagram Protocol</a:t>
            </a:r>
            <a:endParaRPr lang="en-US" sz="2400" b="1" dirty="0"/>
          </a:p>
          <a:p>
            <a:r>
              <a:rPr lang="en-US" sz="2400" dirty="0"/>
              <a:t>Data is sent </a:t>
            </a:r>
            <a:r>
              <a:rPr lang="en-US" sz="2400" b="1" dirty="0"/>
              <a:t>very fast</a:t>
            </a:r>
            <a:endParaRPr lang="en-US" sz="2400" dirty="0"/>
          </a:p>
          <a:p>
            <a:r>
              <a:rPr lang="en-US" sz="2400" dirty="0"/>
              <a:t>Lost data is </a:t>
            </a:r>
            <a:r>
              <a:rPr lang="en-US" sz="2400" b="1" dirty="0"/>
              <a:t>ignored</a:t>
            </a:r>
            <a:endParaRPr lang="en-US" sz="2400" dirty="0"/>
          </a:p>
          <a:p>
            <a:r>
              <a:rPr lang="en-US" sz="2400" dirty="0"/>
              <a:t>Order does not matter</a:t>
            </a:r>
          </a:p>
          <a:p>
            <a:r>
              <a:rPr lang="en-US" sz="2400" b="1" dirty="0" smtClean="0"/>
              <a:t>Used when speed is more important than accuracy</a:t>
            </a:r>
            <a:endParaRPr lang="en-US" sz="2400" dirty="0" smtClean="0"/>
          </a:p>
          <a:p>
            <a:r>
              <a:rPr lang="en-US" sz="2400" b="1" dirty="0" smtClean="0"/>
              <a:t>Examples</a:t>
            </a:r>
            <a:r>
              <a:rPr lang="en-US" sz="2400" b="1" dirty="0"/>
              <a:t>:</a:t>
            </a:r>
            <a:endParaRPr lang="en-US" sz="2400" dirty="0"/>
          </a:p>
          <a:p>
            <a:r>
              <a:rPr lang="en-US" sz="2400" dirty="0"/>
              <a:t>Live video streaming</a:t>
            </a:r>
          </a:p>
          <a:p>
            <a:r>
              <a:rPr lang="en-US" sz="2400" dirty="0"/>
              <a:t>Online games</a:t>
            </a:r>
          </a:p>
          <a:p>
            <a:r>
              <a:rPr lang="en-US" sz="2400" dirty="0"/>
              <a:t>Video calls </a:t>
            </a:r>
            <a:endParaRPr lang="en-US" sz="2400" dirty="0" smtClean="0"/>
          </a:p>
          <a:p>
            <a:r>
              <a:rPr lang="en-US" sz="2400" dirty="0"/>
              <a:t>Example:</a:t>
            </a:r>
            <a:br>
              <a:rPr lang="en-US" sz="2400" dirty="0"/>
            </a:br>
            <a:r>
              <a:rPr lang="en-US" sz="2400" dirty="0"/>
              <a:t>Live cricket match — speed &gt; accuracy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87497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154BC-EF14-87BC-E0CE-CF313271C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95B36-077D-6197-3D44-C5BC31DD6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4.Transport Layer</a:t>
            </a:r>
            <a:br>
              <a:rPr lang="en-GB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9EB5D-765E-F70D-1733-80A88EC46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r>
              <a:rPr lang="en-US" sz="180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134F5-AF71-03C7-A6BE-40DE59470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6501" y="6511823"/>
            <a:ext cx="1093772" cy="3461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2A3CEED-8204-CC8F-72B9-194652C99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698" y="1323188"/>
            <a:ext cx="10047568" cy="378973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99822" y="5463822"/>
            <a:ext cx="8402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Transport layer divides data into segments and </a:t>
            </a:r>
            <a:r>
              <a:rPr lang="en-US" sz="2400" dirty="0" smtClean="0"/>
              <a:t>ensures</a:t>
            </a:r>
          </a:p>
          <a:p>
            <a:r>
              <a:rPr lang="en-US" sz="2400" dirty="0" smtClean="0"/>
              <a:t> </a:t>
            </a:r>
            <a:r>
              <a:rPr lang="en-US" sz="2400" dirty="0"/>
              <a:t>reliable delivery using TCP or fast delivery using UDP</a:t>
            </a:r>
          </a:p>
        </p:txBody>
      </p:sp>
    </p:spTree>
    <p:extLst>
      <p:ext uri="{BB962C8B-B14F-4D97-AF65-F5344CB8AC3E}">
        <p14:creationId xmlns:p14="http://schemas.microsoft.com/office/powerpoint/2010/main" val="1196317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761F-F2DB-0FB3-338E-E2FE4241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A8CF-FEC6-093C-355F-0657A6C8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>3. Network Layer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67D3-95C2-AD40-4EF9-9B8ED9790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200" b="1" dirty="0"/>
              <a:t>Network </a:t>
            </a:r>
            <a:r>
              <a:rPr lang="en-US" sz="3200" b="1" dirty="0" smtClean="0"/>
              <a:t>Layer</a:t>
            </a:r>
            <a:r>
              <a:rPr lang="en-US" sz="3200" dirty="0"/>
              <a:t>— </a:t>
            </a:r>
            <a:r>
              <a:rPr lang="en-US" sz="3200" b="1" dirty="0"/>
              <a:t>Route Finder (GPS of Internet)</a:t>
            </a:r>
            <a:r>
              <a:rPr lang="en-US" sz="3200" dirty="0"/>
              <a:t> </a:t>
            </a:r>
            <a:endParaRPr lang="en-US" sz="3200" b="1" dirty="0"/>
          </a:p>
          <a:p>
            <a:r>
              <a:rPr lang="en-US" sz="3200" dirty="0"/>
              <a:t>This layer decides </a:t>
            </a:r>
            <a:r>
              <a:rPr lang="en-US" sz="3200" b="1" dirty="0"/>
              <a:t>where the data should go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It uses the </a:t>
            </a:r>
            <a:r>
              <a:rPr lang="en-US" sz="3200" b="1" dirty="0"/>
              <a:t>IP address</a:t>
            </a:r>
            <a:r>
              <a:rPr lang="en-US" sz="3200" dirty="0"/>
              <a:t> to find the destination.</a:t>
            </a:r>
            <a:endParaRPr lang="en-US" sz="3200" b="1" dirty="0" smtClean="0"/>
          </a:p>
          <a:p>
            <a:r>
              <a:rPr lang="en-US" sz="3200" dirty="0"/>
              <a:t>Transport layer made packets </a:t>
            </a:r>
            <a:br>
              <a:rPr lang="en-US" sz="3200" dirty="0"/>
            </a:br>
            <a:r>
              <a:rPr lang="en-US" sz="3200" dirty="0"/>
              <a:t>Now Network layer asks</a:t>
            </a:r>
            <a:r>
              <a:rPr lang="en-US" sz="3200" dirty="0" smtClean="0"/>
              <a:t>:</a:t>
            </a:r>
          </a:p>
          <a:p>
            <a:r>
              <a:rPr lang="en-US" sz="3200" dirty="0"/>
              <a:t>“Which path should I take to reach the other computer</a:t>
            </a:r>
            <a:r>
              <a:rPr lang="en-US" sz="3200" dirty="0" smtClean="0"/>
              <a:t>?”</a:t>
            </a:r>
          </a:p>
          <a:p>
            <a:pPr marL="0" indent="0">
              <a:buNone/>
            </a:pPr>
            <a:r>
              <a:rPr lang="en-US" sz="3200" dirty="0" smtClean="0"/>
              <a:t>Like </a:t>
            </a:r>
            <a:r>
              <a:rPr lang="en-US" sz="3200" dirty="0"/>
              <a:t>Google Maps choosing route</a:t>
            </a:r>
            <a:endParaRPr lang="en-US" sz="3200" b="1" dirty="0"/>
          </a:p>
          <a:p>
            <a:r>
              <a:rPr lang="en-US" sz="3200" b="1" dirty="0" smtClean="0"/>
              <a:t>Examples</a:t>
            </a:r>
            <a:endParaRPr lang="en-US" sz="3200" b="1" dirty="0"/>
          </a:p>
          <a:p>
            <a:r>
              <a:rPr lang="en-US" sz="3200" dirty="0"/>
              <a:t>IP addressing</a:t>
            </a:r>
          </a:p>
          <a:p>
            <a:r>
              <a:rPr lang="en-US" sz="3200" dirty="0"/>
              <a:t>Routers</a:t>
            </a:r>
          </a:p>
          <a:p>
            <a:pPr marL="0" indent="0">
              <a:buNone/>
            </a:pPr>
            <a:r>
              <a:rPr lang="en-US" sz="3200" b="1" dirty="0"/>
              <a:t> Easy Example</a:t>
            </a:r>
          </a:p>
          <a:p>
            <a:r>
              <a:rPr lang="en-US" sz="3200" dirty="0"/>
              <a:t>Google Maps finding the best route.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22D25-DC8B-5E75-EE78-22090E8BAE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19" y="6370820"/>
            <a:ext cx="1539281" cy="48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5651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D761F-F2DB-0FB3-338E-E2FE42412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6A8CF-FEC6-093C-355F-0657A6C83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>3. Network Layer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567D3-95C2-AD40-4EF9-9B8ED9790B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 fontScale="92500" lnSpcReduction="20000"/>
          </a:bodyPr>
          <a:lstStyle/>
          <a:p>
            <a:r>
              <a:rPr lang="en-US" sz="2200" b="1" dirty="0"/>
              <a:t>Example</a:t>
            </a:r>
          </a:p>
          <a:p>
            <a:r>
              <a:rPr lang="en-US" sz="2200" dirty="0"/>
              <a:t>You open website:</a:t>
            </a:r>
          </a:p>
          <a:p>
            <a:pPr marL="0" indent="0">
              <a:buNone/>
            </a:pPr>
            <a:r>
              <a:rPr lang="en-US" sz="2200" b="1" dirty="0" smtClean="0">
                <a:hlinkClick r:id="rId2"/>
              </a:rPr>
              <a:t>www.youtube.com</a:t>
            </a:r>
            <a:endParaRPr lang="en-US" sz="2200" b="1" dirty="0" smtClean="0"/>
          </a:p>
          <a:p>
            <a:pPr marL="0" indent="0">
              <a:buNone/>
            </a:pPr>
            <a:r>
              <a:rPr lang="en-US" sz="2200" dirty="0"/>
              <a:t>First it becomes an IP address</a:t>
            </a:r>
            <a:r>
              <a:rPr lang="en-US" sz="2200" dirty="0" smtClean="0"/>
              <a:t>:</a:t>
            </a:r>
          </a:p>
          <a:p>
            <a:pPr marL="0" indent="0">
              <a:buNone/>
            </a:pPr>
            <a:r>
              <a:rPr lang="en-US" sz="2200" b="1" dirty="0" smtClean="0"/>
              <a:t>142.250.183.206</a:t>
            </a:r>
            <a:endParaRPr lang="en-US" sz="2200" b="1" dirty="0"/>
          </a:p>
          <a:p>
            <a:r>
              <a:rPr lang="en-US" sz="2200" b="1" dirty="0"/>
              <a:t>1) Logical Addressing (IP Address)</a:t>
            </a:r>
          </a:p>
          <a:p>
            <a:r>
              <a:rPr lang="en-US" sz="2200" dirty="0"/>
              <a:t>Every device on internet has unique number</a:t>
            </a:r>
          </a:p>
          <a:p>
            <a:r>
              <a:rPr lang="en-US" sz="2200" b="1" dirty="0"/>
              <a:t>2) Routing (Finding best path</a:t>
            </a:r>
            <a:r>
              <a:rPr lang="en-US" sz="2200" b="1" dirty="0" smtClean="0"/>
              <a:t>)</a:t>
            </a:r>
          </a:p>
          <a:p>
            <a:pPr marL="0" indent="0">
              <a:buNone/>
            </a:pPr>
            <a:r>
              <a:rPr lang="en-US" sz="2200" dirty="0"/>
              <a:t>Routing is the process of selecting the optimal path for data transmission between networks</a:t>
            </a:r>
            <a:endParaRPr lang="en-US" sz="2200" b="1" dirty="0"/>
          </a:p>
          <a:p>
            <a:r>
              <a:rPr lang="en-US" sz="2200" dirty="0"/>
              <a:t>There are many paths in internet</a:t>
            </a:r>
          </a:p>
          <a:p>
            <a:r>
              <a:rPr lang="en-US" sz="2200" dirty="0"/>
              <a:t>Network layer chooses </a:t>
            </a:r>
            <a:r>
              <a:rPr lang="en-US" sz="2200" b="1" dirty="0"/>
              <a:t>shortest/fastest path</a:t>
            </a:r>
            <a:endParaRPr lang="en-US" sz="2200" dirty="0"/>
          </a:p>
          <a:p>
            <a:r>
              <a:rPr lang="en-US" sz="2200" dirty="0"/>
              <a:t>Routers work on this </a:t>
            </a:r>
            <a:r>
              <a:rPr lang="en-US" sz="2200" dirty="0" smtClean="0"/>
              <a:t>layer</a:t>
            </a:r>
          </a:p>
          <a:p>
            <a:r>
              <a:rPr lang="en-US" sz="2200" dirty="0" smtClean="0"/>
              <a:t>Portocol:</a:t>
            </a:r>
            <a:endParaRPr lang="en-US" sz="2200" dirty="0"/>
          </a:p>
          <a:p>
            <a:r>
              <a:rPr lang="en-US" sz="2200" b="1" dirty="0"/>
              <a:t>IP (Internet Protocol)</a:t>
            </a:r>
            <a:endParaRPr lang="en-US" sz="2200" dirty="0"/>
          </a:p>
          <a:p>
            <a:r>
              <a:rPr lang="en-US" sz="2200" dirty="0"/>
              <a:t>That’s why we call it:</a:t>
            </a:r>
          </a:p>
          <a:p>
            <a:pPr marL="0" indent="0">
              <a:buNone/>
            </a:pPr>
            <a:r>
              <a:rPr lang="en-US" sz="2200" dirty="0"/>
              <a:t>TCP/IP </a:t>
            </a:r>
            <a:r>
              <a:rPr lang="en-US" sz="2200" dirty="0" smtClean="0"/>
              <a:t>networking</a:t>
            </a:r>
          </a:p>
          <a:p>
            <a:pPr marL="0" indent="0">
              <a:buNone/>
            </a:pPr>
            <a:r>
              <a:rPr lang="en-US" sz="1800" dirty="0"/>
              <a:t> </a:t>
            </a:r>
            <a:r>
              <a:rPr lang="en-US" sz="1800" dirty="0" smtClean="0"/>
              <a:t>            </a:t>
            </a:r>
            <a:endParaRPr lang="en-US" sz="1800" b="1" dirty="0" smtClean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22D25-DC8B-5E75-EE78-22090E8BAE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2719" y="6370820"/>
            <a:ext cx="1539281" cy="487180"/>
          </a:xfrm>
          <a:prstGeom prst="rect">
            <a:avLst/>
          </a:prstGeom>
        </p:spPr>
      </p:pic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704623" y="644420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Network layer assigns IP address and routes packets from source to destination.</a:t>
            </a:r>
          </a:p>
        </p:txBody>
      </p:sp>
    </p:spTree>
    <p:extLst>
      <p:ext uri="{BB962C8B-B14F-4D97-AF65-F5344CB8AC3E}">
        <p14:creationId xmlns:p14="http://schemas.microsoft.com/office/powerpoint/2010/main" val="23219019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D294F-D4F6-3D0D-66D4-85EFB88FF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6179-401E-ACB2-A4C1-CB73938FC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GB" sz="4000" dirty="0">
                <a:solidFill>
                  <a:schemeClr val="bg1"/>
                </a:solidFill>
                <a:latin typeface="Arial Black" panose="020B0A04020102020204" pitchFamily="34" charset="0"/>
              </a:rPr>
              <a:t>3. Network Layer</a:t>
            </a: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6E3A6-5B85-B00B-3038-D146F5052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 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C623E1-CDC1-F0A7-5F31-00A59784DDF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0133" y="6307558"/>
            <a:ext cx="1761867" cy="5576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3384A3-B9E5-F860-B7EB-356EAB461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422" y="1440242"/>
            <a:ext cx="11367019" cy="397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123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6027-BE41-5640-D35D-477B3691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0BE8-F119-0755-3BDD-45816F35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2. Data Link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A184-F61D-957A-D452-FE1AD6A0B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Data Link Layer — </a:t>
            </a:r>
            <a:r>
              <a:rPr lang="en-US" i="1" dirty="0"/>
              <a:t>Local Delivery (Same Network)</a:t>
            </a:r>
            <a:r>
              <a:rPr lang="en-US" dirty="0"/>
              <a:t> </a:t>
            </a:r>
            <a:endParaRPr lang="en-US" b="1" dirty="0"/>
          </a:p>
          <a:p>
            <a:pPr marL="0" indent="0">
              <a:buNone/>
            </a:pPr>
            <a:r>
              <a:rPr lang="en-US" dirty="0"/>
              <a:t>This layer delivers data </a:t>
            </a:r>
            <a:r>
              <a:rPr lang="en-US" b="1" dirty="0"/>
              <a:t>inside your local network (</a:t>
            </a:r>
            <a:r>
              <a:rPr lang="en-US" b="1" dirty="0" err="1"/>
              <a:t>WiFi</a:t>
            </a:r>
            <a:r>
              <a:rPr lang="en-US" b="1" dirty="0"/>
              <a:t> / LAN)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Network Layer uses </a:t>
            </a:r>
            <a:r>
              <a:rPr lang="en-US" b="1" dirty="0"/>
              <a:t>IP address</a:t>
            </a:r>
            <a:r>
              <a:rPr lang="en-US" dirty="0"/>
              <a:t> (global address)</a:t>
            </a:r>
            <a:br>
              <a:rPr lang="en-US" dirty="0"/>
            </a:br>
            <a:r>
              <a:rPr lang="en-US" dirty="0"/>
              <a:t>Data Link Layer uses </a:t>
            </a:r>
            <a:r>
              <a:rPr lang="en-US" b="1" dirty="0"/>
              <a:t>MAC address</a:t>
            </a:r>
            <a:r>
              <a:rPr lang="en-US" dirty="0"/>
              <a:t> (device physical address)</a:t>
            </a:r>
            <a:endParaRPr lang="en-US" b="1" dirty="0"/>
          </a:p>
          <a:p>
            <a:r>
              <a:rPr lang="en-US" b="1" dirty="0"/>
              <a:t>What is MAC Address?</a:t>
            </a:r>
          </a:p>
          <a:p>
            <a:r>
              <a:rPr lang="en-US" dirty="0"/>
              <a:t>Every device has a unique hardware number</a:t>
            </a:r>
          </a:p>
          <a:p>
            <a:pPr marL="0" indent="0">
              <a:buNone/>
            </a:pPr>
            <a:r>
              <a:rPr lang="en-US" b="1" dirty="0"/>
              <a:t>IP Address  = 192.168.1.5  (changeable)</a:t>
            </a:r>
          </a:p>
          <a:p>
            <a:pPr marL="0" indent="0">
              <a:buNone/>
            </a:pPr>
            <a:r>
              <a:rPr lang="en-US" b="1" dirty="0"/>
              <a:t>MAC </a:t>
            </a:r>
            <a:r>
              <a:rPr lang="en-US" b="1" dirty="0" smtClean="0"/>
              <a:t>Address </a:t>
            </a:r>
            <a:r>
              <a:rPr lang="en-US" b="1" dirty="0"/>
              <a:t>= A8:5E:45:2B:91:AC (permanent</a:t>
            </a:r>
            <a:r>
              <a:rPr lang="en-US" b="1" dirty="0" smtClean="0"/>
              <a:t>)</a:t>
            </a:r>
          </a:p>
          <a:p>
            <a:pPr marL="0" indent="0">
              <a:buNone/>
            </a:pPr>
            <a:r>
              <a:rPr lang="en-US" dirty="0"/>
              <a:t>Framing is the process of converting packets into small structured units called frames before sending them on the local network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b="1" dirty="0" err="1" smtClean="0"/>
              <a:t>Eaxmple</a:t>
            </a:r>
            <a:r>
              <a:rPr lang="en-US" b="1" dirty="0" smtClean="0"/>
              <a:t>: </a:t>
            </a:r>
          </a:p>
          <a:p>
            <a:pPr marL="0" indent="0">
              <a:buNone/>
            </a:pPr>
            <a:r>
              <a:rPr lang="en-US" dirty="0" smtClean="0"/>
              <a:t>You want to send:</a:t>
            </a:r>
            <a:endParaRPr lang="en-US" b="1" dirty="0" smtClean="0"/>
          </a:p>
          <a:p>
            <a:pPr marL="0" indent="0">
              <a:buNone/>
            </a:pPr>
            <a:r>
              <a:rPr lang="en-US" dirty="0" smtClean="0"/>
              <a:t>  HELLO</a:t>
            </a:r>
            <a:endParaRPr lang="en-US" b="1" dirty="0" smtClean="0"/>
          </a:p>
          <a:p>
            <a:pPr marL="0" indent="0">
              <a:buNone/>
            </a:pPr>
            <a:r>
              <a:rPr lang="en-US" dirty="0"/>
              <a:t>[From: A8:5E:45:2B:91:AC</a:t>
            </a:r>
            <a:br>
              <a:rPr lang="en-US" dirty="0"/>
            </a:br>
            <a:r>
              <a:rPr lang="en-US" dirty="0"/>
              <a:t>To: B4:7C:9A:11:00:2F</a:t>
            </a:r>
            <a:br>
              <a:rPr lang="en-US" dirty="0"/>
            </a:br>
            <a:r>
              <a:rPr lang="en-US" dirty="0"/>
              <a:t>Data: HELLO</a:t>
            </a:r>
            <a:br>
              <a:rPr lang="en-US" dirty="0"/>
            </a:br>
            <a:r>
              <a:rPr lang="en-US" dirty="0" smtClean="0"/>
              <a:t>Check</a:t>
            </a:r>
            <a:r>
              <a:rPr lang="en-US" dirty="0"/>
              <a:t>: OK</a:t>
            </a:r>
            <a:r>
              <a:rPr lang="en-US" dirty="0" smtClean="0"/>
              <a:t>]</a:t>
            </a:r>
          </a:p>
          <a:p>
            <a:pPr marL="0" indent="0">
              <a:buNone/>
            </a:pPr>
            <a:r>
              <a:rPr lang="en-US" dirty="0"/>
              <a:t>This complete structure = </a:t>
            </a:r>
            <a:r>
              <a:rPr lang="en-US" b="1" dirty="0" smtClean="0"/>
              <a:t>Frame</a:t>
            </a:r>
          </a:p>
          <a:p>
            <a:pPr marL="0" indent="0">
              <a:buNone/>
            </a:pPr>
            <a:r>
              <a:rPr lang="en-US" dirty="0"/>
              <a:t>Data Link layer provides local delivery of frames using MAC address within the same network.</a:t>
            </a:r>
            <a:endParaRPr lang="en-US" dirty="0" smtClean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41C5F-7B85-963C-E538-92D890025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22" y="6415790"/>
            <a:ext cx="1397195" cy="44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5381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6027-BE41-5640-D35D-477B3691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0BE8-F119-0755-3BDD-45816F35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2. Data Link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A184-F61D-957A-D452-FE1AD6A0B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Major Functions of Data Link </a:t>
            </a:r>
            <a:r>
              <a:rPr lang="en-US" dirty="0" smtClean="0"/>
              <a:t>Layer</a:t>
            </a:r>
          </a:p>
          <a:p>
            <a:r>
              <a:rPr lang="en-US" b="1" dirty="0"/>
              <a:t>1. Framing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The data is divided into small pieces called </a:t>
            </a:r>
            <a:r>
              <a:rPr lang="en-US" b="1" dirty="0"/>
              <a:t>frames</a:t>
            </a:r>
            <a:r>
              <a:rPr lang="en-US" dirty="0"/>
              <a:t> so it can be sent through the network easily.</a:t>
            </a:r>
          </a:p>
          <a:p>
            <a:r>
              <a:rPr lang="en-US" b="1" dirty="0"/>
              <a:t>2. Physical Addressing (MAC Address)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Each device has a </a:t>
            </a:r>
            <a:r>
              <a:rPr lang="en-US" b="1" dirty="0"/>
              <a:t>MAC address</a:t>
            </a:r>
            <a:r>
              <a:rPr lang="en-US" dirty="0"/>
              <a:t>, and the Data Link Layer uses it to send data to the </a:t>
            </a:r>
            <a:r>
              <a:rPr lang="en-US" b="1" dirty="0"/>
              <a:t>correct device</a:t>
            </a:r>
            <a:r>
              <a:rPr lang="en-US" dirty="0"/>
              <a:t> on the same network.</a:t>
            </a:r>
          </a:p>
          <a:p>
            <a:r>
              <a:rPr lang="en-US" b="1" dirty="0"/>
              <a:t>3. Error Detection and Correction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 checks the data for </a:t>
            </a:r>
            <a:r>
              <a:rPr lang="en-US" b="1" dirty="0"/>
              <a:t>errors</a:t>
            </a:r>
            <a:r>
              <a:rPr lang="en-US" dirty="0"/>
              <a:t>. If there is a mistake, the data is </a:t>
            </a:r>
            <a:r>
              <a:rPr lang="en-US" b="1" dirty="0"/>
              <a:t>sent again</a:t>
            </a:r>
            <a:r>
              <a:rPr lang="en-US" dirty="0"/>
              <a:t>.</a:t>
            </a:r>
          </a:p>
          <a:p>
            <a:r>
              <a:rPr lang="en-US" b="1" dirty="0"/>
              <a:t>4. Flow Control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 controls the </a:t>
            </a:r>
            <a:r>
              <a:rPr lang="en-US" b="1" dirty="0"/>
              <a:t>speed of data sending</a:t>
            </a:r>
            <a:r>
              <a:rPr lang="en-US" dirty="0"/>
              <a:t> so the receiving device can handle the data properly.</a:t>
            </a:r>
          </a:p>
          <a:p>
            <a:r>
              <a:rPr lang="en-US" b="1" dirty="0"/>
              <a:t>5. Access Control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It decides </a:t>
            </a:r>
            <a:r>
              <a:rPr lang="en-US" b="1" dirty="0"/>
              <a:t>which device can use the network cable at a particular time</a:t>
            </a:r>
            <a:r>
              <a:rPr lang="en-US" dirty="0"/>
              <a:t> to send data.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941C5F-7B85-963C-E538-92D890025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22" y="6415790"/>
            <a:ext cx="1397195" cy="44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28695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6027-BE41-5640-D35D-477B3691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0BE8-F119-0755-3BDD-45816F35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2. Data Link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7049737"/>
              </p:ext>
            </p:extLst>
          </p:nvPr>
        </p:nvGraphicFramePr>
        <p:xfrm>
          <a:off x="0" y="1180621"/>
          <a:ext cx="8160150" cy="4053840"/>
        </p:xfrm>
        <a:graphic>
          <a:graphicData uri="http://schemas.openxmlformats.org/drawingml/2006/table">
            <a:tbl>
              <a:tblPr/>
              <a:tblGrid>
                <a:gridCol w="2720050">
                  <a:extLst>
                    <a:ext uri="{9D8B030D-6E8A-4147-A177-3AD203B41FA5}">
                      <a16:colId xmlns:a16="http://schemas.microsoft.com/office/drawing/2014/main" val="1378986102"/>
                    </a:ext>
                  </a:extLst>
                </a:gridCol>
                <a:gridCol w="2720050">
                  <a:extLst>
                    <a:ext uri="{9D8B030D-6E8A-4147-A177-3AD203B41FA5}">
                      <a16:colId xmlns:a16="http://schemas.microsoft.com/office/drawing/2014/main" val="815167605"/>
                    </a:ext>
                  </a:extLst>
                </a:gridCol>
                <a:gridCol w="2720050">
                  <a:extLst>
                    <a:ext uri="{9D8B030D-6E8A-4147-A177-3AD203B41FA5}">
                      <a16:colId xmlns:a16="http://schemas.microsoft.com/office/drawing/2014/main" val="3496326808"/>
                    </a:ext>
                  </a:extLst>
                </a:gridCol>
              </a:tblGrid>
              <a:tr h="417210">
                <a:tc>
                  <a:txBody>
                    <a:bodyPr/>
                    <a:lstStyle/>
                    <a:p>
                      <a:r>
                        <a:rPr lang="en-US" sz="28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MAC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/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110569"/>
                  </a:ext>
                </a:extLst>
              </a:tr>
              <a:tr h="306772">
                <a:tc>
                  <a:txBody>
                    <a:bodyPr/>
                    <a:lstStyle/>
                    <a:p>
                      <a:r>
                        <a:rPr lang="en-US"/>
                        <a:t>Full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Media Access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Internet Protocol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952297"/>
                  </a:ext>
                </a:extLst>
              </a:tr>
              <a:tr h="306772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Link Layer (Layer 2)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Network Layer (Layer 3)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84783"/>
                  </a:ext>
                </a:extLst>
              </a:tr>
              <a:tr h="539919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Physical / Hardware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Logical / Software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67384"/>
                  </a:ext>
                </a:extLst>
              </a:tr>
              <a:tr h="539919">
                <a:tc>
                  <a:txBody>
                    <a:bodyPr/>
                    <a:lstStyle/>
                    <a:p>
                      <a:r>
                        <a:rPr lang="en-US"/>
                        <a:t>Changeable?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dirty="0"/>
                        <a:t>No (fixed in device)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</a:t>
                      </a:r>
                      <a:r>
                        <a:rPr lang="en-US" dirty="0"/>
                        <a:t>Yes (changes with network)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896835"/>
                  </a:ext>
                </a:extLst>
              </a:tr>
              <a:tr h="539919"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Identify device inside same 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Identify device on internet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086526"/>
                  </a:ext>
                </a:extLst>
              </a:tr>
              <a:tr h="306772"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A8:5E:45:2B:91:AC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192.168.1.5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960004"/>
                  </a:ext>
                </a:extLst>
              </a:tr>
              <a:tr h="306772">
                <a:tc>
                  <a:txBody>
                    <a:bodyPr/>
                    <a:lstStyle/>
                    <a:p>
                      <a:r>
                        <a:rPr lang="en-US"/>
                        <a:t>Scope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Local (LAN/WiFi)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Global (Internet)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0038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1941C5F-7B85-963C-E538-92D890025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22" y="6415790"/>
            <a:ext cx="1397195" cy="44221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0990"/>
              </p:ext>
            </p:extLst>
          </p:nvPr>
        </p:nvGraphicFramePr>
        <p:xfrm>
          <a:off x="150472" y="5516880"/>
          <a:ext cx="6157732" cy="1341120"/>
        </p:xfrm>
        <a:graphic>
          <a:graphicData uri="http://schemas.openxmlformats.org/drawingml/2006/table">
            <a:tbl>
              <a:tblPr/>
              <a:tblGrid>
                <a:gridCol w="3078866">
                  <a:extLst>
                    <a:ext uri="{9D8B030D-6E8A-4147-A177-3AD203B41FA5}">
                      <a16:colId xmlns:a16="http://schemas.microsoft.com/office/drawing/2014/main" val="1661214558"/>
                    </a:ext>
                  </a:extLst>
                </a:gridCol>
                <a:gridCol w="3078866">
                  <a:extLst>
                    <a:ext uri="{9D8B030D-6E8A-4147-A177-3AD203B41FA5}">
                      <a16:colId xmlns:a16="http://schemas.microsoft.com/office/drawing/2014/main" val="22991722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b="1" dirty="0" smtClean="0"/>
                        <a:t>Real Life</a:t>
                      </a:r>
                      <a:endParaRPr lang="en-US" sz="3200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b="1" dirty="0"/>
                        <a:t>Network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579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City 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IP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0536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House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022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514775" y="3377833"/>
            <a:ext cx="203714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Uses</a:t>
            </a:r>
          </a:p>
          <a:p>
            <a:r>
              <a:rPr lang="en-US" sz="3200" dirty="0" smtClean="0"/>
              <a:t>Home </a:t>
            </a:r>
            <a:r>
              <a:rPr lang="en-US" sz="3200" dirty="0" err="1" smtClean="0"/>
              <a:t>Wifi</a:t>
            </a:r>
            <a:endParaRPr lang="en-US" sz="3200" dirty="0" smtClean="0"/>
          </a:p>
          <a:p>
            <a:r>
              <a:rPr lang="en-US" sz="3200" dirty="0" smtClean="0"/>
              <a:t>Office LAN</a:t>
            </a:r>
          </a:p>
          <a:p>
            <a:r>
              <a:rPr lang="en-US" sz="3200" dirty="0" smtClean="0"/>
              <a:t>Bluetooth</a:t>
            </a:r>
          </a:p>
          <a:p>
            <a:r>
              <a:rPr lang="en-US" sz="3200" dirty="0" smtClean="0"/>
              <a:t>Ethernet </a:t>
            </a:r>
          </a:p>
          <a:p>
            <a:endParaRPr lang="en-US" dirty="0" smtClean="0"/>
          </a:p>
          <a:p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1838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2F6027-BE41-5640-D35D-477B36913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90BE8-F119-0755-3BDD-45816F35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Arial Black" panose="020B0A04020102020204" pitchFamily="34" charset="0"/>
              </a:rPr>
              <a:t>Difference between MAC and LLC Sublayers</a:t>
            </a:r>
            <a: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en-US" sz="24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24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7038338"/>
              </p:ext>
            </p:extLst>
          </p:nvPr>
        </p:nvGraphicFramePr>
        <p:xfrm>
          <a:off x="0" y="1180622"/>
          <a:ext cx="12570105" cy="4386802"/>
        </p:xfrm>
        <a:graphic>
          <a:graphicData uri="http://schemas.openxmlformats.org/drawingml/2006/table">
            <a:tbl>
              <a:tblPr/>
              <a:tblGrid>
                <a:gridCol w="4190035">
                  <a:extLst>
                    <a:ext uri="{9D8B030D-6E8A-4147-A177-3AD203B41FA5}">
                      <a16:colId xmlns:a16="http://schemas.microsoft.com/office/drawing/2014/main" val="1378986102"/>
                    </a:ext>
                  </a:extLst>
                </a:gridCol>
                <a:gridCol w="4190035">
                  <a:extLst>
                    <a:ext uri="{9D8B030D-6E8A-4147-A177-3AD203B41FA5}">
                      <a16:colId xmlns:a16="http://schemas.microsoft.com/office/drawing/2014/main" val="815167605"/>
                    </a:ext>
                  </a:extLst>
                </a:gridCol>
                <a:gridCol w="4190035">
                  <a:extLst>
                    <a:ext uri="{9D8B030D-6E8A-4147-A177-3AD203B41FA5}">
                      <a16:colId xmlns:a16="http://schemas.microsoft.com/office/drawing/2014/main" val="3496326808"/>
                    </a:ext>
                  </a:extLst>
                </a:gridCol>
              </a:tblGrid>
              <a:tr h="513967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31110569"/>
                  </a:ext>
                </a:extLst>
              </a:tr>
              <a:tr h="46935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MAC (Medium Access 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Arial Black" panose="020B0A04020102020204" pitchFamily="34" charset="0"/>
                        </a:rPr>
                        <a:t>LLC (Logical Link 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6952297"/>
                  </a:ext>
                </a:extLst>
              </a:tr>
              <a:tr h="469359"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Controls access to physical 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Manages communication &amp;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684783"/>
                  </a:ext>
                </a:extLst>
              </a:tr>
              <a:tr h="665133">
                <a:tc>
                  <a:txBody>
                    <a:bodyPr/>
                    <a:lstStyle/>
                    <a:p>
                      <a:r>
                        <a:rPr lang="en-US"/>
                        <a:t>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MAC address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Uses logical addressing info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67384"/>
                  </a:ext>
                </a:extLst>
              </a:tr>
              <a:tr h="665133">
                <a:tc>
                  <a:txBody>
                    <a:bodyPr/>
                    <a:lstStyle/>
                    <a:p>
                      <a:r>
                        <a:rPr lang="en-US" dirty="0"/>
                        <a:t>Responsibility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Who can send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How data is delivered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896835"/>
                  </a:ext>
                </a:extLst>
              </a:tr>
              <a:tr h="665133">
                <a:tc>
                  <a:txBody>
                    <a:bodyPr/>
                    <a:lstStyle/>
                    <a:p>
                      <a:r>
                        <a:rPr lang="en-US"/>
                        <a:t>Error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Yes (flow &amp; error control)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086526"/>
                  </a:ext>
                </a:extLst>
              </a:tr>
              <a:tr h="469359">
                <a:tc>
                  <a:txBody>
                    <a:bodyPr/>
                    <a:lstStyle/>
                    <a:p>
                      <a:r>
                        <a:rPr lang="en-US"/>
                        <a:t>Position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Lower part of Data Link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Upper part of Data Link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7960004"/>
                  </a:ext>
                </a:extLst>
              </a:tr>
              <a:tr h="469359">
                <a:tc>
                  <a:txBody>
                    <a:bodyPr/>
                    <a:lstStyle/>
                    <a:p>
                      <a:r>
                        <a:rPr lang="en-US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Ethernet hardware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Interface with Network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3003800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1941C5F-7B85-963C-E538-92D890025A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3322" y="6415790"/>
            <a:ext cx="1397195" cy="44221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751756"/>
              </p:ext>
            </p:extLst>
          </p:nvPr>
        </p:nvGraphicFramePr>
        <p:xfrm>
          <a:off x="127318" y="5752619"/>
          <a:ext cx="7072134" cy="1432560"/>
        </p:xfrm>
        <a:graphic>
          <a:graphicData uri="http://schemas.openxmlformats.org/drawingml/2006/table">
            <a:tbl>
              <a:tblPr/>
              <a:tblGrid>
                <a:gridCol w="3536067">
                  <a:extLst>
                    <a:ext uri="{9D8B030D-6E8A-4147-A177-3AD203B41FA5}">
                      <a16:colId xmlns:a16="http://schemas.microsoft.com/office/drawing/2014/main" val="1661214558"/>
                    </a:ext>
                  </a:extLst>
                </a:gridCol>
                <a:gridCol w="3536067">
                  <a:extLst>
                    <a:ext uri="{9D8B030D-6E8A-4147-A177-3AD203B41FA5}">
                      <a16:colId xmlns:a16="http://schemas.microsoft.com/office/drawing/2014/main" val="2299172260"/>
                    </a:ext>
                  </a:extLst>
                </a:gridCol>
              </a:tblGrid>
              <a:tr h="379255">
                <a:tc>
                  <a:txBody>
                    <a:bodyPr/>
                    <a:lstStyle/>
                    <a:p>
                      <a:r>
                        <a:rPr lang="en-US" dirty="0" smtClean="0"/>
                        <a:t>MAC decides </a:t>
                      </a:r>
                      <a:r>
                        <a:rPr lang="en-US" b="1" dirty="0" smtClean="0"/>
                        <a:t>who sends</a:t>
                      </a:r>
                      <a:r>
                        <a:rPr lang="en-US" dirty="0" smtClean="0"/>
                        <a:t>,</a:t>
                      </a:r>
                    </a:p>
                    <a:p>
                      <a:r>
                        <a:rPr lang="en-US" dirty="0" smtClean="0"/>
                        <a:t> LLC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decides </a:t>
                      </a:r>
                      <a:r>
                        <a:rPr lang="en-US" b="1" dirty="0" smtClean="0"/>
                        <a:t>how it is managed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579693"/>
                  </a:ext>
                </a:extLst>
              </a:tr>
              <a:tr h="2154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6053658"/>
                  </a:ext>
                </a:extLst>
              </a:tr>
              <a:tr h="21548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450222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514775" y="3377833"/>
            <a:ext cx="203714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r>
              <a:rPr lang="en-US" dirty="0" smtClean="0"/>
              <a:t>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4525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2C453-480C-2C2F-B4FE-5EA56CDEF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2454-E920-0184-25A0-CB7D86A7F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2. Data Link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C91A9A-4434-D39B-60CB-62A82FB43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384" y="1988013"/>
            <a:ext cx="11588304" cy="3812684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B40C3C6-AF2B-62AA-F096-BFC775F5FF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7444" y="6400800"/>
            <a:ext cx="1444556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807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437C-55BD-A52A-FF28-07A4F0B1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E770-D069-25C4-75E0-057F2F59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1. Physical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E346-B64B-3949-ACEF-90745DADF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Physical Layer — </a:t>
            </a:r>
            <a:r>
              <a:rPr lang="en-US" sz="3200" i="1" dirty="0"/>
              <a:t>Signals &amp; Hardware</a:t>
            </a:r>
            <a:endParaRPr lang="en-US" sz="3200" b="1" dirty="0"/>
          </a:p>
          <a:p>
            <a:pPr marL="0" indent="0">
              <a:buNone/>
            </a:pPr>
            <a:r>
              <a:rPr lang="en-US" sz="3200" b="1" dirty="0"/>
              <a:t>T</a:t>
            </a:r>
            <a:r>
              <a:rPr lang="en-US" sz="3200" dirty="0" smtClean="0"/>
              <a:t>his </a:t>
            </a:r>
            <a:r>
              <a:rPr lang="en-US" sz="3200" dirty="0"/>
              <a:t>layer actually </a:t>
            </a:r>
            <a:r>
              <a:rPr lang="en-US" sz="3200" b="1" dirty="0"/>
              <a:t>moves the data physically</a:t>
            </a:r>
            <a:r>
              <a:rPr lang="en-US" sz="3200" dirty="0"/>
              <a:t/>
            </a:r>
            <a:br>
              <a:rPr lang="en-US" sz="3200" dirty="0"/>
            </a:br>
            <a:r>
              <a:rPr lang="en-US" sz="3200" dirty="0"/>
              <a:t>No logic, no address — only </a:t>
            </a:r>
            <a:r>
              <a:rPr lang="en-US" sz="3200" b="1" dirty="0"/>
              <a:t>electrical / light / radio </a:t>
            </a:r>
            <a:r>
              <a:rPr lang="en-US" sz="3200" b="1" dirty="0" smtClean="0"/>
              <a:t>signals</a:t>
            </a:r>
          </a:p>
          <a:p>
            <a:pPr marL="0" indent="0">
              <a:buNone/>
            </a:pPr>
            <a:endParaRPr lang="en-US" sz="3200" b="1" dirty="0"/>
          </a:p>
          <a:p>
            <a:endParaRPr lang="en-US" sz="3200" b="1" dirty="0" smtClean="0"/>
          </a:p>
          <a:p>
            <a:endParaRPr lang="en-US" sz="3200" b="1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6AA65-01DC-E91E-0EED-C85DBFC4DD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641" y="6400800"/>
            <a:ext cx="1444557" cy="45720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917428"/>
              </p:ext>
            </p:extLst>
          </p:nvPr>
        </p:nvGraphicFramePr>
        <p:xfrm>
          <a:off x="0" y="2888596"/>
          <a:ext cx="10910104" cy="2321860"/>
        </p:xfrm>
        <a:graphic>
          <a:graphicData uri="http://schemas.openxmlformats.org/drawingml/2006/table">
            <a:tbl>
              <a:tblPr/>
              <a:tblGrid>
                <a:gridCol w="5455052">
                  <a:extLst>
                    <a:ext uri="{9D8B030D-6E8A-4147-A177-3AD203B41FA5}">
                      <a16:colId xmlns:a16="http://schemas.microsoft.com/office/drawing/2014/main" val="578799055"/>
                    </a:ext>
                  </a:extLst>
                </a:gridCol>
                <a:gridCol w="5455052">
                  <a:extLst>
                    <a:ext uri="{9D8B030D-6E8A-4147-A177-3AD203B41FA5}">
                      <a16:colId xmlns:a16="http://schemas.microsoft.com/office/drawing/2014/main" val="2715818437"/>
                    </a:ext>
                  </a:extLst>
                </a:gridCol>
              </a:tblGrid>
              <a:tr h="464372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Arial Black" panose="020B0A04020102020204" pitchFamily="34" charset="0"/>
                        </a:rPr>
                        <a:t>Medium/Devices</a:t>
                      </a:r>
                      <a:endParaRPr lang="en-US" dirty="0">
                        <a:latin typeface="Arial Black" panose="020B0A040201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Arial Black" panose="020B0A04020102020204" pitchFamily="34" charset="0"/>
                        </a:rPr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0901844"/>
                  </a:ext>
                </a:extLst>
              </a:tr>
              <a:tr h="464372">
                <a:tc>
                  <a:txBody>
                    <a:bodyPr/>
                    <a:lstStyle/>
                    <a:p>
                      <a:r>
                        <a:rPr lang="en-US" dirty="0"/>
                        <a:t>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Ethernet wire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4279469"/>
                  </a:ext>
                </a:extLst>
              </a:tr>
              <a:tr h="464372">
                <a:tc>
                  <a:txBody>
                    <a:bodyPr/>
                    <a:lstStyle/>
                    <a:p>
                      <a:r>
                        <a:rPr lang="en-US"/>
                        <a:t>Fiber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Internet fiber cable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6893904"/>
                  </a:ext>
                </a:extLst>
              </a:tr>
              <a:tr h="464372">
                <a:tc>
                  <a:txBody>
                    <a:bodyPr/>
                    <a:lstStyle/>
                    <a:p>
                      <a:r>
                        <a:rPr lang="en-US"/>
                        <a:t>Wireless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WiFi</a:t>
                      </a:r>
                      <a:r>
                        <a:rPr lang="en-US" dirty="0"/>
                        <a:t> signals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5112920"/>
                  </a:ext>
                </a:extLst>
              </a:tr>
              <a:tr h="464372">
                <a:tc>
                  <a:txBody>
                    <a:bodyPr/>
                    <a:lstStyle/>
                    <a:p>
                      <a:r>
                        <a:rPr lang="en-US"/>
                        <a:t>Bluetooth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Air waves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65777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063696" y="5221592"/>
            <a:ext cx="6096000" cy="155427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 </a:t>
            </a:r>
            <a:r>
              <a:rPr lang="en-US" b="1" dirty="0"/>
              <a:t>Example </a:t>
            </a:r>
          </a:p>
          <a:p>
            <a:r>
              <a:rPr lang="en-US" dirty="0"/>
              <a:t>You send photo to friend in same </a:t>
            </a:r>
            <a:r>
              <a:rPr lang="en-US" dirty="0" err="1"/>
              <a:t>WiFi</a:t>
            </a:r>
            <a:endParaRPr lang="en-US" dirty="0"/>
          </a:p>
          <a:p>
            <a:pPr>
              <a:buFont typeface="+mj-lt"/>
              <a:buAutoNum type="arabicPeriod"/>
            </a:pPr>
            <a:r>
              <a:rPr lang="en-US" dirty="0"/>
              <a:t>Application → you click send</a:t>
            </a:r>
          </a:p>
          <a:p>
            <a:pPr>
              <a:buFont typeface="+mj-lt"/>
              <a:buAutoNum type="arabicPeriod"/>
            </a:pPr>
            <a:r>
              <a:rPr lang="en-US" dirty="0"/>
              <a:t>Other layers prepare data</a:t>
            </a:r>
          </a:p>
          <a:p>
            <a:pPr>
              <a:buFont typeface="+mj-lt"/>
              <a:buAutoNum type="arabicPeriod"/>
            </a:pPr>
            <a:r>
              <a:rPr lang="en-US" dirty="0"/>
              <a:t>Physical layer transmits as signals</a:t>
            </a:r>
          </a:p>
        </p:txBody>
      </p:sp>
    </p:spTree>
    <p:extLst>
      <p:ext uri="{BB962C8B-B14F-4D97-AF65-F5344CB8AC3E}">
        <p14:creationId xmlns:p14="http://schemas.microsoft.com/office/powerpoint/2010/main" val="17140697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C437C-55BD-A52A-FF28-07A4F0B1D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DE770-D069-25C4-75E0-057F2F59B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1. Physical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E346-B64B-3949-ACEF-90745DADF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b="1" dirty="0" smtClean="0"/>
              <a:t>What </a:t>
            </a:r>
            <a:r>
              <a:rPr lang="en-US" sz="3200" b="1" dirty="0"/>
              <a:t>Physical Layer Handles</a:t>
            </a:r>
          </a:p>
          <a:p>
            <a:r>
              <a:rPr lang="en-US" sz="3200" dirty="0"/>
              <a:t>Voltage levels</a:t>
            </a:r>
          </a:p>
          <a:p>
            <a:r>
              <a:rPr lang="en-US" sz="3200" dirty="0"/>
              <a:t>Signals</a:t>
            </a:r>
          </a:p>
          <a:p>
            <a:r>
              <a:rPr lang="en-US" sz="3200" dirty="0"/>
              <a:t>Bits (0 &amp; 1)</a:t>
            </a:r>
          </a:p>
          <a:p>
            <a:r>
              <a:rPr lang="en-US" sz="3200" dirty="0"/>
              <a:t>Connectors</a:t>
            </a:r>
          </a:p>
          <a:p>
            <a:r>
              <a:rPr lang="en-US" sz="3200" dirty="0"/>
              <a:t>Network cables</a:t>
            </a:r>
          </a:p>
          <a:p>
            <a:r>
              <a:rPr lang="en-US" sz="3200" dirty="0"/>
              <a:t>Devices working here:</a:t>
            </a:r>
          </a:p>
          <a:p>
            <a:r>
              <a:rPr lang="en-US" sz="3200" dirty="0"/>
              <a:t>Hub</a:t>
            </a:r>
          </a:p>
          <a:p>
            <a:r>
              <a:rPr lang="en-US" sz="3200" dirty="0"/>
              <a:t>Repeater</a:t>
            </a:r>
          </a:p>
          <a:p>
            <a:r>
              <a:rPr lang="en-US" sz="3200" dirty="0"/>
              <a:t>Cables</a:t>
            </a:r>
          </a:p>
          <a:p>
            <a:r>
              <a:rPr lang="en-US" sz="3200" dirty="0"/>
              <a:t>Antenna</a:t>
            </a:r>
          </a:p>
          <a:p>
            <a:endParaRPr lang="en-US" sz="3200" b="1" dirty="0" smtClean="0"/>
          </a:p>
          <a:p>
            <a:endParaRPr lang="en-US" sz="3200" b="1" dirty="0"/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C6AA65-01DC-E91E-0EED-C85DBFC4DD6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9641" y="6400800"/>
            <a:ext cx="1444557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9201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5BA19-FB6F-7E15-610B-F7763A8C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560E-9433-874C-FB2C-020817A21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71628"/>
            <a:ext cx="10911840" cy="1051560"/>
          </a:xfrm>
        </p:spPr>
        <p:txBody>
          <a:bodyPr>
            <a:no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  <a:t>1. Physical Layer</a:t>
            </a:r>
            <a:br>
              <a:rPr lang="en-US" sz="4000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endParaRPr lang="en-US" sz="4000" b="1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059F2-8664-53A0-19CD-CDB48AEE7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54243"/>
            <a:ext cx="12192000" cy="5790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 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D1555-4FC6-2378-B343-F03FC545F4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5905" y="6295869"/>
            <a:ext cx="1776095" cy="5621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C23ED6-38AA-ECDF-D51C-276C4BD1AA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983" y="1323188"/>
            <a:ext cx="10273969" cy="35743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79112" y="5068829"/>
            <a:ext cx="1005768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Sending Cable 📤</a:t>
            </a:r>
          </a:p>
          <a:p>
            <a:r>
              <a:rPr lang="en-US" dirty="0"/>
              <a:t>Your computer sends electrical signals into the cable</a:t>
            </a:r>
          </a:p>
          <a:p>
            <a:r>
              <a:rPr lang="en-US" b="1" dirty="0" err="1"/>
              <a:t>Bitstream</a:t>
            </a:r>
            <a:r>
              <a:rPr lang="en-US" b="1" dirty="0"/>
              <a:t> (0 &amp; 1)</a:t>
            </a:r>
          </a:p>
          <a:p>
            <a:r>
              <a:rPr lang="en-US" dirty="0"/>
              <a:t>Data travels as:</a:t>
            </a:r>
          </a:p>
          <a:p>
            <a:r>
              <a:rPr lang="en-US" dirty="0"/>
              <a:t>E</a:t>
            </a:r>
            <a:r>
              <a:rPr lang="en-US" dirty="0" smtClean="0"/>
              <a:t>lectricity </a:t>
            </a:r>
            <a:r>
              <a:rPr lang="en-US" dirty="0"/>
              <a:t>(Ethernet)</a:t>
            </a:r>
          </a:p>
          <a:p>
            <a:r>
              <a:rPr lang="en-US" dirty="0"/>
              <a:t>light (fiber)</a:t>
            </a:r>
          </a:p>
          <a:p>
            <a:r>
              <a:rPr lang="en-US" dirty="0"/>
              <a:t>radio waves (</a:t>
            </a:r>
            <a:r>
              <a:rPr lang="en-US" dirty="0" err="1"/>
              <a:t>WiFi</a:t>
            </a:r>
            <a:r>
              <a:rPr lang="en-US" dirty="0"/>
              <a:t>)</a:t>
            </a:r>
          </a:p>
          <a:p>
            <a:r>
              <a:rPr lang="en-US" b="1" dirty="0"/>
              <a:t>Receiving Cable 📥</a:t>
            </a:r>
          </a:p>
          <a:p>
            <a:r>
              <a:rPr lang="en-US" dirty="0"/>
              <a:t>Other computer receives signals and rebuilds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110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20313-4D14-4A70-A7AC-836FE2E9F46E}"/>
              </a:ext>
            </a:extLst>
          </p:cNvPr>
          <p:cNvSpPr/>
          <p:nvPr/>
        </p:nvSpPr>
        <p:spPr>
          <a:xfrm>
            <a:off x="825500" y="1143493"/>
            <a:ext cx="10528300" cy="5413248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rgbClr val="D32A2A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906394-C5CE-42DD-B341-066A6E26D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71" y="1526859"/>
            <a:ext cx="9061958" cy="1500188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solidFill>
                  <a:schemeClr val="bg1"/>
                </a:solidFill>
                <a:cs typeface="Arial" panose="020B0604020202020204" pitchFamily="34" charset="0"/>
              </a:rPr>
              <a:t>THANK YOU</a:t>
            </a:r>
            <a:endParaRPr lang="en-GB" sz="4800" i="1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F09E0A-6668-4C26-83CB-C97A0AF9773E}"/>
              </a:ext>
            </a:extLst>
          </p:cNvPr>
          <p:cNvCxnSpPr>
            <a:cxnSpLocks/>
          </p:cNvCxnSpPr>
          <p:nvPr/>
        </p:nvCxnSpPr>
        <p:spPr>
          <a:xfrm>
            <a:off x="1558671" y="3484247"/>
            <a:ext cx="921296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>
            <a:extLst>
              <a:ext uri="{FF2B5EF4-FFF2-40B4-BE49-F238E27FC236}">
                <a16:creationId xmlns:a16="http://schemas.microsoft.com/office/drawing/2014/main" id="{63469167-935F-4853-A76C-2FA002B9FDCE}"/>
              </a:ext>
            </a:extLst>
          </p:cNvPr>
          <p:cNvSpPr txBox="1">
            <a:spLocks/>
          </p:cNvSpPr>
          <p:nvPr/>
        </p:nvSpPr>
        <p:spPr>
          <a:xfrm>
            <a:off x="1782572" y="3858962"/>
            <a:ext cx="9061958" cy="15001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GB" sz="3600" i="1" dirty="0">
              <a:solidFill>
                <a:schemeClr val="bg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003" y="3850117"/>
            <a:ext cx="495037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You can Find me:</a:t>
            </a:r>
          </a:p>
          <a:p>
            <a:pPr algn="ctr"/>
            <a:r>
              <a:rPr lang="en-US" sz="2000" b="1" dirty="0">
                <a:solidFill>
                  <a:schemeClr val="bg1"/>
                </a:solidFill>
                <a:latin typeface="+mj-lt"/>
                <a:ea typeface="+mj-ea"/>
                <a:cs typeface="Arial" panose="020B0604020202020204" pitchFamily="34" charset="0"/>
              </a:rPr>
              <a:t>mehakrana.CS@tuf.edu.pk</a:t>
            </a:r>
          </a:p>
        </p:txBody>
      </p:sp>
    </p:spTree>
    <p:extLst>
      <p:ext uri="{BB962C8B-B14F-4D97-AF65-F5344CB8AC3E}">
        <p14:creationId xmlns:p14="http://schemas.microsoft.com/office/powerpoint/2010/main" val="3410554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2848</TotalTime>
  <Words>1214</Words>
  <Application>Microsoft Office PowerPoint</Application>
  <PresentationFormat>Widescreen</PresentationFormat>
  <Paragraphs>345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Arial</vt:lpstr>
      <vt:lpstr>Arial Black</vt:lpstr>
      <vt:lpstr>Arial Narrow</vt:lpstr>
      <vt:lpstr>Calibri</vt:lpstr>
      <vt:lpstr>Calibri Light</vt:lpstr>
      <vt:lpstr>Office Theme</vt:lpstr>
      <vt:lpstr>Lecture 6</vt:lpstr>
      <vt:lpstr>1_Office Theme</vt:lpstr>
      <vt:lpstr>              Network Models  LAYERS IN THE OSI MODEL: 7      Application Layer 6   Presentation Layer 5        Session Layer    4   Transport Layer 3        Network Layer 2       Data link layer   1          physical Layer     </vt:lpstr>
      <vt:lpstr>OSI Model</vt:lpstr>
      <vt:lpstr>OSI Model </vt:lpstr>
      <vt:lpstr>7. Application Layer </vt:lpstr>
      <vt:lpstr>7. Application Layer</vt:lpstr>
      <vt:lpstr>6. Presentation Layer </vt:lpstr>
      <vt:lpstr>6. Presentation Layer </vt:lpstr>
      <vt:lpstr>5. Session Layer  </vt:lpstr>
      <vt:lpstr>5. Session Layer</vt:lpstr>
      <vt:lpstr>4. Transport Layer </vt:lpstr>
      <vt:lpstr>4. Transport Layer </vt:lpstr>
      <vt:lpstr>TCP and UDP</vt:lpstr>
      <vt:lpstr>4.Transport Layer </vt:lpstr>
      <vt:lpstr>3. Network Layer</vt:lpstr>
      <vt:lpstr>3. Network Layer</vt:lpstr>
      <vt:lpstr>3. Network Layer</vt:lpstr>
      <vt:lpstr>2. Data Link Layer </vt:lpstr>
      <vt:lpstr>2. Data Link Layer </vt:lpstr>
      <vt:lpstr>2. Data Link Layer </vt:lpstr>
      <vt:lpstr>Difference between MAC and LLC Sublayers </vt:lpstr>
      <vt:lpstr>2. Data Link Layer </vt:lpstr>
      <vt:lpstr>1. Physical Layer </vt:lpstr>
      <vt:lpstr>1. Physical Layer </vt:lpstr>
      <vt:lpstr>1. Physical Layer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Mehak Rana</cp:lastModifiedBy>
  <cp:revision>221</cp:revision>
  <dcterms:created xsi:type="dcterms:W3CDTF">2024-06-21T09:49:00Z</dcterms:created>
  <dcterms:modified xsi:type="dcterms:W3CDTF">2026-03-05T08:42:41Z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